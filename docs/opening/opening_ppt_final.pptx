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2788920" cy="6858000"/>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88920" y="0"/>
            <a:ext cx="109728" cy="6858000"/>
          </a:xfrm>
          <a:prstGeom prst="rect">
            <a:avLst/>
          </a:prstGeom>
          <a:solidFill>
            <a:srgbClr val="1C7C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46120" y="960120"/>
            <a:ext cx="7909560" cy="1371600"/>
          </a:xfrm>
          <a:prstGeom prst="rect">
            <a:avLst/>
          </a:prstGeom>
          <a:noFill/>
          <a:ln>
            <a:noFill/>
          </a:ln>
        </p:spPr>
        <p:txBody>
          <a:bodyPr wrap="square" lIns="0" rIns="0" tIns="27432" bIns="27432" anchor="t">
            <a:spAutoFit/>
          </a:bodyPr>
          <a:lstStyle/>
          <a:p>
            <a:r>
              <a:rPr sz="2800" b="1">
                <a:solidFill>
                  <a:srgbClr val="12343B"/>
                </a:solidFill>
                <a:latin typeface="Microsoft YaHei"/>
              </a:rPr>
              <a:t>面向 SQL+ 简化查询表达的多智能体自然语言数据库查询生成与反馈修正方法研究</a:t>
            </a:r>
          </a:p>
        </p:txBody>
      </p:sp>
      <p:sp>
        <p:nvSpPr>
          <p:cNvPr id="5" name="TextBox 4"/>
          <p:cNvSpPr txBox="1"/>
          <p:nvPr/>
        </p:nvSpPr>
        <p:spPr>
          <a:xfrm>
            <a:off x="3337560" y="2514600"/>
            <a:ext cx="7132320" cy="1325880"/>
          </a:xfrm>
          <a:prstGeom prst="rect">
            <a:avLst/>
          </a:prstGeom>
          <a:noFill/>
          <a:ln>
            <a:noFill/>
          </a:ln>
        </p:spPr>
        <p:txBody>
          <a:bodyPr wrap="square" lIns="36576" rIns="36576" tIns="18288" bIns="18288">
            <a:spAutoFit/>
          </a:bodyPr>
          <a:lstStyle/>
          <a:p>
            <a:pPr>
              <a:defRPr sz="1600">
                <a:solidFill>
                  <a:srgbClr val="1F2937"/>
                </a:solidFill>
                <a:latin typeface="Microsoft YaHei"/>
              </a:defRPr>
            </a:pPr>
            <a:r>
              <a:t>• 研究方向：达梦 SQL+ / Text-to-SQL / 多智能体 / 反馈修正</a:t>
            </a:r>
          </a:p>
          <a:p>
            <a:pPr>
              <a:defRPr sz="1600">
                <a:solidFill>
                  <a:srgbClr val="1F2937"/>
                </a:solidFill>
                <a:latin typeface="Microsoft YaHei"/>
              </a:defRPr>
            </a:pPr>
            <a:r>
              <a:t>• 汇报人：待填写</a:t>
            </a:r>
          </a:p>
          <a:p>
            <a:pPr>
              <a:defRPr sz="1600">
                <a:solidFill>
                  <a:srgbClr val="1F2937"/>
                </a:solidFill>
                <a:latin typeface="Microsoft YaHei"/>
              </a:defRPr>
            </a:pPr>
            <a:r>
              <a:t>• 专业与导师：待填写</a:t>
            </a:r>
          </a:p>
          <a:p>
            <a:pPr>
              <a:defRPr sz="1600">
                <a:solidFill>
                  <a:srgbClr val="1F2937"/>
                </a:solidFill>
                <a:latin typeface="Microsoft YaHei"/>
              </a:defRPr>
            </a:pPr>
            <a:r>
              <a:t>• 时间：待填写</a:t>
            </a:r>
          </a:p>
        </p:txBody>
      </p:sp>
      <p:sp>
        <p:nvSpPr>
          <p:cNvPr id="6" name="TextBox 5"/>
          <p:cNvSpPr txBox="1"/>
          <p:nvPr/>
        </p:nvSpPr>
        <p:spPr>
          <a:xfrm>
            <a:off x="384048" y="5349240"/>
            <a:ext cx="1874519" cy="502920"/>
          </a:xfrm>
          <a:prstGeom prst="rect">
            <a:avLst/>
          </a:prstGeom>
          <a:noFill/>
          <a:ln>
            <a:noFill/>
          </a:ln>
        </p:spPr>
        <p:txBody>
          <a:bodyPr wrap="square" lIns="0" rIns="0" tIns="27432" bIns="27432" anchor="t">
            <a:spAutoFit/>
          </a:bodyPr>
          <a:lstStyle/>
          <a:p>
            <a:r>
              <a:rPr sz="2700" b="1">
                <a:solidFill>
                  <a:srgbClr val="FFFFFF"/>
                </a:solidFill>
                <a:latin typeface="Microsoft YaHei"/>
              </a:rPr>
              <a:t>NL2SQL+</a:t>
            </a:r>
          </a:p>
        </p:txBody>
      </p:sp>
      <p:sp>
        <p:nvSpPr>
          <p:cNvPr id="7" name="TextBox 6"/>
          <p:cNvSpPr txBox="1"/>
          <p:nvPr/>
        </p:nvSpPr>
        <p:spPr>
          <a:xfrm>
            <a:off x="384048" y="5833872"/>
            <a:ext cx="1965960" cy="320040"/>
          </a:xfrm>
          <a:prstGeom prst="rect">
            <a:avLst/>
          </a:prstGeom>
          <a:noFill/>
          <a:ln>
            <a:noFill/>
          </a:ln>
        </p:spPr>
        <p:txBody>
          <a:bodyPr wrap="square" lIns="0" rIns="0" tIns="27432" bIns="27432" anchor="t">
            <a:spAutoFit/>
          </a:bodyPr>
          <a:lstStyle/>
          <a:p>
            <a:r>
              <a:rPr sz="1500" b="0">
                <a:solidFill>
                  <a:srgbClr val="B8D8DD"/>
                </a:solidFill>
                <a:latin typeface="Microsoft YaHei"/>
              </a:rPr>
              <a:t>开题汇报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研究背景</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02</a:t>
            </a:r>
          </a:p>
        </p:txBody>
      </p:sp>
      <p:sp>
        <p:nvSpPr>
          <p:cNvPr id="5" name="TextBox 4"/>
          <p:cNvSpPr txBox="1"/>
          <p:nvPr/>
        </p:nvSpPr>
        <p:spPr>
          <a:xfrm>
            <a:off x="786384" y="896112"/>
            <a:ext cx="10241280" cy="1133856"/>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 企业数据分析需求增长，非专业用户希望用自然语言查询数据库。</a:t>
            </a:r>
          </a:p>
          <a:p>
            <a:pPr>
              <a:defRPr sz="1500">
                <a:solidFill>
                  <a:srgbClr val="1F2937"/>
                </a:solidFill>
                <a:latin typeface="Microsoft YaHei"/>
              </a:defRPr>
            </a:pPr>
            <a:r>
              <a:t>• Text-to-SQL 旨在将自然语言问题转化为可执行 SQL，降低数据库使用门槛。</a:t>
            </a:r>
          </a:p>
          <a:p>
            <a:pPr>
              <a:defRPr sz="1500">
                <a:solidFill>
                  <a:srgbClr val="1F2937"/>
                </a:solidFill>
                <a:latin typeface="Microsoft YaHei"/>
              </a:defRPr>
            </a:pPr>
            <a:r>
              <a:t>• 大语言模型提升了 SQL 生成能力，但真实数据库场景仍然困难。</a:t>
            </a:r>
          </a:p>
          <a:p>
            <a:pPr>
              <a:defRPr sz="1500">
                <a:solidFill>
                  <a:srgbClr val="1F2937"/>
                </a:solidFill>
                <a:latin typeface="Microsoft YaHei"/>
              </a:defRPr>
            </a:pPr>
            <a:r>
              <a:t>• 复杂 schema、多表 join、聚合、排序、方言差异和业务语义仍是主要挑战。</a:t>
            </a:r>
          </a:p>
        </p:txBody>
      </p:sp>
      <p:sp>
        <p:nvSpPr>
          <p:cNvPr id="6" name="Rectangle 5"/>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现有 Text-to-SQL 面临的问题</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03</a:t>
            </a:r>
          </a:p>
        </p:txBody>
      </p:sp>
      <p:sp>
        <p:nvSpPr>
          <p:cNvPr id="5" name="TextBox 4"/>
          <p:cNvSpPr txBox="1"/>
          <p:nvPr/>
        </p:nvSpPr>
        <p:spPr>
          <a:xfrm>
            <a:off x="786384" y="896112"/>
            <a:ext cx="10241280" cy="1133856"/>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 标准 SQL 语法复杂，嵌套、join、group by、having 等结构容易出错。</a:t>
            </a:r>
          </a:p>
          <a:p>
            <a:pPr>
              <a:defRPr sz="1500">
                <a:solidFill>
                  <a:srgbClr val="1F2937"/>
                </a:solidFill>
                <a:latin typeface="Microsoft YaHei"/>
              </a:defRPr>
            </a:pPr>
            <a:r>
              <a:t>• 自然语言查询意图通常是逐步表达，而 SQL 书写顺序不完全符合构造过程。</a:t>
            </a:r>
          </a:p>
          <a:p>
            <a:pPr>
              <a:defRPr sz="1500">
                <a:solidFill>
                  <a:srgbClr val="1F2937"/>
                </a:solidFill>
                <a:latin typeface="Microsoft YaHei"/>
              </a:defRPr>
            </a:pPr>
            <a:r>
              <a:t>• LLM 生成 SQL 常见错误：字段选错、表连接错误、过滤值错误、聚合口径错误、排序遗漏。</a:t>
            </a:r>
          </a:p>
          <a:p>
            <a:pPr>
              <a:defRPr sz="1500">
                <a:solidFill>
                  <a:srgbClr val="1F2937"/>
                </a:solidFill>
                <a:latin typeface="Microsoft YaHei"/>
              </a:defRPr>
            </a:pPr>
            <a:r>
              <a:t>• 直接整体重生成 SQL 缺少局部定位和可解释修复能力。</a:t>
            </a:r>
          </a:p>
        </p:txBody>
      </p:sp>
      <p:sp>
        <p:nvSpPr>
          <p:cNvPr id="6" name="Rectangle 5"/>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SQL+ 的研究动机</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04</a:t>
            </a:r>
          </a:p>
        </p:txBody>
      </p:sp>
      <p:sp>
        <p:nvSpPr>
          <p:cNvPr id="5" name="TextBox 4"/>
          <p:cNvSpPr txBox="1"/>
          <p:nvPr/>
        </p:nvSpPr>
        <p:spPr>
          <a:xfrm>
            <a:off x="786384" y="896112"/>
            <a:ext cx="10241280" cy="850392"/>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 借鉴 GoogleSQL Pipe Syntax 思想：通过管道式表达使 SQL 更线性。</a:t>
            </a:r>
          </a:p>
          <a:p>
            <a:pPr>
              <a:defRPr sz="1500">
                <a:solidFill>
                  <a:srgbClr val="1F2937"/>
                </a:solidFill>
                <a:latin typeface="Microsoft YaHei"/>
              </a:defRPr>
            </a:pPr>
            <a:r>
              <a:t>• SQL+ 不替代标准 SQL，而作为自然语言生成和反馈修正的中间表示。</a:t>
            </a:r>
          </a:p>
          <a:p>
            <a:pPr>
              <a:defRPr sz="1500">
                <a:solidFill>
                  <a:srgbClr val="1F2937"/>
                </a:solidFill>
                <a:latin typeface="Microsoft YaHei"/>
              </a:defRPr>
            </a:pPr>
            <a:r>
              <a:t>• 目标：降低复杂查询表达难度，提高可读性、可解释性和局部修复能力。</a:t>
            </a:r>
          </a:p>
        </p:txBody>
      </p:sp>
      <p:sp>
        <p:nvSpPr>
          <p:cNvPr id="6" name="TextBox 5"/>
          <p:cNvSpPr txBox="1"/>
          <p:nvPr/>
        </p:nvSpPr>
        <p:spPr>
          <a:xfrm>
            <a:off x="658368" y="1856231"/>
            <a:ext cx="3840480" cy="256032"/>
          </a:xfrm>
          <a:prstGeom prst="rect">
            <a:avLst/>
          </a:prstGeom>
          <a:noFill/>
          <a:ln>
            <a:noFill/>
          </a:ln>
        </p:spPr>
        <p:txBody>
          <a:bodyPr wrap="square" lIns="0" rIns="0" tIns="27432" bIns="27432" anchor="t">
            <a:spAutoFit/>
          </a:bodyPr>
          <a:lstStyle/>
          <a:p>
            <a:r>
              <a:rPr sz="1500" b="1">
                <a:solidFill>
                  <a:srgbClr val="12343B"/>
                </a:solidFill>
                <a:latin typeface="Microsoft YaHei"/>
              </a:rPr>
              <a:t>示例：</a:t>
            </a:r>
          </a:p>
        </p:txBody>
      </p:sp>
      <p:sp>
        <p:nvSpPr>
          <p:cNvPr id="7" name="Rectangle 6"/>
          <p:cNvSpPr/>
          <p:nvPr/>
        </p:nvSpPr>
        <p:spPr>
          <a:xfrm>
            <a:off x="658368" y="2167127"/>
            <a:ext cx="1051560" cy="32004"/>
          </a:xfrm>
          <a:prstGeom prst="rect">
            <a:avLst/>
          </a:prstGeom>
          <a:solidFill>
            <a:srgbClr val="E3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3232" y="2295144"/>
            <a:ext cx="10607040" cy="1389888"/>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386584"/>
            <a:ext cx="10241280" cy="1252728"/>
          </a:xfrm>
          <a:prstGeom prst="rect">
            <a:avLst/>
          </a:prstGeom>
          <a:noFill/>
          <a:ln>
            <a:noFill/>
          </a:ln>
        </p:spPr>
        <p:txBody>
          <a:bodyPr wrap="none">
            <a:spAutoFit/>
          </a:bodyPr>
          <a:lstStyle/>
          <a:p>
            <a:pPr>
              <a:defRPr sz="1100">
                <a:solidFill>
                  <a:srgbClr val="E5F4F3"/>
                </a:solidFill>
                <a:latin typeface="Courier New"/>
              </a:defRPr>
            </a:pPr>
            <a:r>
              <a:t>FROM orders o</a:t>
            </a:r>
          </a:p>
          <a:p>
            <a:pPr>
              <a:defRPr sz="1100">
                <a:solidFill>
                  <a:srgbClr val="E5F4F3"/>
                </a:solidFill>
                <a:latin typeface="Courier New"/>
              </a:defRPr>
            </a:pPr>
            <a:r>
              <a:t>| JOIN order_items oi ON o.order_id = oi.order_id</a:t>
            </a:r>
          </a:p>
          <a:p>
            <a:pPr>
              <a:defRPr sz="1100">
                <a:solidFill>
                  <a:srgbClr val="E5F4F3"/>
                </a:solidFill>
                <a:latin typeface="Courier New"/>
              </a:defRPr>
            </a:pPr>
            <a:r>
              <a:t>| WHERE o.status = 'paid'</a:t>
            </a:r>
          </a:p>
          <a:p>
            <a:pPr>
              <a:defRPr sz="1100">
                <a:solidFill>
                  <a:srgbClr val="E5F4F3"/>
                </a:solidFill>
                <a:latin typeface="Courier New"/>
              </a:defRPr>
            </a:pPr>
            <a:r>
              <a:t>| GROUP o.order_id</a:t>
            </a:r>
          </a:p>
          <a:p>
            <a:pPr>
              <a:defRPr sz="1100">
                <a:solidFill>
                  <a:srgbClr val="E5F4F3"/>
                </a:solidFill>
                <a:latin typeface="Courier New"/>
              </a:defRPr>
            </a:pPr>
            <a:r>
              <a:t>| AGG o.order_id, SUM(oi.quantity * oi.unit_price) AS order_amount</a:t>
            </a:r>
          </a:p>
          <a:p>
            <a:pPr>
              <a:defRPr sz="1100">
                <a:solidFill>
                  <a:srgbClr val="E5F4F3"/>
                </a:solidFill>
                <a:latin typeface="Courier New"/>
              </a:defRPr>
            </a:pPr>
            <a:r>
              <a:t>| ORDER order_amount DESC</a:t>
            </a:r>
          </a:p>
        </p:txBody>
      </p:sp>
      <p:sp>
        <p:nvSpPr>
          <p:cNvPr id="10" name="Rectangle 9"/>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国内外研究现状</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05</a:t>
            </a:r>
          </a:p>
        </p:txBody>
      </p:sp>
      <p:sp>
        <p:nvSpPr>
          <p:cNvPr id="5" name="TextBox 4"/>
          <p:cNvSpPr txBox="1"/>
          <p:nvPr/>
        </p:nvSpPr>
        <p:spPr>
          <a:xfrm>
            <a:off x="786384" y="896112"/>
            <a:ext cx="10241280" cy="1417320"/>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 传统 Text-to-SQL：语义解析、Seq2Seq、schema linking、语法约束解码。</a:t>
            </a:r>
          </a:p>
          <a:p>
            <a:pPr>
              <a:defRPr sz="1500">
                <a:solidFill>
                  <a:srgbClr val="1F2937"/>
                </a:solidFill>
                <a:latin typeface="Microsoft YaHei"/>
              </a:defRPr>
            </a:pPr>
            <a:r>
              <a:t>• LLM-based Text-to-SQL：prompt engineering、few-shot、chain-of-thought、RAG、自修正。</a:t>
            </a:r>
          </a:p>
          <a:p>
            <a:pPr>
              <a:defRPr sz="1500">
                <a:solidFill>
                  <a:srgbClr val="1F2937"/>
                </a:solidFill>
                <a:latin typeface="Microsoft YaHei"/>
              </a:defRPr>
            </a:pPr>
            <a:r>
              <a:t>• 代表工作：DAIL-SQL、DIN-SQL、MAC-SQL、CHASE-SQL、SQLCritic。</a:t>
            </a:r>
          </a:p>
          <a:p>
            <a:pPr>
              <a:defRPr sz="1500">
                <a:solidFill>
                  <a:srgbClr val="1F2937"/>
                </a:solidFill>
                <a:latin typeface="Microsoft YaHei"/>
              </a:defRPr>
            </a:pPr>
            <a:r>
              <a:t>• Benchmark 从 Spider 发展到 BIRD、Spider 2.0，更关注真实企业环境和复杂 workflow。</a:t>
            </a:r>
          </a:p>
          <a:p>
            <a:pPr>
              <a:defRPr sz="1500">
                <a:solidFill>
                  <a:srgbClr val="1F2937"/>
                </a:solidFill>
                <a:latin typeface="Microsoft YaHei"/>
              </a:defRPr>
            </a:pPr>
            <a:r>
              <a:t>• SQL 扩展方向：GoogleSQL Pipe Syntax 证明线性查询表达具有研究和产品价值。</a:t>
            </a:r>
          </a:p>
        </p:txBody>
      </p:sp>
      <p:sp>
        <p:nvSpPr>
          <p:cNvPr id="6" name="Rectangle 5"/>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研究问题</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06</a:t>
            </a:r>
          </a:p>
        </p:txBody>
      </p:sp>
      <p:sp>
        <p:nvSpPr>
          <p:cNvPr id="5" name="TextBox 4"/>
          <p:cNvSpPr txBox="1"/>
          <p:nvPr/>
        </p:nvSpPr>
        <p:spPr>
          <a:xfrm>
            <a:off x="786384" y="896112"/>
            <a:ext cx="10241280" cy="1417320"/>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1. SQL+ 如何设计成适合大模型生成的中间查询表示？</a:t>
            </a:r>
          </a:p>
          <a:p>
            <a:pPr>
              <a:defRPr sz="1500">
                <a:solidFill>
                  <a:srgbClr val="1F2937"/>
                </a:solidFill>
                <a:latin typeface="Microsoft YaHei"/>
              </a:defRPr>
            </a:pPr>
            <a:r>
              <a:t>2. 如何构建面向 SQL+ 的多智能体查询生成和修正框架？</a:t>
            </a:r>
          </a:p>
          <a:p>
            <a:pPr>
              <a:defRPr sz="1500">
                <a:solidFill>
                  <a:srgbClr val="1F2937"/>
                </a:solidFill>
                <a:latin typeface="Microsoft YaHei"/>
              </a:defRPr>
            </a:pPr>
            <a:r>
              <a:t>3. 如何将执行反馈映射到 SQL+ 局部步骤？</a:t>
            </a:r>
          </a:p>
          <a:p>
            <a:pPr>
              <a:defRPr sz="1500">
                <a:solidFill>
                  <a:srgbClr val="1F2937"/>
                </a:solidFill>
                <a:latin typeface="Microsoft YaHei"/>
              </a:defRPr>
            </a:pPr>
            <a:r>
              <a:t>4. 如何按错误类型调用不同 repair skill 进行局部修复？</a:t>
            </a:r>
          </a:p>
          <a:p>
            <a:pPr>
              <a:defRPr sz="1500">
                <a:solidFill>
                  <a:srgbClr val="1F2937"/>
                </a:solidFill>
                <a:latin typeface="Microsoft YaHei"/>
              </a:defRPr>
            </a:pPr>
            <a:r>
              <a:t>5. SQL+ + 多智能体 + 反馈修正是否优于直接生成 SQL 或单 Agent 修复？</a:t>
            </a:r>
          </a:p>
        </p:txBody>
      </p:sp>
      <p:sp>
        <p:nvSpPr>
          <p:cNvPr id="6" name="Rectangle 5"/>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总体技术路线</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07</a:t>
            </a:r>
          </a:p>
        </p:txBody>
      </p:sp>
      <p:sp>
        <p:nvSpPr>
          <p:cNvPr id="5" name="Rounded Rectangle 4"/>
          <p:cNvSpPr/>
          <p:nvPr/>
        </p:nvSpPr>
        <p:spPr>
          <a:xfrm>
            <a:off x="713232" y="896112"/>
            <a:ext cx="10607040" cy="16002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987552"/>
            <a:ext cx="10241280" cy="1463040"/>
          </a:xfrm>
          <a:prstGeom prst="rect">
            <a:avLst/>
          </a:prstGeom>
          <a:noFill/>
          <a:ln>
            <a:noFill/>
          </a:ln>
        </p:spPr>
        <p:txBody>
          <a:bodyPr wrap="none">
            <a:spAutoFit/>
          </a:bodyPr>
          <a:lstStyle/>
          <a:p>
            <a:pPr>
              <a:defRPr sz="1100">
                <a:solidFill>
                  <a:srgbClr val="E5F4F3"/>
                </a:solidFill>
                <a:latin typeface="Courier New"/>
              </a:defRPr>
            </a:pPr>
            <a:r>
              <a:t>自然语言问题</a:t>
            </a:r>
          </a:p>
          <a:p>
            <a:pPr>
              <a:defRPr sz="1100">
                <a:solidFill>
                  <a:srgbClr val="E5F4F3"/>
                </a:solidFill>
                <a:latin typeface="Courier New"/>
              </a:defRPr>
            </a:pPr>
            <a:r>
              <a:t>  -&gt; SQL+ 初始生成</a:t>
            </a:r>
          </a:p>
          <a:p>
            <a:pPr>
              <a:defRPr sz="1100">
                <a:solidFill>
                  <a:srgbClr val="E5F4F3"/>
                </a:solidFill>
                <a:latin typeface="Courier New"/>
              </a:defRPr>
            </a:pPr>
            <a:r>
              <a:t>  -&gt; SQL+ 转 SQL</a:t>
            </a:r>
          </a:p>
          <a:p>
            <a:pPr>
              <a:defRPr sz="1100">
                <a:solidFill>
                  <a:srgbClr val="E5F4F3"/>
                </a:solidFill>
                <a:latin typeface="Courier New"/>
              </a:defRPr>
            </a:pPr>
            <a:r>
              <a:t>  -&gt; 数据库执行</a:t>
            </a:r>
          </a:p>
          <a:p>
            <a:pPr>
              <a:defRPr sz="1100">
                <a:solidFill>
                  <a:srgbClr val="E5F4F3"/>
                </a:solidFill>
                <a:latin typeface="Courier New"/>
              </a:defRPr>
            </a:pPr>
            <a:r>
              <a:t>  -&gt; Critic Agent 错误诊断</a:t>
            </a:r>
          </a:p>
          <a:p>
            <a:pPr>
              <a:defRPr sz="1100">
                <a:solidFill>
                  <a:srgbClr val="E5F4F3"/>
                </a:solidFill>
                <a:latin typeface="Courier New"/>
              </a:defRPr>
            </a:pPr>
            <a:r>
              <a:t>  -&gt; Skill Router 错误类型路由</a:t>
            </a:r>
          </a:p>
          <a:p>
            <a:pPr>
              <a:defRPr sz="1100">
                <a:solidFill>
                  <a:srgbClr val="E5F4F3"/>
                </a:solidFill>
                <a:latin typeface="Courier New"/>
              </a:defRPr>
            </a:pPr>
            <a:r>
              <a:t>  -&gt; Repair Skill 局部修复</a:t>
            </a:r>
          </a:p>
          <a:p>
            <a:pPr>
              <a:defRPr sz="1100">
                <a:solidFill>
                  <a:srgbClr val="E5F4F3"/>
                </a:solidFill>
                <a:latin typeface="Courier New"/>
              </a:defRPr>
            </a:pPr>
            <a:r>
              <a:t>  -&gt; Executor 执行验证</a:t>
            </a:r>
          </a:p>
          <a:p>
            <a:pPr>
              <a:defRPr sz="1100">
                <a:solidFill>
                  <a:srgbClr val="E5F4F3"/>
                </a:solidFill>
                <a:latin typeface="Courier New"/>
              </a:defRPr>
            </a:pPr>
            <a:r>
              <a:t>  -&gt; 最终 SQL / 查询结果 / 修复解释</a:t>
            </a:r>
          </a:p>
        </p:txBody>
      </p:sp>
      <p:sp>
        <p:nvSpPr>
          <p:cNvPr id="7" name="TextBox 6"/>
          <p:cNvSpPr txBox="1"/>
          <p:nvPr/>
        </p:nvSpPr>
        <p:spPr>
          <a:xfrm>
            <a:off x="658368" y="2660904"/>
            <a:ext cx="3840480" cy="256032"/>
          </a:xfrm>
          <a:prstGeom prst="rect">
            <a:avLst/>
          </a:prstGeom>
          <a:noFill/>
          <a:ln>
            <a:noFill/>
          </a:ln>
        </p:spPr>
        <p:txBody>
          <a:bodyPr wrap="square" lIns="0" rIns="0" tIns="27432" bIns="27432" anchor="t">
            <a:spAutoFit/>
          </a:bodyPr>
          <a:lstStyle/>
          <a:p>
            <a:r>
              <a:rPr sz="1500" b="1">
                <a:solidFill>
                  <a:srgbClr val="12343B"/>
                </a:solidFill>
                <a:latin typeface="Microsoft YaHei"/>
              </a:rPr>
              <a:t>关键组件：</a:t>
            </a:r>
          </a:p>
        </p:txBody>
      </p:sp>
      <p:sp>
        <p:nvSpPr>
          <p:cNvPr id="8" name="Rectangle 7"/>
          <p:cNvSpPr/>
          <p:nvPr/>
        </p:nvSpPr>
        <p:spPr>
          <a:xfrm>
            <a:off x="658368" y="2971800"/>
            <a:ext cx="1051560" cy="32004"/>
          </a:xfrm>
          <a:prstGeom prst="rect">
            <a:avLst/>
          </a:prstGeom>
          <a:solidFill>
            <a:srgbClr val="E3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3099816"/>
            <a:ext cx="10241280" cy="1700784"/>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 SQL+ Parser / Translator</a:t>
            </a:r>
          </a:p>
          <a:p>
            <a:pPr>
              <a:defRPr sz="1500">
                <a:solidFill>
                  <a:srgbClr val="1F2937"/>
                </a:solidFill>
                <a:latin typeface="Microsoft YaHei"/>
              </a:defRPr>
            </a:pPr>
            <a:r>
              <a:t>• Schema Agent</a:t>
            </a:r>
          </a:p>
          <a:p>
            <a:pPr>
              <a:defRPr sz="1500">
                <a:solidFill>
                  <a:srgbClr val="1F2937"/>
                </a:solidFill>
                <a:latin typeface="Microsoft YaHei"/>
              </a:defRPr>
            </a:pPr>
            <a:r>
              <a:t>• Critic Agent</a:t>
            </a:r>
          </a:p>
          <a:p>
            <a:pPr>
              <a:defRPr sz="1500">
                <a:solidFill>
                  <a:srgbClr val="1F2937"/>
                </a:solidFill>
                <a:latin typeface="Microsoft YaHei"/>
              </a:defRPr>
            </a:pPr>
            <a:r>
              <a:t>• Skill Router</a:t>
            </a:r>
          </a:p>
          <a:p>
            <a:pPr>
              <a:defRPr sz="1500">
                <a:solidFill>
                  <a:srgbClr val="1F2937"/>
                </a:solidFill>
                <a:latin typeface="Microsoft YaHei"/>
              </a:defRPr>
            </a:pPr>
            <a:r>
              <a:t>• Repair Skills</a:t>
            </a:r>
          </a:p>
          <a:p>
            <a:pPr>
              <a:defRPr sz="1500">
                <a:solidFill>
                  <a:srgbClr val="1F2937"/>
                </a:solidFill>
                <a:latin typeface="Microsoft YaHei"/>
              </a:defRPr>
            </a:pPr>
            <a:r>
              <a:t>• Executor</a:t>
            </a:r>
          </a:p>
        </p:txBody>
      </p:sp>
      <p:sp>
        <p:nvSpPr>
          <p:cNvPr id="10" name="Rectangle 9"/>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SQL+ 语法设计</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08</a:t>
            </a:r>
          </a:p>
        </p:txBody>
      </p:sp>
      <p:sp>
        <p:nvSpPr>
          <p:cNvPr id="5" name="TextBox 4"/>
          <p:cNvSpPr txBox="1"/>
          <p:nvPr/>
        </p:nvSpPr>
        <p:spPr>
          <a:xfrm>
            <a:off x="658368" y="896112"/>
            <a:ext cx="3840480" cy="256032"/>
          </a:xfrm>
          <a:prstGeom prst="rect">
            <a:avLst/>
          </a:prstGeom>
          <a:noFill/>
          <a:ln>
            <a:noFill/>
          </a:ln>
        </p:spPr>
        <p:txBody>
          <a:bodyPr wrap="square" lIns="0" rIns="0" tIns="27432" bIns="27432" anchor="t">
            <a:spAutoFit/>
          </a:bodyPr>
          <a:lstStyle/>
          <a:p>
            <a:r>
              <a:rPr sz="1500" b="1">
                <a:solidFill>
                  <a:srgbClr val="12343B"/>
                </a:solidFill>
                <a:latin typeface="Microsoft YaHei"/>
              </a:rPr>
              <a:t>当前 SQL+ 最小子集：</a:t>
            </a:r>
          </a:p>
        </p:txBody>
      </p:sp>
      <p:sp>
        <p:nvSpPr>
          <p:cNvPr id="6" name="Rectangle 5"/>
          <p:cNvSpPr/>
          <p:nvPr/>
        </p:nvSpPr>
        <p:spPr>
          <a:xfrm>
            <a:off x="658368" y="1207008"/>
            <a:ext cx="1051560" cy="32004"/>
          </a:xfrm>
          <a:prstGeom prst="rect">
            <a:avLst/>
          </a:prstGeom>
          <a:solidFill>
            <a:srgbClr val="E3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58368" y="1335024"/>
          <a:ext cx="10881360" cy="3474720"/>
        </p:xfrm>
        <a:graphic>
          <a:graphicData uri="http://schemas.openxmlformats.org/drawingml/2006/table">
            <a:tbl>
              <a:tblPr firstRow="1" bandRow="1">
                <a:tableStyleId>{5C22544A-7EE6-4342-B048-85BDC9FD1C3A}</a:tableStyleId>
              </a:tblPr>
              <a:tblGrid>
                <a:gridCol w="5440680"/>
                <a:gridCol w="5440680"/>
              </a:tblGrid>
              <a:tr h="347472">
                <a:tc>
                  <a:txBody>
                    <a:bodyPr/>
                    <a:lstStyle/>
                    <a:p>
                      <a:pPr algn="ctr"/>
                      <a:r>
                        <a:rPr sz="1000" b="1">
                          <a:solidFill>
                            <a:srgbClr val="0F172A"/>
                          </a:solidFill>
                          <a:latin typeface="Microsoft YaHei"/>
                        </a:rPr>
                        <a:t>步骤</a:t>
                      </a:r>
                    </a:p>
                  </a:txBody>
                  <a:tcPr marL="36576" marR="36576" marT="18288" marB="18288">
                    <a:solidFill>
                      <a:srgbClr val="E8F1F5"/>
                    </a:solidFill>
                  </a:tcPr>
                </a:tc>
                <a:tc>
                  <a:txBody>
                    <a:bodyPr/>
                    <a:lstStyle/>
                    <a:p>
                      <a:pPr algn="ctr"/>
                      <a:r>
                        <a:rPr sz="1000" b="1">
                          <a:solidFill>
                            <a:srgbClr val="0F172A"/>
                          </a:solidFill>
                          <a:latin typeface="Microsoft YaHei"/>
                        </a:rPr>
                        <a:t>作用</a:t>
                      </a:r>
                    </a:p>
                  </a:txBody>
                  <a:tcPr marL="36576" marR="36576" marT="18288" marB="18288">
                    <a:solidFill>
                      <a:srgbClr val="E8F1F5"/>
                    </a:solidFill>
                  </a:tcPr>
                </a:tc>
              </a:tr>
              <a:tr h="347472">
                <a:tc>
                  <a:txBody>
                    <a:bodyPr/>
                    <a:lstStyle/>
                    <a:p>
                      <a:pPr algn="ctr"/>
                      <a:r>
                        <a:rPr sz="1000" b="0">
                          <a:solidFill>
                            <a:srgbClr val="0F172A"/>
                          </a:solidFill>
                          <a:latin typeface="Microsoft YaHei"/>
                        </a:rPr>
                        <a:t>FROM</a:t>
                      </a:r>
                    </a:p>
                  </a:txBody>
                  <a:tcPr marL="36576" marR="36576" marT="18288" marB="18288">
                    <a:solidFill>
                      <a:srgbClr val="FFFFFF"/>
                    </a:solidFill>
                  </a:tcPr>
                </a:tc>
                <a:tc>
                  <a:txBody>
                    <a:bodyPr/>
                    <a:lstStyle/>
                    <a:p>
                      <a:pPr algn="ctr"/>
                      <a:r>
                        <a:rPr sz="1000" b="0">
                          <a:solidFill>
                            <a:srgbClr val="0F172A"/>
                          </a:solidFill>
                          <a:latin typeface="Microsoft YaHei"/>
                        </a:rPr>
                        <a:t>指定数据源</a:t>
                      </a:r>
                    </a:p>
                  </a:txBody>
                  <a:tcPr marL="36576" marR="36576" marT="18288" marB="18288">
                    <a:solidFill>
                      <a:srgbClr val="FFFFFF"/>
                    </a:solidFill>
                  </a:tcPr>
                </a:tc>
              </a:tr>
              <a:tr h="347472">
                <a:tc>
                  <a:txBody>
                    <a:bodyPr/>
                    <a:lstStyle/>
                    <a:p>
                      <a:pPr algn="ctr"/>
                      <a:r>
                        <a:rPr sz="1000" b="0">
                          <a:solidFill>
                            <a:srgbClr val="0F172A"/>
                          </a:solidFill>
                          <a:latin typeface="Microsoft YaHei"/>
                        </a:rPr>
                        <a:t>JOIN</a:t>
                      </a:r>
                    </a:p>
                  </a:txBody>
                  <a:tcPr marL="36576" marR="36576" marT="18288" marB="18288">
                    <a:solidFill>
                      <a:srgbClr val="F6F8FA"/>
                    </a:solidFill>
                  </a:tcPr>
                </a:tc>
                <a:tc>
                  <a:txBody>
                    <a:bodyPr/>
                    <a:lstStyle/>
                    <a:p>
                      <a:pPr algn="ctr"/>
                      <a:r>
                        <a:rPr sz="1000" b="0">
                          <a:solidFill>
                            <a:srgbClr val="0F172A"/>
                          </a:solidFill>
                          <a:latin typeface="Microsoft YaHei"/>
                        </a:rPr>
                        <a:t>指定连接路径</a:t>
                      </a:r>
                    </a:p>
                  </a:txBody>
                  <a:tcPr marL="36576" marR="36576" marT="18288" marB="18288">
                    <a:solidFill>
                      <a:srgbClr val="F6F8FA"/>
                    </a:solidFill>
                  </a:tcPr>
                </a:tc>
              </a:tr>
              <a:tr h="347472">
                <a:tc>
                  <a:txBody>
                    <a:bodyPr/>
                    <a:lstStyle/>
                    <a:p>
                      <a:pPr algn="ctr"/>
                      <a:r>
                        <a:rPr sz="1000" b="0">
                          <a:solidFill>
                            <a:srgbClr val="0F172A"/>
                          </a:solidFill>
                          <a:latin typeface="Microsoft YaHei"/>
                        </a:rPr>
                        <a:t>WHERE</a:t>
                      </a:r>
                    </a:p>
                  </a:txBody>
                  <a:tcPr marL="36576" marR="36576" marT="18288" marB="18288">
                    <a:solidFill>
                      <a:srgbClr val="FFFFFF"/>
                    </a:solidFill>
                  </a:tcPr>
                </a:tc>
                <a:tc>
                  <a:txBody>
                    <a:bodyPr/>
                    <a:lstStyle/>
                    <a:p>
                      <a:pPr algn="ctr"/>
                      <a:r>
                        <a:rPr sz="1000" b="0">
                          <a:solidFill>
                            <a:srgbClr val="0F172A"/>
                          </a:solidFill>
                          <a:latin typeface="Microsoft YaHei"/>
                        </a:rPr>
                        <a:t>过滤条件</a:t>
                      </a:r>
                    </a:p>
                  </a:txBody>
                  <a:tcPr marL="36576" marR="36576" marT="18288" marB="18288">
                    <a:solidFill>
                      <a:srgbClr val="FFFFFF"/>
                    </a:solidFill>
                  </a:tcPr>
                </a:tc>
              </a:tr>
              <a:tr h="347472">
                <a:tc>
                  <a:txBody>
                    <a:bodyPr/>
                    <a:lstStyle/>
                    <a:p>
                      <a:pPr algn="ctr"/>
                      <a:r>
                        <a:rPr sz="1000" b="0">
                          <a:solidFill>
                            <a:srgbClr val="0F172A"/>
                          </a:solidFill>
                          <a:latin typeface="Microsoft YaHei"/>
                        </a:rPr>
                        <a:t>GROUP</a:t>
                      </a:r>
                    </a:p>
                  </a:txBody>
                  <a:tcPr marL="36576" marR="36576" marT="18288" marB="18288">
                    <a:solidFill>
                      <a:srgbClr val="F6F8FA"/>
                    </a:solidFill>
                  </a:tcPr>
                </a:tc>
                <a:tc>
                  <a:txBody>
                    <a:bodyPr/>
                    <a:lstStyle/>
                    <a:p>
                      <a:pPr algn="ctr"/>
                      <a:r>
                        <a:rPr sz="1000" b="0">
                          <a:solidFill>
                            <a:srgbClr val="0F172A"/>
                          </a:solidFill>
                          <a:latin typeface="Microsoft YaHei"/>
                        </a:rPr>
                        <a:t>分组维度</a:t>
                      </a:r>
                    </a:p>
                  </a:txBody>
                  <a:tcPr marL="36576" marR="36576" marT="18288" marB="18288">
                    <a:solidFill>
                      <a:srgbClr val="F6F8FA"/>
                    </a:solidFill>
                  </a:tcPr>
                </a:tc>
              </a:tr>
              <a:tr h="347472">
                <a:tc>
                  <a:txBody>
                    <a:bodyPr/>
                    <a:lstStyle/>
                    <a:p>
                      <a:pPr algn="ctr"/>
                      <a:r>
                        <a:rPr sz="1000" b="0">
                          <a:solidFill>
                            <a:srgbClr val="0F172A"/>
                          </a:solidFill>
                          <a:latin typeface="Microsoft YaHei"/>
                        </a:rPr>
                        <a:t>AGG</a:t>
                      </a:r>
                    </a:p>
                  </a:txBody>
                  <a:tcPr marL="36576" marR="36576" marT="18288" marB="18288">
                    <a:solidFill>
                      <a:srgbClr val="FFFFFF"/>
                    </a:solidFill>
                  </a:tcPr>
                </a:tc>
                <a:tc>
                  <a:txBody>
                    <a:bodyPr/>
                    <a:lstStyle/>
                    <a:p>
                      <a:pPr algn="ctr"/>
                      <a:r>
                        <a:rPr sz="1000" b="0">
                          <a:solidFill>
                            <a:srgbClr val="0F172A"/>
                          </a:solidFill>
                          <a:latin typeface="Microsoft YaHei"/>
                        </a:rPr>
                        <a:t>聚合输出</a:t>
                      </a:r>
                    </a:p>
                  </a:txBody>
                  <a:tcPr marL="36576" marR="36576" marT="18288" marB="18288">
                    <a:solidFill>
                      <a:srgbClr val="FFFFFF"/>
                    </a:solidFill>
                  </a:tcPr>
                </a:tc>
              </a:tr>
              <a:tr h="347472">
                <a:tc>
                  <a:txBody>
                    <a:bodyPr/>
                    <a:lstStyle/>
                    <a:p>
                      <a:pPr algn="ctr"/>
                      <a:r>
                        <a:rPr sz="1000" b="0">
                          <a:solidFill>
                            <a:srgbClr val="0F172A"/>
                          </a:solidFill>
                          <a:latin typeface="Microsoft YaHei"/>
                        </a:rPr>
                        <a:t>HAVING</a:t>
                      </a:r>
                    </a:p>
                  </a:txBody>
                  <a:tcPr marL="36576" marR="36576" marT="18288" marB="18288">
                    <a:solidFill>
                      <a:srgbClr val="F6F8FA"/>
                    </a:solidFill>
                  </a:tcPr>
                </a:tc>
                <a:tc>
                  <a:txBody>
                    <a:bodyPr/>
                    <a:lstStyle/>
                    <a:p>
                      <a:pPr algn="ctr"/>
                      <a:r>
                        <a:rPr sz="1000" b="0">
                          <a:solidFill>
                            <a:srgbClr val="0F172A"/>
                          </a:solidFill>
                          <a:latin typeface="Microsoft YaHei"/>
                        </a:rPr>
                        <a:t>聚合后过滤</a:t>
                      </a:r>
                    </a:p>
                  </a:txBody>
                  <a:tcPr marL="36576" marR="36576" marT="18288" marB="18288">
                    <a:solidFill>
                      <a:srgbClr val="F6F8FA"/>
                    </a:solidFill>
                  </a:tcPr>
                </a:tc>
              </a:tr>
              <a:tr h="347472">
                <a:tc>
                  <a:txBody>
                    <a:bodyPr/>
                    <a:lstStyle/>
                    <a:p>
                      <a:pPr algn="ctr"/>
                      <a:r>
                        <a:rPr sz="1000" b="0">
                          <a:solidFill>
                            <a:srgbClr val="0F172A"/>
                          </a:solidFill>
                          <a:latin typeface="Microsoft YaHei"/>
                        </a:rPr>
                        <a:t>SELECT</a:t>
                      </a:r>
                    </a:p>
                  </a:txBody>
                  <a:tcPr marL="36576" marR="36576" marT="18288" marB="18288">
                    <a:solidFill>
                      <a:srgbClr val="FFFFFF"/>
                    </a:solidFill>
                  </a:tcPr>
                </a:tc>
                <a:tc>
                  <a:txBody>
                    <a:bodyPr/>
                    <a:lstStyle/>
                    <a:p>
                      <a:pPr algn="ctr"/>
                      <a:r>
                        <a:rPr sz="1000" b="0">
                          <a:solidFill>
                            <a:srgbClr val="0F172A"/>
                          </a:solidFill>
                          <a:latin typeface="Microsoft YaHei"/>
                        </a:rPr>
                        <a:t>最终投影</a:t>
                      </a:r>
                    </a:p>
                  </a:txBody>
                  <a:tcPr marL="36576" marR="36576" marT="18288" marB="18288">
                    <a:solidFill>
                      <a:srgbClr val="FFFFFF"/>
                    </a:solidFill>
                  </a:tcPr>
                </a:tc>
              </a:tr>
              <a:tr h="347472">
                <a:tc>
                  <a:txBody>
                    <a:bodyPr/>
                    <a:lstStyle/>
                    <a:p>
                      <a:pPr algn="ctr"/>
                      <a:r>
                        <a:rPr sz="1000" b="0">
                          <a:solidFill>
                            <a:srgbClr val="0F172A"/>
                          </a:solidFill>
                          <a:latin typeface="Microsoft YaHei"/>
                        </a:rPr>
                        <a:t>ORDER</a:t>
                      </a:r>
                    </a:p>
                  </a:txBody>
                  <a:tcPr marL="36576" marR="36576" marT="18288" marB="18288">
                    <a:solidFill>
                      <a:srgbClr val="F6F8FA"/>
                    </a:solidFill>
                  </a:tcPr>
                </a:tc>
                <a:tc>
                  <a:txBody>
                    <a:bodyPr/>
                    <a:lstStyle/>
                    <a:p>
                      <a:pPr algn="ctr"/>
                      <a:r>
                        <a:rPr sz="1000" b="0">
                          <a:solidFill>
                            <a:srgbClr val="0F172A"/>
                          </a:solidFill>
                          <a:latin typeface="Microsoft YaHei"/>
                        </a:rPr>
                        <a:t>排序</a:t>
                      </a:r>
                    </a:p>
                  </a:txBody>
                  <a:tcPr marL="36576" marR="36576" marT="18288" marB="18288">
                    <a:solidFill>
                      <a:srgbClr val="F6F8FA"/>
                    </a:solidFill>
                  </a:tcPr>
                </a:tc>
              </a:tr>
              <a:tr h="347472">
                <a:tc>
                  <a:txBody>
                    <a:bodyPr/>
                    <a:lstStyle/>
                    <a:p>
                      <a:pPr algn="ctr"/>
                      <a:r>
                        <a:rPr sz="1000" b="0">
                          <a:solidFill>
                            <a:srgbClr val="0F172A"/>
                          </a:solidFill>
                          <a:latin typeface="Microsoft YaHei"/>
                        </a:rPr>
                        <a:t>LIMIT</a:t>
                      </a:r>
                    </a:p>
                  </a:txBody>
                  <a:tcPr marL="36576" marR="36576" marT="18288" marB="18288">
                    <a:solidFill>
                      <a:srgbClr val="FFFFFF"/>
                    </a:solidFill>
                  </a:tcPr>
                </a:tc>
                <a:tc>
                  <a:txBody>
                    <a:bodyPr/>
                    <a:lstStyle/>
                    <a:p>
                      <a:pPr algn="ctr"/>
                      <a:r>
                        <a:rPr sz="1000" b="0">
                          <a:solidFill>
                            <a:srgbClr val="0F172A"/>
                          </a:solidFill>
                          <a:latin typeface="Microsoft YaHei"/>
                        </a:rPr>
                        <a:t>结果限制</a:t>
                      </a:r>
                    </a:p>
                  </a:txBody>
                  <a:tcPr marL="36576" marR="36576" marT="18288" marB="18288">
                    <a:solidFill>
                      <a:srgbClr val="FFFFFF"/>
                    </a:solidFill>
                  </a:tcPr>
                </a:tc>
              </a:tr>
            </a:tbl>
          </a:graphicData>
        </a:graphic>
      </p:graphicFrame>
      <p:sp>
        <p:nvSpPr>
          <p:cNvPr id="8" name="TextBox 7"/>
          <p:cNvSpPr txBox="1"/>
          <p:nvPr/>
        </p:nvSpPr>
        <p:spPr>
          <a:xfrm>
            <a:off x="658368" y="4974336"/>
            <a:ext cx="3840480" cy="256032"/>
          </a:xfrm>
          <a:prstGeom prst="rect">
            <a:avLst/>
          </a:prstGeom>
          <a:noFill/>
          <a:ln>
            <a:noFill/>
          </a:ln>
        </p:spPr>
        <p:txBody>
          <a:bodyPr wrap="square" lIns="0" rIns="0" tIns="27432" bIns="27432" anchor="t">
            <a:spAutoFit/>
          </a:bodyPr>
          <a:lstStyle/>
          <a:p>
            <a:r>
              <a:rPr sz="1500" b="1">
                <a:solidFill>
                  <a:srgbClr val="12343B"/>
                </a:solidFill>
                <a:latin typeface="Microsoft YaHei"/>
              </a:rPr>
              <a:t>设计原则：</a:t>
            </a:r>
          </a:p>
        </p:txBody>
      </p:sp>
      <p:sp>
        <p:nvSpPr>
          <p:cNvPr id="9" name="Rectangle 8"/>
          <p:cNvSpPr/>
          <p:nvPr/>
        </p:nvSpPr>
        <p:spPr>
          <a:xfrm>
            <a:off x="658368" y="5285231"/>
            <a:ext cx="1051560" cy="32004"/>
          </a:xfrm>
          <a:prstGeom prst="rect">
            <a:avLst/>
          </a:prstGeom>
          <a:solidFill>
            <a:srgbClr val="E3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5413248"/>
            <a:ext cx="10241280" cy="1133856"/>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 线性数据流</a:t>
            </a:r>
          </a:p>
          <a:p>
            <a:pPr>
              <a:defRPr sz="1500">
                <a:solidFill>
                  <a:srgbClr val="1F2937"/>
                </a:solidFill>
                <a:latin typeface="Microsoft YaHei"/>
              </a:defRPr>
            </a:pPr>
            <a:r>
              <a:t>• 中间步骤可解释</a:t>
            </a:r>
          </a:p>
          <a:p>
            <a:pPr>
              <a:defRPr sz="1500">
                <a:solidFill>
                  <a:srgbClr val="1F2937"/>
                </a:solidFill>
                <a:latin typeface="Microsoft YaHei"/>
              </a:defRPr>
            </a:pPr>
            <a:r>
              <a:t>• 局部可修复</a:t>
            </a:r>
          </a:p>
          <a:p>
            <a:pPr>
              <a:defRPr sz="1500">
                <a:solidFill>
                  <a:srgbClr val="1F2937"/>
                </a:solidFill>
                <a:latin typeface="Microsoft YaHei"/>
              </a:defRPr>
            </a:pPr>
            <a:r>
              <a:t>• 可转换为标准 SQL / 达梦 SQL</a:t>
            </a:r>
          </a:p>
        </p:txBody>
      </p:sp>
      <p:sp>
        <p:nvSpPr>
          <p:cNvPr id="11" name="Rectangle 10"/>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多智能体设计</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09</a:t>
            </a:r>
          </a:p>
        </p:txBody>
      </p:sp>
      <p:graphicFrame>
        <p:nvGraphicFramePr>
          <p:cNvPr id="5" name="Table 4"/>
          <p:cNvGraphicFramePr>
            <a:graphicFrameLocks noGrp="1"/>
          </p:cNvGraphicFramePr>
          <p:nvPr/>
        </p:nvGraphicFramePr>
        <p:xfrm>
          <a:off x="658368" y="896112"/>
          <a:ext cx="10881360" cy="3127248"/>
        </p:xfrm>
        <a:graphic>
          <a:graphicData uri="http://schemas.openxmlformats.org/drawingml/2006/table">
            <a:tbl>
              <a:tblPr firstRow="1" bandRow="1">
                <a:tableStyleId>{5C22544A-7EE6-4342-B048-85BDC9FD1C3A}</a:tableStyleId>
              </a:tblPr>
              <a:tblGrid>
                <a:gridCol w="5440680"/>
                <a:gridCol w="5440680"/>
              </a:tblGrid>
              <a:tr h="347472">
                <a:tc>
                  <a:txBody>
                    <a:bodyPr/>
                    <a:lstStyle/>
                    <a:p>
                      <a:pPr algn="ctr"/>
                      <a:r>
                        <a:rPr sz="1000" b="1">
                          <a:solidFill>
                            <a:srgbClr val="0F172A"/>
                          </a:solidFill>
                          <a:latin typeface="Microsoft YaHei"/>
                        </a:rPr>
                        <a:t>Agent / 模块</a:t>
                      </a:r>
                    </a:p>
                  </a:txBody>
                  <a:tcPr marL="36576" marR="36576" marT="18288" marB="18288">
                    <a:solidFill>
                      <a:srgbClr val="E8F1F5"/>
                    </a:solidFill>
                  </a:tcPr>
                </a:tc>
                <a:tc>
                  <a:txBody>
                    <a:bodyPr/>
                    <a:lstStyle/>
                    <a:p>
                      <a:pPr algn="ctr"/>
                      <a:r>
                        <a:rPr sz="1000" b="1">
                          <a:solidFill>
                            <a:srgbClr val="0F172A"/>
                          </a:solidFill>
                          <a:latin typeface="Microsoft YaHei"/>
                        </a:rPr>
                        <a:t>作用</a:t>
                      </a:r>
                    </a:p>
                  </a:txBody>
                  <a:tcPr marL="36576" marR="36576" marT="18288" marB="18288">
                    <a:solidFill>
                      <a:srgbClr val="E8F1F5"/>
                    </a:solidFill>
                  </a:tcPr>
                </a:tc>
              </a:tr>
              <a:tr h="347472">
                <a:tc>
                  <a:txBody>
                    <a:bodyPr/>
                    <a:lstStyle/>
                    <a:p>
                      <a:pPr algn="ctr"/>
                      <a:r>
                        <a:rPr sz="1000" b="0">
                          <a:solidFill>
                            <a:srgbClr val="0F172A"/>
                          </a:solidFill>
                          <a:latin typeface="Microsoft YaHei"/>
                        </a:rPr>
                        <a:t>Intent Agent</a:t>
                      </a:r>
                    </a:p>
                  </a:txBody>
                  <a:tcPr marL="36576" marR="36576" marT="18288" marB="18288">
                    <a:solidFill>
                      <a:srgbClr val="FFFFFF"/>
                    </a:solidFill>
                  </a:tcPr>
                </a:tc>
                <a:tc>
                  <a:txBody>
                    <a:bodyPr/>
                    <a:lstStyle/>
                    <a:p>
                      <a:pPr algn="ctr"/>
                      <a:r>
                        <a:rPr sz="1000" b="0">
                          <a:solidFill>
                            <a:srgbClr val="0F172A"/>
                          </a:solidFill>
                          <a:latin typeface="Microsoft YaHei"/>
                        </a:rPr>
                        <a:t>识别查询目标、条件、聚合需求</a:t>
                      </a:r>
                    </a:p>
                  </a:txBody>
                  <a:tcPr marL="36576" marR="36576" marT="18288" marB="18288">
                    <a:solidFill>
                      <a:srgbClr val="FFFFFF"/>
                    </a:solidFill>
                  </a:tcPr>
                </a:tc>
              </a:tr>
              <a:tr h="347472">
                <a:tc>
                  <a:txBody>
                    <a:bodyPr/>
                    <a:lstStyle/>
                    <a:p>
                      <a:pPr algn="ctr"/>
                      <a:r>
                        <a:rPr sz="1000" b="0">
                          <a:solidFill>
                            <a:srgbClr val="0F172A"/>
                          </a:solidFill>
                          <a:latin typeface="Microsoft YaHei"/>
                        </a:rPr>
                        <a:t>Schema Agent</a:t>
                      </a:r>
                    </a:p>
                  </a:txBody>
                  <a:tcPr marL="36576" marR="36576" marT="18288" marB="18288">
                    <a:solidFill>
                      <a:srgbClr val="F6F8FA"/>
                    </a:solidFill>
                  </a:tcPr>
                </a:tc>
                <a:tc>
                  <a:txBody>
                    <a:bodyPr/>
                    <a:lstStyle/>
                    <a:p>
                      <a:pPr algn="l"/>
                      <a:r>
                        <a:rPr sz="1000" b="0">
                          <a:solidFill>
                            <a:srgbClr val="0F172A"/>
                          </a:solidFill>
                          <a:latin typeface="Microsoft YaHei"/>
                        </a:rPr>
                        <a:t>选择表、字段、join 路径、候选字段值</a:t>
                      </a:r>
                    </a:p>
                  </a:txBody>
                  <a:tcPr marL="36576" marR="36576" marT="18288" marB="18288">
                    <a:solidFill>
                      <a:srgbClr val="F6F8FA"/>
                    </a:solidFill>
                  </a:tcPr>
                </a:tc>
              </a:tr>
              <a:tr h="347472">
                <a:tc>
                  <a:txBody>
                    <a:bodyPr/>
                    <a:lstStyle/>
                    <a:p>
                      <a:pPr algn="ctr"/>
                      <a:r>
                        <a:rPr sz="1000" b="0">
                          <a:solidFill>
                            <a:srgbClr val="0F172A"/>
                          </a:solidFill>
                          <a:latin typeface="Microsoft YaHei"/>
                        </a:rPr>
                        <a:t>SQL+ Generator</a:t>
                      </a:r>
                    </a:p>
                  </a:txBody>
                  <a:tcPr marL="36576" marR="36576" marT="18288" marB="18288">
                    <a:solidFill>
                      <a:srgbClr val="FFFFFF"/>
                    </a:solidFill>
                  </a:tcPr>
                </a:tc>
                <a:tc>
                  <a:txBody>
                    <a:bodyPr/>
                    <a:lstStyle/>
                    <a:p>
                      <a:pPr algn="ctr"/>
                      <a:r>
                        <a:rPr sz="1000" b="0">
                          <a:solidFill>
                            <a:srgbClr val="0F172A"/>
                          </a:solidFill>
                          <a:latin typeface="Microsoft YaHei"/>
                        </a:rPr>
                        <a:t>生成 SQL+ 查询</a:t>
                      </a:r>
                    </a:p>
                  </a:txBody>
                  <a:tcPr marL="36576" marR="36576" marT="18288" marB="18288">
                    <a:solidFill>
                      <a:srgbClr val="FFFFFF"/>
                    </a:solidFill>
                  </a:tcPr>
                </a:tc>
              </a:tr>
              <a:tr h="347472">
                <a:tc>
                  <a:txBody>
                    <a:bodyPr/>
                    <a:lstStyle/>
                    <a:p>
                      <a:pPr algn="ctr"/>
                      <a:r>
                        <a:rPr sz="1000" b="0">
                          <a:solidFill>
                            <a:srgbClr val="0F172A"/>
                          </a:solidFill>
                          <a:latin typeface="Microsoft YaHei"/>
                        </a:rPr>
                        <a:t>Translator</a:t>
                      </a:r>
                    </a:p>
                  </a:txBody>
                  <a:tcPr marL="36576" marR="36576" marT="18288" marB="18288">
                    <a:solidFill>
                      <a:srgbClr val="F6F8FA"/>
                    </a:solidFill>
                  </a:tcPr>
                </a:tc>
                <a:tc>
                  <a:txBody>
                    <a:bodyPr/>
                    <a:lstStyle/>
                    <a:p>
                      <a:pPr algn="ctr"/>
                      <a:r>
                        <a:rPr sz="1000" b="0">
                          <a:solidFill>
                            <a:srgbClr val="0F172A"/>
                          </a:solidFill>
                          <a:latin typeface="Microsoft YaHei"/>
                        </a:rPr>
                        <a:t>SQL+ 转 SQL</a:t>
                      </a:r>
                    </a:p>
                  </a:txBody>
                  <a:tcPr marL="36576" marR="36576" marT="18288" marB="18288">
                    <a:solidFill>
                      <a:srgbClr val="F6F8FA"/>
                    </a:solidFill>
                  </a:tcPr>
                </a:tc>
              </a:tr>
              <a:tr h="347472">
                <a:tc>
                  <a:txBody>
                    <a:bodyPr/>
                    <a:lstStyle/>
                    <a:p>
                      <a:pPr algn="ctr"/>
                      <a:r>
                        <a:rPr sz="1000" b="0">
                          <a:solidFill>
                            <a:srgbClr val="0F172A"/>
                          </a:solidFill>
                          <a:latin typeface="Microsoft YaHei"/>
                        </a:rPr>
                        <a:t>Critic Agent</a:t>
                      </a:r>
                    </a:p>
                  </a:txBody>
                  <a:tcPr marL="36576" marR="36576" marT="18288" marB="18288">
                    <a:solidFill>
                      <a:srgbClr val="FFFFFF"/>
                    </a:solidFill>
                  </a:tcPr>
                </a:tc>
                <a:tc>
                  <a:txBody>
                    <a:bodyPr/>
                    <a:lstStyle/>
                    <a:p>
                      <a:pPr algn="ctr"/>
                      <a:r>
                        <a:rPr sz="1000" b="0">
                          <a:solidFill>
                            <a:srgbClr val="0F172A"/>
                          </a:solidFill>
                          <a:latin typeface="Microsoft YaHei"/>
                        </a:rPr>
                        <a:t>根据执行反馈定位错误</a:t>
                      </a:r>
                    </a:p>
                  </a:txBody>
                  <a:tcPr marL="36576" marR="36576" marT="18288" marB="18288">
                    <a:solidFill>
                      <a:srgbClr val="FFFFFF"/>
                    </a:solidFill>
                  </a:tcPr>
                </a:tc>
              </a:tr>
              <a:tr h="347472">
                <a:tc>
                  <a:txBody>
                    <a:bodyPr/>
                    <a:lstStyle/>
                    <a:p>
                      <a:pPr algn="ctr"/>
                      <a:r>
                        <a:rPr sz="1000" b="0">
                          <a:solidFill>
                            <a:srgbClr val="0F172A"/>
                          </a:solidFill>
                          <a:latin typeface="Microsoft YaHei"/>
                        </a:rPr>
                        <a:t>Skill Router</a:t>
                      </a:r>
                    </a:p>
                  </a:txBody>
                  <a:tcPr marL="36576" marR="36576" marT="18288" marB="18288">
                    <a:solidFill>
                      <a:srgbClr val="F6F8FA"/>
                    </a:solidFill>
                  </a:tcPr>
                </a:tc>
                <a:tc>
                  <a:txBody>
                    <a:bodyPr/>
                    <a:lstStyle/>
                    <a:p>
                      <a:pPr algn="l"/>
                      <a:r>
                        <a:rPr sz="1000" b="0">
                          <a:solidFill>
                            <a:srgbClr val="0F172A"/>
                          </a:solidFill>
                          <a:latin typeface="Microsoft YaHei"/>
                        </a:rPr>
                        <a:t>根据错误类型选择 repair skill</a:t>
                      </a:r>
                    </a:p>
                  </a:txBody>
                  <a:tcPr marL="36576" marR="36576" marT="18288" marB="18288">
                    <a:solidFill>
                      <a:srgbClr val="F6F8FA"/>
                    </a:solidFill>
                  </a:tcPr>
                </a:tc>
              </a:tr>
              <a:tr h="347472">
                <a:tc>
                  <a:txBody>
                    <a:bodyPr/>
                    <a:lstStyle/>
                    <a:p>
                      <a:pPr algn="ctr"/>
                      <a:r>
                        <a:rPr sz="1000" b="0">
                          <a:solidFill>
                            <a:srgbClr val="0F172A"/>
                          </a:solidFill>
                          <a:latin typeface="Microsoft YaHei"/>
                        </a:rPr>
                        <a:t>Repair Skill</a:t>
                      </a:r>
                    </a:p>
                  </a:txBody>
                  <a:tcPr marL="36576" marR="36576" marT="18288" marB="18288">
                    <a:solidFill>
                      <a:srgbClr val="FFFFFF"/>
                    </a:solidFill>
                  </a:tcPr>
                </a:tc>
                <a:tc>
                  <a:txBody>
                    <a:bodyPr/>
                    <a:lstStyle/>
                    <a:p>
                      <a:pPr algn="ctr"/>
                      <a:r>
                        <a:rPr sz="1000" b="0">
                          <a:solidFill>
                            <a:srgbClr val="0F172A"/>
                          </a:solidFill>
                          <a:latin typeface="Microsoft YaHei"/>
                        </a:rPr>
                        <a:t>局部修复 SQL+</a:t>
                      </a:r>
                    </a:p>
                  </a:txBody>
                  <a:tcPr marL="36576" marR="36576" marT="18288" marB="18288">
                    <a:solidFill>
                      <a:srgbClr val="FFFFFF"/>
                    </a:solidFill>
                  </a:tcPr>
                </a:tc>
              </a:tr>
              <a:tr h="347472">
                <a:tc>
                  <a:txBody>
                    <a:bodyPr/>
                    <a:lstStyle/>
                    <a:p>
                      <a:pPr algn="ctr"/>
                      <a:r>
                        <a:rPr sz="1000" b="0">
                          <a:solidFill>
                            <a:srgbClr val="0F172A"/>
                          </a:solidFill>
                          <a:latin typeface="Microsoft YaHei"/>
                        </a:rPr>
                        <a:t>Executor</a:t>
                      </a:r>
                    </a:p>
                  </a:txBody>
                  <a:tcPr marL="36576" marR="36576" marT="18288" marB="18288">
                    <a:solidFill>
                      <a:srgbClr val="F6F8FA"/>
                    </a:solidFill>
                  </a:tcPr>
                </a:tc>
                <a:tc>
                  <a:txBody>
                    <a:bodyPr/>
                    <a:lstStyle/>
                    <a:p>
                      <a:pPr algn="ctr"/>
                      <a:r>
                        <a:rPr sz="1000" b="0">
                          <a:solidFill>
                            <a:srgbClr val="0F172A"/>
                          </a:solidFill>
                          <a:latin typeface="Microsoft YaHei"/>
                        </a:rPr>
                        <a:t>执行和验证结果</a:t>
                      </a:r>
                    </a:p>
                  </a:txBody>
                  <a:tcPr marL="36576" marR="36576" marT="18288" marB="18288">
                    <a:solidFill>
                      <a:srgbClr val="F6F8FA"/>
                    </a:solidFill>
                  </a:tcPr>
                </a:tc>
              </a:tr>
            </a:tbl>
          </a:graphicData>
        </a:graphic>
      </p:graphicFrame>
      <p:sp>
        <p:nvSpPr>
          <p:cNvPr id="6" name="Rectangle 5"/>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10.xml><?xml version="1.0" encoding="utf-8"?>
<p:sld xmlns:a="http://schemas.openxmlformats.org/drawingml/2006/main"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错误类型与 Repair Skill</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10</a:t>
            </a:r>
          </a:p>
        </p:txBody>
      </p:sp>
      <p:sp>
        <p:nvSpPr>
          <p:cNvPr id="5" name="TextBox 4"/>
          <p:cNvSpPr txBox="1"/>
          <p:nvPr/>
        </p:nvSpPr>
        <p:spPr>
          <a:xfrm>
            <a:off x="658368" y="896112"/>
            <a:ext cx="3840480" cy="256032"/>
          </a:xfrm>
          <a:prstGeom prst="rect">
            <a:avLst/>
          </a:prstGeom>
          <a:noFill/>
          <a:ln>
            <a:noFill/>
          </a:ln>
        </p:spPr>
        <p:txBody>
          <a:bodyPr wrap="square" lIns="0" rIns="0" tIns="27432" bIns="27432" anchor="t">
            <a:spAutoFit/>
          </a:bodyPr>
          <a:lstStyle/>
          <a:p>
            <a:r>
              <a:rPr sz="1500" b="1">
                <a:solidFill>
                  <a:srgbClr val="12343B"/>
                </a:solidFill>
                <a:latin typeface="Microsoft YaHei"/>
              </a:rPr>
              <a:t>当前错误类型：</a:t>
            </a:r>
          </a:p>
        </p:txBody>
      </p:sp>
      <p:sp>
        <p:nvSpPr>
          <p:cNvPr id="6" name="Rectangle 5"/>
          <p:cNvSpPr/>
          <p:nvPr/>
        </p:nvSpPr>
        <p:spPr>
          <a:xfrm>
            <a:off x="658368" y="1207008"/>
            <a:ext cx="1051560" cy="32004"/>
          </a:xfrm>
          <a:prstGeom prst="rect">
            <a:avLst/>
          </a:prstGeom>
          <a:solidFill>
            <a:srgbClr val="E3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335024"/>
            <a:ext cx="10241280" cy="1417320"/>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 value-linking：字段值拼写、日期边界、状态值不匹配。</a:t>
            </a:r>
          </a:p>
          <a:p>
            <a:pPr>
              <a:defRPr sz="1500">
                <a:solidFill>
                  <a:srgbClr val="1F2937"/>
                </a:solidFill>
                <a:latin typeface="Microsoft YaHei"/>
              </a:defRPr>
            </a:pPr>
            <a:r>
              <a:t>• ORDER/LIMIT：排序遗漏、排序字段错误、排序方向错误。</a:t>
            </a:r>
          </a:p>
          <a:p>
            <a:pPr>
              <a:defRPr sz="1500">
                <a:solidFill>
                  <a:srgbClr val="1F2937"/>
                </a:solidFill>
                <a:latin typeface="Microsoft YaHei"/>
              </a:defRPr>
            </a:pPr>
            <a:r>
              <a:t>• aggregation：GROUP 维度、COUNT 口径、AGG 别名、ORDER/HAVING 引用。</a:t>
            </a:r>
          </a:p>
          <a:p>
            <a:pPr>
              <a:defRPr sz="1500">
                <a:solidFill>
                  <a:srgbClr val="1F2937"/>
                </a:solidFill>
                <a:latin typeface="Microsoft YaHei"/>
              </a:defRPr>
            </a:pPr>
            <a:r>
              <a:t>• join：JOIN 路径、冗余 JOIN、缺失 JOIN、paid 过滤、连接方向。</a:t>
            </a:r>
          </a:p>
          <a:p>
            <a:pPr>
              <a:defRPr sz="1500">
                <a:solidFill>
                  <a:srgbClr val="1F2937"/>
                </a:solidFill>
                <a:latin typeface="Microsoft YaHei"/>
              </a:defRPr>
            </a:pPr>
            <a:r>
              <a:t>• projection：结果列多、少或列顺序错误。</a:t>
            </a:r>
          </a:p>
        </p:txBody>
      </p:sp>
      <p:sp>
        <p:nvSpPr>
          <p:cNvPr id="8" name="TextBox 7"/>
          <p:cNvSpPr txBox="1"/>
          <p:nvPr/>
        </p:nvSpPr>
        <p:spPr>
          <a:xfrm>
            <a:off x="658368" y="2862072"/>
            <a:ext cx="3840480" cy="256032"/>
          </a:xfrm>
          <a:prstGeom prst="rect">
            <a:avLst/>
          </a:prstGeom>
          <a:noFill/>
          <a:ln>
            <a:noFill/>
          </a:ln>
        </p:spPr>
        <p:txBody>
          <a:bodyPr wrap="square" lIns="0" rIns="0" tIns="27432" bIns="27432" anchor="t">
            <a:spAutoFit/>
          </a:bodyPr>
          <a:lstStyle/>
          <a:p>
            <a:r>
              <a:rPr sz="1500" b="1">
                <a:solidFill>
                  <a:srgbClr val="12343B"/>
                </a:solidFill>
                <a:latin typeface="Microsoft YaHei"/>
              </a:rPr>
              <a:t>已完成 repair skill：</a:t>
            </a:r>
          </a:p>
        </p:txBody>
      </p:sp>
      <p:sp>
        <p:nvSpPr>
          <p:cNvPr id="9" name="Rectangle 8"/>
          <p:cNvSpPr/>
          <p:nvPr/>
        </p:nvSpPr>
        <p:spPr>
          <a:xfrm>
            <a:off x="658368" y="3172968"/>
            <a:ext cx="1051560" cy="32004"/>
          </a:xfrm>
          <a:prstGeom prst="rect">
            <a:avLst/>
          </a:prstGeom>
          <a:solidFill>
            <a:srgbClr val="E3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3300984"/>
            <a:ext cx="10241280" cy="1133856"/>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 value-linking repair skill</a:t>
            </a:r>
          </a:p>
          <a:p>
            <a:pPr>
              <a:defRPr sz="1500">
                <a:solidFill>
                  <a:srgbClr val="1F2937"/>
                </a:solidFill>
                <a:latin typeface="Microsoft YaHei"/>
              </a:defRPr>
            </a:pPr>
            <a:r>
              <a:t>• ORDER repair skill</a:t>
            </a:r>
          </a:p>
          <a:p>
            <a:pPr>
              <a:defRPr sz="1500">
                <a:solidFill>
                  <a:srgbClr val="1F2937"/>
                </a:solidFill>
                <a:latin typeface="Microsoft YaHei"/>
              </a:defRPr>
            </a:pPr>
            <a:r>
              <a:t>• aggregation repair skill</a:t>
            </a:r>
          </a:p>
          <a:p>
            <a:pPr>
              <a:defRPr sz="1500">
                <a:solidFill>
                  <a:srgbClr val="1F2937"/>
                </a:solidFill>
                <a:latin typeface="Microsoft YaHei"/>
              </a:defRPr>
            </a:pPr>
            <a:r>
              <a:t>• join repair skill
• projection repair skill</a:t>
            </a:r>
          </a:p>
        </p:txBody>
      </p:sp>
      <p:sp>
        <p:nvSpPr>
          <p:cNvPr id="11" name="TextBox 10"/>
          <p:cNvSpPr txBox="1"/>
          <p:nvPr/>
        </p:nvSpPr>
        <p:spPr>
          <a:xfrm>
            <a:off x="658368" y="4544568"/>
            <a:ext cx="3840480" cy="256032"/>
          </a:xfrm>
          <a:prstGeom prst="rect">
            <a:avLst/>
          </a:prstGeom>
          <a:noFill/>
          <a:ln>
            <a:noFill/>
          </a:ln>
        </p:spPr>
        <p:txBody>
          <a:bodyPr wrap="square" lIns="0" rIns="0" tIns="27432" bIns="27432" anchor="t">
            <a:spAutoFit/>
          </a:bodyPr>
          <a:lstStyle/>
          <a:p>
            <a:r>
              <a:rPr sz="1500" b="1">
                <a:solidFill>
                  <a:srgbClr val="12343B"/>
                </a:solidFill>
                <a:latin typeface="Microsoft YaHei"/>
              </a:rPr>
              <a:t>当前重点：projection/SELECT 诊断、无报错语义错、复合错误路由。</a:t>
            </a:r>
          </a:p>
        </p:txBody>
      </p:sp>
      <p:sp>
        <p:nvSpPr>
          <p:cNvPr id="12" name="Rectangle 11"/>
          <p:cNvSpPr/>
          <p:nvPr/>
        </p:nvSpPr>
        <p:spPr>
          <a:xfrm>
            <a:off x="658368" y="4855464"/>
            <a:ext cx="1051560" cy="32004"/>
          </a:xfrm>
          <a:prstGeom prst="rect">
            <a:avLst/>
          </a:prstGeom>
          <a:solidFill>
            <a:srgbClr val="E3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实验数据与环境</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11</a:t>
            </a:r>
          </a:p>
        </p:txBody>
      </p:sp>
      <p:graphicFrame>
        <p:nvGraphicFramePr>
          <p:cNvPr id="5" name="Table 4"/>
          <p:cNvGraphicFramePr>
            <a:graphicFrameLocks noGrp="1"/>
          </p:cNvGraphicFramePr>
          <p:nvPr/>
        </p:nvGraphicFramePr>
        <p:xfrm>
          <a:off x="658368" y="896112"/>
          <a:ext cx="10881360" cy="3474720"/>
        </p:xfrm>
        <a:graphic>
          <a:graphicData uri="http://schemas.openxmlformats.org/drawingml/2006/table">
            <a:tbl>
              <a:tblPr firstRow="1" bandRow="1">
                <a:tableStyleId>{5C22544A-7EE6-4342-B048-85BDC9FD1C3A}</a:tableStyleId>
              </a:tblPr>
              <a:tblGrid>
                <a:gridCol w="5440680"/>
                <a:gridCol w="5440680"/>
              </a:tblGrid>
              <a:tr h="347472">
                <a:tc>
                  <a:txBody>
                    <a:bodyPr/>
                    <a:lstStyle/>
                    <a:p>
                      <a:pPr algn="ctr"/>
                      <a:r>
                        <a:rPr sz="1000" b="1">
                          <a:solidFill>
                            <a:srgbClr val="0F172A"/>
                          </a:solidFill>
                          <a:latin typeface="Microsoft YaHei"/>
                        </a:rPr>
                        <a:t>项目</a:t>
                      </a:r>
                    </a:p>
                  </a:txBody>
                  <a:tcPr marL="36576" marR="36576" marT="18288" marB="18288">
                    <a:solidFill>
                      <a:srgbClr val="E8F1F5"/>
                    </a:solidFill>
                  </a:tcPr>
                </a:tc>
                <a:tc>
                  <a:txBody>
                    <a:bodyPr/>
                    <a:lstStyle/>
                    <a:p>
                      <a:pPr algn="ctr"/>
                      <a:r>
                        <a:rPr sz="1000" b="1">
                          <a:solidFill>
                            <a:srgbClr val="0F172A"/>
                          </a:solidFill>
                          <a:latin typeface="Microsoft YaHei"/>
                        </a:rPr>
                        <a:t>内容</a:t>
                      </a:r>
                    </a:p>
                  </a:txBody>
                  <a:tcPr marL="36576" marR="36576" marT="18288" marB="18288">
                    <a:solidFill>
                      <a:srgbClr val="E8F1F5"/>
                    </a:solidFill>
                  </a:tcPr>
                </a:tc>
              </a:tr>
              <a:tr h="347472">
                <a:tc>
                  <a:txBody>
                    <a:bodyPr/>
                    <a:lstStyle/>
                    <a:p>
                      <a:pPr algn="ctr"/>
                      <a:r>
                        <a:rPr sz="1000" b="0">
                          <a:solidFill>
                            <a:srgbClr val="0F172A"/>
                          </a:solidFill>
                          <a:latin typeface="Microsoft YaHei"/>
                        </a:rPr>
                        <a:t>数据库</a:t>
                      </a:r>
                    </a:p>
                  </a:txBody>
                  <a:tcPr marL="36576" marR="36576" marT="18288" marB="18288">
                    <a:solidFill>
                      <a:srgbClr val="FFFFFF"/>
                    </a:solidFill>
                  </a:tcPr>
                </a:tc>
                <a:tc>
                  <a:txBody>
                    <a:bodyPr/>
                    <a:lstStyle/>
                    <a:p>
                      <a:pPr algn="ctr"/>
                      <a:r>
                        <a:rPr sz="1000" b="0">
                          <a:solidFill>
                            <a:srgbClr val="0F172A"/>
                          </a:solidFill>
                          <a:latin typeface="Microsoft YaHei"/>
                        </a:rPr>
                        <a:t>企业订单分析样例库</a:t>
                      </a:r>
                    </a:p>
                  </a:txBody>
                  <a:tcPr marL="36576" marR="36576" marT="18288" marB="18288">
                    <a:solidFill>
                      <a:srgbClr val="FFFFFF"/>
                    </a:solidFill>
                  </a:tcPr>
                </a:tc>
              </a:tr>
              <a:tr h="347472">
                <a:tc>
                  <a:txBody>
                    <a:bodyPr/>
                    <a:lstStyle/>
                    <a:p>
                      <a:pPr algn="ctr"/>
                      <a:r>
                        <a:rPr sz="1000" b="0">
                          <a:solidFill>
                            <a:srgbClr val="0F172A"/>
                          </a:solidFill>
                          <a:latin typeface="Microsoft YaHei"/>
                        </a:rPr>
                        <a:t>表数量</a:t>
                      </a:r>
                    </a:p>
                  </a:txBody>
                  <a:tcPr marL="36576" marR="36576" marT="18288" marB="18288">
                    <a:solidFill>
                      <a:srgbClr val="F6F8FA"/>
                    </a:solidFill>
                  </a:tcPr>
                </a:tc>
                <a:tc>
                  <a:txBody>
                    <a:bodyPr/>
                    <a:lstStyle/>
                    <a:p>
                      <a:pPr algn="ctr"/>
                      <a:r>
                        <a:rPr sz="1000" b="0">
                          <a:solidFill>
                            <a:srgbClr val="0F172A"/>
                          </a:solidFill>
                          <a:latin typeface="Microsoft YaHei"/>
                        </a:rPr>
                        <a:t>4 张表</a:t>
                      </a:r>
                    </a:p>
                  </a:txBody>
                  <a:tcPr marL="36576" marR="36576" marT="18288" marB="18288">
                    <a:solidFill>
                      <a:srgbClr val="F6F8FA"/>
                    </a:solidFill>
                  </a:tcPr>
                </a:tc>
              </a:tr>
              <a:tr h="347472">
                <a:tc>
                  <a:txBody>
                    <a:bodyPr/>
                    <a:lstStyle/>
                    <a:p>
                      <a:pPr algn="ctr"/>
                      <a:r>
                        <a:rPr sz="1000" b="0">
                          <a:solidFill>
                            <a:srgbClr val="0F172A"/>
                          </a:solidFill>
                          <a:latin typeface="Microsoft YaHei"/>
                        </a:rPr>
                        <a:t>表结构</a:t>
                      </a:r>
                    </a:p>
                  </a:txBody>
                  <a:tcPr marL="36576" marR="36576" marT="18288" marB="18288">
                    <a:solidFill>
                      <a:srgbClr val="FFFFFF"/>
                    </a:solidFill>
                  </a:tcPr>
                </a:tc>
                <a:tc>
                  <a:txBody>
                    <a:bodyPr/>
                    <a:lstStyle/>
                    <a:p>
                      <a:pPr algn="l"/>
                      <a:r>
                        <a:rPr sz="900" b="0">
                          <a:solidFill>
                            <a:srgbClr val="0F172A"/>
                          </a:solidFill>
                          <a:latin typeface="Microsoft YaHei"/>
                        </a:rPr>
                        <a:t>customers、products、orders、order_items</a:t>
                      </a:r>
                    </a:p>
                  </a:txBody>
                  <a:tcPr marL="36576" marR="36576" marT="18288" marB="18288">
                    <a:solidFill>
                      <a:srgbClr val="FFFFFF"/>
                    </a:solidFill>
                  </a:tcPr>
                </a:tc>
              </a:tr>
              <a:tr h="347472">
                <a:tc>
                  <a:txBody>
                    <a:bodyPr/>
                    <a:lstStyle/>
                    <a:p>
                      <a:pPr algn="ctr"/>
                      <a:r>
                        <a:rPr sz="1000" b="0">
                          <a:solidFill>
                            <a:srgbClr val="0F172A"/>
                          </a:solidFill>
                          <a:latin typeface="Microsoft YaHei"/>
                        </a:rPr>
                        <a:t>自然语言查询样例</a:t>
                      </a:r>
                    </a:p>
                  </a:txBody>
                  <a:tcPr marL="36576" marR="36576" marT="18288" marB="18288">
                    <a:solidFill>
                      <a:srgbClr val="F6F8FA"/>
                    </a:solidFill>
                  </a:tcPr>
                </a:tc>
                <a:tc>
                  <a:txBody>
                    <a:bodyPr/>
                    <a:lstStyle/>
                    <a:p>
                      <a:pPr algn="ctr"/>
                      <a:r>
                        <a:rPr sz="1000" b="0">
                          <a:solidFill>
                            <a:srgbClr val="0F172A"/>
                          </a:solidFill>
                          <a:latin typeface="Microsoft YaHei"/>
                        </a:rPr>
                        <a:t>30 条</a:t>
                      </a:r>
                    </a:p>
                  </a:txBody>
                  <a:tcPr marL="36576" marR="36576" marT="18288" marB="18288">
                    <a:solidFill>
                      <a:srgbClr val="F6F8FA"/>
                    </a:solidFill>
                  </a:tcPr>
                </a:tc>
              </a:tr>
              <a:tr h="347472">
                <a:tc>
                  <a:txBody>
                    <a:bodyPr/>
                    <a:lstStyle/>
                    <a:p>
                      <a:pPr algn="ctr"/>
                      <a:r>
                        <a:rPr sz="1000" b="0">
                          <a:solidFill>
                            <a:srgbClr val="0F172A"/>
                          </a:solidFill>
                          <a:latin typeface="Microsoft YaHei"/>
                        </a:rPr>
                        <a:t>SQL+ 标准样例</a:t>
                      </a:r>
                    </a:p>
                  </a:txBody>
                  <a:tcPr marL="36576" marR="36576" marT="18288" marB="18288">
                    <a:solidFill>
                      <a:srgbClr val="FFFFFF"/>
                    </a:solidFill>
                  </a:tcPr>
                </a:tc>
                <a:tc>
                  <a:txBody>
                    <a:bodyPr/>
                    <a:lstStyle/>
                    <a:p>
                      <a:pPr algn="ctr"/>
                      <a:r>
                        <a:rPr sz="1000" b="0">
                          <a:solidFill>
                            <a:srgbClr val="0F172A"/>
                          </a:solidFill>
                          <a:latin typeface="Microsoft YaHei"/>
                        </a:rPr>
                        <a:t>30 条</a:t>
                      </a:r>
                    </a:p>
                  </a:txBody>
                  <a:tcPr marL="36576" marR="36576" marT="18288" marB="18288">
                    <a:solidFill>
                      <a:srgbClr val="FFFFFF"/>
                    </a:solidFill>
                  </a:tcPr>
                </a:tc>
              </a:tr>
              <a:tr h="347472">
                <a:tc>
                  <a:txBody>
                    <a:bodyPr/>
                    <a:lstStyle/>
                    <a:p>
                      <a:pPr algn="ctr"/>
                      <a:r>
                        <a:rPr sz="1000" b="0">
                          <a:solidFill>
                            <a:srgbClr val="0F172A"/>
                          </a:solidFill>
                          <a:latin typeface="Microsoft YaHei"/>
                        </a:rPr>
                        <a:t>错误修正样例</a:t>
                      </a:r>
                    </a:p>
                  </a:txBody>
                  <a:tcPr marL="36576" marR="36576" marT="18288" marB="18288">
                    <a:solidFill>
                      <a:srgbClr val="F6F8FA"/>
                    </a:solidFill>
                  </a:tcPr>
                </a:tc>
                <a:tc>
                  <a:txBody>
                    <a:bodyPr/>
                    <a:lstStyle/>
                    <a:p>
                      <a:pPr algn="ctr"/>
                      <a:r>
                        <a:rPr sz="1000" b="0">
                          <a:solidFill>
                            <a:srgbClr val="0F172A"/>
                          </a:solidFill>
                          <a:latin typeface="Microsoft YaHei"/>
                        </a:rPr>
                        <a:t>15 条</a:t>
                      </a:r>
                    </a:p>
                  </a:txBody>
                  <a:tcPr marL="36576" marR="36576" marT="18288" marB="18288">
                    <a:solidFill>
                      <a:srgbClr val="F6F8FA"/>
                    </a:solidFill>
                  </a:tcPr>
                </a:tc>
              </a:tr>
              <a:tr h="347472">
                <a:tc>
                  <a:txBody>
                    <a:bodyPr/>
                    <a:lstStyle/>
                    <a:p>
                      <a:pPr algn="ctr"/>
                      <a:r>
                        <a:rPr sz="1000" b="0">
                          <a:solidFill>
                            <a:srgbClr val="0F172A"/>
                          </a:solidFill>
                          <a:latin typeface="Microsoft YaHei"/>
                        </a:rPr>
                        <a:t>执行环境</a:t>
                      </a:r>
                    </a:p>
                  </a:txBody>
                  <a:tcPr marL="36576" marR="36576" marT="18288" marB="18288">
                    <a:solidFill>
                      <a:srgbClr val="FFFFFF"/>
                    </a:solidFill>
                  </a:tcPr>
                </a:tc>
                <a:tc>
                  <a:txBody>
                    <a:bodyPr/>
                    <a:lstStyle/>
                    <a:p>
                      <a:pPr algn="ctr"/>
                      <a:r>
                        <a:rPr sz="1000" b="0">
                          <a:solidFill>
                            <a:srgbClr val="0F172A"/>
                          </a:solidFill>
                          <a:latin typeface="Microsoft YaHei"/>
                        </a:rPr>
                        <a:t>SQLite 内存数据库</a:t>
                      </a:r>
                    </a:p>
                  </a:txBody>
                  <a:tcPr marL="36576" marR="36576" marT="18288" marB="18288">
                    <a:solidFill>
                      <a:srgbClr val="FFFFFF"/>
                    </a:solidFill>
                  </a:tcPr>
                </a:tc>
              </a:tr>
              <a:tr h="347472">
                <a:tc>
                  <a:txBody>
                    <a:bodyPr/>
                    <a:lstStyle/>
                    <a:p>
                      <a:pPr algn="ctr"/>
                      <a:r>
                        <a:rPr sz="1000" b="0">
                          <a:solidFill>
                            <a:srgbClr val="0F172A"/>
                          </a:solidFill>
                          <a:latin typeface="Microsoft YaHei"/>
                        </a:rPr>
                        <a:t>模型</a:t>
                      </a:r>
                    </a:p>
                  </a:txBody>
                  <a:tcPr marL="36576" marR="36576" marT="18288" marB="18288">
                    <a:solidFill>
                      <a:srgbClr val="F6F8FA"/>
                    </a:solidFill>
                  </a:tcPr>
                </a:tc>
                <a:tc>
                  <a:txBody>
                    <a:bodyPr/>
                    <a:lstStyle/>
                    <a:p>
                      <a:pPr algn="ctr"/>
                      <a:r>
                        <a:rPr sz="1000" b="0">
                          <a:solidFill>
                            <a:srgbClr val="0F172A"/>
                          </a:solidFill>
                          <a:latin typeface="Microsoft YaHei"/>
                        </a:rPr>
                        <a:t>gpt-5-mini</a:t>
                      </a:r>
                    </a:p>
                  </a:txBody>
                  <a:tcPr marL="36576" marR="36576" marT="18288" marB="18288">
                    <a:solidFill>
                      <a:srgbClr val="F6F8FA"/>
                    </a:solidFill>
                  </a:tcPr>
                </a:tc>
              </a:tr>
              <a:tr h="347472">
                <a:tc>
                  <a:txBody>
                    <a:bodyPr/>
                    <a:lstStyle/>
                    <a:p>
                      <a:pPr algn="ctr"/>
                      <a:r>
                        <a:rPr sz="1000" b="0">
                          <a:solidFill>
                            <a:srgbClr val="0F172A"/>
                          </a:solidFill>
                          <a:latin typeface="Microsoft YaHei"/>
                        </a:rPr>
                        <a:t>评估方式</a:t>
                      </a:r>
                    </a:p>
                  </a:txBody>
                  <a:tcPr marL="36576" marR="36576" marT="18288" marB="18288">
                    <a:solidFill>
                      <a:srgbClr val="FFFFFF"/>
                    </a:solidFill>
                  </a:tcPr>
                </a:tc>
                <a:tc>
                  <a:txBody>
                    <a:bodyPr/>
                    <a:lstStyle/>
                    <a:p>
                      <a:pPr algn="ctr"/>
                      <a:r>
                        <a:rPr sz="1000" b="0">
                          <a:solidFill>
                            <a:srgbClr val="0F172A"/>
                          </a:solidFill>
                          <a:latin typeface="Microsoft YaHei"/>
                        </a:rPr>
                        <a:t>与标准 SQL 执行结果比较</a:t>
                      </a:r>
                    </a:p>
                  </a:txBody>
                  <a:tcPr marL="36576" marR="36576" marT="18288" marB="18288">
                    <a:solidFill>
                      <a:srgbClr val="FFFFFF"/>
                    </a:solidFill>
                  </a:tcPr>
                </a:tc>
              </a:tr>
            </a:tbl>
          </a:graphicData>
        </a:graphic>
      </p:graphicFrame>
      <p:sp>
        <p:nvSpPr>
          <p:cNvPr id="6" name="Rectangle 5"/>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SQL+ 转换实验结果</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12</a:t>
            </a:r>
          </a:p>
        </p:txBody>
      </p:sp>
      <p:graphicFrame>
        <p:nvGraphicFramePr>
          <p:cNvPr id="5" name="Table 4"/>
          <p:cNvGraphicFramePr>
            <a:graphicFrameLocks noGrp="1"/>
          </p:cNvGraphicFramePr>
          <p:nvPr/>
        </p:nvGraphicFramePr>
        <p:xfrm>
          <a:off x="658368" y="896112"/>
          <a:ext cx="10881360" cy="1737360"/>
        </p:xfrm>
        <a:graphic>
          <a:graphicData uri="http://schemas.openxmlformats.org/drawingml/2006/table">
            <a:tbl>
              <a:tblPr firstRow="1" bandRow="1">
                <a:tableStyleId>{5C22544A-7EE6-4342-B048-85BDC9FD1C3A}</a:tableStyleId>
              </a:tblPr>
              <a:tblGrid>
                <a:gridCol w="5440680"/>
                <a:gridCol w="5440680"/>
              </a:tblGrid>
              <a:tr h="347472">
                <a:tc>
                  <a:txBody>
                    <a:bodyPr/>
                    <a:lstStyle/>
                    <a:p>
                      <a:pPr algn="ctr"/>
                      <a:r>
                        <a:rPr sz="1200" b="1">
                          <a:solidFill>
                            <a:srgbClr val="0F172A"/>
                          </a:solidFill>
                          <a:latin typeface="Microsoft YaHei"/>
                        </a:rPr>
                        <a:t>指标</a:t>
                      </a:r>
                    </a:p>
                  </a:txBody>
                  <a:tcPr marL="36576" marR="36576" marT="18288" marB="18288">
                    <a:solidFill>
                      <a:srgbClr val="E8F1F5"/>
                    </a:solidFill>
                  </a:tcPr>
                </a:tc>
                <a:tc>
                  <a:txBody>
                    <a:bodyPr/>
                    <a:lstStyle/>
                    <a:p>
                      <a:pPr algn="ctr"/>
                      <a:r>
                        <a:rPr sz="1200" b="1">
                          <a:solidFill>
                            <a:srgbClr val="0F172A"/>
                          </a:solidFill>
                          <a:latin typeface="Microsoft YaHei"/>
                        </a:rPr>
                        <a:t>结果</a:t>
                      </a:r>
                    </a:p>
                  </a:txBody>
                  <a:tcPr marL="36576" marR="36576" marT="18288" marB="18288">
                    <a:solidFill>
                      <a:srgbClr val="E8F1F5"/>
                    </a:solidFill>
                  </a:tcPr>
                </a:tc>
              </a:tr>
              <a:tr h="347472">
                <a:tc>
                  <a:txBody>
                    <a:bodyPr/>
                    <a:lstStyle/>
                    <a:p>
                      <a:pPr algn="ctr"/>
                      <a:r>
                        <a:rPr sz="1200" b="0">
                          <a:solidFill>
                            <a:srgbClr val="0F172A"/>
                          </a:solidFill>
                          <a:latin typeface="Microsoft YaHei"/>
                        </a:rPr>
                        <a:t>SQL+ 样例数</a:t>
                      </a:r>
                    </a:p>
                  </a:txBody>
                  <a:tcPr marL="36576" marR="36576" marT="18288" marB="18288">
                    <a:solidFill>
                      <a:srgbClr val="FFFFFF"/>
                    </a:solidFill>
                  </a:tcPr>
                </a:tc>
                <a:tc>
                  <a:txBody>
                    <a:bodyPr/>
                    <a:lstStyle/>
                    <a:p>
                      <a:pPr algn="ctr"/>
                      <a:r>
                        <a:rPr sz="1200" b="0">
                          <a:solidFill>
                            <a:srgbClr val="0F172A"/>
                          </a:solidFill>
                          <a:latin typeface="Microsoft YaHei"/>
                        </a:rPr>
                        <a:t>30</a:t>
                      </a:r>
                    </a:p>
                  </a:txBody>
                  <a:tcPr marL="36576" marR="36576" marT="18288" marB="18288">
                    <a:solidFill>
                      <a:srgbClr val="FFFFFF"/>
                    </a:solidFill>
                  </a:tcPr>
                </a:tc>
              </a:tr>
              <a:tr h="347472">
                <a:tc>
                  <a:txBody>
                    <a:bodyPr/>
                    <a:lstStyle/>
                    <a:p>
                      <a:pPr algn="ctr"/>
                      <a:r>
                        <a:rPr sz="1200" b="0">
                          <a:solidFill>
                            <a:srgbClr val="0F172A"/>
                          </a:solidFill>
                          <a:latin typeface="Microsoft YaHei"/>
                        </a:rPr>
                        <a:t>SQL+ 语法通过</a:t>
                      </a:r>
                    </a:p>
                  </a:txBody>
                  <a:tcPr marL="36576" marR="36576" marT="18288" marB="18288">
                    <a:solidFill>
                      <a:srgbClr val="F6F8FA"/>
                    </a:solidFill>
                  </a:tcPr>
                </a:tc>
                <a:tc>
                  <a:txBody>
                    <a:bodyPr/>
                    <a:lstStyle/>
                    <a:p>
                      <a:pPr algn="ctr"/>
                      <a:r>
                        <a:rPr sz="1200" b="0">
                          <a:solidFill>
                            <a:srgbClr val="0F172A"/>
                          </a:solidFill>
                          <a:latin typeface="Microsoft YaHei"/>
                        </a:rPr>
                        <a:t>30/30</a:t>
                      </a:r>
                    </a:p>
                  </a:txBody>
                  <a:tcPr marL="36576" marR="36576" marT="18288" marB="18288">
                    <a:solidFill>
                      <a:srgbClr val="F6F8FA"/>
                    </a:solidFill>
                  </a:tcPr>
                </a:tc>
              </a:tr>
              <a:tr h="347472">
                <a:tc>
                  <a:txBody>
                    <a:bodyPr/>
                    <a:lstStyle/>
                    <a:p>
                      <a:pPr algn="ctr"/>
                      <a:r>
                        <a:rPr sz="1200" b="0">
                          <a:solidFill>
                            <a:srgbClr val="0F172A"/>
                          </a:solidFill>
                          <a:latin typeface="Microsoft YaHei"/>
                        </a:rPr>
                        <a:t>转换 SQL 可执行</a:t>
                      </a:r>
                    </a:p>
                  </a:txBody>
                  <a:tcPr marL="36576" marR="36576" marT="18288" marB="18288">
                    <a:solidFill>
                      <a:srgbClr val="FFFFFF"/>
                    </a:solidFill>
                  </a:tcPr>
                </a:tc>
                <a:tc>
                  <a:txBody>
                    <a:bodyPr/>
                    <a:lstStyle/>
                    <a:p>
                      <a:pPr algn="ctr"/>
                      <a:r>
                        <a:rPr sz="1200" b="0">
                          <a:solidFill>
                            <a:srgbClr val="0F172A"/>
                          </a:solidFill>
                          <a:latin typeface="Microsoft YaHei"/>
                        </a:rPr>
                        <a:t>30/30</a:t>
                      </a:r>
                    </a:p>
                  </a:txBody>
                  <a:tcPr marL="36576" marR="36576" marT="18288" marB="18288">
                    <a:solidFill>
                      <a:srgbClr val="FFFFFF"/>
                    </a:solidFill>
                  </a:tcPr>
                </a:tc>
              </a:tr>
              <a:tr h="347472">
                <a:tc>
                  <a:txBody>
                    <a:bodyPr/>
                    <a:lstStyle/>
                    <a:p>
                      <a:pPr algn="ctr"/>
                      <a:r>
                        <a:rPr sz="1200" b="0">
                          <a:solidFill>
                            <a:srgbClr val="0F172A"/>
                          </a:solidFill>
                          <a:latin typeface="Microsoft YaHei"/>
                        </a:rPr>
                        <a:t>与标准 SQL 执行结果一致</a:t>
                      </a:r>
                    </a:p>
                  </a:txBody>
                  <a:tcPr marL="36576" marR="36576" marT="18288" marB="18288">
                    <a:solidFill>
                      <a:srgbClr val="F6F8FA"/>
                    </a:solidFill>
                  </a:tcPr>
                </a:tc>
                <a:tc>
                  <a:txBody>
                    <a:bodyPr/>
                    <a:lstStyle/>
                    <a:p>
                      <a:pPr algn="ctr"/>
                      <a:r>
                        <a:rPr sz="1200" b="0">
                          <a:solidFill>
                            <a:srgbClr val="0F172A"/>
                          </a:solidFill>
                          <a:latin typeface="Microsoft YaHei"/>
                        </a:rPr>
                        <a:t>30/30</a:t>
                      </a:r>
                    </a:p>
                  </a:txBody>
                  <a:tcPr marL="36576" marR="36576" marT="18288" marB="18288">
                    <a:solidFill>
                      <a:srgbClr val="F6F8FA"/>
                    </a:solidFill>
                  </a:tcPr>
                </a:tc>
              </a:tr>
            </a:tbl>
          </a:graphicData>
        </a:graphic>
      </p:graphicFrame>
      <p:sp>
        <p:nvSpPr>
          <p:cNvPr id="6" name="TextBox 5"/>
          <p:cNvSpPr txBox="1"/>
          <p:nvPr/>
        </p:nvSpPr>
        <p:spPr>
          <a:xfrm>
            <a:off x="658368" y="2798064"/>
            <a:ext cx="3840480" cy="256032"/>
          </a:xfrm>
          <a:prstGeom prst="rect">
            <a:avLst/>
          </a:prstGeom>
          <a:noFill/>
          <a:ln>
            <a:noFill/>
          </a:ln>
        </p:spPr>
        <p:txBody>
          <a:bodyPr wrap="square" lIns="0" rIns="0" tIns="27432" bIns="27432" anchor="t">
            <a:spAutoFit/>
          </a:bodyPr>
          <a:lstStyle/>
          <a:p>
            <a:r>
              <a:rPr sz="1500" b="1">
                <a:solidFill>
                  <a:srgbClr val="12343B"/>
                </a:solidFill>
                <a:latin typeface="Microsoft YaHei"/>
              </a:rPr>
              <a:t>结论：</a:t>
            </a:r>
          </a:p>
        </p:txBody>
      </p:sp>
      <p:sp>
        <p:nvSpPr>
          <p:cNvPr id="7" name="Rectangle 6"/>
          <p:cNvSpPr/>
          <p:nvPr/>
        </p:nvSpPr>
        <p:spPr>
          <a:xfrm>
            <a:off x="658368" y="3108960"/>
            <a:ext cx="1051560" cy="32004"/>
          </a:xfrm>
          <a:prstGeom prst="rect">
            <a:avLst/>
          </a:prstGeom>
          <a:solidFill>
            <a:srgbClr val="E3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3236976"/>
            <a:ext cx="10241280" cy="850392"/>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 SQL+ 不是概念设计，已经实现 parser 和 SQL 转换器。</a:t>
            </a:r>
          </a:p>
          <a:p>
            <a:pPr>
              <a:defRPr sz="1500">
                <a:solidFill>
                  <a:srgbClr val="1F2937"/>
                </a:solidFill>
                <a:latin typeface="Microsoft YaHei"/>
              </a:defRPr>
            </a:pPr>
            <a:r>
              <a:t>• 当前 SQL+ 能覆盖常见查询结构。</a:t>
            </a:r>
          </a:p>
          <a:p>
            <a:pPr>
              <a:defRPr sz="1500">
                <a:solidFill>
                  <a:srgbClr val="1F2937"/>
                </a:solidFill>
                <a:latin typeface="Microsoft YaHei"/>
              </a:defRPr>
            </a:pPr>
            <a:r>
              <a:t>• 具备继续作为中间表示研究的基础。</a:t>
            </a:r>
          </a:p>
        </p:txBody>
      </p:sp>
      <p:sp>
        <p:nvSpPr>
          <p:cNvPr id="9" name="Rectangle 8"/>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Baseline 与失败分析</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13</a:t>
            </a:r>
          </a:p>
        </p:txBody>
      </p:sp>
      <p:graphicFrame>
        <p:nvGraphicFramePr>
          <p:cNvPr id="5" name="Table 4"/>
          <p:cNvGraphicFramePr>
            <a:graphicFrameLocks noGrp="1"/>
          </p:cNvGraphicFramePr>
          <p:nvPr/>
        </p:nvGraphicFramePr>
        <p:xfrm>
          <a:off x="658368" y="896112"/>
          <a:ext cx="10881360" cy="1389888"/>
        </p:xfrm>
        <a:graphic>
          <a:graphicData uri="http://schemas.openxmlformats.org/drawingml/2006/table">
            <a:tbl>
              <a:tblPr firstRow="1" bandRow="1">
                <a:tableStyleId>{5C22544A-7EE6-4342-B048-85BDC9FD1C3A}</a:tableStyleId>
              </a:tblPr>
              <a:tblGrid>
                <a:gridCol w="2176272"/>
                <a:gridCol w="2176272"/>
                <a:gridCol w="2176272"/>
                <a:gridCol w="2176272"/>
                <a:gridCol w="2176272"/>
              </a:tblGrid>
              <a:tr h="347472">
                <a:tc>
                  <a:txBody>
                    <a:bodyPr/>
                    <a:lstStyle/>
                    <a:p>
                      <a:pPr algn="ctr"/>
                      <a:r>
                        <a:rPr sz="1200" b="1">
                          <a:solidFill>
                            <a:srgbClr val="0F172A"/>
                          </a:solidFill>
                          <a:latin typeface="Microsoft YaHei"/>
                        </a:rPr>
                        <a:t>方法</a:t>
                      </a:r>
                    </a:p>
                  </a:txBody>
                  <a:tcPr marL="36576" marR="36576" marT="18288" marB="18288">
                    <a:solidFill>
                      <a:srgbClr val="E8F1F5"/>
                    </a:solidFill>
                  </a:tcPr>
                </a:tc>
                <a:tc>
                  <a:txBody>
                    <a:bodyPr/>
                    <a:lstStyle/>
                    <a:p>
                      <a:pPr algn="ctr"/>
                      <a:r>
                        <a:rPr sz="1200" b="1">
                          <a:solidFill>
                            <a:srgbClr val="0F172A"/>
                          </a:solidFill>
                          <a:latin typeface="Microsoft YaHei"/>
                        </a:rPr>
                        <a:t>样例数</a:t>
                      </a:r>
                    </a:p>
                  </a:txBody>
                  <a:tcPr marL="36576" marR="36576" marT="18288" marB="18288">
                    <a:solidFill>
                      <a:srgbClr val="E8F1F5"/>
                    </a:solidFill>
                  </a:tcPr>
                </a:tc>
                <a:tc>
                  <a:txBody>
                    <a:bodyPr/>
                    <a:lstStyle/>
                    <a:p>
                      <a:pPr algn="ctr"/>
                      <a:r>
                        <a:rPr sz="1200" b="1">
                          <a:solidFill>
                            <a:srgbClr val="0F172A"/>
                          </a:solidFill>
                          <a:latin typeface="Microsoft YaHei"/>
                        </a:rPr>
                        <a:t>SQL/SQL+ 有效</a:t>
                      </a:r>
                    </a:p>
                  </a:txBody>
                  <a:tcPr marL="36576" marR="36576" marT="18288" marB="18288">
                    <a:solidFill>
                      <a:srgbClr val="E8F1F5"/>
                    </a:solidFill>
                  </a:tcPr>
                </a:tc>
                <a:tc>
                  <a:txBody>
                    <a:bodyPr/>
                    <a:lstStyle/>
                    <a:p>
                      <a:pPr algn="ctr"/>
                      <a:r>
                        <a:rPr sz="1200" b="1">
                          <a:solidFill>
                            <a:srgbClr val="0F172A"/>
                          </a:solidFill>
                          <a:latin typeface="Microsoft YaHei"/>
                        </a:rPr>
                        <a:t>SQL 可执行</a:t>
                      </a:r>
                    </a:p>
                  </a:txBody>
                  <a:tcPr marL="36576" marR="36576" marT="18288" marB="18288">
                    <a:solidFill>
                      <a:srgbClr val="E8F1F5"/>
                    </a:solidFill>
                  </a:tcPr>
                </a:tc>
                <a:tc>
                  <a:txBody>
                    <a:bodyPr/>
                    <a:lstStyle/>
                    <a:p>
                      <a:pPr algn="ctr"/>
                      <a:r>
                        <a:rPr sz="1200" b="1">
                          <a:solidFill>
                            <a:srgbClr val="0F172A"/>
                          </a:solidFill>
                          <a:latin typeface="Microsoft YaHei"/>
                        </a:rPr>
                        <a:t>执行一致</a:t>
                      </a:r>
                    </a:p>
                  </a:txBody>
                  <a:tcPr marL="36576" marR="36576" marT="18288" marB="18288">
                    <a:solidFill>
                      <a:srgbClr val="E8F1F5"/>
                    </a:solidFill>
                  </a:tcPr>
                </a:tc>
              </a:tr>
              <a:tr h="347472">
                <a:tc>
                  <a:txBody>
                    <a:bodyPr/>
                    <a:lstStyle/>
                    <a:p>
                      <a:pPr algn="ctr"/>
                      <a:r>
                        <a:rPr sz="1200" b="0">
                          <a:solidFill>
                            <a:srgbClr val="0F172A"/>
                          </a:solidFill>
                          <a:latin typeface="Microsoft YaHei"/>
                        </a:rPr>
                        <a:t>Direct NL2SQL</a:t>
                      </a:r>
                    </a:p>
                  </a:txBody>
                  <a:tcPr marL="36576" marR="36576" marT="18288" marB="18288">
                    <a:solidFill>
                      <a:srgbClr val="FFFFFF"/>
                    </a:solidFill>
                  </a:tcPr>
                </a:tc>
                <a:tc>
                  <a:txBody>
                    <a:bodyPr/>
                    <a:lstStyle/>
                    <a:p>
                      <a:pPr algn="ctr"/>
                      <a:r>
                        <a:rPr sz="1200" b="0">
                          <a:solidFill>
                            <a:srgbClr val="0F172A"/>
                          </a:solidFill>
                          <a:latin typeface="Microsoft YaHei"/>
                        </a:rPr>
                        <a:t>30</a:t>
                      </a:r>
                    </a:p>
                  </a:txBody>
                  <a:tcPr marL="36576" marR="36576" marT="18288" marB="18288">
                    <a:solidFill>
                      <a:srgbClr val="FFFFFF"/>
                    </a:solidFill>
                  </a:tcPr>
                </a:tc>
                <a:tc>
                  <a:txBody>
                    <a:bodyPr/>
                    <a:lstStyle/>
                    <a:p>
                      <a:pPr algn="ctr"/>
                      <a:r>
                        <a:rPr sz="1200" b="0">
                          <a:solidFill>
                            <a:srgbClr val="0F172A"/>
                          </a:solidFill>
                          <a:latin typeface="Microsoft YaHei"/>
                        </a:rPr>
                        <a:t>-</a:t>
                      </a:r>
                    </a:p>
                  </a:txBody>
                  <a:tcPr marL="36576" marR="36576" marT="18288" marB="18288">
                    <a:solidFill>
                      <a:srgbClr val="FFFFFF"/>
                    </a:solidFill>
                  </a:tcPr>
                </a:tc>
                <a:tc>
                  <a:txBody>
                    <a:bodyPr/>
                    <a:lstStyle/>
                    <a:p>
                      <a:pPr algn="ctr"/>
                      <a:r>
                        <a:rPr sz="1200" b="0">
                          <a:solidFill>
                            <a:srgbClr val="0F172A"/>
                          </a:solidFill>
                          <a:latin typeface="Microsoft YaHei"/>
                        </a:rPr>
                        <a:t>30/30</a:t>
                      </a:r>
                    </a:p>
                  </a:txBody>
                  <a:tcPr marL="36576" marR="36576" marT="18288" marB="18288">
                    <a:solidFill>
                      <a:srgbClr val="FFFFFF"/>
                    </a:solidFill>
                  </a:tcPr>
                </a:tc>
                <a:tc>
                  <a:txBody>
                    <a:bodyPr/>
                    <a:lstStyle/>
                    <a:p>
                      <a:pPr algn="ctr"/>
                      <a:r>
                        <a:rPr sz="1200" b="0">
                          <a:solidFill>
                            <a:srgbClr val="0F172A"/>
                          </a:solidFill>
                          <a:latin typeface="Microsoft YaHei"/>
                        </a:rPr>
                        <a:t>16/30</a:t>
                      </a:r>
                    </a:p>
                  </a:txBody>
                  <a:tcPr marL="36576" marR="36576" marT="18288" marB="18288">
                    <a:solidFill>
                      <a:srgbClr val="FFFFFF"/>
                    </a:solidFill>
                  </a:tcPr>
                </a:tc>
              </a:tr>
              <a:tr h="347472">
                <a:tc>
                  <a:txBody>
                    <a:bodyPr/>
                    <a:lstStyle/>
                    <a:p>
                      <a:pPr algn="ctr"/>
                      <a:r>
                        <a:rPr sz="1200" b="0">
                          <a:solidFill>
                            <a:srgbClr val="0F172A"/>
                          </a:solidFill>
                          <a:latin typeface="Microsoft YaHei"/>
                        </a:rPr>
                        <a:t>NL2SQL+ prompt v1</a:t>
                      </a:r>
                    </a:p>
                  </a:txBody>
                  <a:tcPr marL="36576" marR="36576" marT="18288" marB="18288">
                    <a:solidFill>
                      <a:srgbClr val="F6F8FA"/>
                    </a:solidFill>
                  </a:tcPr>
                </a:tc>
                <a:tc>
                  <a:txBody>
                    <a:bodyPr/>
                    <a:lstStyle/>
                    <a:p>
                      <a:pPr algn="ctr"/>
                      <a:r>
                        <a:rPr sz="1200" b="0">
                          <a:solidFill>
                            <a:srgbClr val="0F172A"/>
                          </a:solidFill>
                          <a:latin typeface="Microsoft YaHei"/>
                        </a:rPr>
                        <a:t>30</a:t>
                      </a:r>
                    </a:p>
                  </a:txBody>
                  <a:tcPr marL="36576" marR="36576" marT="18288" marB="18288">
                    <a:solidFill>
                      <a:srgbClr val="F6F8FA"/>
                    </a:solidFill>
                  </a:tcPr>
                </a:tc>
                <a:tc>
                  <a:txBody>
                    <a:bodyPr/>
                    <a:lstStyle/>
                    <a:p>
                      <a:pPr algn="ctr"/>
                      <a:r>
                        <a:rPr sz="1200" b="0">
                          <a:solidFill>
                            <a:srgbClr val="0F172A"/>
                          </a:solidFill>
                          <a:latin typeface="Microsoft YaHei"/>
                        </a:rPr>
                        <a:t>30/30</a:t>
                      </a:r>
                    </a:p>
                  </a:txBody>
                  <a:tcPr marL="36576" marR="36576" marT="18288" marB="18288">
                    <a:solidFill>
                      <a:srgbClr val="F6F8FA"/>
                    </a:solidFill>
                  </a:tcPr>
                </a:tc>
                <a:tc>
                  <a:txBody>
                    <a:bodyPr/>
                    <a:lstStyle/>
                    <a:p>
                      <a:pPr algn="ctr"/>
                      <a:r>
                        <a:rPr sz="1200" b="0">
                          <a:solidFill>
                            <a:srgbClr val="0F172A"/>
                          </a:solidFill>
                          <a:latin typeface="Microsoft YaHei"/>
                        </a:rPr>
                        <a:t>30/30</a:t>
                      </a:r>
                    </a:p>
                  </a:txBody>
                  <a:tcPr marL="36576" marR="36576" marT="18288" marB="18288">
                    <a:solidFill>
                      <a:srgbClr val="F6F8FA"/>
                    </a:solidFill>
                  </a:tcPr>
                </a:tc>
                <a:tc>
                  <a:txBody>
                    <a:bodyPr/>
                    <a:lstStyle/>
                    <a:p>
                      <a:pPr algn="ctr"/>
                      <a:r>
                        <a:rPr sz="1200" b="0">
                          <a:solidFill>
                            <a:srgbClr val="0F172A"/>
                          </a:solidFill>
                          <a:latin typeface="Microsoft YaHei"/>
                        </a:rPr>
                        <a:t>13/30</a:t>
                      </a:r>
                    </a:p>
                  </a:txBody>
                  <a:tcPr marL="36576" marR="36576" marT="18288" marB="18288">
                    <a:solidFill>
                      <a:srgbClr val="F6F8FA"/>
                    </a:solidFill>
                  </a:tcPr>
                </a:tc>
              </a:tr>
              <a:tr h="347472">
                <a:tc>
                  <a:txBody>
                    <a:bodyPr/>
                    <a:lstStyle/>
                    <a:p>
                      <a:pPr algn="ctr"/>
                      <a:r>
                        <a:rPr sz="1200" b="0">
                          <a:solidFill>
                            <a:srgbClr val="0F172A"/>
                          </a:solidFill>
                          <a:latin typeface="Microsoft YaHei"/>
                        </a:rPr>
                        <a:t>NL2SQL+ prompt v2</a:t>
                      </a:r>
                    </a:p>
                  </a:txBody>
                  <a:tcPr marL="36576" marR="36576" marT="18288" marB="18288">
                    <a:solidFill>
                      <a:srgbClr val="FFFFFF"/>
                    </a:solidFill>
                  </a:tcPr>
                </a:tc>
                <a:tc>
                  <a:txBody>
                    <a:bodyPr/>
                    <a:lstStyle/>
                    <a:p>
                      <a:pPr algn="ctr"/>
                      <a:r>
                        <a:rPr sz="1200" b="0">
                          <a:solidFill>
                            <a:srgbClr val="0F172A"/>
                          </a:solidFill>
                          <a:latin typeface="Microsoft YaHei"/>
                        </a:rPr>
                        <a:t>30</a:t>
                      </a:r>
                    </a:p>
                  </a:txBody>
                  <a:tcPr marL="36576" marR="36576" marT="18288" marB="18288">
                    <a:solidFill>
                      <a:srgbClr val="FFFFFF"/>
                    </a:solidFill>
                  </a:tcPr>
                </a:tc>
                <a:tc>
                  <a:txBody>
                    <a:bodyPr/>
                    <a:lstStyle/>
                    <a:p>
                      <a:pPr algn="ctr"/>
                      <a:r>
                        <a:rPr sz="1200" b="0">
                          <a:solidFill>
                            <a:srgbClr val="0F172A"/>
                          </a:solidFill>
                          <a:latin typeface="Microsoft YaHei"/>
                        </a:rPr>
                        <a:t>30/30</a:t>
                      </a:r>
                    </a:p>
                  </a:txBody>
                  <a:tcPr marL="36576" marR="36576" marT="18288" marB="18288">
                    <a:solidFill>
                      <a:srgbClr val="FFFFFF"/>
                    </a:solidFill>
                  </a:tcPr>
                </a:tc>
                <a:tc>
                  <a:txBody>
                    <a:bodyPr/>
                    <a:lstStyle/>
                    <a:p>
                      <a:pPr algn="ctr"/>
                      <a:r>
                        <a:rPr sz="1200" b="0">
                          <a:solidFill>
                            <a:srgbClr val="0F172A"/>
                          </a:solidFill>
                          <a:latin typeface="Microsoft YaHei"/>
                        </a:rPr>
                        <a:t>30/30</a:t>
                      </a:r>
                    </a:p>
                  </a:txBody>
                  <a:tcPr marL="36576" marR="36576" marT="18288" marB="18288">
                    <a:solidFill>
                      <a:srgbClr val="FFFFFF"/>
                    </a:solidFill>
                  </a:tcPr>
                </a:tc>
                <a:tc>
                  <a:txBody>
                    <a:bodyPr/>
                    <a:lstStyle/>
                    <a:p>
                      <a:pPr algn="ctr"/>
                      <a:r>
                        <a:rPr sz="1200" b="0">
                          <a:solidFill>
                            <a:srgbClr val="0F172A"/>
                          </a:solidFill>
                          <a:latin typeface="Microsoft YaHei"/>
                        </a:rPr>
                        <a:t>17/30</a:t>
                      </a:r>
                    </a:p>
                  </a:txBody>
                  <a:tcPr marL="36576" marR="36576" marT="18288" marB="18288">
                    <a:solidFill>
                      <a:srgbClr val="FFFFFF"/>
                    </a:solidFill>
                  </a:tcPr>
                </a:tc>
              </a:tr>
            </a:tbl>
          </a:graphicData>
        </a:graphic>
      </p:graphicFrame>
      <p:sp>
        <p:nvSpPr>
          <p:cNvPr id="6" name="TextBox 5"/>
          <p:cNvSpPr txBox="1"/>
          <p:nvPr/>
        </p:nvSpPr>
        <p:spPr>
          <a:xfrm>
            <a:off x="713232" y="2450591"/>
            <a:ext cx="10515600" cy="320040"/>
          </a:xfrm>
          <a:prstGeom prst="rect">
            <a:avLst/>
          </a:prstGeom>
          <a:noFill/>
          <a:ln>
            <a:noFill/>
          </a:ln>
        </p:spPr>
        <p:txBody>
          <a:bodyPr wrap="square" lIns="0" rIns="0" tIns="27432" bIns="27432" anchor="t">
            <a:spAutoFit/>
          </a:bodyPr>
          <a:lstStyle/>
          <a:p>
            <a:r>
              <a:rPr sz="1500" b="0">
                <a:solidFill>
                  <a:srgbClr val="1F2937"/>
                </a:solidFill>
                <a:latin typeface="Microsoft YaHei"/>
              </a:rPr>
              <a:t>SQL+ prompt v2 失败类型：</a:t>
            </a:r>
          </a:p>
        </p:txBody>
      </p:sp>
      <p:graphicFrame>
        <p:nvGraphicFramePr>
          <p:cNvPr id="7" name="Table 6"/>
          <p:cNvGraphicFramePr>
            <a:graphicFrameLocks noGrp="1"/>
          </p:cNvGraphicFramePr>
          <p:nvPr/>
        </p:nvGraphicFramePr>
        <p:xfrm>
          <a:off x="658368" y="2843784"/>
          <a:ext cx="10881360" cy="2084832"/>
        </p:xfrm>
        <a:graphic>
          <a:graphicData uri="http://schemas.openxmlformats.org/drawingml/2006/table">
            <a:tbl>
              <a:tblPr firstRow="1" bandRow="1">
                <a:tableStyleId>{5C22544A-7EE6-4342-B048-85BDC9FD1C3A}</a:tableStyleId>
              </a:tblPr>
              <a:tblGrid>
                <a:gridCol w="5440680"/>
                <a:gridCol w="5440680"/>
              </a:tblGrid>
              <a:tr h="347472">
                <a:tc>
                  <a:txBody>
                    <a:bodyPr/>
                    <a:lstStyle/>
                    <a:p>
                      <a:pPr algn="ctr"/>
                      <a:r>
                        <a:rPr sz="1200" b="1">
                          <a:solidFill>
                            <a:srgbClr val="0F172A"/>
                          </a:solidFill>
                          <a:latin typeface="Microsoft YaHei"/>
                        </a:rPr>
                        <a:t>错误类型</a:t>
                      </a:r>
                    </a:p>
                  </a:txBody>
                  <a:tcPr marL="36576" marR="36576" marT="18288" marB="18288">
                    <a:solidFill>
                      <a:srgbClr val="E8F1F5"/>
                    </a:solidFill>
                  </a:tcPr>
                </a:tc>
                <a:tc>
                  <a:txBody>
                    <a:bodyPr/>
                    <a:lstStyle/>
                    <a:p>
                      <a:pPr algn="ctr"/>
                      <a:r>
                        <a:rPr sz="1200" b="1">
                          <a:solidFill>
                            <a:srgbClr val="0F172A"/>
                          </a:solidFill>
                          <a:latin typeface="Microsoft YaHei"/>
                        </a:rPr>
                        <a:t>数量</a:t>
                      </a:r>
                    </a:p>
                  </a:txBody>
                  <a:tcPr marL="36576" marR="36576" marT="18288" marB="18288">
                    <a:solidFill>
                      <a:srgbClr val="E8F1F5"/>
                    </a:solidFill>
                  </a:tcPr>
                </a:tc>
              </a:tr>
              <a:tr h="347472">
                <a:tc>
                  <a:txBody>
                    <a:bodyPr/>
                    <a:lstStyle/>
                    <a:p>
                      <a:pPr algn="l"/>
                      <a:r>
                        <a:rPr sz="1200" b="0">
                          <a:solidFill>
                            <a:srgbClr val="0F172A"/>
                          </a:solidFill>
                          <a:latin typeface="Microsoft YaHei"/>
                        </a:rPr>
                        <a:t>filter/value-linking</a:t>
                      </a:r>
                    </a:p>
                  </a:txBody>
                  <a:tcPr marL="36576" marR="36576" marT="18288" marB="18288">
                    <a:solidFill>
                      <a:srgbClr val="FFFFFF"/>
                    </a:solidFill>
                  </a:tcPr>
                </a:tc>
                <a:tc>
                  <a:txBody>
                    <a:bodyPr/>
                    <a:lstStyle/>
                    <a:p>
                      <a:pPr algn="ctr"/>
                      <a:r>
                        <a:rPr sz="1200" b="0">
                          <a:solidFill>
                            <a:srgbClr val="0F172A"/>
                          </a:solidFill>
                          <a:latin typeface="Microsoft YaHei"/>
                        </a:rPr>
                        <a:t>5</a:t>
                      </a:r>
                    </a:p>
                  </a:txBody>
                  <a:tcPr marL="36576" marR="36576" marT="18288" marB="18288">
                    <a:solidFill>
                      <a:srgbClr val="FFFFFF"/>
                    </a:solidFill>
                  </a:tcPr>
                </a:tc>
              </a:tr>
              <a:tr h="347472">
                <a:tc>
                  <a:txBody>
                    <a:bodyPr/>
                    <a:lstStyle/>
                    <a:p>
                      <a:pPr algn="ctr"/>
                      <a:r>
                        <a:rPr sz="1200" b="0">
                          <a:solidFill>
                            <a:srgbClr val="0F172A"/>
                          </a:solidFill>
                          <a:latin typeface="Microsoft YaHei"/>
                        </a:rPr>
                        <a:t>ORDER/LIMIT</a:t>
                      </a:r>
                    </a:p>
                  </a:txBody>
                  <a:tcPr marL="36576" marR="36576" marT="18288" marB="18288">
                    <a:solidFill>
                      <a:srgbClr val="F6F8FA"/>
                    </a:solidFill>
                  </a:tcPr>
                </a:tc>
                <a:tc>
                  <a:txBody>
                    <a:bodyPr/>
                    <a:lstStyle/>
                    <a:p>
                      <a:pPr algn="ctr"/>
                      <a:r>
                        <a:rPr sz="1200" b="0">
                          <a:solidFill>
                            <a:srgbClr val="0F172A"/>
                          </a:solidFill>
                          <a:latin typeface="Microsoft YaHei"/>
                        </a:rPr>
                        <a:t>3</a:t>
                      </a:r>
                    </a:p>
                  </a:txBody>
                  <a:tcPr marL="36576" marR="36576" marT="18288" marB="18288">
                    <a:solidFill>
                      <a:srgbClr val="F6F8FA"/>
                    </a:solidFill>
                  </a:tcPr>
                </a:tc>
              </a:tr>
              <a:tr h="347472">
                <a:tc>
                  <a:txBody>
                    <a:bodyPr/>
                    <a:lstStyle/>
                    <a:p>
                      <a:pPr algn="l"/>
                      <a:r>
                        <a:rPr sz="1200" b="0">
                          <a:solidFill>
                            <a:srgbClr val="0F172A"/>
                          </a:solidFill>
                          <a:latin typeface="Microsoft YaHei"/>
                        </a:rPr>
                        <a:t>aggregation planning</a:t>
                      </a:r>
                    </a:p>
                  </a:txBody>
                  <a:tcPr marL="36576" marR="36576" marT="18288" marB="18288">
                    <a:solidFill>
                      <a:srgbClr val="FFFFFF"/>
                    </a:solidFill>
                  </a:tcPr>
                </a:tc>
                <a:tc>
                  <a:txBody>
                    <a:bodyPr/>
                    <a:lstStyle/>
                    <a:p>
                      <a:pPr algn="ctr"/>
                      <a:r>
                        <a:rPr sz="1200" b="0">
                          <a:solidFill>
                            <a:srgbClr val="0F172A"/>
                          </a:solidFill>
                          <a:latin typeface="Microsoft YaHei"/>
                        </a:rPr>
                        <a:t>2</a:t>
                      </a:r>
                    </a:p>
                  </a:txBody>
                  <a:tcPr marL="36576" marR="36576" marT="18288" marB="18288">
                    <a:solidFill>
                      <a:srgbClr val="FFFFFF"/>
                    </a:solidFill>
                  </a:tcPr>
                </a:tc>
              </a:tr>
              <a:tr h="347472">
                <a:tc>
                  <a:txBody>
                    <a:bodyPr/>
                    <a:lstStyle/>
                    <a:p>
                      <a:pPr algn="l"/>
                      <a:r>
                        <a:rPr sz="1200" b="0">
                          <a:solidFill>
                            <a:srgbClr val="0F172A"/>
                          </a:solidFill>
                          <a:latin typeface="Microsoft YaHei"/>
                        </a:rPr>
                        <a:t>schema/join planning</a:t>
                      </a:r>
                    </a:p>
                  </a:txBody>
                  <a:tcPr marL="36576" marR="36576" marT="18288" marB="18288">
                    <a:solidFill>
                      <a:srgbClr val="F6F8FA"/>
                    </a:solidFill>
                  </a:tcPr>
                </a:tc>
                <a:tc>
                  <a:txBody>
                    <a:bodyPr/>
                    <a:lstStyle/>
                    <a:p>
                      <a:pPr algn="ctr"/>
                      <a:r>
                        <a:rPr sz="1200" b="0">
                          <a:solidFill>
                            <a:srgbClr val="0F172A"/>
                          </a:solidFill>
                          <a:latin typeface="Microsoft YaHei"/>
                        </a:rPr>
                        <a:t>2</a:t>
                      </a:r>
                    </a:p>
                  </a:txBody>
                  <a:tcPr marL="36576" marR="36576" marT="18288" marB="18288">
                    <a:solidFill>
                      <a:srgbClr val="F6F8FA"/>
                    </a:solidFill>
                  </a:tcPr>
                </a:tc>
              </a:tr>
              <a:tr h="347472">
                <a:tc>
                  <a:txBody>
                    <a:bodyPr/>
                    <a:lstStyle/>
                    <a:p>
                      <a:pPr algn="l"/>
                      <a:r>
                        <a:rPr sz="1200" b="0">
                          <a:solidFill>
                            <a:srgbClr val="0F172A"/>
                          </a:solidFill>
                          <a:latin typeface="Microsoft YaHei"/>
                        </a:rPr>
                        <a:t>projection mismatch</a:t>
                      </a:r>
                    </a:p>
                  </a:txBody>
                  <a:tcPr marL="36576" marR="36576" marT="18288" marB="18288">
                    <a:solidFill>
                      <a:srgbClr val="FFFFFF"/>
                    </a:solidFill>
                  </a:tcPr>
                </a:tc>
                <a:tc>
                  <a:txBody>
                    <a:bodyPr/>
                    <a:lstStyle/>
                    <a:p>
                      <a:pPr algn="ctr"/>
                      <a:r>
                        <a:rPr sz="1200" b="0">
                          <a:solidFill>
                            <a:srgbClr val="0F172A"/>
                          </a:solidFill>
                          <a:latin typeface="Microsoft YaHei"/>
                        </a:rPr>
                        <a:t>1</a:t>
                      </a:r>
                    </a:p>
                  </a:txBody>
                  <a:tcPr marL="36576" marR="36576" marT="18288" marB="18288">
                    <a:solidFill>
                      <a:srgbClr val="FFFFFF"/>
                    </a:solidFill>
                  </a:tcPr>
                </a:tc>
              </a:tr>
            </a:tbl>
          </a:graphicData>
        </a:graphic>
      </p:graphicFrame>
      <p:sp>
        <p:nvSpPr>
          <p:cNvPr id="8" name="TextBox 7"/>
          <p:cNvSpPr txBox="1"/>
          <p:nvPr/>
        </p:nvSpPr>
        <p:spPr>
          <a:xfrm>
            <a:off x="713232" y="5093208"/>
            <a:ext cx="10515600" cy="320040"/>
          </a:xfrm>
          <a:prstGeom prst="rect">
            <a:avLst/>
          </a:prstGeom>
          <a:noFill/>
          <a:ln>
            <a:noFill/>
          </a:ln>
        </p:spPr>
        <p:txBody>
          <a:bodyPr wrap="square" lIns="0" rIns="0" tIns="27432" bIns="27432" anchor="t">
            <a:spAutoFit/>
          </a:bodyPr>
          <a:lstStyle/>
          <a:p>
            <a:r>
              <a:rPr sz="1500" b="0">
                <a:solidFill>
                  <a:srgbClr val="1F2937"/>
                </a:solidFill>
                <a:latin typeface="Microsoft YaHei"/>
              </a:rPr>
              <a:t>结论：主要错误是语义错误，不是语法错误。</a:t>
            </a:r>
          </a:p>
        </p:txBody>
      </p:sp>
      <p:sp>
        <p:nvSpPr>
          <p:cNvPr id="9" name="Rectangle 8"/>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14.xml><?xml version="1.0" encoding="utf-8"?>
<p:sld xmlns:a="http://schemas.openxmlformats.org/drawingml/2006/main"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反馈修正实验结果</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14</a:t>
            </a:r>
          </a:p>
        </p:txBody>
      </p:sp>
      <p:graphicFrame>
        <p:nvGraphicFramePr>
          <p:cNvPr id="5" name="Table 4"/>
          <p:cNvGraphicFramePr>
            <a:graphicFrameLocks noGrp="1"/>
          </p:cNvGraphicFramePr>
          <p:nvPr/>
        </p:nvGraphicFramePr>
        <p:xfrm>
          <a:off x="658368" y="896112"/>
          <a:ext cx="10881360" cy="2084832"/>
        </p:xfrm>
        <a:graphic>
          <a:graphicData uri="http://schemas.openxmlformats.org/drawingml/2006/table">
            <a:tbl>
              <a:tblPr firstRow="1" bandRow="1">
                <a:tableStyleId>{5C22544A-7EE6-4342-B048-85BDC9FD1C3A}</a:tableStyleId>
              </a:tblPr>
              <a:tblGrid>
                <a:gridCol w="2176272"/>
                <a:gridCol w="2176272"/>
                <a:gridCol w="2176272"/>
                <a:gridCol w="2176272"/>
                <a:gridCol w="2176272"/>
              </a:tblGrid>
              <a:tr h="347472">
                <a:tc>
                  <a:txBody>
                    <a:bodyPr/>
                    <a:lstStyle/>
                    <a:p>
                      <a:pPr algn="ctr"/>
                      <a:r>
                        <a:rPr sz="1200" b="1">
                          <a:solidFill>
                            <a:srgbClr val="0F172A"/>
                          </a:solidFill>
                          <a:latin typeface="Microsoft YaHei"/>
                        </a:rPr>
                        <a:t>方法</a:t>
                      </a:r>
                    </a:p>
                  </a:txBody>
                  <a:tcPr marL="36576" marR="36576" marT="18288" marB="18288">
                    <a:solidFill>
                      <a:srgbClr val="E8F1F5"/>
                    </a:solidFill>
                  </a:tcPr>
                </a:tc>
                <a:tc>
                  <a:txBody>
                    <a:bodyPr/>
                    <a:lstStyle/>
                    <a:p>
                      <a:pPr algn="ctr"/>
                      <a:r>
                        <a:rPr sz="1200" b="1">
                          <a:solidFill>
                            <a:srgbClr val="0F172A"/>
                          </a:solidFill>
                          <a:latin typeface="Microsoft YaHei"/>
                        </a:rPr>
                        <a:t>失败样例</a:t>
                      </a:r>
                    </a:p>
                  </a:txBody>
                  <a:tcPr marL="36576" marR="36576" marT="18288" marB="18288">
                    <a:solidFill>
                      <a:srgbClr val="E8F1F5"/>
                    </a:solidFill>
                  </a:tcPr>
                </a:tc>
                <a:tc>
                  <a:txBody>
                    <a:bodyPr/>
                    <a:lstStyle/>
                    <a:p>
                      <a:pPr algn="ctr"/>
                      <a:r>
                        <a:rPr sz="1200" b="1">
                          <a:solidFill>
                            <a:srgbClr val="0F172A"/>
                          </a:solidFill>
                          <a:latin typeface="Microsoft YaHei"/>
                        </a:rPr>
                        <a:t>SQL+ 有效</a:t>
                      </a:r>
                    </a:p>
                  </a:txBody>
                  <a:tcPr marL="36576" marR="36576" marT="18288" marB="18288">
                    <a:solidFill>
                      <a:srgbClr val="E8F1F5"/>
                    </a:solidFill>
                  </a:tcPr>
                </a:tc>
                <a:tc>
                  <a:txBody>
                    <a:bodyPr/>
                    <a:lstStyle/>
                    <a:p>
                      <a:pPr algn="ctr"/>
                      <a:r>
                        <a:rPr sz="1200" b="1">
                          <a:solidFill>
                            <a:srgbClr val="0F172A"/>
                          </a:solidFill>
                          <a:latin typeface="Microsoft YaHei"/>
                        </a:rPr>
                        <a:t>SQL 可执行</a:t>
                      </a:r>
                    </a:p>
                  </a:txBody>
                  <a:tcPr marL="36576" marR="36576" marT="18288" marB="18288">
                    <a:solidFill>
                      <a:srgbClr val="E8F1F5"/>
                    </a:solidFill>
                  </a:tcPr>
                </a:tc>
                <a:tc>
                  <a:txBody>
                    <a:bodyPr/>
                    <a:lstStyle/>
                    <a:p>
                      <a:pPr algn="ctr"/>
                      <a:r>
                        <a:rPr sz="1200" b="1">
                          <a:solidFill>
                            <a:srgbClr val="0F172A"/>
                          </a:solidFill>
                          <a:latin typeface="Microsoft YaHei"/>
                        </a:rPr>
                        <a:t>修复成功</a:t>
                      </a:r>
                    </a:p>
                  </a:txBody>
                  <a:tcPr marL="36576" marR="36576" marT="18288" marB="18288">
                    <a:solidFill>
                      <a:srgbClr val="E8F1F5"/>
                    </a:solidFill>
                  </a:tcPr>
                </a:tc>
              </a:tr>
              <a:tr h="347472">
                <a:tc>
                  <a:txBody>
                    <a:bodyPr/>
                    <a:lstStyle/>
                    <a:p>
                      <a:pPr algn="l"/>
                      <a:r>
                        <a:rPr sz="1000" b="0">
                          <a:solidFill>
                            <a:srgbClr val="0F172A"/>
                          </a:solidFill>
                          <a:latin typeface="Microsoft YaHei"/>
                        </a:rPr>
                        <a:t>SQL+ 非 gold Refiner v2</a:t>
                      </a:r>
                    </a:p>
                  </a:txBody>
                  <a:tcPr marL="36576" marR="36576" marT="18288" marB="18288">
                    <a:solidFill>
                      <a:srgbClr val="FFFFFF"/>
                    </a:solidFill>
                  </a:tcPr>
                </a:tc>
                <a:tc>
                  <a:txBody>
                    <a:bodyPr/>
                    <a:lstStyle/>
                    <a:p>
                      <a:pPr algn="ctr"/>
                      <a:r>
                        <a:rPr sz="1200" b="0">
                          <a:solidFill>
                            <a:srgbClr val="0F172A"/>
                          </a:solidFill>
                          <a:latin typeface="Microsoft YaHei"/>
                        </a:rPr>
                        <a:t>13</a:t>
                      </a:r>
                    </a:p>
                  </a:txBody>
                  <a:tcPr marL="36576" marR="36576" marT="18288" marB="18288">
                    <a:solidFill>
                      <a:srgbClr val="FFFFFF"/>
                    </a:solidFill>
                  </a:tcPr>
                </a:tc>
                <a:tc>
                  <a:txBody>
                    <a:bodyPr/>
                    <a:lstStyle/>
                    <a:p>
                      <a:pPr algn="ctr"/>
                      <a:r>
                        <a:rPr sz="1200" b="0">
                          <a:solidFill>
                            <a:srgbClr val="0F172A"/>
                          </a:solidFill>
                          <a:latin typeface="Microsoft YaHei"/>
                        </a:rPr>
                        <a:t>13/13</a:t>
                      </a:r>
                    </a:p>
                  </a:txBody>
                  <a:tcPr marL="36576" marR="36576" marT="18288" marB="18288">
                    <a:solidFill>
                      <a:srgbClr val="FFFFFF"/>
                    </a:solidFill>
                  </a:tcPr>
                </a:tc>
                <a:tc>
                  <a:txBody>
                    <a:bodyPr/>
                    <a:lstStyle/>
                    <a:p>
                      <a:pPr algn="ctr"/>
                      <a:r>
                        <a:rPr sz="1200" b="0">
                          <a:solidFill>
                            <a:srgbClr val="0F172A"/>
                          </a:solidFill>
                          <a:latin typeface="Microsoft YaHei"/>
                        </a:rPr>
                        <a:t>12/13</a:t>
                      </a:r>
                    </a:p>
                  </a:txBody>
                  <a:tcPr marL="36576" marR="36576" marT="18288" marB="18288">
                    <a:solidFill>
                      <a:srgbClr val="FFFFFF"/>
                    </a:solidFill>
                  </a:tcPr>
                </a:tc>
                <a:tc>
                  <a:txBody>
                    <a:bodyPr/>
                    <a:lstStyle/>
                    <a:p>
                      <a:pPr algn="ctr"/>
                      <a:r>
                        <a:rPr sz="1200" b="0">
                          <a:solidFill>
                            <a:srgbClr val="0F172A"/>
                          </a:solidFill>
                          <a:latin typeface="Microsoft YaHei"/>
                        </a:rPr>
                        <a:t>4/13</a:t>
                      </a:r>
                    </a:p>
                  </a:txBody>
                  <a:tcPr marL="36576" marR="36576" marT="18288" marB="18288">
                    <a:solidFill>
                      <a:srgbClr val="FFFFFF"/>
                    </a:solidFill>
                  </a:tcPr>
                </a:tc>
              </a:tr>
              <a:tr h="347472">
                <a:tc>
                  <a:txBody>
                    <a:bodyPr/>
                    <a:lstStyle/>
                    <a:p>
                      <a:pPr algn="l"/>
                      <a:r>
                        <a:rPr sz="1000" b="0">
                          <a:solidFill>
                            <a:srgbClr val="0F172A"/>
                          </a:solidFill>
                          <a:latin typeface="Microsoft YaHei"/>
                        </a:rPr>
                        <a:t>Direct SQL 非 gold Refiner</a:t>
                      </a:r>
                    </a:p>
                  </a:txBody>
                  <a:tcPr marL="36576" marR="36576" marT="18288" marB="18288">
                    <a:solidFill>
                      <a:srgbClr val="F6F8FA"/>
                    </a:solidFill>
                  </a:tcPr>
                </a:tc>
                <a:tc>
                  <a:txBody>
                    <a:bodyPr/>
                    <a:lstStyle/>
                    <a:p>
                      <a:pPr algn="ctr"/>
                      <a:r>
                        <a:rPr sz="1200" b="0">
                          <a:solidFill>
                            <a:srgbClr val="0F172A"/>
                          </a:solidFill>
                          <a:latin typeface="Microsoft YaHei"/>
                        </a:rPr>
                        <a:t>14</a:t>
                      </a:r>
                    </a:p>
                  </a:txBody>
                  <a:tcPr marL="36576" marR="36576" marT="18288" marB="18288">
                    <a:solidFill>
                      <a:srgbClr val="F6F8FA"/>
                    </a:solidFill>
                  </a:tcPr>
                </a:tc>
                <a:tc>
                  <a:txBody>
                    <a:bodyPr/>
                    <a:lstStyle/>
                    <a:p>
                      <a:pPr algn="ctr"/>
                      <a:r>
                        <a:rPr sz="1200" b="0">
                          <a:solidFill>
                            <a:srgbClr val="0F172A"/>
                          </a:solidFill>
                          <a:latin typeface="Microsoft YaHei"/>
                        </a:rPr>
                        <a:t>-</a:t>
                      </a:r>
                    </a:p>
                  </a:txBody>
                  <a:tcPr marL="36576" marR="36576" marT="18288" marB="18288">
                    <a:solidFill>
                      <a:srgbClr val="F6F8FA"/>
                    </a:solidFill>
                  </a:tcPr>
                </a:tc>
                <a:tc>
                  <a:txBody>
                    <a:bodyPr/>
                    <a:lstStyle/>
                    <a:p>
                      <a:pPr algn="ctr"/>
                      <a:r>
                        <a:rPr sz="1200" b="0">
                          <a:solidFill>
                            <a:srgbClr val="0F172A"/>
                          </a:solidFill>
                          <a:latin typeface="Microsoft YaHei"/>
                        </a:rPr>
                        <a:t>14/14</a:t>
                      </a:r>
                    </a:p>
                  </a:txBody>
                  <a:tcPr marL="36576" marR="36576" marT="18288" marB="18288">
                    <a:solidFill>
                      <a:srgbClr val="F6F8FA"/>
                    </a:solidFill>
                  </a:tcPr>
                </a:tc>
                <a:tc>
                  <a:txBody>
                    <a:bodyPr/>
                    <a:lstStyle/>
                    <a:p>
                      <a:pPr algn="ctr"/>
                      <a:r>
                        <a:rPr sz="1200" b="0">
                          <a:solidFill>
                            <a:srgbClr val="0F172A"/>
                          </a:solidFill>
                          <a:latin typeface="Microsoft YaHei"/>
                        </a:rPr>
                        <a:t>6/14</a:t>
                      </a:r>
                    </a:p>
                  </a:txBody>
                  <a:tcPr marL="36576" marR="36576" marT="18288" marB="18288">
                    <a:solidFill>
                      <a:srgbClr val="F6F8FA"/>
                    </a:solidFill>
                  </a:tcPr>
                </a:tc>
              </a:tr>
              <a:tr h="347472">
                <a:tc>
                  <a:txBody>
                    <a:bodyPr/>
                    <a:lstStyle/>
                    <a:p>
                      <a:pPr algn="l"/>
                      <a:r>
                        <a:rPr sz="1000" b="0">
                          <a:solidFill>
                            <a:srgbClr val="0F172A"/>
                          </a:solidFill>
                          <a:latin typeface="Microsoft YaHei"/>
                        </a:rPr>
                        <a:t>SQL+ Schema-Critic-Refiner 初版</a:t>
                      </a:r>
                    </a:p>
                  </a:txBody>
                  <a:tcPr marL="36576" marR="36576" marT="18288" marB="18288">
                    <a:solidFill>
                      <a:srgbClr val="FFFFFF"/>
                    </a:solidFill>
                  </a:tcPr>
                </a:tc>
                <a:tc>
                  <a:txBody>
                    <a:bodyPr/>
                    <a:lstStyle/>
                    <a:p>
                      <a:pPr algn="ctr"/>
                      <a:r>
                        <a:rPr sz="1200" b="0">
                          <a:solidFill>
                            <a:srgbClr val="0F172A"/>
                          </a:solidFill>
                          <a:latin typeface="Microsoft YaHei"/>
                        </a:rPr>
                        <a:t>13</a:t>
                      </a:r>
                    </a:p>
                  </a:txBody>
                  <a:tcPr marL="36576" marR="36576" marT="18288" marB="18288">
                    <a:solidFill>
                      <a:srgbClr val="FFFFFF"/>
                    </a:solidFill>
                  </a:tcPr>
                </a:tc>
                <a:tc>
                  <a:txBody>
                    <a:bodyPr/>
                    <a:lstStyle/>
                    <a:p>
                      <a:pPr algn="ctr"/>
                      <a:r>
                        <a:rPr sz="1200" b="0">
                          <a:solidFill>
                            <a:srgbClr val="0F172A"/>
                          </a:solidFill>
                          <a:latin typeface="Microsoft YaHei"/>
                        </a:rPr>
                        <a:t>13/13</a:t>
                      </a:r>
                    </a:p>
                  </a:txBody>
                  <a:tcPr marL="36576" marR="36576" marT="18288" marB="18288">
                    <a:solidFill>
                      <a:srgbClr val="FFFFFF"/>
                    </a:solidFill>
                  </a:tcPr>
                </a:tc>
                <a:tc>
                  <a:txBody>
                    <a:bodyPr/>
                    <a:lstStyle/>
                    <a:p>
                      <a:pPr algn="ctr"/>
                      <a:r>
                        <a:rPr sz="1200" b="0">
                          <a:solidFill>
                            <a:srgbClr val="0F172A"/>
                          </a:solidFill>
                          <a:latin typeface="Microsoft YaHei"/>
                        </a:rPr>
                        <a:t>13/13</a:t>
                      </a:r>
                    </a:p>
                  </a:txBody>
                  <a:tcPr marL="36576" marR="36576" marT="18288" marB="18288">
                    <a:solidFill>
                      <a:srgbClr val="FFFFFF"/>
                    </a:solidFill>
                  </a:tcPr>
                </a:tc>
                <a:tc>
                  <a:txBody>
                    <a:bodyPr/>
                    <a:lstStyle/>
                    <a:p>
                      <a:pPr algn="ctr"/>
                      <a:r>
                        <a:rPr sz="1200" b="0">
                          <a:solidFill>
                            <a:srgbClr val="0F172A"/>
                          </a:solidFill>
                          <a:latin typeface="Microsoft YaHei"/>
                        </a:rPr>
                        <a:t>3/13</a:t>
                      </a:r>
                    </a:p>
                  </a:txBody>
                  <a:tcPr marL="36576" marR="36576" marT="18288" marB="18288">
                    <a:solidFill>
                      <a:srgbClr val="FFFFFF"/>
                    </a:solidFill>
                  </a:tcPr>
                </a:tc>
              </a:tr>
              <a:tr h="347472">
                <a:tc>
                  <a:txBody>
                    <a:bodyPr/>
                    <a:lstStyle/>
                    <a:p>
                      <a:pPr algn="l"/>
                      <a:r>
                        <a:rPr sz="1000" b="0">
                          <a:solidFill>
                            <a:srgbClr val="0F172A"/>
                          </a:solidFill>
                          <a:latin typeface="Microsoft YaHei"/>
                        </a:rPr>
                        <a:t>SQL+ Step-wise Critic-Refiner</a:t>
                      </a:r>
                    </a:p>
                  </a:txBody>
                  <a:tcPr marL="36576" marR="36576" marT="18288" marB="18288">
                    <a:solidFill>
                      <a:srgbClr val="F6F8FA"/>
                    </a:solidFill>
                  </a:tcPr>
                </a:tc>
                <a:tc>
                  <a:txBody>
                    <a:bodyPr/>
                    <a:lstStyle/>
                    <a:p>
                      <a:pPr algn="ctr"/>
                      <a:r>
                        <a:rPr sz="1200" b="0">
                          <a:solidFill>
                            <a:srgbClr val="0F172A"/>
                          </a:solidFill>
                          <a:latin typeface="Microsoft YaHei"/>
                        </a:rPr>
                        <a:t>13</a:t>
                      </a:r>
                    </a:p>
                  </a:txBody>
                  <a:tcPr marL="36576" marR="36576" marT="18288" marB="18288">
                    <a:solidFill>
                      <a:srgbClr val="F6F8FA"/>
                    </a:solidFill>
                  </a:tcPr>
                </a:tc>
                <a:tc>
                  <a:txBody>
                    <a:bodyPr/>
                    <a:lstStyle/>
                    <a:p>
                      <a:pPr algn="ctr"/>
                      <a:r>
                        <a:rPr sz="1200" b="0">
                          <a:solidFill>
                            <a:srgbClr val="0F172A"/>
                          </a:solidFill>
                          <a:latin typeface="Microsoft YaHei"/>
                        </a:rPr>
                        <a:t>13/13</a:t>
                      </a:r>
                    </a:p>
                  </a:txBody>
                  <a:tcPr marL="36576" marR="36576" marT="18288" marB="18288">
                    <a:solidFill>
                      <a:srgbClr val="F6F8FA"/>
                    </a:solidFill>
                  </a:tcPr>
                </a:tc>
                <a:tc>
                  <a:txBody>
                    <a:bodyPr/>
                    <a:lstStyle/>
                    <a:p>
                      <a:pPr algn="ctr"/>
                      <a:r>
                        <a:rPr sz="1200" b="0">
                          <a:solidFill>
                            <a:srgbClr val="0F172A"/>
                          </a:solidFill>
                          <a:latin typeface="Microsoft YaHei"/>
                        </a:rPr>
                        <a:t>12/13</a:t>
                      </a:r>
                    </a:p>
                  </a:txBody>
                  <a:tcPr marL="36576" marR="36576" marT="18288" marB="18288">
                    <a:solidFill>
                      <a:srgbClr val="F6F8FA"/>
                    </a:solidFill>
                  </a:tcPr>
                </a:tc>
                <a:tc>
                  <a:txBody>
                    <a:bodyPr/>
                    <a:lstStyle/>
                    <a:p>
                      <a:pPr algn="ctr"/>
                      <a:r>
                        <a:rPr sz="1200" b="0">
                          <a:solidFill>
                            <a:srgbClr val="0F172A"/>
                          </a:solidFill>
                          <a:latin typeface="Microsoft YaHei"/>
                        </a:rPr>
                        <a:t>3/13</a:t>
                      </a:r>
                    </a:p>
                  </a:txBody>
                  <a:tcPr marL="36576" marR="36576" marT="18288" marB="18288">
                    <a:solidFill>
                      <a:srgbClr val="F6F8FA"/>
                    </a:solidFill>
                  </a:tcPr>
                </a:tc>
              </a:tr>
              <a:tr h="347472">
                <a:tc>
                  <a:txBody>
                    <a:bodyPr/>
                    <a:lstStyle/>
                    <a:p>
                      <a:pPr algn="l"/>
                      <a:r>
                        <a:rPr sz="1000" b="0">
                          <a:solidFill>
                            <a:srgbClr val="0F172A"/>
                          </a:solidFill>
                          <a:latin typeface="Microsoft YaHei"/>
                        </a:rPr>
                        <a:t>SQL+ Skill Router + Repair Skills v3</a:t>
                      </a:r>
                    </a:p>
                  </a:txBody>
                  <a:tcPr marL="36576" marR="36576" marT="18288" marB="18288">
                    <a:solidFill>
                      <a:srgbClr val="FFFFFF"/>
                    </a:solidFill>
                  </a:tcPr>
                </a:tc>
                <a:tc>
                  <a:txBody>
                    <a:bodyPr/>
                    <a:lstStyle/>
                    <a:p>
                      <a:pPr algn="ctr"/>
                      <a:r>
                        <a:rPr sz="1200" b="0">
                          <a:solidFill>
                            <a:srgbClr val="0F172A"/>
                          </a:solidFill>
                          <a:latin typeface="Microsoft YaHei"/>
                        </a:rPr>
                        <a:t>13</a:t>
                      </a:r>
                    </a:p>
                  </a:txBody>
                  <a:tcPr marL="36576" marR="36576" marT="18288" marB="18288">
                    <a:solidFill>
                      <a:srgbClr val="FFFFFF"/>
                    </a:solidFill>
                  </a:tcPr>
                </a:tc>
                <a:tc>
                  <a:txBody>
                    <a:bodyPr/>
                    <a:lstStyle/>
                    <a:p>
                      <a:pPr algn="ctr"/>
                      <a:r>
                        <a:rPr sz="1200" b="0">
                          <a:solidFill>
                            <a:srgbClr val="0F172A"/>
                          </a:solidFill>
                          <a:latin typeface="Microsoft YaHei"/>
                        </a:rPr>
                        <a:t>13/13</a:t>
                      </a:r>
                    </a:p>
                  </a:txBody>
                  <a:tcPr marL="36576" marR="36576" marT="18288" marB="18288">
                    <a:solidFill>
                      <a:srgbClr val="FFFFFF"/>
                    </a:solidFill>
                  </a:tcPr>
                </a:tc>
                <a:tc>
                  <a:txBody>
                    <a:bodyPr/>
                    <a:lstStyle/>
                    <a:p>
                      <a:pPr algn="ctr"/>
                      <a:r>
                        <a:rPr sz="1200" b="0">
                          <a:solidFill>
                            <a:srgbClr val="0F172A"/>
                          </a:solidFill>
                          <a:latin typeface="Microsoft YaHei"/>
                        </a:rPr>
                        <a:t>13/13</a:t>
                      </a:r>
                    </a:p>
                  </a:txBody>
                  <a:tcPr marL="36576" marR="36576" marT="18288" marB="18288">
                    <a:solidFill>
                      <a:srgbClr val="FFFFFF"/>
                    </a:solidFill>
                  </a:tcPr>
                </a:tc>
                <a:tc>
                  <a:txBody>
                    <a:bodyPr/>
                    <a:lstStyle/>
                    <a:p>
                      <a:pPr algn="ctr"/>
                      <a:r>
                        <a:rPr sz="1200" b="0">
                          <a:solidFill>
                            <a:srgbClr val="0F172A"/>
                          </a:solidFill>
                          <a:latin typeface="Microsoft YaHei"/>
                        </a:rPr>
                        <a:t>13/13</a:t>
                      </a:r>
                    </a:p>
                  </a:txBody>
                  <a:tcPr marL="36576" marR="36576" marT="18288" marB="18288">
                    <a:solidFill>
                      <a:srgbClr val="FFFFFF"/>
                    </a:solidFill>
                  </a:tcPr>
                </a:tc>
              </a:tr>
            </a:tbl>
          </a:graphicData>
        </a:graphic>
      </p:graphicFrame>
      <p:sp>
        <p:nvSpPr>
          <p:cNvPr id="6" name="TextBox 5"/>
          <p:cNvSpPr txBox="1"/>
          <p:nvPr/>
        </p:nvSpPr>
        <p:spPr>
          <a:xfrm>
            <a:off x="658368" y="3145536"/>
            <a:ext cx="3840480" cy="256032"/>
          </a:xfrm>
          <a:prstGeom prst="rect">
            <a:avLst/>
          </a:prstGeom>
          <a:noFill/>
          <a:ln>
            <a:noFill/>
          </a:ln>
        </p:spPr>
        <p:txBody>
          <a:bodyPr wrap="square" lIns="0" rIns="0" tIns="27432" bIns="27432" anchor="t">
            <a:spAutoFit/>
          </a:bodyPr>
          <a:lstStyle/>
          <a:p>
            <a:r>
              <a:rPr sz="1500" b="1">
                <a:solidFill>
                  <a:srgbClr val="12343B"/>
                </a:solidFill>
                <a:latin typeface="Microsoft YaHei"/>
              </a:rPr>
              <a:t>结论：</a:t>
            </a:r>
          </a:p>
        </p:txBody>
      </p:sp>
      <p:sp>
        <p:nvSpPr>
          <p:cNvPr id="7" name="Rectangle 6"/>
          <p:cNvSpPr/>
          <p:nvPr/>
        </p:nvSpPr>
        <p:spPr>
          <a:xfrm>
            <a:off x="658368" y="3456432"/>
            <a:ext cx="1051560" cy="32004"/>
          </a:xfrm>
          <a:prstGeom prst="rect">
            <a:avLst/>
          </a:prstGeom>
          <a:solidFill>
            <a:srgbClr val="E3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3584448"/>
            <a:ext cx="10241280" cy="850392"/>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 单 Refiner prompt 不稳定。</a:t>
            </a:r>
          </a:p>
          <a:p>
            <a:pPr>
              <a:defRPr sz="1500">
                <a:solidFill>
                  <a:srgbClr val="1F2937"/>
                </a:solidFill>
                <a:latin typeface="Microsoft YaHei"/>
              </a:defRPr>
            </a:pPr>
            <a:r>
              <a:t>• 简单串联多个 Agent 也不一定提升。</a:t>
            </a:r>
          </a:p>
          <a:p>
            <a:pPr>
              <a:defRPr sz="1500">
                <a:solidFill>
                  <a:srgbClr val="1F2937"/>
                </a:solidFill>
                <a:latin typeface="Microsoft YaHei"/>
              </a:defRPr>
            </a:pPr>
            <a:r>
              <a:t>• Router v3 在 13 条已知 SQL+ 失败样例上达到 13/13。
• 该结果仍是小规模验证，后续扩展复合错误和公开子集。</a:t>
            </a:r>
          </a:p>
        </p:txBody>
      </p:sp>
      <p:sp>
        <p:nvSpPr>
          <p:cNvPr id="9" name="Rectangle 8"/>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15.xml><?xml version="1.0" encoding="utf-8"?>
<p:sld xmlns:a="http://schemas.openxmlformats.org/drawingml/2006/main"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分治 Repair Skill 实验</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15</a:t>
            </a:r>
          </a:p>
        </p:txBody>
      </p:sp>
      <p:graphicFrame>
        <p:nvGraphicFramePr>
          <p:cNvPr id="5" name="Table 4"/>
          <p:cNvGraphicFramePr>
            <a:graphicFrameLocks noGrp="1"/>
          </p:cNvGraphicFramePr>
          <p:nvPr/>
        </p:nvGraphicFramePr>
        <p:xfrm>
          <a:off x="658368" y="896112"/>
          <a:ext cx="10881360" cy="1737360"/>
        </p:xfrm>
        <a:graphic>
          <a:graphicData uri="http://schemas.openxmlformats.org/drawingml/2006/table">
            <a:tbl>
              <a:tblPr firstRow="1" bandRow="1">
                <a:tableStyleId>{5C22544A-7EE6-4342-B048-85BDC9FD1C3A}</a:tableStyleId>
              </a:tblPr>
              <a:tblGrid>
                <a:gridCol w="3627120"/>
                <a:gridCol w="3627120"/>
                <a:gridCol w="3627120"/>
              </a:tblGrid>
              <a:tr h="347472">
                <a:tc>
                  <a:txBody>
                    <a:bodyPr/>
                    <a:lstStyle/>
                    <a:p>
                      <a:pPr algn="ctr"/>
                      <a:r>
                        <a:rPr sz="1200" b="1">
                          <a:solidFill>
                            <a:srgbClr val="0F172A"/>
                          </a:solidFill>
                          <a:latin typeface="Microsoft YaHei"/>
                        </a:rPr>
                        <a:t>Repair Skill</a:t>
                      </a:r>
                    </a:p>
                  </a:txBody>
                  <a:tcPr marL="36576" marR="36576" marT="18288" marB="18288">
                    <a:solidFill>
                      <a:srgbClr val="E8F1F5"/>
                    </a:solidFill>
                  </a:tcPr>
                </a:tc>
                <a:tc>
                  <a:txBody>
                    <a:bodyPr/>
                    <a:lstStyle/>
                    <a:p>
                      <a:pPr algn="ctr"/>
                      <a:r>
                        <a:rPr sz="1200" b="1">
                          <a:solidFill>
                            <a:srgbClr val="0F172A"/>
                          </a:solidFill>
                          <a:latin typeface="Microsoft YaHei"/>
                        </a:rPr>
                        <a:t>样例数</a:t>
                      </a:r>
                    </a:p>
                  </a:txBody>
                  <a:tcPr marL="36576" marR="36576" marT="18288" marB="18288">
                    <a:solidFill>
                      <a:srgbClr val="E8F1F5"/>
                    </a:solidFill>
                  </a:tcPr>
                </a:tc>
                <a:tc>
                  <a:txBody>
                    <a:bodyPr/>
                    <a:lstStyle/>
                    <a:p>
                      <a:pPr algn="ctr"/>
                      <a:r>
                        <a:rPr sz="1200" b="1">
                          <a:solidFill>
                            <a:srgbClr val="0F172A"/>
                          </a:solidFill>
                          <a:latin typeface="Microsoft YaHei"/>
                        </a:rPr>
                        <a:t>修复成功</a:t>
                      </a:r>
                    </a:p>
                  </a:txBody>
                  <a:tcPr marL="36576" marR="36576" marT="18288" marB="18288">
                    <a:solidFill>
                      <a:srgbClr val="E8F1F5"/>
                    </a:solidFill>
                  </a:tcPr>
                </a:tc>
              </a:tr>
              <a:tr h="347472">
                <a:tc>
                  <a:txBody>
                    <a:bodyPr/>
                    <a:lstStyle/>
                    <a:p>
                      <a:pPr algn="l"/>
                      <a:r>
                        <a:rPr sz="1000" b="0">
                          <a:solidFill>
                            <a:srgbClr val="0F172A"/>
                          </a:solidFill>
                          <a:latin typeface="Microsoft YaHei"/>
                        </a:rPr>
                        <a:t>value-linking repair skill</a:t>
                      </a:r>
                    </a:p>
                  </a:txBody>
                  <a:tcPr marL="36576" marR="36576" marT="18288" marB="18288">
                    <a:solidFill>
                      <a:srgbClr val="FFFFFF"/>
                    </a:solidFill>
                  </a:tcPr>
                </a:tc>
                <a:tc>
                  <a:txBody>
                    <a:bodyPr/>
                    <a:lstStyle/>
                    <a:p>
                      <a:pPr algn="ctr"/>
                      <a:r>
                        <a:rPr sz="1200" b="0">
                          <a:solidFill>
                            <a:srgbClr val="0F172A"/>
                          </a:solidFill>
                          <a:latin typeface="Microsoft YaHei"/>
                        </a:rPr>
                        <a:t>3</a:t>
                      </a:r>
                    </a:p>
                  </a:txBody>
                  <a:tcPr marL="36576" marR="36576" marT="18288" marB="18288">
                    <a:solidFill>
                      <a:srgbClr val="FFFFFF"/>
                    </a:solidFill>
                  </a:tcPr>
                </a:tc>
                <a:tc>
                  <a:txBody>
                    <a:bodyPr/>
                    <a:lstStyle/>
                    <a:p>
                      <a:pPr algn="ctr"/>
                      <a:r>
                        <a:rPr sz="1200" b="0">
                          <a:solidFill>
                            <a:srgbClr val="0F172A"/>
                          </a:solidFill>
                          <a:latin typeface="Microsoft YaHei"/>
                        </a:rPr>
                        <a:t>3/3</a:t>
                      </a:r>
                    </a:p>
                  </a:txBody>
                  <a:tcPr marL="36576" marR="36576" marT="18288" marB="18288">
                    <a:solidFill>
                      <a:srgbClr val="FFFFFF"/>
                    </a:solidFill>
                  </a:tcPr>
                </a:tc>
              </a:tr>
              <a:tr h="347472">
                <a:tc>
                  <a:txBody>
                    <a:bodyPr/>
                    <a:lstStyle/>
                    <a:p>
                      <a:pPr algn="l"/>
                      <a:r>
                        <a:rPr sz="1200" b="0">
                          <a:solidFill>
                            <a:srgbClr val="0F172A"/>
                          </a:solidFill>
                          <a:latin typeface="Microsoft YaHei"/>
                        </a:rPr>
                        <a:t>ORDER repair skill</a:t>
                      </a:r>
                    </a:p>
                  </a:txBody>
                  <a:tcPr marL="36576" marR="36576" marT="18288" marB="18288">
                    <a:solidFill>
                      <a:srgbClr val="F6F8FA"/>
                    </a:solidFill>
                  </a:tcPr>
                </a:tc>
                <a:tc>
                  <a:txBody>
                    <a:bodyPr/>
                    <a:lstStyle/>
                    <a:p>
                      <a:pPr algn="ctr"/>
                      <a:r>
                        <a:rPr sz="1200" b="0">
                          <a:solidFill>
                            <a:srgbClr val="0F172A"/>
                          </a:solidFill>
                          <a:latin typeface="Microsoft YaHei"/>
                        </a:rPr>
                        <a:t>3</a:t>
                      </a:r>
                    </a:p>
                  </a:txBody>
                  <a:tcPr marL="36576" marR="36576" marT="18288" marB="18288">
                    <a:solidFill>
                      <a:srgbClr val="F6F8FA"/>
                    </a:solidFill>
                  </a:tcPr>
                </a:tc>
                <a:tc>
                  <a:txBody>
                    <a:bodyPr/>
                    <a:lstStyle/>
                    <a:p>
                      <a:pPr algn="ctr"/>
                      <a:r>
                        <a:rPr sz="1200" b="0">
                          <a:solidFill>
                            <a:srgbClr val="0F172A"/>
                          </a:solidFill>
                          <a:latin typeface="Microsoft YaHei"/>
                        </a:rPr>
                        <a:t>3/3</a:t>
                      </a:r>
                    </a:p>
                  </a:txBody>
                  <a:tcPr marL="36576" marR="36576" marT="18288" marB="18288">
                    <a:solidFill>
                      <a:srgbClr val="F6F8FA"/>
                    </a:solidFill>
                  </a:tcPr>
                </a:tc>
              </a:tr>
              <a:tr h="347472">
                <a:tc>
                  <a:txBody>
                    <a:bodyPr/>
                    <a:lstStyle/>
                    <a:p>
                      <a:pPr algn="l"/>
                      <a:r>
                        <a:rPr sz="1000" b="0">
                          <a:solidFill>
                            <a:srgbClr val="0F172A"/>
                          </a:solidFill>
                          <a:latin typeface="Microsoft YaHei"/>
                        </a:rPr>
                        <a:t>aggregation repair skill</a:t>
                      </a:r>
                    </a:p>
                  </a:txBody>
                  <a:tcPr marL="36576" marR="36576" marT="18288" marB="18288">
                    <a:solidFill>
                      <a:srgbClr val="FFFFFF"/>
                    </a:solidFill>
                  </a:tcPr>
                </a:tc>
                <a:tc>
                  <a:txBody>
                    <a:bodyPr/>
                    <a:lstStyle/>
                    <a:p>
                      <a:pPr algn="ctr"/>
                      <a:r>
                        <a:rPr sz="1200" b="0">
                          <a:solidFill>
                            <a:srgbClr val="0F172A"/>
                          </a:solidFill>
                          <a:latin typeface="Microsoft YaHei"/>
                        </a:rPr>
                        <a:t>3</a:t>
                      </a:r>
                    </a:p>
                  </a:txBody>
                  <a:tcPr marL="36576" marR="36576" marT="18288" marB="18288">
                    <a:solidFill>
                      <a:srgbClr val="FFFFFF"/>
                    </a:solidFill>
                  </a:tcPr>
                </a:tc>
                <a:tc>
                  <a:txBody>
                    <a:bodyPr/>
                    <a:lstStyle/>
                    <a:p>
                      <a:pPr algn="ctr"/>
                      <a:r>
                        <a:rPr sz="1200" b="0">
                          <a:solidFill>
                            <a:srgbClr val="0F172A"/>
                          </a:solidFill>
                          <a:latin typeface="Microsoft YaHei"/>
                        </a:rPr>
                        <a:t>3/3</a:t>
                      </a:r>
                    </a:p>
                  </a:txBody>
                  <a:tcPr marL="36576" marR="36576" marT="18288" marB="18288">
                    <a:solidFill>
                      <a:srgbClr val="FFFFFF"/>
                    </a:solidFill>
                  </a:tcPr>
                </a:tc>
              </a:tr>
              <a:tr h="347472">
                <a:tc>
                  <a:txBody>
                    <a:bodyPr/>
                    <a:lstStyle/>
                    <a:p>
                      <a:pPr algn="ctr"/>
                      <a:r>
                        <a:rPr sz="1200" b="0">
                          <a:solidFill>
                            <a:srgbClr val="0F172A"/>
                          </a:solidFill>
                          <a:latin typeface="Microsoft YaHei"/>
                        </a:rPr>
                        <a:t>join / projection repair skill</a:t>
                      </a:r>
                    </a:p>
                  </a:txBody>
                  <a:tcPr marL="36576" marR="36576" marT="18288" marB="18288">
                    <a:solidFill>
                      <a:srgbClr val="F6F8FA"/>
                    </a:solidFill>
                  </a:tcPr>
                </a:tc>
                <a:tc>
                  <a:txBody>
                    <a:bodyPr/>
                    <a:lstStyle/>
                    <a:p>
                      <a:pPr algn="ctr"/>
                      <a:r>
                        <a:rPr sz="1200" b="0">
                          <a:solidFill>
                            <a:srgbClr val="0F172A"/>
                          </a:solidFill>
                          <a:latin typeface="Microsoft YaHei"/>
                        </a:rPr>
                        <a:t>3 / 1</a:t>
                      </a:r>
                    </a:p>
                  </a:txBody>
                  <a:tcPr marL="36576" marR="36576" marT="18288" marB="18288">
                    <a:solidFill>
                      <a:srgbClr val="F6F8FA"/>
                    </a:solidFill>
                  </a:tcPr>
                </a:tc>
                <a:tc>
                  <a:txBody>
                    <a:bodyPr/>
                    <a:lstStyle/>
                    <a:p>
                      <a:pPr algn="ctr"/>
                      <a:r>
                        <a:rPr sz="1200" b="0">
                          <a:solidFill>
                            <a:srgbClr val="0F172A"/>
                          </a:solidFill>
                          <a:latin typeface="Microsoft YaHei"/>
                        </a:rPr>
                        <a:t>3/3 / 1/1</a:t>
                      </a:r>
                    </a:p>
                  </a:txBody>
                  <a:tcPr marL="36576" marR="36576" marT="18288" marB="18288">
                    <a:solidFill>
                      <a:srgbClr val="F6F8FA"/>
                    </a:solidFill>
                  </a:tcPr>
                </a:tc>
              </a:tr>
            </a:tbl>
          </a:graphicData>
        </a:graphic>
      </p:graphicFrame>
      <p:sp>
        <p:nvSpPr>
          <p:cNvPr id="6" name="TextBox 5"/>
          <p:cNvSpPr txBox="1"/>
          <p:nvPr/>
        </p:nvSpPr>
        <p:spPr>
          <a:xfrm>
            <a:off x="658368" y="2798064"/>
            <a:ext cx="3840480" cy="256032"/>
          </a:xfrm>
          <a:prstGeom prst="rect">
            <a:avLst/>
          </a:prstGeom>
          <a:noFill/>
          <a:ln>
            <a:noFill/>
          </a:ln>
        </p:spPr>
        <p:txBody>
          <a:bodyPr wrap="square" lIns="0" rIns="0" tIns="27432" bIns="27432" anchor="t">
            <a:spAutoFit/>
          </a:bodyPr>
          <a:lstStyle/>
          <a:p>
            <a:r>
              <a:rPr sz="1500" b="1">
                <a:solidFill>
                  <a:srgbClr val="12343B"/>
                </a:solidFill>
                <a:latin typeface="Microsoft YaHei"/>
              </a:rPr>
              <a:t>说明：</a:t>
            </a:r>
          </a:p>
        </p:txBody>
      </p:sp>
      <p:sp>
        <p:nvSpPr>
          <p:cNvPr id="7" name="Rectangle 6"/>
          <p:cNvSpPr/>
          <p:nvPr/>
        </p:nvSpPr>
        <p:spPr>
          <a:xfrm>
            <a:off x="658368" y="3108960"/>
            <a:ext cx="1051560" cy="32004"/>
          </a:xfrm>
          <a:prstGeom prst="rect">
            <a:avLst/>
          </a:prstGeom>
          <a:solidFill>
            <a:srgbClr val="E3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3236976"/>
            <a:ext cx="10241280" cy="1133856"/>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 value-linking：修复 canceled -&gt; cancelled、日期边界。</a:t>
            </a:r>
          </a:p>
          <a:p>
            <a:pPr>
              <a:defRPr sz="1500">
                <a:solidFill>
                  <a:srgbClr val="1F2937"/>
                </a:solidFill>
                <a:latin typeface="Microsoft YaHei"/>
              </a:defRPr>
            </a:pPr>
            <a:r>
              <a:t>• ORDER：修复排序字段和排序方向。</a:t>
            </a:r>
          </a:p>
          <a:p>
            <a:pPr>
              <a:defRPr sz="1500">
                <a:solidFill>
                  <a:srgbClr val="1F2937"/>
                </a:solidFill>
                <a:latin typeface="Microsoft YaHei"/>
              </a:defRPr>
            </a:pPr>
            <a:r>
              <a:t>• aggregation：修复 GROUP、COUNT、AGG 别名和 ORDER 引用。</a:t>
            </a:r>
          </a:p>
          <a:p>
            <a:pPr>
              <a:defRPr sz="1500">
                <a:solidFill>
                  <a:srgbClr val="1F2937"/>
                </a:solidFill>
                <a:latin typeface="Microsoft YaHei"/>
              </a:defRPr>
            </a:pPr>
            <a:r>
              <a:t>• join：修复 JOIN 路径、冗余 JOIN、缺失 JOIN 和 paid 过滤。
• projection：修复结果列多、少或列顺序错误。</a:t>
            </a:r>
          </a:p>
        </p:txBody>
      </p:sp>
      <p:sp>
        <p:nvSpPr>
          <p:cNvPr id="9" name="Rectangle 8"/>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Spider 小规模 Benchmark Smoke Test</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16</a:t>
            </a:r>
          </a:p>
        </p:txBody>
      </p:sp>
      <p:sp>
        <p:nvSpPr>
          <p:cNvPr id="5" name="TextBox 4"/>
          <p:cNvSpPr txBox="1"/>
          <p:nvPr/>
        </p:nvSpPr>
        <p:spPr>
          <a:xfrm>
            <a:off x="658368" y="896112"/>
            <a:ext cx="3840480" cy="256032"/>
          </a:xfrm>
          <a:prstGeom prst="rect">
            <a:avLst/>
          </a:prstGeom>
          <a:noFill/>
          <a:ln>
            <a:noFill/>
          </a:ln>
        </p:spPr>
        <p:txBody>
          <a:bodyPr wrap="square" lIns="0" rIns="0" tIns="27432" bIns="27432" anchor="t">
            <a:spAutoFit/>
          </a:bodyPr>
          <a:lstStyle/>
          <a:p>
            <a:r>
              <a:rPr sz="1500" b="1">
                <a:solidFill>
                  <a:srgbClr val="12343B"/>
                </a:solidFill>
                <a:latin typeface="Microsoft YaHei"/>
              </a:rPr>
              <a:t>实验目的：</a:t>
            </a:r>
          </a:p>
        </p:txBody>
      </p:sp>
      <p:sp>
        <p:nvSpPr>
          <p:cNvPr id="6" name="Rectangle 5"/>
          <p:cNvSpPr/>
          <p:nvPr/>
        </p:nvSpPr>
        <p:spPr>
          <a:xfrm>
            <a:off x="658368" y="1207008"/>
            <a:ext cx="1051560" cy="32004"/>
          </a:xfrm>
          <a:prstGeom prst="rect">
            <a:avLst/>
          </a:prstGeom>
          <a:solidFill>
            <a:srgbClr val="E3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335024"/>
            <a:ext cx="10241280" cy="566928"/>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 验证 SQL+ 表达与转换链路能否迁移到公开 Text-to-SQL benchmark。</a:t>
            </a:r>
          </a:p>
          <a:p>
            <a:pPr>
              <a:defRPr sz="1500">
                <a:solidFill>
                  <a:srgbClr val="1F2937"/>
                </a:solidFill>
                <a:latin typeface="Microsoft YaHei"/>
              </a:defRPr>
            </a:pPr>
            <a:r>
              <a:t>• 不做完整排行榜跑分，只做开题阶段可行性验证。</a:t>
            </a:r>
          </a:p>
        </p:txBody>
      </p:sp>
      <p:graphicFrame>
        <p:nvGraphicFramePr>
          <p:cNvPr id="8" name="Table 7"/>
          <p:cNvGraphicFramePr>
            <a:graphicFrameLocks noGrp="1"/>
          </p:cNvGraphicFramePr>
          <p:nvPr/>
        </p:nvGraphicFramePr>
        <p:xfrm>
          <a:off x="658368" y="2011680"/>
          <a:ext cx="10881360" cy="2779776"/>
        </p:xfrm>
        <a:graphic>
          <a:graphicData uri="http://schemas.openxmlformats.org/drawingml/2006/table">
            <a:tbl>
              <a:tblPr firstRow="1" bandRow="1">
                <a:tableStyleId>{5C22544A-7EE6-4342-B048-85BDC9FD1C3A}</a:tableStyleId>
              </a:tblPr>
              <a:tblGrid>
                <a:gridCol w="5440680"/>
                <a:gridCol w="5440680"/>
              </a:tblGrid>
              <a:tr h="347472">
                <a:tc>
                  <a:txBody>
                    <a:bodyPr/>
                    <a:lstStyle/>
                    <a:p>
                      <a:pPr algn="ctr"/>
                      <a:r>
                        <a:rPr sz="1000" b="1">
                          <a:solidFill>
                            <a:srgbClr val="0F172A"/>
                          </a:solidFill>
                          <a:latin typeface="Microsoft YaHei"/>
                        </a:rPr>
                        <a:t>指标</a:t>
                      </a:r>
                    </a:p>
                  </a:txBody>
                  <a:tcPr marL="36576" marR="36576" marT="18288" marB="18288">
                    <a:solidFill>
                      <a:srgbClr val="E8F1F5"/>
                    </a:solidFill>
                  </a:tcPr>
                </a:tc>
                <a:tc>
                  <a:txBody>
                    <a:bodyPr/>
                    <a:lstStyle/>
                    <a:p>
                      <a:pPr algn="ctr"/>
                      <a:r>
                        <a:rPr sz="1000" b="1">
                          <a:solidFill>
                            <a:srgbClr val="0F172A"/>
                          </a:solidFill>
                          <a:latin typeface="Microsoft YaHei"/>
                        </a:rPr>
                        <a:t>结果</a:t>
                      </a:r>
                    </a:p>
                  </a:txBody>
                  <a:tcPr marL="36576" marR="36576" marT="18288" marB="18288">
                    <a:solidFill>
                      <a:srgbClr val="E8F1F5"/>
                    </a:solidFill>
                  </a:tcPr>
                </a:tc>
              </a:tr>
              <a:tr h="347472">
                <a:tc>
                  <a:txBody>
                    <a:bodyPr/>
                    <a:lstStyle/>
                    <a:p>
                      <a:pPr algn="ctr"/>
                      <a:r>
                        <a:rPr sz="1000" b="0">
                          <a:solidFill>
                            <a:srgbClr val="0F172A"/>
                          </a:solidFill>
                          <a:latin typeface="Microsoft YaHei"/>
                        </a:rPr>
                        <a:t>数据集</a:t>
                      </a:r>
                    </a:p>
                  </a:txBody>
                  <a:tcPr marL="36576" marR="36576" marT="18288" marB="18288">
                    <a:solidFill>
                      <a:srgbClr val="FFFFFF"/>
                    </a:solidFill>
                  </a:tcPr>
                </a:tc>
                <a:tc>
                  <a:txBody>
                    <a:bodyPr/>
                    <a:lstStyle/>
                    <a:p>
                      <a:pPr algn="ctr"/>
                      <a:r>
                        <a:rPr sz="1000" b="0">
                          <a:solidFill>
                            <a:srgbClr val="0F172A"/>
                          </a:solidFill>
                          <a:latin typeface="Microsoft YaHei"/>
                        </a:rPr>
                        <a:t>Spider dev 子集</a:t>
                      </a:r>
                    </a:p>
                  </a:txBody>
                  <a:tcPr marL="36576" marR="36576" marT="18288" marB="18288">
                    <a:solidFill>
                      <a:srgbClr val="FFFFFF"/>
                    </a:solidFill>
                  </a:tcPr>
                </a:tc>
              </a:tr>
              <a:tr h="347472">
                <a:tc>
                  <a:txBody>
                    <a:bodyPr/>
                    <a:lstStyle/>
                    <a:p>
                      <a:pPr algn="ctr"/>
                      <a:r>
                        <a:rPr sz="1000" b="0">
                          <a:solidFill>
                            <a:srgbClr val="0F172A"/>
                          </a:solidFill>
                          <a:latin typeface="Microsoft YaHei"/>
                        </a:rPr>
                        <a:t>数据库</a:t>
                      </a:r>
                    </a:p>
                  </a:txBody>
                  <a:tcPr marL="36576" marR="36576" marT="18288" marB="18288">
                    <a:solidFill>
                      <a:srgbClr val="F6F8FA"/>
                    </a:solidFill>
                  </a:tcPr>
                </a:tc>
                <a:tc>
                  <a:txBody>
                    <a:bodyPr/>
                    <a:lstStyle/>
                    <a:p>
                      <a:pPr algn="ctr"/>
                      <a:r>
                        <a:rPr sz="1000" b="0">
                          <a:solidFill>
                            <a:srgbClr val="0F172A"/>
                          </a:solidFill>
                          <a:latin typeface="Microsoft YaHei"/>
                        </a:rPr>
                        <a:t>concert_singer</a:t>
                      </a:r>
                    </a:p>
                  </a:txBody>
                  <a:tcPr marL="36576" marR="36576" marT="18288" marB="18288">
                    <a:solidFill>
                      <a:srgbClr val="F6F8FA"/>
                    </a:solidFill>
                  </a:tcPr>
                </a:tc>
              </a:tr>
              <a:tr h="347472">
                <a:tc>
                  <a:txBody>
                    <a:bodyPr/>
                    <a:lstStyle/>
                    <a:p>
                      <a:pPr algn="ctr"/>
                      <a:r>
                        <a:rPr sz="1000" b="0">
                          <a:solidFill>
                            <a:srgbClr val="0F172A"/>
                          </a:solidFill>
                          <a:latin typeface="Microsoft YaHei"/>
                        </a:rPr>
                        <a:t>样例数</a:t>
                      </a:r>
                    </a:p>
                  </a:txBody>
                  <a:tcPr marL="36576" marR="36576" marT="18288" marB="18288">
                    <a:solidFill>
                      <a:srgbClr val="FFFFFF"/>
                    </a:solidFill>
                  </a:tcPr>
                </a:tc>
                <a:tc>
                  <a:txBody>
                    <a:bodyPr/>
                    <a:lstStyle/>
                    <a:p>
                      <a:pPr algn="ctr"/>
                      <a:r>
                        <a:rPr sz="1000" b="0">
                          <a:solidFill>
                            <a:srgbClr val="0F172A"/>
                          </a:solidFill>
                          <a:latin typeface="Microsoft YaHei"/>
                        </a:rPr>
                        <a:t>20</a:t>
                      </a:r>
                    </a:p>
                  </a:txBody>
                  <a:tcPr marL="36576" marR="36576" marT="18288" marB="18288">
                    <a:solidFill>
                      <a:srgbClr val="FFFFFF"/>
                    </a:solidFill>
                  </a:tcPr>
                </a:tc>
              </a:tr>
              <a:tr h="347472">
                <a:tc>
                  <a:txBody>
                    <a:bodyPr/>
                    <a:lstStyle/>
                    <a:p>
                      <a:pPr algn="ctr"/>
                      <a:r>
                        <a:rPr sz="1000" b="0">
                          <a:solidFill>
                            <a:srgbClr val="0F172A"/>
                          </a:solidFill>
                          <a:latin typeface="Microsoft YaHei"/>
                        </a:rPr>
                        <a:t>覆盖结构</a:t>
                      </a:r>
                    </a:p>
                  </a:txBody>
                  <a:tcPr marL="36576" marR="36576" marT="18288" marB="18288">
                    <a:solidFill>
                      <a:srgbClr val="F6F8FA"/>
                    </a:solidFill>
                  </a:tcPr>
                </a:tc>
                <a:tc>
                  <a:txBody>
                    <a:bodyPr/>
                    <a:lstStyle/>
                    <a:p>
                      <a:pPr algn="l"/>
                      <a:r>
                        <a:rPr sz="900" b="0">
                          <a:solidFill>
                            <a:srgbClr val="0F172A"/>
                          </a:solidFill>
                          <a:latin typeface="Microsoft YaHei"/>
                        </a:rPr>
                        <a:t>count、select、where、order、limit、group、aggregation、simple join</a:t>
                      </a:r>
                    </a:p>
                  </a:txBody>
                  <a:tcPr marL="36576" marR="36576" marT="18288" marB="18288">
                    <a:solidFill>
                      <a:srgbClr val="F6F8FA"/>
                    </a:solidFill>
                  </a:tcPr>
                </a:tc>
              </a:tr>
              <a:tr h="347472">
                <a:tc>
                  <a:txBody>
                    <a:bodyPr/>
                    <a:lstStyle/>
                    <a:p>
                      <a:pPr algn="ctr"/>
                      <a:r>
                        <a:rPr sz="1000" b="0">
                          <a:solidFill>
                            <a:srgbClr val="0F172A"/>
                          </a:solidFill>
                          <a:latin typeface="Microsoft YaHei"/>
                        </a:rPr>
                        <a:t>SQL+ 有效</a:t>
                      </a:r>
                    </a:p>
                  </a:txBody>
                  <a:tcPr marL="36576" marR="36576" marT="18288" marB="18288">
                    <a:solidFill>
                      <a:srgbClr val="FFFFFF"/>
                    </a:solidFill>
                  </a:tcPr>
                </a:tc>
                <a:tc>
                  <a:txBody>
                    <a:bodyPr/>
                    <a:lstStyle/>
                    <a:p>
                      <a:pPr algn="ctr"/>
                      <a:r>
                        <a:rPr sz="1000" b="0">
                          <a:solidFill>
                            <a:srgbClr val="0F172A"/>
                          </a:solidFill>
                          <a:latin typeface="Microsoft YaHei"/>
                        </a:rPr>
                        <a:t>20/20</a:t>
                      </a:r>
                    </a:p>
                  </a:txBody>
                  <a:tcPr marL="36576" marR="36576" marT="18288" marB="18288">
                    <a:solidFill>
                      <a:srgbClr val="FFFFFF"/>
                    </a:solidFill>
                  </a:tcPr>
                </a:tc>
              </a:tr>
              <a:tr h="347472">
                <a:tc>
                  <a:txBody>
                    <a:bodyPr/>
                    <a:lstStyle/>
                    <a:p>
                      <a:pPr algn="ctr"/>
                      <a:r>
                        <a:rPr sz="1000" b="0">
                          <a:solidFill>
                            <a:srgbClr val="0F172A"/>
                          </a:solidFill>
                          <a:latin typeface="Microsoft YaHei"/>
                        </a:rPr>
                        <a:t>SQL 可执行</a:t>
                      </a:r>
                    </a:p>
                  </a:txBody>
                  <a:tcPr marL="36576" marR="36576" marT="18288" marB="18288">
                    <a:solidFill>
                      <a:srgbClr val="F6F8FA"/>
                    </a:solidFill>
                  </a:tcPr>
                </a:tc>
                <a:tc>
                  <a:txBody>
                    <a:bodyPr/>
                    <a:lstStyle/>
                    <a:p>
                      <a:pPr algn="ctr"/>
                      <a:r>
                        <a:rPr sz="1000" b="0">
                          <a:solidFill>
                            <a:srgbClr val="0F172A"/>
                          </a:solidFill>
                          <a:latin typeface="Microsoft YaHei"/>
                        </a:rPr>
                        <a:t>20/20</a:t>
                      </a:r>
                    </a:p>
                  </a:txBody>
                  <a:tcPr marL="36576" marR="36576" marT="18288" marB="18288">
                    <a:solidFill>
                      <a:srgbClr val="F6F8FA"/>
                    </a:solidFill>
                  </a:tcPr>
                </a:tc>
              </a:tr>
              <a:tr h="347472">
                <a:tc>
                  <a:txBody>
                    <a:bodyPr/>
                    <a:lstStyle/>
                    <a:p>
                      <a:pPr algn="ctr"/>
                      <a:r>
                        <a:rPr sz="1000" b="0">
                          <a:solidFill>
                            <a:srgbClr val="0F172A"/>
                          </a:solidFill>
                          <a:latin typeface="Microsoft YaHei"/>
                        </a:rPr>
                        <a:t>执行一致</a:t>
                      </a:r>
                    </a:p>
                  </a:txBody>
                  <a:tcPr marL="36576" marR="36576" marT="18288" marB="18288">
                    <a:solidFill>
                      <a:srgbClr val="FFFFFF"/>
                    </a:solidFill>
                  </a:tcPr>
                </a:tc>
                <a:tc>
                  <a:txBody>
                    <a:bodyPr/>
                    <a:lstStyle/>
                    <a:p>
                      <a:pPr algn="ctr"/>
                      <a:r>
                        <a:rPr sz="1000" b="0">
                          <a:solidFill>
                            <a:srgbClr val="0F172A"/>
                          </a:solidFill>
                          <a:latin typeface="Microsoft YaHei"/>
                        </a:rPr>
                        <a:t>20/20</a:t>
                      </a:r>
                    </a:p>
                  </a:txBody>
                  <a:tcPr marL="36576" marR="36576" marT="18288" marB="18288">
                    <a:solidFill>
                      <a:srgbClr val="FFFFFF"/>
                    </a:solidFill>
                  </a:tcPr>
                </a:tc>
              </a:tr>
            </a:tbl>
          </a:graphicData>
        </a:graphic>
      </p:graphicFrame>
      <p:sp>
        <p:nvSpPr>
          <p:cNvPr id="9" name="TextBox 8"/>
          <p:cNvSpPr txBox="1"/>
          <p:nvPr/>
        </p:nvSpPr>
        <p:spPr>
          <a:xfrm>
            <a:off x="658368" y="4956048"/>
            <a:ext cx="3840480" cy="256032"/>
          </a:xfrm>
          <a:prstGeom prst="rect">
            <a:avLst/>
          </a:prstGeom>
          <a:noFill/>
          <a:ln>
            <a:noFill/>
          </a:ln>
        </p:spPr>
        <p:txBody>
          <a:bodyPr wrap="square" lIns="0" rIns="0" tIns="27432" bIns="27432" anchor="t">
            <a:spAutoFit/>
          </a:bodyPr>
          <a:lstStyle/>
          <a:p>
            <a:r>
              <a:rPr sz="1500" b="1">
                <a:solidFill>
                  <a:srgbClr val="12343B"/>
                </a:solidFill>
                <a:latin typeface="Microsoft YaHei"/>
              </a:rPr>
              <a:t>结论：</a:t>
            </a:r>
          </a:p>
        </p:txBody>
      </p:sp>
      <p:sp>
        <p:nvSpPr>
          <p:cNvPr id="10" name="Rectangle 9"/>
          <p:cNvSpPr/>
          <p:nvPr/>
        </p:nvSpPr>
        <p:spPr>
          <a:xfrm>
            <a:off x="658368" y="5266944"/>
            <a:ext cx="1051560" cy="32004"/>
          </a:xfrm>
          <a:prstGeom prst="rect">
            <a:avLst/>
          </a:prstGeom>
          <a:solidFill>
            <a:srgbClr val="E3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5394960"/>
            <a:ext cx="10241280" cy="566928"/>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 当前 SQL+ 子集在 Spider 简单/中等查询结构上具备初步迁移可行性。</a:t>
            </a:r>
          </a:p>
          <a:p>
            <a:pPr>
              <a:defRPr sz="1500">
                <a:solidFill>
                  <a:srgbClr val="1F2937"/>
                </a:solidFill>
                <a:latin typeface="Microsoft YaHei"/>
              </a:defRPr>
            </a:pPr>
            <a:r>
              <a:t>• 该结果不是完整 Spider benchmark 跑分，后续需扩展到更多数据库和复杂 SQL 结构。</a:t>
            </a:r>
          </a:p>
        </p:txBody>
      </p:sp>
      <p:sp>
        <p:nvSpPr>
          <p:cNvPr id="12" name="Rectangle 11"/>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预期创新点</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17</a:t>
            </a:r>
          </a:p>
        </p:txBody>
      </p:sp>
      <p:sp>
        <p:nvSpPr>
          <p:cNvPr id="5" name="TextBox 4"/>
          <p:cNvSpPr txBox="1"/>
          <p:nvPr/>
        </p:nvSpPr>
        <p:spPr>
          <a:xfrm>
            <a:off x="658368" y="896112"/>
            <a:ext cx="3840480" cy="256032"/>
          </a:xfrm>
          <a:prstGeom prst="rect">
            <a:avLst/>
          </a:prstGeom>
          <a:noFill/>
          <a:ln>
            <a:noFill/>
          </a:ln>
        </p:spPr>
        <p:txBody>
          <a:bodyPr wrap="square" lIns="0" rIns="0" tIns="27432" bIns="27432" anchor="t">
            <a:spAutoFit/>
          </a:bodyPr>
          <a:lstStyle/>
          <a:p>
            <a:r>
              <a:rPr sz="1500" b="1">
                <a:solidFill>
                  <a:srgbClr val="12343B"/>
                </a:solidFill>
                <a:latin typeface="Microsoft YaHei"/>
              </a:rPr>
              <a:t>创新点一：面向大模型生成友好的 SQL+ 中间查询表示</a:t>
            </a:r>
          </a:p>
        </p:txBody>
      </p:sp>
      <p:sp>
        <p:nvSpPr>
          <p:cNvPr id="6" name="Rectangle 5"/>
          <p:cNvSpPr/>
          <p:nvPr/>
        </p:nvSpPr>
        <p:spPr>
          <a:xfrm>
            <a:off x="658368" y="1207008"/>
            <a:ext cx="1051560" cy="32004"/>
          </a:xfrm>
          <a:prstGeom prst="rect">
            <a:avLst/>
          </a:prstGeom>
          <a:solidFill>
            <a:srgbClr val="E3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335024"/>
            <a:ext cx="10241280" cy="566928"/>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 线性、分步、可解释。</a:t>
            </a:r>
          </a:p>
          <a:p>
            <a:pPr>
              <a:defRPr sz="1500">
                <a:solidFill>
                  <a:srgbClr val="1F2937"/>
                </a:solidFill>
                <a:latin typeface="Microsoft YaHei"/>
              </a:defRPr>
            </a:pPr>
            <a:r>
              <a:t>• 降低复杂 SQL 生成与修复难度。</a:t>
            </a:r>
          </a:p>
        </p:txBody>
      </p:sp>
      <p:sp>
        <p:nvSpPr>
          <p:cNvPr id="8" name="TextBox 7"/>
          <p:cNvSpPr txBox="1"/>
          <p:nvPr/>
        </p:nvSpPr>
        <p:spPr>
          <a:xfrm>
            <a:off x="658368" y="2011680"/>
            <a:ext cx="3840480" cy="256032"/>
          </a:xfrm>
          <a:prstGeom prst="rect">
            <a:avLst/>
          </a:prstGeom>
          <a:noFill/>
          <a:ln>
            <a:noFill/>
          </a:ln>
        </p:spPr>
        <p:txBody>
          <a:bodyPr wrap="square" lIns="0" rIns="0" tIns="27432" bIns="27432" anchor="t">
            <a:spAutoFit/>
          </a:bodyPr>
          <a:lstStyle/>
          <a:p>
            <a:r>
              <a:rPr sz="1500" b="1">
                <a:solidFill>
                  <a:srgbClr val="12343B"/>
                </a:solidFill>
                <a:latin typeface="Microsoft YaHei"/>
              </a:rPr>
              <a:t>创新点二：面向 SQL+ 的多智能体查询生成与反馈修正框架</a:t>
            </a:r>
          </a:p>
        </p:txBody>
      </p:sp>
      <p:sp>
        <p:nvSpPr>
          <p:cNvPr id="9" name="Rectangle 8"/>
          <p:cNvSpPr/>
          <p:nvPr/>
        </p:nvSpPr>
        <p:spPr>
          <a:xfrm>
            <a:off x="658368" y="2322576"/>
            <a:ext cx="1051560" cy="32004"/>
          </a:xfrm>
          <a:prstGeom prst="rect">
            <a:avLst/>
          </a:prstGeom>
          <a:solidFill>
            <a:srgbClr val="E3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450592"/>
            <a:ext cx="10241280" cy="384048"/>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 Schema Agent、Critic Agent、Skill Router、Repair Skill、Executor 协同工作。</a:t>
            </a:r>
          </a:p>
        </p:txBody>
      </p:sp>
      <p:sp>
        <p:nvSpPr>
          <p:cNvPr id="11" name="TextBox 10"/>
          <p:cNvSpPr txBox="1"/>
          <p:nvPr/>
        </p:nvSpPr>
        <p:spPr>
          <a:xfrm>
            <a:off x="658368" y="2944368"/>
            <a:ext cx="3840480" cy="256032"/>
          </a:xfrm>
          <a:prstGeom prst="rect">
            <a:avLst/>
          </a:prstGeom>
          <a:noFill/>
          <a:ln>
            <a:noFill/>
          </a:ln>
        </p:spPr>
        <p:txBody>
          <a:bodyPr wrap="square" lIns="0" rIns="0" tIns="27432" bIns="27432" anchor="t">
            <a:spAutoFit/>
          </a:bodyPr>
          <a:lstStyle/>
          <a:p>
            <a:r>
              <a:rPr sz="1500" b="1">
                <a:solidFill>
                  <a:srgbClr val="12343B"/>
                </a:solidFill>
                <a:latin typeface="Microsoft YaHei"/>
              </a:rPr>
              <a:t>创新点三：基于执行反馈的 SQL+ 层局部修正机制</a:t>
            </a:r>
          </a:p>
        </p:txBody>
      </p:sp>
      <p:sp>
        <p:nvSpPr>
          <p:cNvPr id="12" name="Rectangle 11"/>
          <p:cNvSpPr/>
          <p:nvPr/>
        </p:nvSpPr>
        <p:spPr>
          <a:xfrm>
            <a:off x="658368" y="3255264"/>
            <a:ext cx="1051560" cy="32004"/>
          </a:xfrm>
          <a:prstGeom prst="rect">
            <a:avLst/>
          </a:prstGeom>
          <a:solidFill>
            <a:srgbClr val="E3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383280"/>
            <a:ext cx="10241280" cy="850392"/>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 将错误映射到 SQL+ 局部步骤。</a:t>
            </a:r>
          </a:p>
          <a:p>
            <a:pPr>
              <a:defRPr sz="1500">
                <a:solidFill>
                  <a:srgbClr val="1F2937"/>
                </a:solidFill>
                <a:latin typeface="Microsoft YaHei"/>
              </a:defRPr>
            </a:pPr>
            <a:r>
              <a:t>• 按错误类型调用 repair skill。</a:t>
            </a:r>
          </a:p>
          <a:p>
            <a:pPr>
              <a:defRPr sz="1500">
                <a:solidFill>
                  <a:srgbClr val="1F2937"/>
                </a:solidFill>
                <a:latin typeface="Microsoft YaHei"/>
              </a:defRPr>
            </a:pPr>
            <a:r>
              <a:t>• 候选 patch 通过执行验证选择。</a:t>
            </a:r>
          </a:p>
        </p:txBody>
      </p:sp>
      <p:sp>
        <p:nvSpPr>
          <p:cNvPr id="14" name="Rectangle 13"/>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18.xml><?xml version="1.0" encoding="utf-8"?>
<p:sld xmlns:a="http://schemas.openxmlformats.org/drawingml/2006/main"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研究计划</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18</a:t>
            </a:r>
          </a:p>
        </p:txBody>
      </p:sp>
      <p:graphicFrame>
        <p:nvGraphicFramePr>
          <p:cNvPr id="5" name="Table 4"/>
          <p:cNvGraphicFramePr>
            <a:graphicFrameLocks noGrp="1"/>
          </p:cNvGraphicFramePr>
          <p:nvPr/>
        </p:nvGraphicFramePr>
        <p:xfrm>
          <a:off x="658368" y="896112"/>
          <a:ext cx="10881360" cy="2432304"/>
        </p:xfrm>
        <a:graphic>
          <a:graphicData uri="http://schemas.openxmlformats.org/drawingml/2006/table">
            <a:tbl>
              <a:tblPr firstRow="1" bandRow="1">
                <a:tableStyleId>{5C22544A-7EE6-4342-B048-85BDC9FD1C3A}</a:tableStyleId>
              </a:tblPr>
              <a:tblGrid>
                <a:gridCol w="5440680"/>
                <a:gridCol w="5440680"/>
              </a:tblGrid>
              <a:tr h="347472">
                <a:tc>
                  <a:txBody>
                    <a:bodyPr/>
                    <a:lstStyle/>
                    <a:p>
                      <a:pPr algn="ctr"/>
                      <a:r>
                        <a:rPr sz="1200" b="1">
                          <a:solidFill>
                            <a:srgbClr val="0F172A"/>
                          </a:solidFill>
                          <a:latin typeface="Microsoft YaHei"/>
                        </a:rPr>
                        <a:t>阶段</a:t>
                      </a:r>
                    </a:p>
                  </a:txBody>
                  <a:tcPr marL="36576" marR="36576" marT="18288" marB="18288">
                    <a:solidFill>
                      <a:srgbClr val="E8F1F5"/>
                    </a:solidFill>
                  </a:tcPr>
                </a:tc>
                <a:tc>
                  <a:txBody>
                    <a:bodyPr/>
                    <a:lstStyle/>
                    <a:p>
                      <a:pPr algn="ctr"/>
                      <a:r>
                        <a:rPr sz="1200" b="1">
                          <a:solidFill>
                            <a:srgbClr val="0F172A"/>
                          </a:solidFill>
                          <a:latin typeface="Microsoft YaHei"/>
                        </a:rPr>
                        <a:t>内容</a:t>
                      </a:r>
                    </a:p>
                  </a:txBody>
                  <a:tcPr marL="36576" marR="36576" marT="18288" marB="18288">
                    <a:solidFill>
                      <a:srgbClr val="E8F1F5"/>
                    </a:solidFill>
                  </a:tcPr>
                </a:tc>
              </a:tr>
              <a:tr h="347472">
                <a:tc>
                  <a:txBody>
                    <a:bodyPr/>
                    <a:lstStyle/>
                    <a:p>
                      <a:pPr algn="ctr"/>
                      <a:r>
                        <a:rPr sz="1200" b="0">
                          <a:solidFill>
                            <a:srgbClr val="0F172A"/>
                          </a:solidFill>
                          <a:latin typeface="Microsoft YaHei"/>
                        </a:rPr>
                        <a:t>阶段一</a:t>
                      </a:r>
                    </a:p>
                  </a:txBody>
                  <a:tcPr marL="36576" marR="36576" marT="18288" marB="18288">
                    <a:solidFill>
                      <a:srgbClr val="FFFFFF"/>
                    </a:solidFill>
                  </a:tcPr>
                </a:tc>
                <a:tc>
                  <a:txBody>
                    <a:bodyPr/>
                    <a:lstStyle/>
                    <a:p>
                      <a:pPr algn="l"/>
                      <a:r>
                        <a:rPr sz="1000" b="0">
                          <a:solidFill>
                            <a:srgbClr val="0F172A"/>
                          </a:solidFill>
                          <a:latin typeface="Microsoft YaHei"/>
                        </a:rPr>
                        <a:t>完善 SQL+ 语法、parser、converter</a:t>
                      </a:r>
                    </a:p>
                  </a:txBody>
                  <a:tcPr marL="36576" marR="36576" marT="18288" marB="18288">
                    <a:solidFill>
                      <a:srgbClr val="FFFFFF"/>
                    </a:solidFill>
                  </a:tcPr>
                </a:tc>
              </a:tr>
              <a:tr h="347472">
                <a:tc>
                  <a:txBody>
                    <a:bodyPr/>
                    <a:lstStyle/>
                    <a:p>
                      <a:pPr algn="ctr"/>
                      <a:r>
                        <a:rPr sz="1200" b="0">
                          <a:solidFill>
                            <a:srgbClr val="0F172A"/>
                          </a:solidFill>
                          <a:latin typeface="Microsoft YaHei"/>
                        </a:rPr>
                        <a:t>阶段二</a:t>
                      </a:r>
                    </a:p>
                  </a:txBody>
                  <a:tcPr marL="36576" marR="36576" marT="18288" marB="18288">
                    <a:solidFill>
                      <a:srgbClr val="F6F8FA"/>
                    </a:solidFill>
                  </a:tcPr>
                </a:tc>
                <a:tc>
                  <a:txBody>
                    <a:bodyPr/>
                    <a:lstStyle/>
                    <a:p>
                      <a:pPr algn="l"/>
                      <a:r>
                        <a:rPr sz="1000" b="0">
                          <a:solidFill>
                            <a:srgbClr val="0F172A"/>
                          </a:solidFill>
                          <a:latin typeface="Microsoft YaHei"/>
                        </a:rPr>
                        <a:t>完善 Schema Agent 和 Critic Agent</a:t>
                      </a:r>
                    </a:p>
                  </a:txBody>
                  <a:tcPr marL="36576" marR="36576" marT="18288" marB="18288">
                    <a:solidFill>
                      <a:srgbClr val="F6F8FA"/>
                    </a:solidFill>
                  </a:tcPr>
                </a:tc>
              </a:tr>
              <a:tr h="347472">
                <a:tc>
                  <a:txBody>
                    <a:bodyPr/>
                    <a:lstStyle/>
                    <a:p>
                      <a:pPr algn="ctr"/>
                      <a:r>
                        <a:rPr sz="1200" b="0">
                          <a:solidFill>
                            <a:srgbClr val="0F172A"/>
                          </a:solidFill>
                          <a:latin typeface="Microsoft YaHei"/>
                        </a:rPr>
                        <a:t>阶段三</a:t>
                      </a:r>
                    </a:p>
                  </a:txBody>
                  <a:tcPr marL="36576" marR="36576" marT="18288" marB="18288">
                    <a:solidFill>
                      <a:srgbClr val="FFFFFF"/>
                    </a:solidFill>
                  </a:tcPr>
                </a:tc>
                <a:tc>
                  <a:txBody>
                    <a:bodyPr/>
                    <a:lstStyle/>
                    <a:p>
                      <a:pPr algn="l"/>
                      <a:r>
                        <a:rPr sz="1000" b="0">
                          <a:solidFill>
                            <a:srgbClr val="0F172A"/>
                          </a:solidFill>
                          <a:latin typeface="Microsoft YaHei"/>
                        </a:rPr>
                        <a:t>扩展无报错语义错诊断，完善复合错误路由</a:t>
                      </a:r>
                    </a:p>
                  </a:txBody>
                  <a:tcPr marL="36576" marR="36576" marT="18288" marB="18288">
                    <a:solidFill>
                      <a:srgbClr val="FFFFFF"/>
                    </a:solidFill>
                  </a:tcPr>
                </a:tc>
              </a:tr>
              <a:tr h="347472">
                <a:tc>
                  <a:txBody>
                    <a:bodyPr/>
                    <a:lstStyle/>
                    <a:p>
                      <a:pPr algn="ctr"/>
                      <a:r>
                        <a:rPr sz="1200" b="0">
                          <a:solidFill>
                            <a:srgbClr val="0F172A"/>
                          </a:solidFill>
                          <a:latin typeface="Microsoft YaHei"/>
                        </a:rPr>
                        <a:t>阶段四</a:t>
                      </a:r>
                    </a:p>
                  </a:txBody>
                  <a:tcPr marL="36576" marR="36576" marT="18288" marB="18288">
                    <a:solidFill>
                      <a:srgbClr val="F6F8FA"/>
                    </a:solidFill>
                  </a:tcPr>
                </a:tc>
                <a:tc>
                  <a:txBody>
                    <a:bodyPr/>
                    <a:lstStyle/>
                    <a:p>
                      <a:pPr algn="l"/>
                      <a:r>
                        <a:rPr sz="1200" b="0">
                          <a:solidFill>
                            <a:srgbClr val="0F172A"/>
                          </a:solidFill>
                          <a:latin typeface="Microsoft YaHei"/>
                        </a:rPr>
                        <a:t>接入 Spider/BIRD 小规模子集</a:t>
                      </a:r>
                    </a:p>
                  </a:txBody>
                  <a:tcPr marL="36576" marR="36576" marT="18288" marB="18288">
                    <a:solidFill>
                      <a:srgbClr val="F6F8FA"/>
                    </a:solidFill>
                  </a:tcPr>
                </a:tc>
              </a:tr>
              <a:tr h="347472">
                <a:tc>
                  <a:txBody>
                    <a:bodyPr/>
                    <a:lstStyle/>
                    <a:p>
                      <a:pPr algn="ctr"/>
                      <a:r>
                        <a:rPr sz="1200" b="0">
                          <a:solidFill>
                            <a:srgbClr val="0F172A"/>
                          </a:solidFill>
                          <a:latin typeface="Microsoft YaHei"/>
                        </a:rPr>
                        <a:t>阶段五</a:t>
                      </a:r>
                    </a:p>
                  </a:txBody>
                  <a:tcPr marL="36576" marR="36576" marT="18288" marB="18288">
                    <a:solidFill>
                      <a:srgbClr val="FFFFFF"/>
                    </a:solidFill>
                  </a:tcPr>
                </a:tc>
                <a:tc>
                  <a:txBody>
                    <a:bodyPr/>
                    <a:lstStyle/>
                    <a:p>
                      <a:pPr algn="l"/>
                      <a:r>
                        <a:rPr sz="1200" b="0">
                          <a:solidFill>
                            <a:srgbClr val="0F172A"/>
                          </a:solidFill>
                          <a:latin typeface="Microsoft YaHei"/>
                        </a:rPr>
                        <a:t>适配达梦 SQL 方言并完成实验评估</a:t>
                      </a:r>
                    </a:p>
                  </a:txBody>
                  <a:tcPr marL="36576" marR="36576" marT="18288" marB="18288">
                    <a:solidFill>
                      <a:srgbClr val="FFFFFF"/>
                    </a:solidFill>
                  </a:tcPr>
                </a:tc>
              </a:tr>
              <a:tr h="347472">
                <a:tc>
                  <a:txBody>
                    <a:bodyPr/>
                    <a:lstStyle/>
                    <a:p>
                      <a:pPr algn="ctr"/>
                      <a:r>
                        <a:rPr sz="1200" b="0">
                          <a:solidFill>
                            <a:srgbClr val="0F172A"/>
                          </a:solidFill>
                          <a:latin typeface="Microsoft YaHei"/>
                        </a:rPr>
                        <a:t>阶段六</a:t>
                      </a:r>
                    </a:p>
                  </a:txBody>
                  <a:tcPr marL="36576" marR="36576" marT="18288" marB="18288">
                    <a:solidFill>
                      <a:srgbClr val="F6F8FA"/>
                    </a:solidFill>
                  </a:tcPr>
                </a:tc>
                <a:tc>
                  <a:txBody>
                    <a:bodyPr/>
                    <a:lstStyle/>
                    <a:p>
                      <a:pPr algn="ctr"/>
                      <a:r>
                        <a:rPr sz="1200" b="0">
                          <a:solidFill>
                            <a:srgbClr val="0F172A"/>
                          </a:solidFill>
                          <a:latin typeface="Microsoft YaHei"/>
                        </a:rPr>
                        <a:t>完成论文撰写和系统整理</a:t>
                      </a:r>
                    </a:p>
                  </a:txBody>
                  <a:tcPr marL="36576" marR="36576" marT="18288" marB="18288">
                    <a:solidFill>
                      <a:srgbClr val="F6F8FA"/>
                    </a:solidFill>
                  </a:tcPr>
                </a:tc>
              </a:tr>
            </a:tbl>
          </a:graphicData>
        </a:graphic>
      </p:graphicFrame>
      <p:sp>
        <p:nvSpPr>
          <p:cNvPr id="6" name="Rectangle 5"/>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19.xml><?xml version="1.0" encoding="utf-8"?>
<p:sld xmlns:a="http://schemas.openxmlformats.org/drawingml/2006/main"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总结</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19</a:t>
            </a:r>
          </a:p>
        </p:txBody>
      </p:sp>
      <p:sp>
        <p:nvSpPr>
          <p:cNvPr id="5" name="TextBox 4"/>
          <p:cNvSpPr txBox="1"/>
          <p:nvPr/>
        </p:nvSpPr>
        <p:spPr>
          <a:xfrm>
            <a:off x="713232" y="896112"/>
            <a:ext cx="10515600" cy="530352"/>
          </a:xfrm>
          <a:prstGeom prst="rect">
            <a:avLst/>
          </a:prstGeom>
          <a:noFill/>
          <a:ln>
            <a:noFill/>
          </a:ln>
        </p:spPr>
        <p:txBody>
          <a:bodyPr wrap="square" lIns="0" rIns="0" tIns="27432" bIns="27432" anchor="t">
            <a:spAutoFit/>
          </a:bodyPr>
          <a:lstStyle/>
          <a:p>
            <a:r>
              <a:rPr sz="1500" b="0">
                <a:solidFill>
                  <a:srgbClr val="1F2937"/>
                </a:solidFill>
                <a:latin typeface="Microsoft YaHei"/>
              </a:rPr>
              <a:t>本课题研究一种面向 SQL+ 简化查询表达的多智能体自然语言数据库查询生成与反馈修正方法。</a:t>
            </a:r>
          </a:p>
        </p:txBody>
      </p:sp>
      <p:sp>
        <p:nvSpPr>
          <p:cNvPr id="6" name="TextBox 5"/>
          <p:cNvSpPr txBox="1"/>
          <p:nvPr/>
        </p:nvSpPr>
        <p:spPr>
          <a:xfrm>
            <a:off x="713232" y="1499616"/>
            <a:ext cx="10515600" cy="320040"/>
          </a:xfrm>
          <a:prstGeom prst="rect">
            <a:avLst/>
          </a:prstGeom>
          <a:noFill/>
          <a:ln>
            <a:noFill/>
          </a:ln>
        </p:spPr>
        <p:txBody>
          <a:bodyPr wrap="square" lIns="0" rIns="0" tIns="27432" bIns="27432" anchor="t">
            <a:spAutoFit/>
          </a:bodyPr>
          <a:lstStyle/>
          <a:p>
            <a:r>
              <a:rPr sz="1500" b="0">
                <a:solidFill>
                  <a:srgbClr val="1F2937"/>
                </a:solidFill>
                <a:latin typeface="Microsoft YaHei"/>
              </a:rPr>
              <a:t>当前初步实验说明：</a:t>
            </a:r>
          </a:p>
        </p:txBody>
      </p:sp>
      <p:sp>
        <p:nvSpPr>
          <p:cNvPr id="7" name="TextBox 6"/>
          <p:cNvSpPr txBox="1"/>
          <p:nvPr/>
        </p:nvSpPr>
        <p:spPr>
          <a:xfrm>
            <a:off x="786384" y="1892807"/>
            <a:ext cx="10241280" cy="1417320"/>
          </a:xfrm>
          <a:prstGeom prst="rect">
            <a:avLst/>
          </a:prstGeom>
          <a:noFill/>
          <a:ln>
            <a:noFill/>
          </a:ln>
        </p:spPr>
        <p:txBody>
          <a:bodyPr wrap="square" lIns="36576" rIns="36576" tIns="18288" bIns="18288">
            <a:spAutoFit/>
          </a:bodyPr>
          <a:lstStyle/>
          <a:p>
            <a:pPr>
              <a:defRPr sz="1500">
                <a:solidFill>
                  <a:srgbClr val="1F2937"/>
                </a:solidFill>
                <a:latin typeface="Microsoft YaHei"/>
              </a:defRPr>
            </a:pPr>
            <a:r>
              <a:t>• SQL+ 表达与转换链路可行：30/30。</a:t>
            </a:r>
          </a:p>
          <a:p>
            <a:pPr>
              <a:defRPr sz="1500">
                <a:solidFill>
                  <a:srgbClr val="1F2937"/>
                </a:solidFill>
                <a:latin typeface="Microsoft YaHei"/>
              </a:defRPr>
            </a:pPr>
            <a:r>
              <a:t>• SQL+ 初始生成略优于 Direct NL2SQL：17/30 vs 16/30。</a:t>
            </a:r>
          </a:p>
          <a:p>
            <a:pPr>
              <a:defRPr sz="1500">
                <a:solidFill>
                  <a:srgbClr val="1F2937"/>
                </a:solidFill>
                <a:latin typeface="Microsoft YaHei"/>
              </a:defRPr>
            </a:pPr>
            <a:r>
              <a:t>• 单 Refiner 和简单多 Agent 串联不足：4/13、3/13。</a:t>
            </a:r>
          </a:p>
          <a:p>
            <a:pPr>
              <a:defRPr sz="1500">
                <a:solidFill>
                  <a:srgbClr val="1F2937"/>
                </a:solidFill>
                <a:latin typeface="Microsoft YaHei"/>
              </a:defRPr>
            </a:pPr>
            <a:r>
              <a:t>• 引入 Skill Router v3 和五类 repair skill 后明显提升：13/13。</a:t>
            </a:r>
          </a:p>
          <a:p>
            <a:pPr>
              <a:defRPr sz="1500">
                <a:solidFill>
                  <a:srgbClr val="1F2937"/>
                </a:solidFill>
                <a:latin typeface="Microsoft YaHei"/>
              </a:defRPr>
            </a:pPr>
            <a:r>
              <a:t>• Spider 小规模公开子集 smoke test：20/20。</a:t>
            </a:r>
          </a:p>
        </p:txBody>
      </p:sp>
      <p:sp>
        <p:nvSpPr>
          <p:cNvPr id="8" name="TextBox 7"/>
          <p:cNvSpPr txBox="1"/>
          <p:nvPr/>
        </p:nvSpPr>
        <p:spPr>
          <a:xfrm>
            <a:off x="658368" y="3419856"/>
            <a:ext cx="3840480" cy="256032"/>
          </a:xfrm>
          <a:prstGeom prst="rect">
            <a:avLst/>
          </a:prstGeom>
          <a:noFill/>
          <a:ln>
            <a:noFill/>
          </a:ln>
        </p:spPr>
        <p:txBody>
          <a:bodyPr wrap="square" lIns="0" rIns="0" tIns="27432" bIns="27432" anchor="t">
            <a:spAutoFit/>
          </a:bodyPr>
          <a:lstStyle/>
          <a:p>
            <a:r>
              <a:rPr sz="1500" b="1">
                <a:solidFill>
                  <a:srgbClr val="12343B"/>
                </a:solidFill>
                <a:latin typeface="Microsoft YaHei"/>
              </a:rPr>
              <a:t>结论：</a:t>
            </a:r>
          </a:p>
        </p:txBody>
      </p:sp>
      <p:sp>
        <p:nvSpPr>
          <p:cNvPr id="9" name="Rectangle 8"/>
          <p:cNvSpPr/>
          <p:nvPr/>
        </p:nvSpPr>
        <p:spPr>
          <a:xfrm>
            <a:off x="658368" y="3730752"/>
            <a:ext cx="1051560" cy="32004"/>
          </a:xfrm>
          <a:prstGeom prst="rect">
            <a:avLst/>
          </a:prstGeom>
          <a:solidFill>
            <a:srgbClr val="E3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858768"/>
            <a:ext cx="10515600" cy="530352"/>
          </a:xfrm>
          <a:prstGeom prst="rect">
            <a:avLst/>
          </a:prstGeom>
          <a:noFill/>
          <a:ln>
            <a:noFill/>
          </a:ln>
        </p:spPr>
        <p:txBody>
          <a:bodyPr wrap="square" lIns="0" rIns="0" tIns="27432" bIns="27432" anchor="t">
            <a:spAutoFit/>
          </a:bodyPr>
          <a:lstStyle/>
          <a:p>
            <a:r>
              <a:rPr sz="1500" b="0">
                <a:solidFill>
                  <a:srgbClr val="1F2937"/>
                </a:solidFill>
                <a:latin typeface="Microsoft YaHei"/>
              </a:rPr>
              <a:t>SQL+ 中间表示 + 多智能体错误诊断 + Skill Router + 局部修复，是一个具有研究价值和实验可行性的方向。下一步扩展无报错语义错、复合错误和更多公开样例。</a:t>
            </a:r>
          </a:p>
        </p:txBody>
      </p:sp>
      <p:sp>
        <p:nvSpPr>
          <p:cNvPr id="11" name="Rectangle 10"/>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slides/slide20.xml><?xml version="1.0" encoding="utf-8"?>
<p:sld xmlns:a="http://schemas.openxmlformats.org/drawingml/2006/main" xmlns:p="http://schemas.openxmlformats.org/presentationml/2006/main">
  <p:cSld>
    <p:bg>
      <p:bgPr>
        <a:solidFill>
          <a:srgbClr val="F7FAFC"/>
        </a:solidFill>
        <a:effectLst/>
      </p:bgPr>
    </p:bg>
    <p:spTree>
      <p:nvGrpSpPr>
        <p:cNvPr id="1" name=""/>
        <p:cNvGrpSpPr/>
        <p:nvPr/>
      </p:nvGrpSpPr>
      <p:grpSpPr/>
      <p:sp>
        <p:nvSpPr>
          <p:cNvPr id="2" name="Rectangle 1"/>
          <p:cNvSpPr/>
          <p:nvPr/>
        </p:nvSpPr>
        <p:spPr>
          <a:xfrm>
            <a:off x="0" y="0"/>
            <a:ext cx="12191999" cy="658368"/>
          </a:xfrm>
          <a:prstGeom prst="rect">
            <a:avLst/>
          </a:prstGeom>
          <a:solidFill>
            <a:srgbClr val="123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0584"/>
            <a:ext cx="10241280" cy="411480"/>
          </a:xfrm>
          <a:prstGeom prst="rect">
            <a:avLst/>
          </a:prstGeom>
          <a:noFill/>
          <a:ln>
            <a:noFill/>
          </a:ln>
        </p:spPr>
        <p:txBody>
          <a:bodyPr wrap="square" lIns="0" rIns="0" tIns="27432" bIns="27432" anchor="t">
            <a:spAutoFit/>
          </a:bodyPr>
          <a:lstStyle/>
          <a:p>
            <a:r>
              <a:rPr sz="2200" b="1">
                <a:solidFill>
                  <a:srgbClr val="FFFFFF"/>
                </a:solidFill>
                <a:latin typeface="Microsoft YaHei"/>
              </a:rPr>
              <a:t>参考文献</a:t>
            </a:r>
          </a:p>
        </p:txBody>
      </p:sp>
      <p:sp>
        <p:nvSpPr>
          <p:cNvPr id="4" name="TextBox 3"/>
          <p:cNvSpPr txBox="1"/>
          <p:nvPr/>
        </p:nvSpPr>
        <p:spPr>
          <a:xfrm>
            <a:off x="11201400" y="137160"/>
            <a:ext cx="502920" cy="320040"/>
          </a:xfrm>
          <a:prstGeom prst="rect">
            <a:avLst/>
          </a:prstGeom>
          <a:noFill/>
          <a:ln>
            <a:noFill/>
          </a:ln>
        </p:spPr>
        <p:txBody>
          <a:bodyPr wrap="square" lIns="0" rIns="0" tIns="27432" bIns="27432" anchor="t">
            <a:spAutoFit/>
          </a:bodyPr>
          <a:lstStyle/>
          <a:p>
            <a:pPr algn="r"/>
            <a:r>
              <a:rPr sz="1300" b="1">
                <a:solidFill>
                  <a:srgbClr val="B8D8DD"/>
                </a:solidFill>
                <a:latin typeface="Microsoft YaHei"/>
              </a:rPr>
              <a:t>20</a:t>
            </a:r>
          </a:p>
        </p:txBody>
      </p:sp>
      <p:sp>
        <p:nvSpPr>
          <p:cNvPr id="5" name="TextBox 4"/>
          <p:cNvSpPr txBox="1"/>
          <p:nvPr/>
        </p:nvSpPr>
        <p:spPr>
          <a:xfrm>
            <a:off x="786384" y="896112"/>
            <a:ext cx="10241280" cy="1901952"/>
          </a:xfrm>
          <a:prstGeom prst="rect">
            <a:avLst/>
          </a:prstGeom>
          <a:noFill/>
          <a:ln>
            <a:noFill/>
          </a:ln>
        </p:spPr>
        <p:txBody>
          <a:bodyPr wrap="square" lIns="36576" rIns="36576" tIns="18288" bIns="18288">
            <a:spAutoFit/>
          </a:bodyPr>
          <a:lstStyle/>
          <a:p>
            <a:pPr>
              <a:defRPr sz="1300">
                <a:solidFill>
                  <a:srgbClr val="1F2937"/>
                </a:solidFill>
                <a:latin typeface="Microsoft YaHei"/>
              </a:defRPr>
            </a:pPr>
            <a:r>
              <a:t>1. Spider / BIRD / Spider 2.0: Text-to-SQL benchmark and enterprise workflows.
2. RAT-SQL / PICARD / NatSQL: schema linking, constrained decoding, intermediate representation.
3. DAIL-SQL / DIN-SQL: LLM-based Text-to-SQL prompting and decomposition.
4. MAC-SQL / CHESS / CHASE-SQL: multi-agent and multi-path Text-to-SQL reasoning.
5. SQLCritic / Tool-Assisted Agent: clause-wise critic and SQL refinement.
6. SQL-Factory: multi-agent SQL generation at scale.
7. GoogleSQL Pipe Syntax: SQL Has Problems. We Can Fix Them.</a:t>
            </a:r>
          </a:p>
          <a:p>
            <a:pPr>
              <a:defRPr sz="1300">
                <a:solidFill>
                  <a:srgbClr val="1F2937"/>
                </a:solidFill>
                <a:latin typeface="Microsoft YaHei"/>
              </a:defRPr>
            </a:pPr>
            <a:r>
              <a:t/>
            </a:r>
          </a:p>
          <a:p>
            <a:pPr>
              <a:defRPr sz="1300">
                <a:solidFill>
                  <a:srgbClr val="1F2937"/>
                </a:solidFill>
                <a:latin typeface="Microsoft YaHei"/>
              </a:defRPr>
            </a:pPr>
            <a:r>
              <a:t/>
            </a:r>
          </a:p>
          <a:p>
            <a:pPr>
              <a:defRPr sz="1300">
                <a:solidFill>
                  <a:srgbClr val="1F2937"/>
                </a:solidFill>
                <a:latin typeface="Microsoft YaHei"/>
              </a:defRPr>
            </a:pPr>
            <a:r>
              <a:t/>
            </a:r>
          </a:p>
          <a:p>
            <a:pPr>
              <a:defRPr sz="1300">
                <a:solidFill>
                  <a:srgbClr val="1F2937"/>
                </a:solidFill>
                <a:latin typeface="Microsoft YaHei"/>
              </a:defRPr>
            </a:pPr>
            <a:r>
              <a:t/>
            </a:r>
          </a:p>
          <a:p>
            <a:pPr>
              <a:defRPr sz="1300">
                <a:solidFill>
                  <a:srgbClr val="1F2937"/>
                </a:solidFill>
                <a:latin typeface="Microsoft YaHei"/>
              </a:defRPr>
            </a:pPr>
            <a:r>
              <a:t/>
            </a:r>
          </a:p>
          <a:p>
            <a:pPr>
              <a:defRPr sz="1300">
                <a:solidFill>
                  <a:srgbClr val="1F2937"/>
                </a:solidFill>
                <a:latin typeface="Microsoft YaHei"/>
              </a:defRPr>
            </a:pPr>
            <a:r>
              <a:t/>
            </a:r>
          </a:p>
          <a:p>
            <a:pPr>
              <a:defRPr sz="1300">
                <a:solidFill>
                  <a:srgbClr val="1F2937"/>
                </a:solidFill>
                <a:latin typeface="Microsoft YaHei"/>
              </a:defRPr>
            </a:pPr>
            <a:r>
              <a:t/>
            </a:r>
          </a:p>
        </p:txBody>
      </p:sp>
      <p:sp>
        <p:nvSpPr>
          <p:cNvPr id="6" name="Rectangle 5"/>
          <p:cNvSpPr/>
          <p:nvPr/>
        </p:nvSpPr>
        <p:spPr>
          <a:xfrm>
            <a:off x="658368" y="6473952"/>
            <a:ext cx="10881360" cy="16459"/>
          </a:xfrm>
          <a:prstGeom prst="rect">
            <a:avLst/>
          </a:prstGeom>
          <a:solidFill>
            <a:srgbClr val="DB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510528"/>
            <a:ext cx="5669280" cy="201168"/>
          </a:xfrm>
          <a:prstGeom prst="rect">
            <a:avLst/>
          </a:prstGeom>
          <a:noFill/>
          <a:ln>
            <a:noFill/>
          </a:ln>
        </p:spPr>
        <p:txBody>
          <a:bodyPr wrap="square" lIns="0" rIns="0" tIns="27432" bIns="27432" anchor="t">
            <a:spAutoFit/>
          </a:bodyPr>
          <a:lstStyle/>
          <a:p>
            <a:r>
              <a:rPr sz="850" b="0">
                <a:solidFill>
                  <a:srgbClr val="64748B"/>
                </a:solidFill>
                <a:latin typeface="Microsoft YaHei"/>
              </a:rPr>
              <a:t>SQL+ 多智能体自然语言数据库查询生成与反馈修正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