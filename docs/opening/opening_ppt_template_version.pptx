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handoutMasterIdLst>
    <p:handoutMasterId r:id="rId31"/>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7" userDrawn="1">
          <p15:clr>
            <a:srgbClr val="A4A3A4"/>
          </p15:clr>
        </p15:guide>
        <p15:guide id="2" pos="29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7"/>
        <p:guide pos="290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
          <p:cNvSpPr>
            <a:spLocks noGrp="1"/>
          </p:cNvSpPr>
          <p:nvPr>
            <p:ph type="subTitle" idx="1"/>
          </p:nvPr>
        </p:nvSpPr>
        <p:spPr/>
        <p:txBody>
          <a:bodyPr/>
          <a:lstStyle/>
          <a:p>
            <a:pPr algn="l"/>
            <a:r>
              <a:rPr sz="1800" b="0">
                <a:solidFill>
                  <a:srgbClr val="2D2D2D"/>
                </a:solidFill>
                <a:latin typeface="微软雅黑" panose="020B0503020204020204" charset="-122"/>
              </a:rPr>
              <a:t>研究方向：达梦 SQL+ / Text-to-SQL / 多智能体 / 执行反馈修正
汇报人：</a:t>
            </a:r>
            <a:r>
              <a:rPr lang="zh-CN" sz="1800" b="0">
                <a:solidFill>
                  <a:srgbClr val="2D2D2D"/>
                </a:solidFill>
                <a:latin typeface="微软雅黑" panose="020B0503020204020204" charset="-122"/>
              </a:rPr>
              <a:t>艾筠舜</a:t>
            </a:r>
            <a:r>
              <a:rPr sz="1800" b="0">
                <a:solidFill>
                  <a:srgbClr val="2D2D2D"/>
                </a:solidFill>
                <a:latin typeface="微软雅黑" panose="020B0503020204020204" charset="-122"/>
              </a:rPr>
              <a:t>    导师：</a:t>
            </a:r>
            <a:r>
              <a:rPr lang="zh-CN" sz="1800" b="0">
                <a:solidFill>
                  <a:srgbClr val="2D2D2D"/>
                </a:solidFill>
                <a:latin typeface="微软雅黑" panose="020B0503020204020204" charset="-122"/>
              </a:rPr>
              <a:t>王芳</a:t>
            </a:r>
            <a:r>
              <a:rPr sz="1800" b="0">
                <a:solidFill>
                  <a:srgbClr val="2D2D2D"/>
                </a:solidFill>
                <a:latin typeface="微软雅黑" panose="020B0503020204020204" charset="-122"/>
              </a:rPr>
              <a:t>    时间：</a:t>
            </a:r>
            <a:r>
              <a:rPr lang="en-US" sz="1800" b="0">
                <a:solidFill>
                  <a:srgbClr val="2D2D2D"/>
                </a:solidFill>
                <a:latin typeface="微软雅黑" panose="020B0503020204020204" charset="-122"/>
              </a:rPr>
              <a:t>2026.6</a:t>
            </a:r>
            <a:endParaRPr lang="en-US" sz="1800" b="0">
              <a:solidFill>
                <a:srgbClr val="2D2D2D"/>
              </a:solidFill>
              <a:latin typeface="微软雅黑" panose="020B0503020204020204" charset="-122"/>
            </a:endParaRPr>
          </a:p>
        </p:txBody>
      </p:sp>
      <p:sp>
        <p:nvSpPr>
          <p:cNvPr id="3" name="Title 2"/>
          <p:cNvSpPr>
            <a:spLocks noGrp="1"/>
          </p:cNvSpPr>
          <p:nvPr>
            <p:ph type="title"/>
          </p:nvPr>
        </p:nvSpPr>
        <p:spPr>
          <a:xfrm>
            <a:off x="502920" y="2060610"/>
            <a:ext cx="8229600" cy="863600"/>
          </a:xfrm>
        </p:spPr>
        <p:txBody>
          <a:bodyPr/>
          <a:lstStyle/>
          <a:p>
            <a:pPr algn="ctr"/>
            <a:r>
              <a:rPr sz="2800" b="1">
                <a:solidFill>
                  <a:srgbClr val="1F4E79"/>
                </a:solidFill>
                <a:latin typeface="微软雅黑" panose="020B0503020204020204" charset="-122"/>
              </a:rPr>
              <a:t>面向 SQL+ 简化查询表达的多智能体自然语言数据库查询生成与反馈修正方法研究</a:t>
            </a:r>
            <a:endParaRPr sz="2800" b="1">
              <a:solidFill>
                <a:srgbClr val="1F4E79"/>
              </a:solidFill>
              <a:latin typeface="微软雅黑" panose="020B0503020204020204" charset="-122"/>
            </a:endParaRPr>
          </a:p>
        </p:txBody>
      </p:sp>
      <p:sp>
        <p:nvSpPr>
          <p:cNvPr id="4" name="TextBox 3"/>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a:t>
            </a:r>
            <a:endParaRPr sz="800" b="0">
              <a:solidFill>
                <a:srgbClr val="646464"/>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汇报提纲</a:t>
            </a:r>
            <a:endParaRPr sz="2800" b="1">
              <a:solidFill>
                <a:srgbClr val="1F4E79"/>
              </a:solidFill>
              <a:latin typeface="微软雅黑" panose="020B0503020204020204" charset="-122"/>
            </a:endParaRPr>
          </a:p>
        </p:txBody>
      </p:sp>
      <p:sp>
        <p:nvSpPr>
          <p:cNvPr id="4" name="TextBox 3"/>
          <p:cNvSpPr txBox="1"/>
          <p:nvPr/>
        </p:nvSpPr>
        <p:spPr>
          <a:xfrm>
            <a:off x="685800" y="1772920"/>
            <a:ext cx="7863840" cy="4206240"/>
          </a:xfrm>
          <a:prstGeom prst="rect">
            <a:avLst/>
          </a:prstGeom>
          <a:noFill/>
        </p:spPr>
        <p:txBody>
          <a:bodyPr wrap="square">
            <a:spAutoFit/>
          </a:bodyPr>
          <a:lstStyle/>
          <a:p>
            <a:pPr>
              <a:spcAft>
                <a:spcPts val="800"/>
              </a:spcAft>
              <a:defRPr sz="1800">
                <a:solidFill>
                  <a:srgbClr val="2D2D2D"/>
                </a:solidFill>
                <a:latin typeface="微软雅黑" panose="020B0503020204020204" charset="-122"/>
              </a:defRPr>
            </a:pPr>
            <a:r>
              <a:t>研究背景与问题提出</a:t>
            </a:r>
          </a:p>
          <a:p>
            <a:pPr>
              <a:spcAft>
                <a:spcPts val="800"/>
              </a:spcAft>
              <a:defRPr sz="1800">
                <a:solidFill>
                  <a:srgbClr val="2D2D2D"/>
                </a:solidFill>
                <a:latin typeface="微软雅黑" panose="020B0503020204020204" charset="-122"/>
              </a:defRPr>
            </a:pPr>
            <a:r>
              <a:t>国内外研究现状与不足</a:t>
            </a:r>
          </a:p>
          <a:p>
            <a:pPr>
              <a:spcAft>
                <a:spcPts val="800"/>
              </a:spcAft>
              <a:defRPr sz="1800">
                <a:solidFill>
                  <a:srgbClr val="2D2D2D"/>
                </a:solidFill>
                <a:latin typeface="微软雅黑" panose="020B0503020204020204" charset="-122"/>
              </a:defRPr>
            </a:pPr>
            <a:r>
              <a:t>研究目标、关键问题与技术路线</a:t>
            </a:r>
          </a:p>
          <a:p>
            <a:pPr>
              <a:spcAft>
                <a:spcPts val="800"/>
              </a:spcAft>
              <a:defRPr sz="1800">
                <a:solidFill>
                  <a:srgbClr val="2D2D2D"/>
                </a:solidFill>
                <a:latin typeface="微软雅黑" panose="020B0503020204020204" charset="-122"/>
              </a:defRPr>
            </a:pPr>
            <a:r>
              <a:t>SQL+ 表达设计与多智能体反馈修正框架</a:t>
            </a:r>
          </a:p>
          <a:p>
            <a:pPr>
              <a:spcAft>
                <a:spcPts val="800"/>
              </a:spcAft>
              <a:defRPr sz="1800">
                <a:solidFill>
                  <a:srgbClr val="2D2D2D"/>
                </a:solidFill>
                <a:latin typeface="微软雅黑" panose="020B0503020204020204" charset="-122"/>
              </a:defRPr>
            </a:pPr>
            <a:r>
              <a:t>实验设计、当前初步结果与后续计划</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a:t>
            </a:r>
            <a:endParaRPr sz="800" b="0">
              <a:solidFill>
                <a:srgbClr val="646464"/>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研究背景：自然语言数据库查询仍然不稳定</a:t>
            </a:r>
            <a:endParaRPr sz="2800" b="1">
              <a:solidFill>
                <a:srgbClr val="1F4E79"/>
              </a:solidFill>
              <a:latin typeface="微软雅黑" panose="020B0503020204020204" charset="-122"/>
            </a:endParaRPr>
          </a:p>
        </p:txBody>
      </p:sp>
      <p:sp>
        <p:nvSpPr>
          <p:cNvPr id="4" name="TextBox 3"/>
          <p:cNvSpPr txBox="1"/>
          <p:nvPr/>
        </p:nvSpPr>
        <p:spPr>
          <a:xfrm>
            <a:off x="394970" y="1772920"/>
            <a:ext cx="8500110" cy="2061210"/>
          </a:xfrm>
          <a:prstGeom prst="rect">
            <a:avLst/>
          </a:prstGeom>
          <a:noFill/>
        </p:spPr>
        <p:txBody>
          <a:bodyPr wrap="square">
            <a:spAutoFit/>
          </a:bodyPr>
          <a:lstStyle/>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业务人员希望直接用自然语言完成数据查询和统计分析，降低 SQL 使用门槛。</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LLM 提升了 Text-to-SQL 能力，但真实数据库中仍存在 schema 复杂、多表 join、聚合口径、排序逻辑和方言差异问题。</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标准 SQL 出错后，错误位置往往不清楚，直接整条重生成容易破坏原本正确的部分。</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本课题关注的不只是生成 SQL，而是生成、执行、诊断和局部修复的闭环能力。</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3</a:t>
            </a:r>
            <a:endParaRPr sz="800" b="0">
              <a:solidFill>
                <a:srgbClr val="646464"/>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核心动机：为什么引入 SQL+</a:t>
            </a:r>
            <a:endParaRPr sz="2800" b="1">
              <a:solidFill>
                <a:srgbClr val="1F4E79"/>
              </a:solidFill>
              <a:latin typeface="微软雅黑" panose="020B0503020204020204" charset="-122"/>
            </a:endParaRPr>
          </a:p>
        </p:txBody>
      </p:sp>
      <p:sp>
        <p:nvSpPr>
          <p:cNvPr id="4" name="TextBox 3"/>
          <p:cNvSpPr txBox="1"/>
          <p:nvPr/>
        </p:nvSpPr>
        <p:spPr>
          <a:xfrm>
            <a:off x="457200" y="1772920"/>
            <a:ext cx="7863840" cy="2614930"/>
          </a:xfrm>
          <a:prstGeom prst="rect">
            <a:avLst/>
          </a:prstGeom>
          <a:noFill/>
        </p:spPr>
        <p:txBody>
          <a:bodyPr wrap="square">
            <a:spAutoFit/>
          </a:bodyPr>
          <a:lstStyle/>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标准 SQL 的书写顺序与自然语言意图构造顺序不完全一致，复杂查询存在较强跨子句耦合。</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SQL+ 借鉴 GoogleSQL Pipe Syntax 的线性数据流思想，但目标不是替代 SQL，而是作为 NL2SQL 的中间表示。</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SQL+ 将 FROM、JOIN、WHERE、GROUP、AGG、SELECT、ORDER 等操作显式拆成步骤。</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步骤化表达可以为 Critic Agent 定位错误、Skill Router 路由修复、Repair Skill 局部 patch 提供载体。</a:t>
            </a:r>
          </a:p>
        </p:txBody>
      </p:sp>
      <p:sp>
        <p:nvSpPr>
          <p:cNvPr id="5" name="TextBox 4"/>
          <p:cNvSpPr txBox="1"/>
          <p:nvPr/>
        </p:nvSpPr>
        <p:spPr>
          <a:xfrm>
            <a:off x="685800" y="5715000"/>
            <a:ext cx="7863840" cy="411480"/>
          </a:xfrm>
          <a:prstGeom prst="rect">
            <a:avLst/>
          </a:prstGeom>
          <a:noFill/>
        </p:spPr>
        <p:txBody>
          <a:bodyPr wrap="none">
            <a:spAutoFit/>
          </a:bodyPr>
          <a:lstStyle/>
          <a:p>
            <a:pPr algn="l"/>
            <a:r>
              <a:rPr sz="1100" b="0">
                <a:solidFill>
                  <a:srgbClr val="C65911"/>
                </a:solidFill>
                <a:latin typeface="微软雅黑" panose="020B0503020204020204" charset="-122"/>
              </a:rPr>
              <a:t>关键表述：SQL+ 不一定更短，但更线性、更低耦合、更适合错误定位和局部修复。</a:t>
            </a:r>
            <a:endParaRPr sz="1100" b="0">
              <a:solidFill>
                <a:srgbClr val="C65911"/>
              </a:solidFill>
              <a:latin typeface="微软雅黑" panose="020B0503020204020204" charset="-122"/>
            </a:endParaRPr>
          </a:p>
        </p:txBody>
      </p:sp>
      <p:sp>
        <p:nvSpPr>
          <p:cNvPr id="6" name="TextBox 5"/>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4</a:t>
            </a:r>
            <a:endParaRPr sz="800" b="0">
              <a:solidFill>
                <a:srgbClr val="646464"/>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国内外研究现状：Text-to-SQL</a:t>
            </a:r>
            <a:endParaRPr sz="2800" b="1">
              <a:solidFill>
                <a:srgbClr val="1F4E79"/>
              </a:solidFill>
              <a:latin typeface="微软雅黑" panose="020B0503020204020204" charset="-122"/>
            </a:endParaRPr>
          </a:p>
        </p:txBody>
      </p:sp>
      <p:sp>
        <p:nvSpPr>
          <p:cNvPr id="4" name="TextBox 3"/>
          <p:cNvSpPr txBox="1"/>
          <p:nvPr/>
        </p:nvSpPr>
        <p:spPr>
          <a:xfrm>
            <a:off x="457200" y="1772920"/>
            <a:ext cx="7863840" cy="2614930"/>
          </a:xfrm>
          <a:prstGeom prst="rect">
            <a:avLst/>
          </a:prstGeom>
          <a:noFill/>
        </p:spPr>
        <p:txBody>
          <a:bodyPr wrap="square">
            <a:spAutoFit/>
          </a:bodyPr>
          <a:lstStyle/>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传统方法：Seq2SQL、SyntaxSQLNet、RAT-SQL、PICARD、RESDSQL 等关注结构解码、schema linking 和语法约束。</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LLM 方法：DAIL-SQL、DIN-SQL、C3、CHESS、CHASE-SQL 等引入 prompt、任务分解、候选生成和执行验证。</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Benchmark 发展：Spider 关注跨数据库泛化，BIRD 强调真实数据库、外部知识和效率，Spider 2.0 关注企业级工作流。</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评价趋势：从 exact match / execution accuracy 扩展到 valid rate、schema/value linking、token cost、latency 和修复能力。</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5</a:t>
            </a:r>
            <a:endParaRPr sz="800" b="0">
              <a:solidFill>
                <a:srgbClr val="646464"/>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国内外研究现状：中间表示与 Agent</a:t>
            </a:r>
            <a:endParaRPr sz="2800" b="1">
              <a:solidFill>
                <a:srgbClr val="1F4E79"/>
              </a:solidFill>
              <a:latin typeface="微软雅黑" panose="020B0503020204020204" charset="-122"/>
            </a:endParaRPr>
          </a:p>
        </p:txBody>
      </p:sp>
      <p:sp>
        <p:nvSpPr>
          <p:cNvPr id="4" name="TextBox 3"/>
          <p:cNvSpPr txBox="1"/>
          <p:nvPr/>
        </p:nvSpPr>
        <p:spPr>
          <a:xfrm>
            <a:off x="457200" y="1844675"/>
            <a:ext cx="7863840" cy="2614930"/>
          </a:xfrm>
          <a:prstGeom prst="rect">
            <a:avLst/>
          </a:prstGeom>
          <a:noFill/>
        </p:spPr>
        <p:txBody>
          <a:bodyPr wrap="square">
            <a:spAutoFit/>
          </a:bodyPr>
          <a:lstStyle/>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SemQL 和 NatSQL 说明标准 SQL 并不是唯一生成目标，中间表示可以降低初次生成难度。</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GoogleSQL Pipe Syntax 说明 SQL 生态内部也可以引入线性表达，改善可读性和维护性。</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MAC-SQL、Tool-Assisted Agent、LEVER、SQLCritic 等表明多角色协作、执行反馈和候选验证具有价值。</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不足：多数工作仍偏向标准 SQL 层候选选择或整条修复，较少研究“中间步骤级错误定位 + 局部 repair skill”。</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6</a:t>
            </a:r>
            <a:endParaRPr sz="800" b="0">
              <a:solidFill>
                <a:srgbClr val="646464"/>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拟解决的关键问题</a:t>
            </a:r>
            <a:endParaRPr sz="2800" b="1">
              <a:solidFill>
                <a:srgbClr val="1F4E79"/>
              </a:solidFill>
              <a:latin typeface="微软雅黑" panose="020B0503020204020204" charset="-122"/>
            </a:endParaRPr>
          </a:p>
        </p:txBody>
      </p:sp>
      <p:sp>
        <p:nvSpPr>
          <p:cNvPr id="4" name="TextBox 3"/>
          <p:cNvSpPr txBox="1"/>
          <p:nvPr/>
        </p:nvSpPr>
        <p:spPr>
          <a:xfrm>
            <a:off x="457200" y="1772920"/>
            <a:ext cx="7863840" cy="3271520"/>
          </a:xfrm>
          <a:prstGeom prst="rect">
            <a:avLst/>
          </a:prstGeom>
          <a:noFill/>
        </p:spPr>
        <p:txBody>
          <a:bodyPr wrap="square">
            <a:spAutoFit/>
          </a:bodyPr>
          <a:lstStyle/>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SQL+ 必要性：相比标准 SQL、SemQL、NatSQL、Pipe-style 表示，SQL+ 在生成、转换、诊断和修复上新增什么价值？</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SQL+ 设计边界：如何在简化表达、可转换、可解释和局部修复之间取得平衡？</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SQL+ 生成：如何处理 schema linking、value linking、join path、aggregation planning 和 projection？</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SQL+ 修复：如何把执行反馈和结果异常映射到 SQL+ 步骤，并路由到对应 repair skill？</a:t>
            </a:r>
          </a:p>
          <a:p>
            <a:pPr marL="285750" indent="-285750" hangingPunct="1">
              <a:spcAft>
                <a:spcPts val="800"/>
              </a:spcAft>
              <a:buFont typeface="Arial" panose="020B0604020202020204" pitchFamily="34" charset="0"/>
              <a:buChar char="•"/>
              <a:defRPr sz="1800">
                <a:solidFill>
                  <a:srgbClr val="2D2D2D"/>
                </a:solidFill>
                <a:latin typeface="微软雅黑" panose="020B0503020204020204" charset="-122"/>
              </a:defRPr>
            </a:pPr>
            <a:r>
              <a:t>实验验证：如何从准确率、成本、错误定位、patch 范围和修复轮数多维度证明方法有效？</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7</a:t>
            </a:r>
            <a:endParaRPr sz="800" b="0">
              <a:solidFill>
                <a:srgbClr val="646464"/>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105283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总体技术路线</a:t>
            </a:r>
            <a:endParaRPr sz="2500" b="1">
              <a:solidFill>
                <a:srgbClr val="1F4E79"/>
              </a:solidFill>
              <a:latin typeface="微软雅黑" panose="020B0503020204020204" charset="-122"/>
            </a:endParaRPr>
          </a:p>
        </p:txBody>
      </p:sp>
      <p:sp>
        <p:nvSpPr>
          <p:cNvPr id="3" name="Rectangle 2"/>
          <p:cNvSpPr/>
          <p:nvPr/>
        </p:nvSpPr>
        <p:spPr>
          <a:xfrm>
            <a:off x="320040" y="1828800"/>
            <a:ext cx="960120" cy="566928"/>
          </a:xfrm>
          <a:prstGeom prst="rect">
            <a:avLst/>
          </a:prstGeom>
          <a:solidFill>
            <a:srgbClr val="1F4E7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自然语言</a:t>
            </a:r>
            <a:endParaRPr sz="1000" b="1">
              <a:solidFill>
                <a:srgbClr val="FFFFFF"/>
              </a:solidFill>
              <a:latin typeface="微软雅黑" panose="020B0503020204020204" charset="-122"/>
            </a:endParaRPr>
          </a:p>
        </p:txBody>
      </p:sp>
      <p:sp>
        <p:nvSpPr>
          <p:cNvPr id="4" name="Rectangle 3"/>
          <p:cNvSpPr/>
          <p:nvPr/>
        </p:nvSpPr>
        <p:spPr>
          <a:xfrm>
            <a:off x="1389888" y="1828800"/>
            <a:ext cx="960120" cy="566928"/>
          </a:xfrm>
          <a:prstGeom prst="rect">
            <a:avLst/>
          </a:prstGeom>
          <a:solidFill>
            <a:srgbClr val="C6591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SQL+生成</a:t>
            </a:r>
            <a:endParaRPr sz="1000" b="1">
              <a:solidFill>
                <a:srgbClr val="FFFFFF"/>
              </a:solidFill>
              <a:latin typeface="微软雅黑" panose="020B0503020204020204" charset="-122"/>
            </a:endParaRPr>
          </a:p>
        </p:txBody>
      </p:sp>
      <p:sp>
        <p:nvSpPr>
          <p:cNvPr id="5" name="Rectangle 4"/>
          <p:cNvSpPr/>
          <p:nvPr/>
        </p:nvSpPr>
        <p:spPr>
          <a:xfrm>
            <a:off x="2459736" y="1828800"/>
            <a:ext cx="960120" cy="566928"/>
          </a:xfrm>
          <a:prstGeom prst="rect">
            <a:avLst/>
          </a:prstGeom>
          <a:solidFill>
            <a:srgbClr val="1F4E7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SQL转换</a:t>
            </a:r>
            <a:endParaRPr sz="1000" b="1">
              <a:solidFill>
                <a:srgbClr val="FFFFFF"/>
              </a:solidFill>
              <a:latin typeface="微软雅黑" panose="020B0503020204020204" charset="-122"/>
            </a:endParaRPr>
          </a:p>
        </p:txBody>
      </p:sp>
      <p:sp>
        <p:nvSpPr>
          <p:cNvPr id="6" name="Rectangle 5"/>
          <p:cNvSpPr/>
          <p:nvPr/>
        </p:nvSpPr>
        <p:spPr>
          <a:xfrm>
            <a:off x="3529584" y="1828800"/>
            <a:ext cx="960120" cy="566928"/>
          </a:xfrm>
          <a:prstGeom prst="rect">
            <a:avLst/>
          </a:prstGeom>
          <a:solidFill>
            <a:srgbClr val="C6591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执行反馈</a:t>
            </a:r>
            <a:endParaRPr sz="1000" b="1">
              <a:solidFill>
                <a:srgbClr val="FFFFFF"/>
              </a:solidFill>
              <a:latin typeface="微软雅黑" panose="020B0503020204020204" charset="-122"/>
            </a:endParaRPr>
          </a:p>
        </p:txBody>
      </p:sp>
      <p:sp>
        <p:nvSpPr>
          <p:cNvPr id="7" name="Rectangle 6"/>
          <p:cNvSpPr/>
          <p:nvPr/>
        </p:nvSpPr>
        <p:spPr>
          <a:xfrm>
            <a:off x="4599431" y="1828800"/>
            <a:ext cx="960120" cy="566928"/>
          </a:xfrm>
          <a:prstGeom prst="rect">
            <a:avLst/>
          </a:prstGeom>
          <a:solidFill>
            <a:srgbClr val="1F4E7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Critic</a:t>
            </a:r>
            <a:endParaRPr sz="1000" b="1">
              <a:solidFill>
                <a:srgbClr val="FFFFFF"/>
              </a:solidFill>
              <a:latin typeface="微软雅黑" panose="020B0503020204020204" charset="-122"/>
            </a:endParaRPr>
          </a:p>
        </p:txBody>
      </p:sp>
      <p:sp>
        <p:nvSpPr>
          <p:cNvPr id="8" name="Rectangle 7"/>
          <p:cNvSpPr/>
          <p:nvPr/>
        </p:nvSpPr>
        <p:spPr>
          <a:xfrm>
            <a:off x="5669279" y="1828800"/>
            <a:ext cx="960120" cy="566928"/>
          </a:xfrm>
          <a:prstGeom prst="rect">
            <a:avLst/>
          </a:prstGeom>
          <a:solidFill>
            <a:srgbClr val="C6591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Router</a:t>
            </a:r>
            <a:endParaRPr sz="1000" b="1">
              <a:solidFill>
                <a:srgbClr val="FFFFFF"/>
              </a:solidFill>
              <a:latin typeface="微软雅黑" panose="020B0503020204020204" charset="-122"/>
            </a:endParaRPr>
          </a:p>
        </p:txBody>
      </p:sp>
      <p:sp>
        <p:nvSpPr>
          <p:cNvPr id="9" name="Rectangle 8"/>
          <p:cNvSpPr/>
          <p:nvPr/>
        </p:nvSpPr>
        <p:spPr>
          <a:xfrm>
            <a:off x="6739127" y="1828800"/>
            <a:ext cx="960120" cy="566928"/>
          </a:xfrm>
          <a:prstGeom prst="rect">
            <a:avLst/>
          </a:prstGeom>
          <a:solidFill>
            <a:srgbClr val="1F4E7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Repair</a:t>
            </a:r>
            <a:endParaRPr sz="1000" b="1">
              <a:solidFill>
                <a:srgbClr val="FFFFFF"/>
              </a:solidFill>
              <a:latin typeface="微软雅黑" panose="020B0503020204020204" charset="-122"/>
            </a:endParaRPr>
          </a:p>
        </p:txBody>
      </p:sp>
      <p:sp>
        <p:nvSpPr>
          <p:cNvPr id="10" name="Rectangle 9"/>
          <p:cNvSpPr/>
          <p:nvPr/>
        </p:nvSpPr>
        <p:spPr>
          <a:xfrm>
            <a:off x="7808975" y="1828800"/>
            <a:ext cx="960120" cy="566928"/>
          </a:xfrm>
          <a:prstGeom prst="rect">
            <a:avLst/>
          </a:prstGeom>
          <a:solidFill>
            <a:srgbClr val="C6591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微软雅黑" panose="020B0503020204020204" charset="-122"/>
              </a:rPr>
              <a:t>Executor</a:t>
            </a:r>
            <a:endParaRPr sz="1000" b="1">
              <a:solidFill>
                <a:srgbClr val="FFFFFF"/>
              </a:solidFill>
              <a:latin typeface="微软雅黑" panose="020B0503020204020204" charset="-122"/>
            </a:endParaRPr>
          </a:p>
        </p:txBody>
      </p:sp>
      <p:sp>
        <p:nvSpPr>
          <p:cNvPr id="11" name="TextBox 10"/>
          <p:cNvSpPr txBox="1"/>
          <p:nvPr/>
        </p:nvSpPr>
        <p:spPr>
          <a:xfrm>
            <a:off x="685800" y="2880360"/>
            <a:ext cx="7863840" cy="4206240"/>
          </a:xfrm>
          <a:prstGeom prst="rect">
            <a:avLst/>
          </a:prstGeom>
          <a:noFill/>
        </p:spPr>
        <p:txBody>
          <a:bodyPr wrap="square">
            <a:spAutoFit/>
          </a:bodyPr>
          <a:lstStyle/>
          <a:p>
            <a:pPr>
              <a:spcAft>
                <a:spcPts val="800"/>
              </a:spcAft>
              <a:defRPr sz="1600">
                <a:solidFill>
                  <a:srgbClr val="2D2D2D"/>
                </a:solidFill>
                <a:latin typeface="微软雅黑" panose="020B0503020204020204" charset="-122"/>
              </a:defRPr>
            </a:pPr>
            <a:r>
              <a:t>核心闭环：Natural language -&gt; SQL+ -&gt; SQL -&gt; Execution feedback -&gt; Critic Agent -&gt; Skill Router -&gt; Repair Skill -&gt; Executor</a:t>
            </a:r>
          </a:p>
          <a:p>
            <a:pPr>
              <a:spcAft>
                <a:spcPts val="800"/>
              </a:spcAft>
              <a:defRPr sz="1600">
                <a:solidFill>
                  <a:srgbClr val="2D2D2D"/>
                </a:solidFill>
                <a:latin typeface="微软雅黑" panose="020B0503020204020204" charset="-122"/>
              </a:defRPr>
            </a:pPr>
            <a:r>
              <a:t>Schema Agent / Planner Agent 负责前端理解与查询规划，Critic / Router / Repair Skill 负责后端诊断与修复。</a:t>
            </a:r>
          </a:p>
          <a:p>
            <a:pPr>
              <a:spcAft>
                <a:spcPts val="800"/>
              </a:spcAft>
              <a:defRPr sz="1600">
                <a:solidFill>
                  <a:srgbClr val="2D2D2D"/>
                </a:solidFill>
                <a:latin typeface="微软雅黑" panose="020B0503020204020204" charset="-122"/>
              </a:defRPr>
            </a:pPr>
            <a:r>
              <a:t>每个模块都保留可观察输出，避免多智能体退化为多个 prompt 的简单串联。</a:t>
            </a:r>
          </a:p>
        </p:txBody>
      </p:sp>
      <p:sp>
        <p:nvSpPr>
          <p:cNvPr id="12" name="TextBox 11"/>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8</a:t>
            </a:r>
            <a:endParaRPr sz="800" b="0">
              <a:solidFill>
                <a:srgbClr val="646464"/>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4970" y="1102995"/>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SQL+ 最小语法子集</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nvGraphicFramePr>
        <p:xfrm>
          <a:off x="395605" y="1772285"/>
          <a:ext cx="8229600" cy="4389120"/>
        </p:xfrm>
        <a:graphic>
          <a:graphicData uri="http://schemas.openxmlformats.org/drawingml/2006/table">
            <a:tbl>
              <a:tblPr firstRow="1" bandRow="1">
                <a:tableStyleId>{5C22544A-7EE6-4342-B048-85BDC9FD1C3A}</a:tableStyleId>
              </a:tblPr>
              <a:tblGrid>
                <a:gridCol w="2743200"/>
                <a:gridCol w="2743200"/>
                <a:gridCol w="2743200"/>
              </a:tblGrid>
              <a:tr h="548640">
                <a:tc>
                  <a:txBody>
                    <a:bodyPr/>
                    <a:lstStyle/>
                    <a:p>
                      <a:pPr algn="ctr"/>
                      <a:r>
                        <a:rPr sz="1200" b="1">
                          <a:solidFill>
                            <a:srgbClr val="FFFFFF"/>
                          </a:solidFill>
                          <a:latin typeface="微软雅黑" panose="020B0503020204020204" charset="-122"/>
                        </a:rPr>
                        <a:t>步骤</a:t>
                      </a:r>
                      <a:endParaRPr sz="1200" b="1">
                        <a:solidFill>
                          <a:srgbClr val="FFFFFF"/>
                        </a:solidFill>
                        <a:latin typeface="微软雅黑" panose="020B0503020204020204" charset="-122"/>
                      </a:endParaRPr>
                    </a:p>
                  </a:txBody>
                  <a:tcPr>
                    <a:solidFill>
                      <a:srgbClr val="1F4E79"/>
                    </a:solidFill>
                  </a:tcPr>
                </a:tc>
                <a:tc>
                  <a:txBody>
                    <a:bodyPr/>
                    <a:lstStyle/>
                    <a:p>
                      <a:pPr algn="ctr"/>
                      <a:r>
                        <a:rPr sz="1200" b="1">
                          <a:solidFill>
                            <a:srgbClr val="FFFFFF"/>
                          </a:solidFill>
                          <a:latin typeface="微软雅黑" panose="020B0503020204020204" charset="-122"/>
                        </a:rPr>
                        <a:t>作用</a:t>
                      </a:r>
                      <a:endParaRPr sz="1200" b="1">
                        <a:solidFill>
                          <a:srgbClr val="FFFFFF"/>
                        </a:solidFill>
                        <a:latin typeface="微软雅黑" panose="020B0503020204020204" charset="-122"/>
                      </a:endParaRPr>
                    </a:p>
                  </a:txBody>
                  <a:tcPr>
                    <a:solidFill>
                      <a:srgbClr val="1F4E79"/>
                    </a:solidFill>
                  </a:tcPr>
                </a:tc>
                <a:tc>
                  <a:txBody>
                    <a:bodyPr/>
                    <a:lstStyle/>
                    <a:p>
                      <a:pPr algn="ctr"/>
                      <a:r>
                        <a:rPr sz="1200" b="1">
                          <a:solidFill>
                            <a:srgbClr val="FFFFFF"/>
                          </a:solidFill>
                          <a:latin typeface="微软雅黑" panose="020B0503020204020204" charset="-122"/>
                        </a:rPr>
                        <a:t>易错位置</a:t>
                      </a:r>
                      <a:endParaRPr sz="1200" b="1">
                        <a:solidFill>
                          <a:srgbClr val="FFFFFF"/>
                        </a:solidFill>
                        <a:latin typeface="微软雅黑" panose="020B0503020204020204" charset="-122"/>
                      </a:endParaRPr>
                    </a:p>
                  </a:txBody>
                  <a:tcPr>
                    <a:solidFill>
                      <a:srgbClr val="1F4E79"/>
                    </a:solidFill>
                  </a:tcPr>
                </a:tc>
              </a:tr>
              <a:tr h="548640">
                <a:tc>
                  <a:txBody>
                    <a:bodyPr/>
                    <a:lstStyle/>
                    <a:p>
                      <a:pPr algn="l"/>
                      <a:r>
                        <a:rPr sz="1100" b="0">
                          <a:solidFill>
                            <a:srgbClr val="2D2D2D"/>
                          </a:solidFill>
                          <a:latin typeface="微软雅黑" panose="020B0503020204020204" charset="-122"/>
                        </a:rPr>
                        <a:t>FROM</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指定数据源</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主表选择错误</a:t>
                      </a:r>
                      <a:endParaRPr sz="1100" b="0">
                        <a:solidFill>
                          <a:srgbClr val="2D2D2D"/>
                        </a:solidFill>
                        <a:latin typeface="微软雅黑" panose="020B0503020204020204" charset="-122"/>
                      </a:endParaRPr>
                    </a:p>
                  </a:txBody>
                  <a:tcPr>
                    <a:solidFill>
                      <a:srgbClr val="FFFFFF"/>
                    </a:solidFill>
                  </a:tcPr>
                </a:tc>
              </a:tr>
              <a:tr h="548640">
                <a:tc>
                  <a:txBody>
                    <a:bodyPr/>
                    <a:lstStyle/>
                    <a:p>
                      <a:pPr algn="l"/>
                      <a:r>
                        <a:rPr sz="1100" b="0">
                          <a:solidFill>
                            <a:srgbClr val="2D2D2D"/>
                          </a:solidFill>
                          <a:latin typeface="微软雅黑" panose="020B0503020204020204" charset="-122"/>
                        </a:rPr>
                        <a:t>JOIN</a:t>
                      </a:r>
                      <a:endParaRPr sz="1100" b="0">
                        <a:solidFill>
                          <a:srgbClr val="2D2D2D"/>
                        </a:solidFill>
                        <a:latin typeface="微软雅黑" panose="020B0503020204020204" charset="-122"/>
                      </a:endParaRPr>
                    </a:p>
                  </a:txBody>
                  <a:tcPr>
                    <a:solidFill>
                      <a:srgbClr val="EEF2F7"/>
                    </a:solidFill>
                  </a:tcPr>
                </a:tc>
                <a:tc>
                  <a:txBody>
                    <a:bodyPr/>
                    <a:lstStyle/>
                    <a:p>
                      <a:pPr algn="l"/>
                      <a:r>
                        <a:rPr sz="1100" b="0">
                          <a:solidFill>
                            <a:srgbClr val="2D2D2D"/>
                          </a:solidFill>
                          <a:latin typeface="微软雅黑" panose="020B0503020204020204" charset="-122"/>
                        </a:rPr>
                        <a:t>指定连接路径</a:t>
                      </a:r>
                      <a:endParaRPr sz="1100" b="0">
                        <a:solidFill>
                          <a:srgbClr val="2D2D2D"/>
                        </a:solidFill>
                        <a:latin typeface="微软雅黑" panose="020B0503020204020204" charset="-122"/>
                      </a:endParaRPr>
                    </a:p>
                  </a:txBody>
                  <a:tcPr>
                    <a:solidFill>
                      <a:srgbClr val="EEF2F7"/>
                    </a:solidFill>
                  </a:tcPr>
                </a:tc>
                <a:tc>
                  <a:txBody>
                    <a:bodyPr/>
                    <a:lstStyle/>
                    <a:p>
                      <a:pPr algn="l"/>
                      <a:r>
                        <a:rPr sz="1100" b="0">
                          <a:solidFill>
                            <a:srgbClr val="2D2D2D"/>
                          </a:solidFill>
                          <a:latin typeface="微软雅黑" panose="020B0503020204020204" charset="-122"/>
                        </a:rPr>
                        <a:t>连接方向、冗余 join、缺 join</a:t>
                      </a:r>
                      <a:endParaRPr sz="1100" b="0">
                        <a:solidFill>
                          <a:srgbClr val="2D2D2D"/>
                        </a:solidFill>
                        <a:latin typeface="微软雅黑" panose="020B0503020204020204" charset="-122"/>
                      </a:endParaRPr>
                    </a:p>
                  </a:txBody>
                  <a:tcPr>
                    <a:solidFill>
                      <a:srgbClr val="EEF2F7"/>
                    </a:solidFill>
                  </a:tcPr>
                </a:tc>
              </a:tr>
              <a:tr h="548640">
                <a:tc>
                  <a:txBody>
                    <a:bodyPr/>
                    <a:lstStyle/>
                    <a:p>
                      <a:pPr algn="l"/>
                      <a:r>
                        <a:rPr sz="1100" b="0">
                          <a:solidFill>
                            <a:srgbClr val="2D2D2D"/>
                          </a:solidFill>
                          <a:latin typeface="微软雅黑" panose="020B0503020204020204" charset="-122"/>
                        </a:rPr>
                        <a:t>WHERE</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过滤条件</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值链接、日期边界、隐含条件</a:t>
                      </a:r>
                      <a:endParaRPr sz="1100" b="0">
                        <a:solidFill>
                          <a:srgbClr val="2D2D2D"/>
                        </a:solidFill>
                        <a:latin typeface="微软雅黑" panose="020B0503020204020204" charset="-122"/>
                      </a:endParaRPr>
                    </a:p>
                  </a:txBody>
                  <a:tcPr>
                    <a:solidFill>
                      <a:srgbClr val="FFFFFF"/>
                    </a:solidFill>
                  </a:tcPr>
                </a:tc>
              </a:tr>
              <a:tr h="548640">
                <a:tc>
                  <a:txBody>
                    <a:bodyPr/>
                    <a:lstStyle/>
                    <a:p>
                      <a:pPr algn="l"/>
                      <a:r>
                        <a:rPr sz="1100" b="0">
                          <a:solidFill>
                            <a:srgbClr val="2D2D2D"/>
                          </a:solidFill>
                          <a:latin typeface="微软雅黑" panose="020B0503020204020204" charset="-122"/>
                        </a:rPr>
                        <a:t>GROUP / AGG</a:t>
                      </a:r>
                      <a:endParaRPr sz="1100" b="0">
                        <a:solidFill>
                          <a:srgbClr val="2D2D2D"/>
                        </a:solidFill>
                        <a:latin typeface="微软雅黑" panose="020B0503020204020204" charset="-122"/>
                      </a:endParaRPr>
                    </a:p>
                  </a:txBody>
                  <a:tcPr>
                    <a:solidFill>
                      <a:srgbClr val="EEF2F7"/>
                    </a:solidFill>
                  </a:tcPr>
                </a:tc>
                <a:tc>
                  <a:txBody>
                    <a:bodyPr/>
                    <a:lstStyle/>
                    <a:p>
                      <a:pPr algn="l"/>
                      <a:r>
                        <a:rPr sz="1100" b="0">
                          <a:solidFill>
                            <a:srgbClr val="2D2D2D"/>
                          </a:solidFill>
                          <a:latin typeface="微软雅黑" panose="020B0503020204020204" charset="-122"/>
                        </a:rPr>
                        <a:t>分组与聚合</a:t>
                      </a:r>
                      <a:endParaRPr sz="1100" b="0">
                        <a:solidFill>
                          <a:srgbClr val="2D2D2D"/>
                        </a:solidFill>
                        <a:latin typeface="微软雅黑" panose="020B0503020204020204" charset="-122"/>
                      </a:endParaRPr>
                    </a:p>
                  </a:txBody>
                  <a:tcPr>
                    <a:solidFill>
                      <a:srgbClr val="EEF2F7"/>
                    </a:solidFill>
                  </a:tcPr>
                </a:tc>
                <a:tc>
                  <a:txBody>
                    <a:bodyPr/>
                    <a:lstStyle/>
                    <a:p>
                      <a:pPr algn="l"/>
                      <a:r>
                        <a:rPr sz="1100" b="0">
                          <a:solidFill>
                            <a:srgbClr val="2D2D2D"/>
                          </a:solidFill>
                          <a:latin typeface="微软雅黑" panose="020B0503020204020204" charset="-122"/>
                        </a:rPr>
                        <a:t>COUNT/SUM 口径、聚合别名</a:t>
                      </a:r>
                      <a:endParaRPr sz="1100" b="0">
                        <a:solidFill>
                          <a:srgbClr val="2D2D2D"/>
                        </a:solidFill>
                        <a:latin typeface="微软雅黑" panose="020B0503020204020204" charset="-122"/>
                      </a:endParaRPr>
                    </a:p>
                  </a:txBody>
                  <a:tcPr>
                    <a:solidFill>
                      <a:srgbClr val="EEF2F7"/>
                    </a:solidFill>
                  </a:tcPr>
                </a:tc>
              </a:tr>
              <a:tr h="548640">
                <a:tc>
                  <a:txBody>
                    <a:bodyPr/>
                    <a:lstStyle/>
                    <a:p>
                      <a:pPr algn="l"/>
                      <a:r>
                        <a:rPr sz="1100" b="0">
                          <a:solidFill>
                            <a:srgbClr val="2D2D2D"/>
                          </a:solidFill>
                          <a:latin typeface="微软雅黑" panose="020B0503020204020204" charset="-122"/>
                        </a:rPr>
                        <a:t>HAVING</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聚合后过滤</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聚合别名引用</a:t>
                      </a:r>
                      <a:endParaRPr sz="1100" b="0">
                        <a:solidFill>
                          <a:srgbClr val="2D2D2D"/>
                        </a:solidFill>
                        <a:latin typeface="微软雅黑" panose="020B0503020204020204" charset="-122"/>
                      </a:endParaRPr>
                    </a:p>
                  </a:txBody>
                  <a:tcPr>
                    <a:solidFill>
                      <a:srgbClr val="FFFFFF"/>
                    </a:solidFill>
                  </a:tcPr>
                </a:tc>
              </a:tr>
              <a:tr h="548640">
                <a:tc>
                  <a:txBody>
                    <a:bodyPr/>
                    <a:lstStyle/>
                    <a:p>
                      <a:pPr algn="l"/>
                      <a:r>
                        <a:rPr sz="1100" b="0">
                          <a:solidFill>
                            <a:srgbClr val="2D2D2D"/>
                          </a:solidFill>
                          <a:latin typeface="微软雅黑" panose="020B0503020204020204" charset="-122"/>
                        </a:rPr>
                        <a:t>SELECT</a:t>
                      </a:r>
                      <a:endParaRPr sz="1100" b="0">
                        <a:solidFill>
                          <a:srgbClr val="2D2D2D"/>
                        </a:solidFill>
                        <a:latin typeface="微软雅黑" panose="020B0503020204020204" charset="-122"/>
                      </a:endParaRPr>
                    </a:p>
                  </a:txBody>
                  <a:tcPr>
                    <a:solidFill>
                      <a:srgbClr val="EEF2F7"/>
                    </a:solidFill>
                  </a:tcPr>
                </a:tc>
                <a:tc>
                  <a:txBody>
                    <a:bodyPr/>
                    <a:lstStyle/>
                    <a:p>
                      <a:pPr algn="l"/>
                      <a:r>
                        <a:rPr sz="1100" b="0">
                          <a:solidFill>
                            <a:srgbClr val="2D2D2D"/>
                          </a:solidFill>
                          <a:latin typeface="微软雅黑" panose="020B0503020204020204" charset="-122"/>
                        </a:rPr>
                        <a:t>最终投影</a:t>
                      </a:r>
                      <a:endParaRPr sz="1100" b="0">
                        <a:solidFill>
                          <a:srgbClr val="2D2D2D"/>
                        </a:solidFill>
                        <a:latin typeface="微软雅黑" panose="020B0503020204020204" charset="-122"/>
                      </a:endParaRPr>
                    </a:p>
                  </a:txBody>
                  <a:tcPr>
                    <a:solidFill>
                      <a:srgbClr val="EEF2F7"/>
                    </a:solidFill>
                  </a:tcPr>
                </a:tc>
                <a:tc>
                  <a:txBody>
                    <a:bodyPr/>
                    <a:lstStyle/>
                    <a:p>
                      <a:pPr algn="l"/>
                      <a:r>
                        <a:rPr sz="1100" b="0">
                          <a:solidFill>
                            <a:srgbClr val="2D2D2D"/>
                          </a:solidFill>
                          <a:latin typeface="微软雅黑" panose="020B0503020204020204" charset="-122"/>
                        </a:rPr>
                        <a:t>列多、列少、顺序不一致</a:t>
                      </a:r>
                      <a:endParaRPr sz="1100" b="0">
                        <a:solidFill>
                          <a:srgbClr val="2D2D2D"/>
                        </a:solidFill>
                        <a:latin typeface="微软雅黑" panose="020B0503020204020204" charset="-122"/>
                      </a:endParaRPr>
                    </a:p>
                  </a:txBody>
                  <a:tcPr>
                    <a:solidFill>
                      <a:srgbClr val="EEF2F7"/>
                    </a:solidFill>
                  </a:tcPr>
                </a:tc>
              </a:tr>
              <a:tr h="548640">
                <a:tc>
                  <a:txBody>
                    <a:bodyPr/>
                    <a:lstStyle/>
                    <a:p>
                      <a:pPr algn="l"/>
                      <a:r>
                        <a:rPr sz="1100" b="0">
                          <a:solidFill>
                            <a:srgbClr val="2D2D2D"/>
                          </a:solidFill>
                          <a:latin typeface="微软雅黑" panose="020B0503020204020204" charset="-122"/>
                        </a:rPr>
                        <a:t>ORDER / LIMIT</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排序与 top-k</a:t>
                      </a:r>
                      <a:endParaRPr sz="1100" b="0">
                        <a:solidFill>
                          <a:srgbClr val="2D2D2D"/>
                        </a:solidFill>
                        <a:latin typeface="微软雅黑" panose="020B0503020204020204" charset="-122"/>
                      </a:endParaRPr>
                    </a:p>
                  </a:txBody>
                  <a:tcPr>
                    <a:solidFill>
                      <a:srgbClr val="FFFFFF"/>
                    </a:solidFill>
                  </a:tcPr>
                </a:tc>
                <a:tc>
                  <a:txBody>
                    <a:bodyPr/>
                    <a:lstStyle/>
                    <a:p>
                      <a:pPr algn="l"/>
                      <a:r>
                        <a:rPr sz="1100" b="0">
                          <a:solidFill>
                            <a:srgbClr val="2D2D2D"/>
                          </a:solidFill>
                          <a:latin typeface="微软雅黑" panose="020B0503020204020204" charset="-122"/>
                        </a:rPr>
                        <a:t>排序字段、方向、数量</a:t>
                      </a:r>
                      <a:endParaRPr sz="1100" b="0">
                        <a:solidFill>
                          <a:srgbClr val="2D2D2D"/>
                        </a:solidFill>
                        <a:latin typeface="微软雅黑" panose="020B0503020204020204" charset="-122"/>
                      </a:endParaRPr>
                    </a:p>
                  </a:txBody>
                  <a:tcPr>
                    <a:solidFill>
                      <a:srgbClr val="FFFFFF"/>
                    </a:solidFill>
                  </a:tcPr>
                </a:tc>
              </a:tr>
            </a:tbl>
          </a:graphicData>
        </a:graphic>
      </p:graphicFrame>
      <p:sp>
        <p:nvSpPr>
          <p:cNvPr id="4" name="TextBox 3"/>
          <p:cNvSpPr txBox="1"/>
          <p:nvPr/>
        </p:nvSpPr>
        <p:spPr>
          <a:xfrm>
            <a:off x="395605" y="6021070"/>
            <a:ext cx="7863840" cy="411480"/>
          </a:xfrm>
          <a:prstGeom prst="rect">
            <a:avLst/>
          </a:prstGeom>
          <a:noFill/>
        </p:spPr>
        <p:txBody>
          <a:bodyPr wrap="none">
            <a:spAutoFit/>
          </a:bodyPr>
          <a:lstStyle/>
          <a:p>
            <a:pPr algn="l"/>
            <a:r>
              <a:rPr sz="1100" b="0">
                <a:solidFill>
                  <a:srgbClr val="C65911"/>
                </a:solidFill>
                <a:latin typeface="微软雅黑" panose="020B0503020204020204" charset="-122"/>
              </a:rPr>
              <a:t>设计原则：不追求重新发明 SQL，而是保留可转换性和步骤级可修复性。</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9</a:t>
            </a:r>
            <a:endParaRPr sz="800" b="0">
              <a:solidFill>
                <a:srgbClr val="646464"/>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多智能体框架设计</a:t>
            </a:r>
            <a:endParaRPr sz="2800" b="1">
              <a:solidFill>
                <a:srgbClr val="1F4E79"/>
              </a:solidFill>
              <a:latin typeface="微软雅黑" panose="020B0503020204020204" charset="-122"/>
            </a:endParaRPr>
          </a:p>
        </p:txBody>
      </p:sp>
      <p:sp>
        <p:nvSpPr>
          <p:cNvPr id="4" name="TextBox 3"/>
          <p:cNvSpPr txBox="1"/>
          <p:nvPr/>
        </p:nvSpPr>
        <p:spPr>
          <a:xfrm>
            <a:off x="457200" y="1844675"/>
            <a:ext cx="7863840" cy="4206240"/>
          </a:xfrm>
          <a:prstGeom prst="rect">
            <a:avLst/>
          </a:prstGeom>
          <a:noFill/>
        </p:spPr>
        <p:txBody>
          <a:bodyPr wrap="square">
            <a:spAutoFit/>
          </a:bodyPr>
          <a:lstStyle/>
          <a:p>
            <a:pPr hangingPunct="1">
              <a:spcAft>
                <a:spcPts val="800"/>
              </a:spcAft>
              <a:defRPr sz="1800">
                <a:solidFill>
                  <a:srgbClr val="2D2D2D"/>
                </a:solidFill>
                <a:latin typeface="微软雅黑" panose="020B0503020204020204" charset="-122"/>
              </a:defRPr>
            </a:pPr>
            <a:r>
              <a:t>Schema Agent：检索相关表、字段、外键关系、候选字段值和 join 路径。</a:t>
            </a:r>
          </a:p>
          <a:p>
            <a:pPr hangingPunct="1">
              <a:spcAft>
                <a:spcPts val="800"/>
              </a:spcAft>
              <a:defRPr sz="1800">
                <a:solidFill>
                  <a:srgbClr val="2D2D2D"/>
                </a:solidFill>
                <a:latin typeface="微软雅黑" panose="020B0503020204020204" charset="-122"/>
              </a:defRPr>
            </a:pPr>
            <a:r>
              <a:t>Planner Agent：把自然语言问题拆成 SQL+ 步骤草图。</a:t>
            </a:r>
          </a:p>
          <a:p>
            <a:pPr hangingPunct="1">
              <a:spcAft>
                <a:spcPts val="800"/>
              </a:spcAft>
              <a:defRPr sz="1800">
                <a:solidFill>
                  <a:srgbClr val="2D2D2D"/>
                </a:solidFill>
                <a:latin typeface="微软雅黑" panose="020B0503020204020204" charset="-122"/>
              </a:defRPr>
            </a:pPr>
            <a:r>
              <a:t>SQL+ Generator / Translator：生成 SQL+ 并转换为可执行 SQL。</a:t>
            </a:r>
          </a:p>
          <a:p>
            <a:pPr hangingPunct="1">
              <a:spcAft>
                <a:spcPts val="800"/>
              </a:spcAft>
              <a:defRPr sz="1800">
                <a:solidFill>
                  <a:srgbClr val="2D2D2D"/>
                </a:solidFill>
                <a:latin typeface="微软雅黑" panose="020B0503020204020204" charset="-122"/>
              </a:defRPr>
            </a:pPr>
            <a:r>
              <a:t>Critic Agent：输出 likely_error_type、可疑步骤和诊断证据。</a:t>
            </a:r>
          </a:p>
          <a:p>
            <a:pPr hangingPunct="1">
              <a:spcAft>
                <a:spcPts val="800"/>
              </a:spcAft>
              <a:defRPr sz="1800">
                <a:solidFill>
                  <a:srgbClr val="2D2D2D"/>
                </a:solidFill>
                <a:latin typeface="微软雅黑" panose="020B0503020204020204" charset="-122"/>
              </a:defRPr>
            </a:pPr>
            <a:r>
              <a:t>Skill Router：把错误类型路由到 value-linking、ORDER、aggregation、join、projection 等局部 repair skill。</a:t>
            </a:r>
          </a:p>
          <a:p>
            <a:pPr hangingPunct="1">
              <a:spcAft>
                <a:spcPts val="800"/>
              </a:spcAft>
              <a:defRPr sz="1800">
                <a:solidFill>
                  <a:srgbClr val="2D2D2D"/>
                </a:solidFill>
                <a:latin typeface="微软雅黑" panose="020B0503020204020204" charset="-122"/>
              </a:defRPr>
            </a:pPr>
            <a:r>
              <a:t>Executor：执行候选 patch，过滤语法错误和执行错误，选择最终结果。</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10</a:t>
            </a:r>
            <a:endParaRPr sz="800" b="0">
              <a:solidFill>
                <a:srgbClr val="646464"/>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1165" y="105283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错误类型与 Repair Skill</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nvGraphicFramePr>
        <p:xfrm>
          <a:off x="431165" y="1772285"/>
          <a:ext cx="8246745" cy="4389120"/>
        </p:xfrm>
        <a:graphic>
          <a:graphicData uri="http://schemas.openxmlformats.org/drawingml/2006/table">
            <a:tbl>
              <a:tblPr firstRow="1" bandRow="1">
                <a:tableStyleId>{5C22544A-7EE6-4342-B048-85BDC9FD1C3A}</a:tableStyleId>
              </a:tblPr>
              <a:tblGrid>
                <a:gridCol w="2748915"/>
                <a:gridCol w="2748915"/>
                <a:gridCol w="2748915"/>
              </a:tblGrid>
              <a:tr h="731520">
                <a:tc>
                  <a:txBody>
                    <a:bodyPr/>
                    <a:lstStyle/>
                    <a:p>
                      <a:pPr algn="ctr"/>
                      <a:r>
                        <a:rPr sz="1100" b="1">
                          <a:solidFill>
                            <a:srgbClr val="FFFFFF"/>
                          </a:solidFill>
                          <a:latin typeface="微软雅黑" panose="020B0503020204020204" charset="-122"/>
                        </a:rPr>
                        <a:t>错误类型</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典型表现</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对应修复能力</a:t>
                      </a:r>
                      <a:endParaRPr sz="1100" b="1">
                        <a:solidFill>
                          <a:srgbClr val="FFFFFF"/>
                        </a:solidFill>
                        <a:latin typeface="微软雅黑" panose="020B0503020204020204" charset="-122"/>
                      </a:endParaRPr>
                    </a:p>
                  </a:txBody>
                  <a:tcPr>
                    <a:solidFill>
                      <a:srgbClr val="1F4E79"/>
                    </a:solidFill>
                  </a:tcPr>
                </a:tc>
              </a:tr>
              <a:tr h="731520">
                <a:tc>
                  <a:txBody>
                    <a:bodyPr/>
                    <a:lstStyle/>
                    <a:p>
                      <a:pPr algn="l"/>
                      <a:r>
                        <a:rPr sz="1000" b="0">
                          <a:solidFill>
                            <a:srgbClr val="2D2D2D"/>
                          </a:solidFill>
                          <a:latin typeface="微软雅黑" panose="020B0503020204020204" charset="-122"/>
                        </a:rPr>
                        <a:t>value-linking</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值拼写、日期边界、状态值不匹配</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候选值检索、过滤条件替换</a:t>
                      </a:r>
                      <a:endParaRPr sz="1000" b="0">
                        <a:solidFill>
                          <a:srgbClr val="2D2D2D"/>
                        </a:solidFill>
                        <a:latin typeface="微软雅黑" panose="020B0503020204020204" charset="-122"/>
                      </a:endParaRPr>
                    </a:p>
                  </a:txBody>
                  <a:tcPr>
                    <a:solidFill>
                      <a:srgbClr val="FFFFFF"/>
                    </a:solidFill>
                  </a:tcPr>
                </a:tc>
              </a:tr>
              <a:tr h="731520">
                <a:tc>
                  <a:txBody>
                    <a:bodyPr/>
                    <a:lstStyle/>
                    <a:p>
                      <a:pPr algn="l"/>
                      <a:r>
                        <a:rPr sz="1000" b="0">
                          <a:solidFill>
                            <a:srgbClr val="2D2D2D"/>
                          </a:solidFill>
                          <a:latin typeface="微软雅黑" panose="020B0503020204020204" charset="-122"/>
                        </a:rPr>
                        <a:t>ORDER/LIMIT</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排序遗漏、字段错误、方向错误</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排序字段与 top-k 修复</a:t>
                      </a:r>
                      <a:endParaRPr sz="1000" b="0">
                        <a:solidFill>
                          <a:srgbClr val="2D2D2D"/>
                        </a:solidFill>
                        <a:latin typeface="微软雅黑" panose="020B0503020204020204" charset="-122"/>
                      </a:endParaRPr>
                    </a:p>
                  </a:txBody>
                  <a:tcPr>
                    <a:solidFill>
                      <a:srgbClr val="EEF2F7"/>
                    </a:solidFill>
                  </a:tcPr>
                </a:tc>
              </a:tr>
              <a:tr h="731520">
                <a:tc>
                  <a:txBody>
                    <a:bodyPr/>
                    <a:lstStyle/>
                    <a:p>
                      <a:pPr algn="l"/>
                      <a:r>
                        <a:rPr sz="1000" b="0">
                          <a:solidFill>
                            <a:srgbClr val="2D2D2D"/>
                          </a:solidFill>
                          <a:latin typeface="微软雅黑" panose="020B0503020204020204" charset="-122"/>
                        </a:rPr>
                        <a:t>aggregation</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GROUP 维度、COUNT 口径、AGG 别名</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聚合口径和别名引用修复</a:t>
                      </a:r>
                      <a:endParaRPr sz="1000" b="0">
                        <a:solidFill>
                          <a:srgbClr val="2D2D2D"/>
                        </a:solidFill>
                        <a:latin typeface="微软雅黑" panose="020B0503020204020204" charset="-122"/>
                      </a:endParaRPr>
                    </a:p>
                  </a:txBody>
                  <a:tcPr>
                    <a:solidFill>
                      <a:srgbClr val="FFFFFF"/>
                    </a:solidFill>
                  </a:tcPr>
                </a:tc>
              </a:tr>
              <a:tr h="731520">
                <a:tc>
                  <a:txBody>
                    <a:bodyPr/>
                    <a:lstStyle/>
                    <a:p>
                      <a:pPr algn="l"/>
                      <a:r>
                        <a:rPr sz="1000" b="0">
                          <a:solidFill>
                            <a:srgbClr val="2D2D2D"/>
                          </a:solidFill>
                          <a:latin typeface="微软雅黑" panose="020B0503020204020204" charset="-122"/>
                        </a:rPr>
                        <a:t>join</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join 路径、冗余 join、缺 join</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连接路径补全与规范化</a:t>
                      </a:r>
                      <a:endParaRPr sz="1000" b="0">
                        <a:solidFill>
                          <a:srgbClr val="2D2D2D"/>
                        </a:solidFill>
                        <a:latin typeface="微软雅黑" panose="020B0503020204020204" charset="-122"/>
                      </a:endParaRPr>
                    </a:p>
                  </a:txBody>
                  <a:tcPr>
                    <a:solidFill>
                      <a:srgbClr val="EEF2F7"/>
                    </a:solidFill>
                  </a:tcPr>
                </a:tc>
              </a:tr>
              <a:tr h="731520">
                <a:tc>
                  <a:txBody>
                    <a:bodyPr/>
                    <a:lstStyle/>
                    <a:p>
                      <a:pPr algn="l"/>
                      <a:r>
                        <a:rPr sz="1000" b="0">
                          <a:solidFill>
                            <a:srgbClr val="2D2D2D"/>
                          </a:solidFill>
                          <a:latin typeface="微软雅黑" panose="020B0503020204020204" charset="-122"/>
                        </a:rPr>
                        <a:t>projection</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结果列多、少或列顺序错误</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SELECT 投影局部修复</a:t>
                      </a:r>
                      <a:endParaRPr sz="1000" b="0">
                        <a:solidFill>
                          <a:srgbClr val="2D2D2D"/>
                        </a:solidFill>
                        <a:latin typeface="微软雅黑" panose="020B0503020204020204" charset="-122"/>
                      </a:endParaRPr>
                    </a:p>
                  </a:txBody>
                  <a:tcPr>
                    <a:solidFill>
                      <a:srgbClr val="FFFFFF"/>
                    </a:solidFill>
                  </a:tcPr>
                </a:tc>
              </a:tr>
            </a:tbl>
          </a:graphicData>
        </a:graphic>
      </p:graphicFrame>
      <p:sp>
        <p:nvSpPr>
          <p:cNvPr id="4" name="TextBox 3"/>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11</a:t>
            </a:r>
            <a:endParaRPr sz="800" b="0">
              <a:solidFill>
                <a:srgbClr val="646464"/>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实验数据、对比方法与指标</a:t>
            </a:r>
            <a:endParaRPr sz="2800" b="1">
              <a:solidFill>
                <a:srgbClr val="1F4E79"/>
              </a:solidFill>
              <a:latin typeface="微软雅黑" panose="020B0503020204020204" charset="-122"/>
            </a:endParaRPr>
          </a:p>
        </p:txBody>
      </p:sp>
      <p:sp>
        <p:nvSpPr>
          <p:cNvPr id="4" name="TextBox 3"/>
          <p:cNvSpPr txBox="1"/>
          <p:nvPr/>
        </p:nvSpPr>
        <p:spPr>
          <a:xfrm>
            <a:off x="394970" y="1772920"/>
            <a:ext cx="7863840" cy="4206240"/>
          </a:xfrm>
          <a:prstGeom prst="rect">
            <a:avLst/>
          </a:prstGeom>
          <a:noFill/>
        </p:spPr>
        <p:txBody>
          <a:bodyPr wrap="square">
            <a:spAutoFit/>
          </a:bodyPr>
          <a:lstStyle/>
          <a:p>
            <a:pPr hangingPunct="1">
              <a:spcAft>
                <a:spcPts val="800"/>
              </a:spcAft>
              <a:defRPr sz="1800">
                <a:solidFill>
                  <a:srgbClr val="2D2D2D"/>
                </a:solidFill>
                <a:latin typeface="微软雅黑" panose="020B0503020204020204" charset="-122"/>
              </a:defRPr>
            </a:pPr>
            <a:r>
              <a:t>数据层次：自建订单分析数据集、SQL+ 已知失败集、Spider dev 小规模受支持子集，后续扩展 BIRD / 达梦样例。</a:t>
            </a:r>
          </a:p>
          <a:p>
            <a:pPr hangingPunct="1">
              <a:spcAft>
                <a:spcPts val="800"/>
              </a:spcAft>
              <a:defRPr sz="1800">
                <a:solidFill>
                  <a:srgbClr val="2D2D2D"/>
                </a:solidFill>
                <a:latin typeface="微软雅黑" panose="020B0503020204020204" charset="-122"/>
              </a:defRPr>
            </a:pPr>
            <a:r>
              <a:t>对比方法：Direct NL2SQL、NL2SQL+ single agent、SemQL-style / NatSQL-style / Pipe-style proxy、SQL 层修复、SQL+ Skill Router + Repair Skills。</a:t>
            </a:r>
          </a:p>
          <a:p>
            <a:pPr hangingPunct="1">
              <a:spcAft>
                <a:spcPts val="800"/>
              </a:spcAft>
              <a:defRPr sz="1800">
                <a:solidFill>
                  <a:srgbClr val="2D2D2D"/>
                </a:solidFill>
                <a:latin typeface="微软雅黑" panose="020B0503020204020204" charset="-122"/>
              </a:defRPr>
            </a:pPr>
            <a:r>
              <a:t>结果质量：execution accuracy、valid SQL rate、SQL+ valid rate、SQL executable rate。</a:t>
            </a:r>
          </a:p>
          <a:p>
            <a:pPr hangingPunct="1">
              <a:spcAft>
                <a:spcPts val="800"/>
              </a:spcAft>
              <a:defRPr sz="1800">
                <a:solidFill>
                  <a:srgbClr val="2D2D2D"/>
                </a:solidFill>
                <a:latin typeface="微软雅黑" panose="020B0503020204020204" charset="-122"/>
              </a:defRPr>
            </a:pPr>
            <a:r>
              <a:t>表达复杂度：token length、step/clause count、nesting depth、alias dependency、cross-clause reference、conversion time。</a:t>
            </a:r>
          </a:p>
          <a:p>
            <a:pPr hangingPunct="1">
              <a:spcAft>
                <a:spcPts val="800"/>
              </a:spcAft>
              <a:defRPr sz="1800">
                <a:solidFill>
                  <a:srgbClr val="2D2D2D"/>
                </a:solidFill>
                <a:latin typeface="微软雅黑" panose="020B0503020204020204" charset="-122"/>
              </a:defRPr>
            </a:pPr>
            <a:r>
              <a:t>修复能力：repair success、error localization accuracy、router accuracy、patch minimality、repair rounds、repair token cost、latency。</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12</a:t>
            </a:r>
            <a:endParaRPr sz="800" b="0">
              <a:solidFill>
                <a:srgbClr val="646464"/>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2920" y="109728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当前初步实验总览</a:t>
            </a:r>
            <a:endParaRPr sz="2500" b="1">
              <a:solidFill>
                <a:srgbClr val="1F4E79"/>
              </a:solidFill>
              <a:latin typeface="微软雅黑" panose="020B0503020204020204" charset="-122"/>
            </a:endParaRPr>
          </a:p>
        </p:txBody>
      </p:sp>
      <p:sp>
        <p:nvSpPr>
          <p:cNvPr id="3" name="Rectangle 2"/>
          <p:cNvSpPr/>
          <p:nvPr/>
        </p:nvSpPr>
        <p:spPr>
          <a:xfrm>
            <a:off x="414655" y="191643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SQL+ 转换</a:t>
            </a:r>
          </a:p>
          <a:p>
            <a:pPr>
              <a:defRPr sz="1900" b="1">
                <a:solidFill>
                  <a:srgbClr val="1F4E79"/>
                </a:solidFill>
                <a:latin typeface="微软雅黑" panose="020B0503020204020204" charset="-122"/>
              </a:defRPr>
            </a:pPr>
            <a:r>
              <a:t>30/30</a:t>
            </a:r>
          </a:p>
          <a:p>
            <a:pPr>
              <a:defRPr sz="800">
                <a:solidFill>
                  <a:srgbClr val="2D2D2D"/>
                </a:solidFill>
                <a:latin typeface="微软雅黑" panose="020B0503020204020204" charset="-122"/>
              </a:defRPr>
            </a:pPr>
            <a:r>
              <a:t>自建订单数据集执行一致</a:t>
            </a:r>
          </a:p>
        </p:txBody>
      </p:sp>
      <p:sp>
        <p:nvSpPr>
          <p:cNvPr id="4" name="Rectangle 3"/>
          <p:cNvSpPr/>
          <p:nvPr/>
        </p:nvSpPr>
        <p:spPr>
          <a:xfrm>
            <a:off x="3249295" y="191643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Direct NL2SQL</a:t>
            </a:r>
          </a:p>
          <a:p>
            <a:pPr>
              <a:defRPr sz="1900" b="1">
                <a:solidFill>
                  <a:srgbClr val="1F4E79"/>
                </a:solidFill>
                <a:latin typeface="微软雅黑" panose="020B0503020204020204" charset="-122"/>
              </a:defRPr>
            </a:pPr>
            <a:r>
              <a:t>16/30</a:t>
            </a:r>
          </a:p>
          <a:p>
            <a:pPr>
              <a:defRPr sz="800">
                <a:solidFill>
                  <a:srgbClr val="2D2D2D"/>
                </a:solidFill>
                <a:latin typeface="微软雅黑" panose="020B0503020204020204" charset="-122"/>
              </a:defRPr>
            </a:pPr>
            <a:r>
              <a:t>直接生成 SQL baseline</a:t>
            </a:r>
          </a:p>
        </p:txBody>
      </p:sp>
      <p:sp>
        <p:nvSpPr>
          <p:cNvPr id="5" name="Rectangle 4"/>
          <p:cNvSpPr/>
          <p:nvPr/>
        </p:nvSpPr>
        <p:spPr>
          <a:xfrm>
            <a:off x="6083935" y="191643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SQL+ prompt v2</a:t>
            </a:r>
          </a:p>
          <a:p>
            <a:pPr>
              <a:defRPr sz="1900" b="1">
                <a:solidFill>
                  <a:srgbClr val="1F4E79"/>
                </a:solidFill>
                <a:latin typeface="微软雅黑" panose="020B0503020204020204" charset="-122"/>
              </a:defRPr>
            </a:pPr>
            <a:r>
              <a:t>17/30</a:t>
            </a:r>
          </a:p>
          <a:p>
            <a:pPr>
              <a:defRPr sz="800">
                <a:solidFill>
                  <a:srgbClr val="2D2D2D"/>
                </a:solidFill>
                <a:latin typeface="微软雅黑" panose="020B0503020204020204" charset="-122"/>
              </a:defRPr>
            </a:pPr>
            <a:r>
              <a:t>略高于 Direct，但差距小</a:t>
            </a:r>
          </a:p>
        </p:txBody>
      </p:sp>
      <p:sp>
        <p:nvSpPr>
          <p:cNvPr id="6" name="Rectangle 5"/>
          <p:cNvSpPr/>
          <p:nvPr/>
        </p:nvSpPr>
        <p:spPr>
          <a:xfrm>
            <a:off x="414655" y="324231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SQL+ 单 Refiner</a:t>
            </a:r>
          </a:p>
          <a:p>
            <a:pPr>
              <a:defRPr sz="1900" b="1">
                <a:solidFill>
                  <a:srgbClr val="1F4E79"/>
                </a:solidFill>
                <a:latin typeface="微软雅黑" panose="020B0503020204020204" charset="-122"/>
              </a:defRPr>
            </a:pPr>
            <a:r>
              <a:t>4/13</a:t>
            </a:r>
          </a:p>
          <a:p>
            <a:pPr>
              <a:defRPr sz="800">
                <a:solidFill>
                  <a:srgbClr val="2D2D2D"/>
                </a:solidFill>
                <a:latin typeface="微软雅黑" panose="020B0503020204020204" charset="-122"/>
              </a:defRPr>
            </a:pPr>
            <a:r>
              <a:t>非 gold 执行反馈</a:t>
            </a:r>
          </a:p>
        </p:txBody>
      </p:sp>
      <p:sp>
        <p:nvSpPr>
          <p:cNvPr id="7" name="Rectangle 6"/>
          <p:cNvSpPr/>
          <p:nvPr/>
        </p:nvSpPr>
        <p:spPr>
          <a:xfrm>
            <a:off x="3249295" y="324231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Direct SQL Refiner</a:t>
            </a:r>
          </a:p>
          <a:p>
            <a:pPr>
              <a:defRPr sz="1900" b="1">
                <a:solidFill>
                  <a:srgbClr val="1F4E79"/>
                </a:solidFill>
                <a:latin typeface="微软雅黑" panose="020B0503020204020204" charset="-122"/>
              </a:defRPr>
            </a:pPr>
            <a:r>
              <a:t>6/14</a:t>
            </a:r>
          </a:p>
          <a:p>
            <a:pPr>
              <a:defRPr sz="800">
                <a:solidFill>
                  <a:srgbClr val="2D2D2D"/>
                </a:solidFill>
                <a:latin typeface="微软雅黑" panose="020B0503020204020204" charset="-122"/>
              </a:defRPr>
            </a:pPr>
            <a:r>
              <a:t>SQL 层修复对照</a:t>
            </a:r>
          </a:p>
        </p:txBody>
      </p:sp>
      <p:sp>
        <p:nvSpPr>
          <p:cNvPr id="8" name="Rectangle 7"/>
          <p:cNvSpPr/>
          <p:nvPr/>
        </p:nvSpPr>
        <p:spPr>
          <a:xfrm>
            <a:off x="6083935" y="324231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Skill Router v3</a:t>
            </a:r>
          </a:p>
          <a:p>
            <a:pPr>
              <a:defRPr sz="1900" b="1">
                <a:solidFill>
                  <a:srgbClr val="1F4E79"/>
                </a:solidFill>
                <a:latin typeface="微软雅黑" panose="020B0503020204020204" charset="-122"/>
              </a:defRPr>
            </a:pPr>
            <a:r>
              <a:t>13/13</a:t>
            </a:r>
          </a:p>
          <a:p>
            <a:pPr>
              <a:defRPr sz="800">
                <a:solidFill>
                  <a:srgbClr val="2D2D2D"/>
                </a:solidFill>
                <a:latin typeface="微软雅黑" panose="020B0503020204020204" charset="-122"/>
              </a:defRPr>
            </a:pPr>
            <a:r>
              <a:t>当前已知失败集</a:t>
            </a:r>
          </a:p>
        </p:txBody>
      </p:sp>
      <p:sp>
        <p:nvSpPr>
          <p:cNvPr id="9" name="Rectangle 8"/>
          <p:cNvSpPr/>
          <p:nvPr/>
        </p:nvSpPr>
        <p:spPr>
          <a:xfrm>
            <a:off x="414655" y="456819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Spider smoke</a:t>
            </a:r>
          </a:p>
          <a:p>
            <a:pPr>
              <a:defRPr sz="1900" b="1">
                <a:solidFill>
                  <a:srgbClr val="1F4E79"/>
                </a:solidFill>
                <a:latin typeface="微软雅黑" panose="020B0503020204020204" charset="-122"/>
              </a:defRPr>
            </a:pPr>
            <a:r>
              <a:t>20/20</a:t>
            </a:r>
          </a:p>
          <a:p>
            <a:pPr>
              <a:defRPr sz="800">
                <a:solidFill>
                  <a:srgbClr val="2D2D2D"/>
                </a:solidFill>
                <a:latin typeface="微软雅黑" panose="020B0503020204020204" charset="-122"/>
              </a:defRPr>
            </a:pPr>
            <a:r>
              <a:t>受支持小子集，不是完整跑分</a:t>
            </a:r>
          </a:p>
        </p:txBody>
      </p:sp>
      <p:sp>
        <p:nvSpPr>
          <p:cNvPr id="10" name="Rectangle 9"/>
          <p:cNvSpPr/>
          <p:nvPr/>
        </p:nvSpPr>
        <p:spPr>
          <a:xfrm>
            <a:off x="3249295" y="456819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SQL+ conversion</a:t>
            </a:r>
          </a:p>
          <a:p>
            <a:pPr>
              <a:defRPr sz="1900" b="1">
                <a:solidFill>
                  <a:srgbClr val="1F4E79"/>
                </a:solidFill>
                <a:latin typeface="微软雅黑" panose="020B0503020204020204" charset="-122"/>
              </a:defRPr>
            </a:pPr>
            <a:r>
              <a:t>0.007ms</a:t>
            </a:r>
          </a:p>
          <a:p>
            <a:pPr>
              <a:defRPr sz="800">
                <a:solidFill>
                  <a:srgbClr val="2D2D2D"/>
                </a:solidFill>
                <a:latin typeface="微软雅黑" panose="020B0503020204020204" charset="-122"/>
              </a:defRPr>
            </a:pPr>
            <a:r>
              <a:t>平均确定性转换时间</a:t>
            </a:r>
          </a:p>
        </p:txBody>
      </p:sp>
      <p:sp>
        <p:nvSpPr>
          <p:cNvPr id="11" name="Rectangle 10"/>
          <p:cNvSpPr/>
          <p:nvPr/>
        </p:nvSpPr>
        <p:spPr>
          <a:xfrm>
            <a:off x="6083935" y="4568190"/>
            <a:ext cx="2606040" cy="9601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646464"/>
                </a:solidFill>
                <a:latin typeface="微软雅黑" panose="020B0503020204020204" charset="-122"/>
              </a:defRPr>
            </a:pPr>
            <a:r>
              <a:t>Repair skill</a:t>
            </a:r>
          </a:p>
          <a:p>
            <a:pPr>
              <a:defRPr sz="1900" b="1">
                <a:solidFill>
                  <a:srgbClr val="1F4E79"/>
                </a:solidFill>
                <a:latin typeface="微软雅黑" panose="020B0503020204020204" charset="-122"/>
              </a:defRPr>
            </a:pPr>
            <a:r>
              <a:t>5 类</a:t>
            </a:r>
          </a:p>
          <a:p>
            <a:pPr>
              <a:defRPr sz="800">
                <a:solidFill>
                  <a:srgbClr val="2D2D2D"/>
                </a:solidFill>
                <a:latin typeface="微软雅黑" panose="020B0503020204020204" charset="-122"/>
              </a:defRPr>
            </a:pPr>
            <a:r>
              <a:t>value/order/agg/join/projection</a:t>
            </a:r>
          </a:p>
        </p:txBody>
      </p:sp>
      <p:sp>
        <p:nvSpPr>
          <p:cNvPr id="12" name="TextBox 11"/>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13</a:t>
            </a:r>
            <a:endParaRPr sz="800" b="0">
              <a:solidFill>
                <a:srgbClr val="646464"/>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105283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SQL+ 转换实验</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274320" y="1793875"/>
          <a:ext cx="8321040" cy="3654425"/>
        </p:xfrm>
        <a:graphic>
          <a:graphicData uri="http://schemas.openxmlformats.org/drawingml/2006/table">
            <a:tbl>
              <a:tblPr firstRow="1" bandRow="1">
                <a:tableStyleId>{5C22544A-7EE6-4342-B048-85BDC9FD1C3A}</a:tableStyleId>
              </a:tblPr>
              <a:tblGrid>
                <a:gridCol w="2773680"/>
                <a:gridCol w="2773680"/>
                <a:gridCol w="2773680"/>
              </a:tblGrid>
              <a:tr h="730885">
                <a:tc>
                  <a:txBody>
                    <a:bodyPr/>
                    <a:lstStyle/>
                    <a:p>
                      <a:pPr algn="ctr"/>
                      <a:r>
                        <a:rPr sz="1300" b="1">
                          <a:solidFill>
                            <a:srgbClr val="FFFFFF"/>
                          </a:solidFill>
                          <a:latin typeface="微软雅黑" panose="020B0503020204020204" charset="-122"/>
                        </a:rPr>
                        <a:t>指标</a:t>
                      </a:r>
                      <a:endParaRPr sz="1300" b="1">
                        <a:solidFill>
                          <a:srgbClr val="FFFFFF"/>
                        </a:solidFill>
                        <a:latin typeface="微软雅黑" panose="020B0503020204020204" charset="-122"/>
                      </a:endParaRPr>
                    </a:p>
                  </a:txBody>
                  <a:tcPr>
                    <a:solidFill>
                      <a:srgbClr val="1F4E79"/>
                    </a:solidFill>
                  </a:tcPr>
                </a:tc>
                <a:tc>
                  <a:txBody>
                    <a:bodyPr/>
                    <a:lstStyle/>
                    <a:p>
                      <a:pPr algn="ctr"/>
                      <a:r>
                        <a:rPr sz="1300" b="1">
                          <a:solidFill>
                            <a:srgbClr val="FFFFFF"/>
                          </a:solidFill>
                          <a:latin typeface="微软雅黑" panose="020B0503020204020204" charset="-122"/>
                        </a:rPr>
                        <a:t>结果</a:t>
                      </a:r>
                      <a:endParaRPr sz="1300" b="1">
                        <a:solidFill>
                          <a:srgbClr val="FFFFFF"/>
                        </a:solidFill>
                        <a:latin typeface="微软雅黑" panose="020B0503020204020204" charset="-122"/>
                      </a:endParaRPr>
                    </a:p>
                  </a:txBody>
                  <a:tcPr>
                    <a:solidFill>
                      <a:srgbClr val="1F4E79"/>
                    </a:solidFill>
                  </a:tcPr>
                </a:tc>
                <a:tc>
                  <a:txBody>
                    <a:bodyPr/>
                    <a:lstStyle/>
                    <a:p>
                      <a:pPr algn="ctr"/>
                      <a:r>
                        <a:rPr sz="1300" b="1">
                          <a:solidFill>
                            <a:srgbClr val="FFFFFF"/>
                          </a:solidFill>
                          <a:latin typeface="微软雅黑" panose="020B0503020204020204" charset="-122"/>
                        </a:rPr>
                        <a:t>说明</a:t>
                      </a:r>
                      <a:endParaRPr sz="1300" b="1">
                        <a:solidFill>
                          <a:srgbClr val="FFFFFF"/>
                        </a:solidFill>
                        <a:latin typeface="微软雅黑" panose="020B0503020204020204" charset="-122"/>
                      </a:endParaRPr>
                    </a:p>
                  </a:txBody>
                  <a:tcPr>
                    <a:solidFill>
                      <a:srgbClr val="1F4E79"/>
                    </a:solidFill>
                  </a:tcPr>
                </a:tc>
              </a:tr>
              <a:tr h="730885">
                <a:tc>
                  <a:txBody>
                    <a:bodyPr/>
                    <a:lstStyle/>
                    <a:p>
                      <a:pPr algn="l"/>
                      <a:r>
                        <a:rPr sz="1200" b="0">
                          <a:solidFill>
                            <a:srgbClr val="2D2D2D"/>
                          </a:solidFill>
                          <a:latin typeface="微软雅黑" panose="020B0503020204020204" charset="-122"/>
                        </a:rPr>
                        <a:t>SQL+ 样例数</a:t>
                      </a:r>
                      <a:endParaRPr sz="1200" b="0">
                        <a:solidFill>
                          <a:srgbClr val="2D2D2D"/>
                        </a:solidFill>
                        <a:latin typeface="微软雅黑" panose="020B0503020204020204" charset="-122"/>
                      </a:endParaRPr>
                    </a:p>
                  </a:txBody>
                  <a:tcPr>
                    <a:solidFill>
                      <a:srgbClr val="FFFFFF"/>
                    </a:solidFill>
                  </a:tcPr>
                </a:tc>
                <a:tc>
                  <a:txBody>
                    <a:bodyPr/>
                    <a:lstStyle/>
                    <a:p>
                      <a:pPr algn="l"/>
                      <a:r>
                        <a:rPr sz="1200" b="0">
                          <a:solidFill>
                            <a:srgbClr val="2D2D2D"/>
                          </a:solidFill>
                          <a:latin typeface="微软雅黑" panose="020B0503020204020204" charset="-122"/>
                        </a:rPr>
                        <a:t>30</a:t>
                      </a:r>
                      <a:endParaRPr sz="1200" b="0">
                        <a:solidFill>
                          <a:srgbClr val="2D2D2D"/>
                        </a:solidFill>
                        <a:latin typeface="微软雅黑" panose="020B0503020204020204" charset="-122"/>
                      </a:endParaRPr>
                    </a:p>
                  </a:txBody>
                  <a:tcPr>
                    <a:solidFill>
                      <a:srgbClr val="FFFFFF"/>
                    </a:solidFill>
                  </a:tcPr>
                </a:tc>
                <a:tc>
                  <a:txBody>
                    <a:bodyPr/>
                    <a:lstStyle/>
                    <a:p>
                      <a:pPr algn="l"/>
                      <a:r>
                        <a:rPr sz="1200" b="0">
                          <a:solidFill>
                            <a:srgbClr val="2D2D2D"/>
                          </a:solidFill>
                          <a:latin typeface="微软雅黑" panose="020B0503020204020204" charset="-122"/>
                        </a:rPr>
                        <a:t>自建企业订单分析样例</a:t>
                      </a:r>
                      <a:endParaRPr sz="1200" b="0">
                        <a:solidFill>
                          <a:srgbClr val="2D2D2D"/>
                        </a:solidFill>
                        <a:latin typeface="微软雅黑" panose="020B0503020204020204" charset="-122"/>
                      </a:endParaRPr>
                    </a:p>
                  </a:txBody>
                  <a:tcPr>
                    <a:solidFill>
                      <a:srgbClr val="FFFFFF"/>
                    </a:solidFill>
                  </a:tcPr>
                </a:tc>
              </a:tr>
              <a:tr h="730885">
                <a:tc>
                  <a:txBody>
                    <a:bodyPr/>
                    <a:lstStyle/>
                    <a:p>
                      <a:pPr algn="l"/>
                      <a:r>
                        <a:rPr sz="1200" b="0">
                          <a:solidFill>
                            <a:srgbClr val="2D2D2D"/>
                          </a:solidFill>
                          <a:latin typeface="微软雅黑" panose="020B0503020204020204" charset="-122"/>
                        </a:rPr>
                        <a:t>SQL+ 语法通过</a:t>
                      </a:r>
                      <a:endParaRPr sz="1200" b="0">
                        <a:solidFill>
                          <a:srgbClr val="2D2D2D"/>
                        </a:solidFill>
                        <a:latin typeface="微软雅黑" panose="020B0503020204020204" charset="-122"/>
                      </a:endParaRPr>
                    </a:p>
                  </a:txBody>
                  <a:tcPr>
                    <a:solidFill>
                      <a:srgbClr val="EEF2F7"/>
                    </a:solidFill>
                  </a:tcPr>
                </a:tc>
                <a:tc>
                  <a:txBody>
                    <a:bodyPr/>
                    <a:lstStyle/>
                    <a:p>
                      <a:pPr algn="l"/>
                      <a:r>
                        <a:rPr sz="1200" b="0">
                          <a:solidFill>
                            <a:srgbClr val="2D2D2D"/>
                          </a:solidFill>
                          <a:latin typeface="微软雅黑" panose="020B0503020204020204" charset="-122"/>
                        </a:rPr>
                        <a:t>30/30</a:t>
                      </a:r>
                      <a:endParaRPr sz="1200" b="0">
                        <a:solidFill>
                          <a:srgbClr val="2D2D2D"/>
                        </a:solidFill>
                        <a:latin typeface="微软雅黑" panose="020B0503020204020204" charset="-122"/>
                      </a:endParaRPr>
                    </a:p>
                  </a:txBody>
                  <a:tcPr>
                    <a:solidFill>
                      <a:srgbClr val="EEF2F7"/>
                    </a:solidFill>
                  </a:tcPr>
                </a:tc>
                <a:tc>
                  <a:txBody>
                    <a:bodyPr/>
                    <a:lstStyle/>
                    <a:p>
                      <a:pPr algn="l"/>
                      <a:r>
                        <a:rPr sz="1200" b="0">
                          <a:solidFill>
                            <a:srgbClr val="2D2D2D"/>
                          </a:solidFill>
                          <a:latin typeface="微软雅黑" panose="020B0503020204020204" charset="-122"/>
                        </a:rPr>
                        <a:t>parser 可解析</a:t>
                      </a:r>
                      <a:endParaRPr sz="1200" b="0">
                        <a:solidFill>
                          <a:srgbClr val="2D2D2D"/>
                        </a:solidFill>
                        <a:latin typeface="微软雅黑" panose="020B0503020204020204" charset="-122"/>
                      </a:endParaRPr>
                    </a:p>
                  </a:txBody>
                  <a:tcPr>
                    <a:solidFill>
                      <a:srgbClr val="EEF2F7"/>
                    </a:solidFill>
                  </a:tcPr>
                </a:tc>
              </a:tr>
              <a:tr h="730885">
                <a:tc>
                  <a:txBody>
                    <a:bodyPr/>
                    <a:lstStyle/>
                    <a:p>
                      <a:pPr algn="l"/>
                      <a:r>
                        <a:rPr sz="1200" b="0">
                          <a:solidFill>
                            <a:srgbClr val="2D2D2D"/>
                          </a:solidFill>
                          <a:latin typeface="微软雅黑" panose="020B0503020204020204" charset="-122"/>
                        </a:rPr>
                        <a:t>转换 SQL 可执行</a:t>
                      </a:r>
                      <a:endParaRPr sz="1200" b="0">
                        <a:solidFill>
                          <a:srgbClr val="2D2D2D"/>
                        </a:solidFill>
                        <a:latin typeface="微软雅黑" panose="020B0503020204020204" charset="-122"/>
                      </a:endParaRPr>
                    </a:p>
                  </a:txBody>
                  <a:tcPr>
                    <a:solidFill>
                      <a:srgbClr val="FFFFFF"/>
                    </a:solidFill>
                  </a:tcPr>
                </a:tc>
                <a:tc>
                  <a:txBody>
                    <a:bodyPr/>
                    <a:lstStyle/>
                    <a:p>
                      <a:pPr algn="l"/>
                      <a:r>
                        <a:rPr sz="1200" b="0">
                          <a:solidFill>
                            <a:srgbClr val="2D2D2D"/>
                          </a:solidFill>
                          <a:latin typeface="微软雅黑" panose="020B0503020204020204" charset="-122"/>
                        </a:rPr>
                        <a:t>30/30</a:t>
                      </a:r>
                      <a:endParaRPr sz="1200" b="0">
                        <a:solidFill>
                          <a:srgbClr val="2D2D2D"/>
                        </a:solidFill>
                        <a:latin typeface="微软雅黑" panose="020B0503020204020204" charset="-122"/>
                      </a:endParaRPr>
                    </a:p>
                  </a:txBody>
                  <a:tcPr>
                    <a:solidFill>
                      <a:srgbClr val="FFFFFF"/>
                    </a:solidFill>
                  </a:tcPr>
                </a:tc>
                <a:tc>
                  <a:txBody>
                    <a:bodyPr/>
                    <a:lstStyle/>
                    <a:p>
                      <a:pPr algn="l"/>
                      <a:r>
                        <a:rPr sz="1200" b="0">
                          <a:solidFill>
                            <a:srgbClr val="2D2D2D"/>
                          </a:solidFill>
                          <a:latin typeface="微软雅黑" panose="020B0503020204020204" charset="-122"/>
                        </a:rPr>
                        <a:t>SQLite 执行成功</a:t>
                      </a:r>
                      <a:endParaRPr sz="1200" b="0">
                        <a:solidFill>
                          <a:srgbClr val="2D2D2D"/>
                        </a:solidFill>
                        <a:latin typeface="微软雅黑" panose="020B0503020204020204" charset="-122"/>
                      </a:endParaRPr>
                    </a:p>
                  </a:txBody>
                  <a:tcPr>
                    <a:solidFill>
                      <a:srgbClr val="FFFFFF"/>
                    </a:solidFill>
                  </a:tcPr>
                </a:tc>
              </a:tr>
              <a:tr h="730885">
                <a:tc>
                  <a:txBody>
                    <a:bodyPr/>
                    <a:lstStyle/>
                    <a:p>
                      <a:pPr algn="l"/>
                      <a:r>
                        <a:rPr sz="1200" b="0">
                          <a:solidFill>
                            <a:srgbClr val="2D2D2D"/>
                          </a:solidFill>
                          <a:latin typeface="微软雅黑" panose="020B0503020204020204" charset="-122"/>
                        </a:rPr>
                        <a:t>执行结果一致</a:t>
                      </a:r>
                      <a:endParaRPr sz="1200" b="0">
                        <a:solidFill>
                          <a:srgbClr val="2D2D2D"/>
                        </a:solidFill>
                        <a:latin typeface="微软雅黑" panose="020B0503020204020204" charset="-122"/>
                      </a:endParaRPr>
                    </a:p>
                  </a:txBody>
                  <a:tcPr>
                    <a:solidFill>
                      <a:srgbClr val="EEF2F7"/>
                    </a:solidFill>
                  </a:tcPr>
                </a:tc>
                <a:tc>
                  <a:txBody>
                    <a:bodyPr/>
                    <a:lstStyle/>
                    <a:p>
                      <a:pPr algn="l"/>
                      <a:r>
                        <a:rPr sz="1200" b="0">
                          <a:solidFill>
                            <a:srgbClr val="2D2D2D"/>
                          </a:solidFill>
                          <a:latin typeface="微软雅黑" panose="020B0503020204020204" charset="-122"/>
                        </a:rPr>
                        <a:t>30/30</a:t>
                      </a:r>
                      <a:endParaRPr sz="1200" b="0">
                        <a:solidFill>
                          <a:srgbClr val="2D2D2D"/>
                        </a:solidFill>
                        <a:latin typeface="微软雅黑" panose="020B0503020204020204" charset="-122"/>
                      </a:endParaRPr>
                    </a:p>
                  </a:txBody>
                  <a:tcPr>
                    <a:solidFill>
                      <a:srgbClr val="EEF2F7"/>
                    </a:solidFill>
                  </a:tcPr>
                </a:tc>
                <a:tc>
                  <a:txBody>
                    <a:bodyPr/>
                    <a:lstStyle/>
                    <a:p>
                      <a:pPr algn="l"/>
                      <a:r>
                        <a:rPr sz="1200" b="0">
                          <a:solidFill>
                            <a:srgbClr val="2D2D2D"/>
                          </a:solidFill>
                          <a:latin typeface="微软雅黑" panose="020B0503020204020204" charset="-122"/>
                        </a:rPr>
                        <a:t>与 gold SQL 结果一致</a:t>
                      </a:r>
                      <a:endParaRPr sz="1200" b="0">
                        <a:solidFill>
                          <a:srgbClr val="2D2D2D"/>
                        </a:solidFill>
                        <a:latin typeface="微软雅黑" panose="020B0503020204020204" charset="-122"/>
                      </a:endParaRPr>
                    </a:p>
                  </a:txBody>
                  <a:tcPr>
                    <a:solidFill>
                      <a:srgbClr val="EEF2F7"/>
                    </a:solidFill>
                  </a:tcPr>
                </a:tc>
              </a:tr>
            </a:tbl>
          </a:graphicData>
        </a:graphic>
      </p:graphicFrame>
      <p:sp>
        <p:nvSpPr>
          <p:cNvPr id="4" name="TextBox 3"/>
          <p:cNvSpPr txBox="1"/>
          <p:nvPr/>
        </p:nvSpPr>
        <p:spPr>
          <a:xfrm>
            <a:off x="502920" y="5949315"/>
            <a:ext cx="7863840" cy="411480"/>
          </a:xfrm>
          <a:prstGeom prst="rect">
            <a:avLst/>
          </a:prstGeom>
          <a:noFill/>
        </p:spPr>
        <p:txBody>
          <a:bodyPr wrap="none">
            <a:spAutoFit/>
          </a:bodyPr>
          <a:lstStyle/>
          <a:p>
            <a:pPr algn="l"/>
            <a:r>
              <a:rPr sz="1100" b="0">
                <a:solidFill>
                  <a:srgbClr val="C65911"/>
                </a:solidFill>
                <a:latin typeface="微软雅黑" panose="020B0503020204020204" charset="-122"/>
              </a:rPr>
              <a:t>结论：SQL+ 已形成可解析、可转换、可执行的最小闭环。</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14</a:t>
            </a:r>
            <a:endParaRPr sz="800" b="0">
              <a:solidFill>
                <a:srgbClr val="646464"/>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110617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IR 表达复杂度对比</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395605" y="1800860"/>
          <a:ext cx="8229600" cy="4217670"/>
        </p:xfrm>
        <a:graphic>
          <a:graphicData uri="http://schemas.openxmlformats.org/drawingml/2006/table">
            <a:tbl>
              <a:tblPr firstRow="1" bandRow="1">
                <a:tableStyleId>{5C22544A-7EE6-4342-B048-85BDC9FD1C3A}</a:tableStyleId>
              </a:tblPr>
              <a:tblGrid>
                <a:gridCol w="1175385"/>
                <a:gridCol w="1176020"/>
                <a:gridCol w="1175385"/>
                <a:gridCol w="1176020"/>
                <a:gridCol w="1175385"/>
                <a:gridCol w="1176020"/>
                <a:gridCol w="1175385"/>
              </a:tblGrid>
              <a:tr h="702945">
                <a:tc>
                  <a:txBody>
                    <a:bodyPr/>
                    <a:lstStyle/>
                    <a:p>
                      <a:pPr algn="ctr"/>
                      <a:r>
                        <a:rPr sz="900" b="1">
                          <a:solidFill>
                            <a:srgbClr val="FFFFFF"/>
                          </a:solidFill>
                          <a:latin typeface="微软雅黑" panose="020B0503020204020204" charset="-122"/>
                        </a:rPr>
                        <a:t>表示形式</a:t>
                      </a:r>
                      <a:endParaRPr sz="900" b="1">
                        <a:solidFill>
                          <a:srgbClr val="FFFFFF"/>
                        </a:solidFill>
                        <a:latin typeface="微软雅黑" panose="020B0503020204020204" charset="-122"/>
                      </a:endParaRPr>
                    </a:p>
                  </a:txBody>
                  <a:tcPr>
                    <a:solidFill>
                      <a:srgbClr val="1F4E79"/>
                    </a:solidFill>
                  </a:tcPr>
                </a:tc>
                <a:tc>
                  <a:txBody>
                    <a:bodyPr/>
                    <a:lstStyle/>
                    <a:p>
                      <a:pPr algn="ctr"/>
                      <a:r>
                        <a:rPr sz="900" b="1">
                          <a:solidFill>
                            <a:srgbClr val="FFFFFF"/>
                          </a:solidFill>
                          <a:latin typeface="微软雅黑" panose="020B0503020204020204" charset="-122"/>
                        </a:rPr>
                        <a:t>平均 token</a:t>
                      </a:r>
                      <a:endParaRPr sz="900" b="1">
                        <a:solidFill>
                          <a:srgbClr val="FFFFFF"/>
                        </a:solidFill>
                        <a:latin typeface="微软雅黑" panose="020B0503020204020204" charset="-122"/>
                      </a:endParaRPr>
                    </a:p>
                  </a:txBody>
                  <a:tcPr>
                    <a:solidFill>
                      <a:srgbClr val="1F4E79"/>
                    </a:solidFill>
                  </a:tcPr>
                </a:tc>
                <a:tc>
                  <a:txBody>
                    <a:bodyPr/>
                    <a:lstStyle/>
                    <a:p>
                      <a:pPr algn="ctr"/>
                      <a:r>
                        <a:rPr sz="900" b="1">
                          <a:solidFill>
                            <a:srgbClr val="FFFFFF"/>
                          </a:solidFill>
                          <a:latin typeface="微软雅黑" panose="020B0503020204020204" charset="-122"/>
                        </a:rPr>
                        <a:t>步骤/子句</a:t>
                      </a:r>
                      <a:endParaRPr sz="900" b="1">
                        <a:solidFill>
                          <a:srgbClr val="FFFFFF"/>
                        </a:solidFill>
                        <a:latin typeface="微软雅黑" panose="020B0503020204020204" charset="-122"/>
                      </a:endParaRPr>
                    </a:p>
                  </a:txBody>
                  <a:tcPr>
                    <a:solidFill>
                      <a:srgbClr val="1F4E79"/>
                    </a:solidFill>
                  </a:tcPr>
                </a:tc>
                <a:tc>
                  <a:txBody>
                    <a:bodyPr/>
                    <a:lstStyle/>
                    <a:p>
                      <a:pPr algn="ctr"/>
                      <a:r>
                        <a:rPr sz="900" b="1">
                          <a:solidFill>
                            <a:srgbClr val="FFFFFF"/>
                          </a:solidFill>
                          <a:latin typeface="微软雅黑" panose="020B0503020204020204" charset="-122"/>
                        </a:rPr>
                        <a:t>嵌套深度</a:t>
                      </a:r>
                      <a:endParaRPr sz="900" b="1">
                        <a:solidFill>
                          <a:srgbClr val="FFFFFF"/>
                        </a:solidFill>
                        <a:latin typeface="微软雅黑" panose="020B0503020204020204" charset="-122"/>
                      </a:endParaRPr>
                    </a:p>
                  </a:txBody>
                  <a:tcPr>
                    <a:solidFill>
                      <a:srgbClr val="1F4E79"/>
                    </a:solidFill>
                  </a:tcPr>
                </a:tc>
                <a:tc>
                  <a:txBody>
                    <a:bodyPr/>
                    <a:lstStyle/>
                    <a:p>
                      <a:pPr algn="ctr"/>
                      <a:r>
                        <a:rPr sz="900" b="1">
                          <a:solidFill>
                            <a:srgbClr val="FFFFFF"/>
                          </a:solidFill>
                          <a:latin typeface="微软雅黑" panose="020B0503020204020204" charset="-122"/>
                        </a:rPr>
                        <a:t>别名依赖</a:t>
                      </a:r>
                      <a:endParaRPr sz="900" b="1">
                        <a:solidFill>
                          <a:srgbClr val="FFFFFF"/>
                        </a:solidFill>
                        <a:latin typeface="微软雅黑" panose="020B0503020204020204" charset="-122"/>
                      </a:endParaRPr>
                    </a:p>
                  </a:txBody>
                  <a:tcPr>
                    <a:solidFill>
                      <a:srgbClr val="1F4E79"/>
                    </a:solidFill>
                  </a:tcPr>
                </a:tc>
                <a:tc>
                  <a:txBody>
                    <a:bodyPr/>
                    <a:lstStyle/>
                    <a:p>
                      <a:pPr algn="ctr"/>
                      <a:r>
                        <a:rPr sz="900" b="1">
                          <a:solidFill>
                            <a:srgbClr val="FFFFFF"/>
                          </a:solidFill>
                          <a:latin typeface="微软雅黑" panose="020B0503020204020204" charset="-122"/>
                        </a:rPr>
                        <a:t>跨子句引用</a:t>
                      </a:r>
                      <a:endParaRPr sz="900" b="1">
                        <a:solidFill>
                          <a:srgbClr val="FFFFFF"/>
                        </a:solidFill>
                        <a:latin typeface="微软雅黑" panose="020B0503020204020204" charset="-122"/>
                      </a:endParaRPr>
                    </a:p>
                  </a:txBody>
                  <a:tcPr>
                    <a:solidFill>
                      <a:srgbClr val="1F4E79"/>
                    </a:solidFill>
                  </a:tcPr>
                </a:tc>
                <a:tc>
                  <a:txBody>
                    <a:bodyPr/>
                    <a:lstStyle/>
                    <a:p>
                      <a:pPr algn="ctr"/>
                      <a:r>
                        <a:rPr sz="900" b="1">
                          <a:solidFill>
                            <a:srgbClr val="FFFFFF"/>
                          </a:solidFill>
                          <a:latin typeface="微软雅黑" panose="020B0503020204020204" charset="-122"/>
                        </a:rPr>
                        <a:t>转换成功</a:t>
                      </a:r>
                      <a:endParaRPr sz="900" b="1">
                        <a:solidFill>
                          <a:srgbClr val="FFFFFF"/>
                        </a:solidFill>
                        <a:latin typeface="微软雅黑" panose="020B0503020204020204" charset="-122"/>
                      </a:endParaRPr>
                    </a:p>
                  </a:txBody>
                  <a:tcPr>
                    <a:solidFill>
                      <a:srgbClr val="1F4E79"/>
                    </a:solidFill>
                  </a:tcPr>
                </a:tc>
              </a:tr>
              <a:tr h="702945">
                <a:tc>
                  <a:txBody>
                    <a:bodyPr/>
                    <a:lstStyle/>
                    <a:p>
                      <a:pPr algn="l"/>
                      <a:r>
                        <a:rPr sz="800" b="0">
                          <a:solidFill>
                            <a:srgbClr val="2D2D2D"/>
                          </a:solidFill>
                          <a:latin typeface="微软雅黑" panose="020B0503020204020204" charset="-122"/>
                        </a:rPr>
                        <a:t>Standard SQL</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31.5333</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5.9</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0.6667</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2.0333</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2.3333</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30/30</a:t>
                      </a:r>
                      <a:endParaRPr sz="800" b="0">
                        <a:solidFill>
                          <a:srgbClr val="2D2D2D"/>
                        </a:solidFill>
                        <a:latin typeface="微软雅黑" panose="020B0503020204020204" charset="-122"/>
                      </a:endParaRPr>
                    </a:p>
                  </a:txBody>
                  <a:tcPr>
                    <a:solidFill>
                      <a:srgbClr val="FFFFFF"/>
                    </a:solidFill>
                  </a:tcPr>
                </a:tc>
              </a:tr>
              <a:tr h="702945">
                <a:tc>
                  <a:txBody>
                    <a:bodyPr/>
                    <a:lstStyle/>
                    <a:p>
                      <a:pPr algn="l"/>
                      <a:r>
                        <a:rPr sz="800" b="0">
                          <a:solidFill>
                            <a:srgbClr val="2D2D2D"/>
                          </a:solidFill>
                          <a:latin typeface="微软雅黑" panose="020B0503020204020204" charset="-122"/>
                        </a:rPr>
                        <a:t>SQL+</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35.0333</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6.1333</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0.6667</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0.7</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1.0</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30/30</a:t>
                      </a:r>
                      <a:endParaRPr sz="800" b="0">
                        <a:solidFill>
                          <a:srgbClr val="2D2D2D"/>
                        </a:solidFill>
                        <a:latin typeface="微软雅黑" panose="020B0503020204020204" charset="-122"/>
                      </a:endParaRPr>
                    </a:p>
                  </a:txBody>
                  <a:tcPr>
                    <a:solidFill>
                      <a:srgbClr val="EEF2F7"/>
                    </a:solidFill>
                  </a:tcPr>
                </a:tc>
              </a:tr>
              <a:tr h="702945">
                <a:tc>
                  <a:txBody>
                    <a:bodyPr/>
                    <a:lstStyle/>
                    <a:p>
                      <a:pPr algn="l"/>
                      <a:r>
                        <a:rPr sz="800" b="0">
                          <a:solidFill>
                            <a:srgbClr val="2D2D2D"/>
                          </a:solidFill>
                          <a:latin typeface="微软雅黑" panose="020B0503020204020204" charset="-122"/>
                        </a:rPr>
                        <a:t>SemQL-style proxy</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50.5667</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10.7333</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3.6667</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0.9</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1.2</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N/A</a:t>
                      </a:r>
                      <a:endParaRPr sz="800" b="0">
                        <a:solidFill>
                          <a:srgbClr val="2D2D2D"/>
                        </a:solidFill>
                        <a:latin typeface="微软雅黑" panose="020B0503020204020204" charset="-122"/>
                      </a:endParaRPr>
                    </a:p>
                  </a:txBody>
                  <a:tcPr>
                    <a:solidFill>
                      <a:srgbClr val="FFFFFF"/>
                    </a:solidFill>
                  </a:tcPr>
                </a:tc>
              </a:tr>
              <a:tr h="702945">
                <a:tc>
                  <a:txBody>
                    <a:bodyPr/>
                    <a:lstStyle/>
                    <a:p>
                      <a:pPr algn="l"/>
                      <a:r>
                        <a:rPr sz="800" b="0">
                          <a:solidFill>
                            <a:srgbClr val="2D2D2D"/>
                          </a:solidFill>
                          <a:latin typeface="微软雅黑" panose="020B0503020204020204" charset="-122"/>
                        </a:rPr>
                        <a:t>NatSQL-style proxy</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31.5</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5.4333</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0.9667</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1.3667</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1.6667</a:t>
                      </a:r>
                      <a:endParaRPr sz="800" b="0">
                        <a:solidFill>
                          <a:srgbClr val="2D2D2D"/>
                        </a:solidFill>
                        <a:latin typeface="微软雅黑" panose="020B0503020204020204" charset="-122"/>
                      </a:endParaRPr>
                    </a:p>
                  </a:txBody>
                  <a:tcPr>
                    <a:solidFill>
                      <a:srgbClr val="EEF2F7"/>
                    </a:solidFill>
                  </a:tcPr>
                </a:tc>
                <a:tc>
                  <a:txBody>
                    <a:bodyPr/>
                    <a:lstStyle/>
                    <a:p>
                      <a:pPr algn="l"/>
                      <a:r>
                        <a:rPr sz="800" b="0">
                          <a:solidFill>
                            <a:srgbClr val="2D2D2D"/>
                          </a:solidFill>
                          <a:latin typeface="微软雅黑" panose="020B0503020204020204" charset="-122"/>
                        </a:rPr>
                        <a:t>N/A</a:t>
                      </a:r>
                      <a:endParaRPr sz="800" b="0">
                        <a:solidFill>
                          <a:srgbClr val="2D2D2D"/>
                        </a:solidFill>
                        <a:latin typeface="微软雅黑" panose="020B0503020204020204" charset="-122"/>
                      </a:endParaRPr>
                    </a:p>
                  </a:txBody>
                  <a:tcPr>
                    <a:solidFill>
                      <a:srgbClr val="EEF2F7"/>
                    </a:solidFill>
                  </a:tcPr>
                </a:tc>
              </a:tr>
              <a:tr h="702945">
                <a:tc>
                  <a:txBody>
                    <a:bodyPr/>
                    <a:lstStyle/>
                    <a:p>
                      <a:pPr algn="l"/>
                      <a:r>
                        <a:rPr sz="800" b="0">
                          <a:solidFill>
                            <a:srgbClr val="2D2D2D"/>
                          </a:solidFill>
                          <a:latin typeface="微软雅黑" panose="020B0503020204020204" charset="-122"/>
                        </a:rPr>
                        <a:t>Pipe-style proxy</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40.8</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6.1333</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0.6667</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1.3667</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1.6667</a:t>
                      </a:r>
                      <a:endParaRPr sz="800" b="0">
                        <a:solidFill>
                          <a:srgbClr val="2D2D2D"/>
                        </a:solidFill>
                        <a:latin typeface="微软雅黑" panose="020B0503020204020204" charset="-122"/>
                      </a:endParaRPr>
                    </a:p>
                  </a:txBody>
                  <a:tcPr>
                    <a:solidFill>
                      <a:srgbClr val="FFFFFF"/>
                    </a:solidFill>
                  </a:tcPr>
                </a:tc>
                <a:tc>
                  <a:txBody>
                    <a:bodyPr/>
                    <a:lstStyle/>
                    <a:p>
                      <a:pPr algn="l"/>
                      <a:r>
                        <a:rPr sz="800" b="0">
                          <a:solidFill>
                            <a:srgbClr val="2D2D2D"/>
                          </a:solidFill>
                          <a:latin typeface="微软雅黑" panose="020B0503020204020204" charset="-122"/>
                        </a:rPr>
                        <a:t>N/A</a:t>
                      </a:r>
                      <a:endParaRPr sz="800" b="0">
                        <a:solidFill>
                          <a:srgbClr val="2D2D2D"/>
                        </a:solidFill>
                        <a:latin typeface="微软雅黑" panose="020B0503020204020204" charset="-122"/>
                      </a:endParaRPr>
                    </a:p>
                  </a:txBody>
                  <a:tcPr>
                    <a:solidFill>
                      <a:srgbClr val="FFFFFF"/>
                    </a:solidFill>
                  </a:tcPr>
                </a:tc>
              </a:tr>
            </a:tbl>
          </a:graphicData>
        </a:graphic>
      </p:graphicFrame>
      <p:sp>
        <p:nvSpPr>
          <p:cNvPr id="4" name="TextBox 3"/>
          <p:cNvSpPr txBox="1"/>
          <p:nvPr/>
        </p:nvSpPr>
        <p:spPr>
          <a:xfrm>
            <a:off x="502920" y="6071235"/>
            <a:ext cx="7863840" cy="256540"/>
          </a:xfrm>
          <a:prstGeom prst="rect">
            <a:avLst/>
          </a:prstGeom>
          <a:noFill/>
        </p:spPr>
        <p:txBody>
          <a:bodyPr wrap="none">
            <a:noAutofit/>
          </a:bodyPr>
          <a:lstStyle/>
          <a:p>
            <a:pPr algn="l"/>
            <a:r>
              <a:rPr sz="1100" b="0">
                <a:solidFill>
                  <a:srgbClr val="C65911"/>
                </a:solidFill>
                <a:latin typeface="微软雅黑" panose="020B0503020204020204" charset="-122"/>
              </a:rPr>
              <a:t>结论：SQL+ 不更短，但别名依赖和跨子句引用更低，更适合错误定位与局部修复。</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15</a:t>
            </a:r>
            <a:endParaRPr sz="800" b="0">
              <a:solidFill>
                <a:srgbClr val="646464"/>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1109345"/>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IR 生成成本与执行效果</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395605" y="1844675"/>
          <a:ext cx="8343900" cy="3943985"/>
        </p:xfrm>
        <a:graphic>
          <a:graphicData uri="http://schemas.openxmlformats.org/drawingml/2006/table">
            <a:tbl>
              <a:tblPr firstRow="1" bandRow="1">
                <a:tableStyleId>{5C22544A-7EE6-4342-B048-85BDC9FD1C3A}</a:tableStyleId>
              </a:tblPr>
              <a:tblGrid>
                <a:gridCol w="1390650"/>
                <a:gridCol w="1390650"/>
                <a:gridCol w="1390650"/>
                <a:gridCol w="1390650"/>
                <a:gridCol w="1390650"/>
                <a:gridCol w="1390650"/>
              </a:tblGrid>
              <a:tr h="888365">
                <a:tc>
                  <a:txBody>
                    <a:bodyPr/>
                    <a:lstStyle/>
                    <a:p>
                      <a:pPr algn="ctr"/>
                      <a:r>
                        <a:rPr sz="1100" b="1">
                          <a:solidFill>
                            <a:srgbClr val="FFFFFF"/>
                          </a:solidFill>
                          <a:latin typeface="微软雅黑" panose="020B0503020204020204" charset="-122"/>
                        </a:rPr>
                        <a:t>方法</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表示有效</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SQL 可执行</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执行一致</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平均总 token</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平均延迟</a:t>
                      </a:r>
                      <a:endParaRPr sz="1100" b="1">
                        <a:solidFill>
                          <a:srgbClr val="FFFFFF"/>
                        </a:solidFill>
                        <a:latin typeface="微软雅黑" panose="020B0503020204020204" charset="-122"/>
                      </a:endParaRPr>
                    </a:p>
                  </a:txBody>
                  <a:tcPr>
                    <a:solidFill>
                      <a:srgbClr val="1F4E79"/>
                    </a:solidFill>
                  </a:tcPr>
                </a:tc>
              </a:tr>
              <a:tr h="763905">
                <a:tc>
                  <a:txBody>
                    <a:bodyPr/>
                    <a:lstStyle/>
                    <a:p>
                      <a:pPr algn="l"/>
                      <a:r>
                        <a:rPr sz="1000" b="0">
                          <a:solidFill>
                            <a:srgbClr val="2D2D2D"/>
                          </a:solidFill>
                          <a:latin typeface="微软雅黑" panose="020B0503020204020204" charset="-122"/>
                        </a:rPr>
                        <a:t>Direct SQL</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30/30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30/30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12/30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599.1667</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6.5851s</a:t>
                      </a:r>
                      <a:endParaRPr sz="1000" b="0">
                        <a:solidFill>
                          <a:srgbClr val="2D2D2D"/>
                        </a:solidFill>
                        <a:latin typeface="微软雅黑" panose="020B0503020204020204" charset="-122"/>
                      </a:endParaRPr>
                    </a:p>
                  </a:txBody>
                  <a:tcPr>
                    <a:solidFill>
                      <a:srgbClr val="FFFFFF"/>
                    </a:solidFill>
                  </a:tcPr>
                </a:tc>
              </a:tr>
              <a:tr h="763905">
                <a:tc>
                  <a:txBody>
                    <a:bodyPr/>
                    <a:lstStyle/>
                    <a:p>
                      <a:pPr algn="l"/>
                      <a:r>
                        <a:rPr sz="1000" b="0">
                          <a:solidFill>
                            <a:srgbClr val="2D2D2D"/>
                          </a:solidFill>
                          <a:latin typeface="微软雅黑" panose="020B0503020204020204" charset="-122"/>
                        </a:rPr>
                        <a:t>SQL+</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28/30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28/30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14/30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813.0333</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9.2197s</a:t>
                      </a:r>
                      <a:endParaRPr sz="1000" b="0">
                        <a:solidFill>
                          <a:srgbClr val="2D2D2D"/>
                        </a:solidFill>
                        <a:latin typeface="微软雅黑" panose="020B0503020204020204" charset="-122"/>
                      </a:endParaRPr>
                    </a:p>
                  </a:txBody>
                  <a:tcPr>
                    <a:solidFill>
                      <a:srgbClr val="EEF2F7"/>
                    </a:solidFill>
                  </a:tcPr>
                </a:tc>
              </a:tr>
              <a:tr h="763905">
                <a:tc>
                  <a:txBody>
                    <a:bodyPr/>
                    <a:lstStyle/>
                    <a:p>
                      <a:pPr algn="l"/>
                      <a:r>
                        <a:rPr sz="1000" b="0">
                          <a:solidFill>
                            <a:srgbClr val="2D2D2D"/>
                          </a:solidFill>
                          <a:latin typeface="微软雅黑" panose="020B0503020204020204" charset="-122"/>
                        </a:rPr>
                        <a:t>NatSQL-style proxy</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30/30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30/30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13/30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740.7667</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6.2802s</a:t>
                      </a:r>
                      <a:endParaRPr sz="1000" b="0">
                        <a:solidFill>
                          <a:srgbClr val="2D2D2D"/>
                        </a:solidFill>
                        <a:latin typeface="微软雅黑" panose="020B0503020204020204" charset="-122"/>
                      </a:endParaRPr>
                    </a:p>
                  </a:txBody>
                  <a:tcPr>
                    <a:solidFill>
                      <a:srgbClr val="FFFFFF"/>
                    </a:solidFill>
                  </a:tcPr>
                </a:tc>
              </a:tr>
              <a:tr h="763905">
                <a:tc>
                  <a:txBody>
                    <a:bodyPr/>
                    <a:lstStyle/>
                    <a:p>
                      <a:pPr algn="l"/>
                      <a:r>
                        <a:rPr sz="1000" b="0">
                          <a:solidFill>
                            <a:srgbClr val="2D2D2D"/>
                          </a:solidFill>
                          <a:latin typeface="微软雅黑" panose="020B0503020204020204" charset="-122"/>
                        </a:rPr>
                        <a:t>SemQL-style proxy</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30/30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25/30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12/30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1028.9667</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9.9684s</a:t>
                      </a:r>
                      <a:endParaRPr sz="1000" b="0">
                        <a:solidFill>
                          <a:srgbClr val="2D2D2D"/>
                        </a:solidFill>
                        <a:latin typeface="微软雅黑" panose="020B0503020204020204" charset="-122"/>
                      </a:endParaRPr>
                    </a:p>
                  </a:txBody>
                  <a:tcPr>
                    <a:solidFill>
                      <a:srgbClr val="EEF2F7"/>
                    </a:solidFill>
                  </a:tcPr>
                </a:tc>
              </a:tr>
            </a:tbl>
          </a:graphicData>
        </a:graphic>
      </p:graphicFrame>
      <p:sp>
        <p:nvSpPr>
          <p:cNvPr id="4" name="TextBox 3"/>
          <p:cNvSpPr txBox="1"/>
          <p:nvPr/>
        </p:nvSpPr>
        <p:spPr>
          <a:xfrm>
            <a:off x="502920" y="6021070"/>
            <a:ext cx="7863840" cy="286385"/>
          </a:xfrm>
          <a:prstGeom prst="rect">
            <a:avLst/>
          </a:prstGeom>
          <a:noFill/>
        </p:spPr>
        <p:txBody>
          <a:bodyPr wrap="none">
            <a:noAutofit/>
          </a:bodyPr>
          <a:lstStyle/>
          <a:p>
            <a:pPr algn="l"/>
            <a:r>
              <a:rPr sz="1100" b="0">
                <a:solidFill>
                  <a:srgbClr val="C65911"/>
                </a:solidFill>
                <a:latin typeface="微软雅黑" panose="020B0503020204020204" charset="-122"/>
              </a:rPr>
              <a:t>结论：SQL+ 初次生成并无显著成本优势，后续重点验证修复收益是否抵消额外开销。</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16</a:t>
            </a:r>
            <a:endParaRPr sz="800" b="0">
              <a:solidFill>
                <a:srgbClr val="646464"/>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124585"/>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Baseline 与失败类型分析</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457200" y="1844675"/>
          <a:ext cx="8229600" cy="3926840"/>
        </p:xfrm>
        <a:graphic>
          <a:graphicData uri="http://schemas.openxmlformats.org/drawingml/2006/table">
            <a:tbl>
              <a:tblPr firstRow="1" bandRow="1">
                <a:tableStyleId>{5C22544A-7EE6-4342-B048-85BDC9FD1C3A}</a:tableStyleId>
              </a:tblPr>
              <a:tblGrid>
                <a:gridCol w="1947545"/>
                <a:gridCol w="1344295"/>
                <a:gridCol w="2060575"/>
                <a:gridCol w="1231265"/>
                <a:gridCol w="1645920"/>
              </a:tblGrid>
              <a:tr h="490855">
                <a:tc>
                  <a:txBody>
                    <a:bodyPr/>
                    <a:lstStyle/>
                    <a:p>
                      <a:pPr algn="ctr"/>
                      <a:r>
                        <a:rPr sz="1000" b="1">
                          <a:solidFill>
                            <a:srgbClr val="FFFFFF"/>
                          </a:solidFill>
                          <a:latin typeface="微软雅黑" panose="020B0503020204020204" charset="-122"/>
                        </a:rPr>
                        <a:t>方法</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样例数</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SQL/SQL+ 有效</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SQL 可执行</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执行一致</a:t>
                      </a:r>
                      <a:endParaRPr sz="1000" b="1">
                        <a:solidFill>
                          <a:srgbClr val="FFFFFF"/>
                        </a:solidFill>
                        <a:latin typeface="微软雅黑" panose="020B0503020204020204" charset="-122"/>
                      </a:endParaRPr>
                    </a:p>
                  </a:txBody>
                  <a:tcPr>
                    <a:solidFill>
                      <a:srgbClr val="1F4E79"/>
                    </a:solidFill>
                  </a:tcPr>
                </a:tc>
              </a:tr>
              <a:tr h="490855">
                <a:tc>
                  <a:txBody>
                    <a:bodyPr/>
                    <a:lstStyle/>
                    <a:p>
                      <a:pPr algn="l"/>
                      <a:r>
                        <a:rPr sz="900" b="0">
                          <a:solidFill>
                            <a:srgbClr val="2D2D2D"/>
                          </a:solidFill>
                          <a:latin typeface="微软雅黑" panose="020B0503020204020204" charset="-122"/>
                        </a:rPr>
                        <a:t>Direct NL2SQL</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30</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30/30</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16/30</a:t>
                      </a:r>
                      <a:endParaRPr sz="900" b="0">
                        <a:solidFill>
                          <a:srgbClr val="2D2D2D"/>
                        </a:solidFill>
                        <a:latin typeface="微软雅黑" panose="020B0503020204020204" charset="-122"/>
                      </a:endParaRPr>
                    </a:p>
                  </a:txBody>
                  <a:tcPr>
                    <a:solidFill>
                      <a:srgbClr val="FFFFFF"/>
                    </a:solidFill>
                  </a:tcPr>
                </a:tc>
              </a:tr>
              <a:tr h="490855">
                <a:tc>
                  <a:txBody>
                    <a:bodyPr/>
                    <a:lstStyle/>
                    <a:p>
                      <a:pPr algn="l"/>
                      <a:r>
                        <a:rPr sz="900" b="0">
                          <a:solidFill>
                            <a:srgbClr val="2D2D2D"/>
                          </a:solidFill>
                          <a:latin typeface="微软雅黑" panose="020B0503020204020204" charset="-122"/>
                        </a:rPr>
                        <a:t>NL2SQL+ prompt v1</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30</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30/30</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30/30</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13/30</a:t>
                      </a:r>
                      <a:endParaRPr sz="900" b="0">
                        <a:solidFill>
                          <a:srgbClr val="2D2D2D"/>
                        </a:solidFill>
                        <a:latin typeface="微软雅黑" panose="020B0503020204020204" charset="-122"/>
                      </a:endParaRPr>
                    </a:p>
                  </a:txBody>
                  <a:tcPr>
                    <a:solidFill>
                      <a:srgbClr val="EEF2F7"/>
                    </a:solidFill>
                  </a:tcPr>
                </a:tc>
              </a:tr>
              <a:tr h="490855">
                <a:tc>
                  <a:txBody>
                    <a:bodyPr/>
                    <a:lstStyle/>
                    <a:p>
                      <a:pPr algn="l"/>
                      <a:r>
                        <a:rPr sz="900" b="0">
                          <a:solidFill>
                            <a:srgbClr val="2D2D2D"/>
                          </a:solidFill>
                          <a:latin typeface="微软雅黑" panose="020B0503020204020204" charset="-122"/>
                        </a:rPr>
                        <a:t>NL2SQL+ prompt v2</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30</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30/30</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30/30</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17/30</a:t>
                      </a:r>
                      <a:endParaRPr sz="900" b="0">
                        <a:solidFill>
                          <a:srgbClr val="2D2D2D"/>
                        </a:solidFill>
                        <a:latin typeface="微软雅黑" panose="020B0503020204020204" charset="-122"/>
                      </a:endParaRPr>
                    </a:p>
                  </a:txBody>
                  <a:tcPr>
                    <a:solidFill>
                      <a:srgbClr val="FFFFFF"/>
                    </a:solidFill>
                  </a:tcPr>
                </a:tc>
              </a:tr>
              <a:tr h="490855">
                <a:tc>
                  <a:txBody>
                    <a:bodyPr/>
                    <a:lstStyle/>
                    <a:p>
                      <a:pPr algn="l"/>
                      <a:r>
                        <a:rPr sz="900" b="0">
                          <a:solidFill>
                            <a:srgbClr val="2D2D2D"/>
                          </a:solidFill>
                          <a:latin typeface="微软雅黑" panose="020B0503020204020204" charset="-122"/>
                        </a:rPr>
                        <a:t>失败类型</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数量</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说明</a:t>
                      </a:r>
                      <a:endParaRPr sz="900" b="0">
                        <a:solidFill>
                          <a:srgbClr val="2D2D2D"/>
                        </a:solidFill>
                        <a:latin typeface="微软雅黑" panose="020B0503020204020204" charset="-122"/>
                      </a:endParaRPr>
                    </a:p>
                  </a:txBody>
                  <a:tcPr>
                    <a:solidFill>
                      <a:srgbClr val="EEF2F7"/>
                    </a:solidFill>
                  </a:tcPr>
                </a:tc>
                <a:tc>
                  <a:txBody>
                    <a:bodyPr/>
                    <a:lstStyle/>
                    <a:p>
                      <a:pPr algn="l"/>
                    </a:p>
                  </a:txBody>
                  <a:tcPr>
                    <a:solidFill>
                      <a:srgbClr val="EEF2F7"/>
                    </a:solidFill>
                  </a:tcPr>
                </a:tc>
                <a:tc>
                  <a:txBody>
                    <a:bodyPr/>
                    <a:lstStyle/>
                    <a:p>
                      <a:pPr algn="l"/>
                    </a:p>
                  </a:txBody>
                  <a:tcPr>
                    <a:solidFill>
                      <a:srgbClr val="EEF2F7"/>
                    </a:solidFill>
                  </a:tcPr>
                </a:tc>
              </a:tr>
              <a:tr h="490855">
                <a:tc>
                  <a:txBody>
                    <a:bodyPr/>
                    <a:lstStyle/>
                    <a:p>
                      <a:pPr algn="l"/>
                      <a:r>
                        <a:rPr sz="900" b="0">
                          <a:solidFill>
                            <a:srgbClr val="2D2D2D"/>
                          </a:solidFill>
                          <a:latin typeface="微软雅黑" panose="020B0503020204020204" charset="-122"/>
                        </a:rPr>
                        <a:t>filter/value-linking</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5</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字段值、日期、状态值错误</a:t>
                      </a:r>
                      <a:endParaRPr sz="900" b="0">
                        <a:solidFill>
                          <a:srgbClr val="2D2D2D"/>
                        </a:solidFill>
                        <a:latin typeface="微软雅黑" panose="020B0503020204020204" charset="-122"/>
                      </a:endParaRPr>
                    </a:p>
                  </a:txBody>
                  <a:tcPr>
                    <a:solidFill>
                      <a:srgbClr val="FFFFFF"/>
                    </a:solidFill>
                  </a:tcPr>
                </a:tc>
                <a:tc>
                  <a:txBody>
                    <a:bodyPr/>
                    <a:lstStyle/>
                    <a:p>
                      <a:pPr algn="l"/>
                    </a:p>
                  </a:txBody>
                  <a:tcPr>
                    <a:solidFill>
                      <a:srgbClr val="FFFFFF"/>
                    </a:solidFill>
                  </a:tcPr>
                </a:tc>
                <a:tc>
                  <a:txBody>
                    <a:bodyPr/>
                    <a:lstStyle/>
                    <a:p>
                      <a:pPr algn="l"/>
                    </a:p>
                  </a:txBody>
                  <a:tcPr>
                    <a:solidFill>
                      <a:srgbClr val="FFFFFF"/>
                    </a:solidFill>
                  </a:tcPr>
                </a:tc>
              </a:tr>
              <a:tr h="490855">
                <a:tc>
                  <a:txBody>
                    <a:bodyPr/>
                    <a:lstStyle/>
                    <a:p>
                      <a:pPr algn="l"/>
                      <a:r>
                        <a:rPr sz="900" b="0">
                          <a:solidFill>
                            <a:srgbClr val="2D2D2D"/>
                          </a:solidFill>
                          <a:latin typeface="微软雅黑" panose="020B0503020204020204" charset="-122"/>
                        </a:rPr>
                        <a:t>ORDER/LIMIT</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3</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排序字段、方向或 top-k 错误</a:t>
                      </a:r>
                      <a:endParaRPr sz="900" b="0">
                        <a:solidFill>
                          <a:srgbClr val="2D2D2D"/>
                        </a:solidFill>
                        <a:latin typeface="微软雅黑" panose="020B0503020204020204" charset="-122"/>
                      </a:endParaRPr>
                    </a:p>
                  </a:txBody>
                  <a:tcPr>
                    <a:solidFill>
                      <a:srgbClr val="EEF2F7"/>
                    </a:solidFill>
                  </a:tcPr>
                </a:tc>
                <a:tc>
                  <a:txBody>
                    <a:bodyPr/>
                    <a:lstStyle/>
                    <a:p>
                      <a:pPr algn="l"/>
                    </a:p>
                  </a:txBody>
                  <a:tcPr>
                    <a:solidFill>
                      <a:srgbClr val="EEF2F7"/>
                    </a:solidFill>
                  </a:tcPr>
                </a:tc>
                <a:tc>
                  <a:txBody>
                    <a:bodyPr/>
                    <a:lstStyle/>
                    <a:p>
                      <a:pPr algn="l"/>
                    </a:p>
                  </a:txBody>
                  <a:tcPr>
                    <a:solidFill>
                      <a:srgbClr val="EEF2F7"/>
                    </a:solidFill>
                  </a:tcPr>
                </a:tc>
              </a:tr>
              <a:tr h="490855">
                <a:tc>
                  <a:txBody>
                    <a:bodyPr/>
                    <a:lstStyle/>
                    <a:p>
                      <a:pPr algn="l"/>
                      <a:r>
                        <a:rPr sz="900" b="0">
                          <a:solidFill>
                            <a:srgbClr val="2D2D2D"/>
                          </a:solidFill>
                          <a:latin typeface="微软雅黑" panose="020B0503020204020204" charset="-122"/>
                        </a:rPr>
                        <a:t>aggregation / join / projection</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5</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聚合口径、连接路径、投影列问题</a:t>
                      </a:r>
                      <a:endParaRPr sz="900" b="0">
                        <a:solidFill>
                          <a:srgbClr val="2D2D2D"/>
                        </a:solidFill>
                        <a:latin typeface="微软雅黑" panose="020B0503020204020204" charset="-122"/>
                      </a:endParaRPr>
                    </a:p>
                  </a:txBody>
                  <a:tcPr>
                    <a:solidFill>
                      <a:srgbClr val="FFFFFF"/>
                    </a:solidFill>
                  </a:tcPr>
                </a:tc>
                <a:tc>
                  <a:txBody>
                    <a:bodyPr/>
                    <a:lstStyle/>
                    <a:p>
                      <a:pPr algn="l"/>
                    </a:p>
                  </a:txBody>
                  <a:tcPr>
                    <a:solidFill>
                      <a:srgbClr val="FFFFFF"/>
                    </a:solidFill>
                  </a:tcPr>
                </a:tc>
                <a:tc>
                  <a:txBody>
                    <a:bodyPr/>
                    <a:lstStyle/>
                    <a:p>
                      <a:pPr algn="l"/>
                    </a:p>
                  </a:txBody>
                  <a:tcPr>
                    <a:solidFill>
                      <a:srgbClr val="FFFFFF"/>
                    </a:solidFill>
                  </a:tcPr>
                </a:tc>
              </a:tr>
            </a:tbl>
          </a:graphicData>
        </a:graphic>
      </p:graphicFrame>
      <p:sp>
        <p:nvSpPr>
          <p:cNvPr id="4" name="TextBox 3"/>
          <p:cNvSpPr txBox="1"/>
          <p:nvPr/>
        </p:nvSpPr>
        <p:spPr>
          <a:xfrm>
            <a:off x="502920" y="6021705"/>
            <a:ext cx="7863840" cy="238125"/>
          </a:xfrm>
          <a:prstGeom prst="rect">
            <a:avLst/>
          </a:prstGeom>
          <a:noFill/>
        </p:spPr>
        <p:txBody>
          <a:bodyPr wrap="none">
            <a:noAutofit/>
          </a:bodyPr>
          <a:lstStyle/>
          <a:p>
            <a:pPr algn="l"/>
            <a:r>
              <a:rPr sz="1100" b="0">
                <a:solidFill>
                  <a:srgbClr val="C65911"/>
                </a:solidFill>
                <a:latin typeface="微软雅黑" panose="020B0503020204020204" charset="-122"/>
              </a:rPr>
              <a:t>结论：失败主要是语义错误，不是语法错误。</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17</a:t>
            </a:r>
            <a:endParaRPr sz="800" b="0">
              <a:solidFill>
                <a:srgbClr val="646464"/>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4970" y="105283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反馈修正实验结果</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457200" y="1892935"/>
          <a:ext cx="8229600" cy="3150870"/>
        </p:xfrm>
        <a:graphic>
          <a:graphicData uri="http://schemas.openxmlformats.org/drawingml/2006/table">
            <a:tbl>
              <a:tblPr firstRow="1" bandRow="1">
                <a:tableStyleId>{5C22544A-7EE6-4342-B048-85BDC9FD1C3A}</a:tableStyleId>
              </a:tblPr>
              <a:tblGrid>
                <a:gridCol w="2390140"/>
                <a:gridCol w="901700"/>
                <a:gridCol w="1645920"/>
                <a:gridCol w="1645920"/>
                <a:gridCol w="1645920"/>
              </a:tblGrid>
              <a:tr h="525145">
                <a:tc>
                  <a:txBody>
                    <a:bodyPr/>
                    <a:lstStyle/>
                    <a:p>
                      <a:pPr algn="ctr"/>
                      <a:r>
                        <a:rPr sz="1000" b="1">
                          <a:solidFill>
                            <a:srgbClr val="FFFFFF"/>
                          </a:solidFill>
                          <a:latin typeface="微软雅黑" panose="020B0503020204020204" charset="-122"/>
                        </a:rPr>
                        <a:t>方法</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失败样例</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SQL+ 有效</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SQL 可执行</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修复成功</a:t>
                      </a:r>
                      <a:endParaRPr sz="1000" b="1">
                        <a:solidFill>
                          <a:srgbClr val="FFFFFF"/>
                        </a:solidFill>
                        <a:latin typeface="微软雅黑" panose="020B0503020204020204" charset="-122"/>
                      </a:endParaRPr>
                    </a:p>
                  </a:txBody>
                  <a:tcPr>
                    <a:solidFill>
                      <a:srgbClr val="1F4E79"/>
                    </a:solidFill>
                  </a:tcPr>
                </a:tc>
              </a:tr>
              <a:tr h="525145">
                <a:tc>
                  <a:txBody>
                    <a:bodyPr/>
                    <a:lstStyle/>
                    <a:p>
                      <a:pPr algn="l"/>
                      <a:r>
                        <a:rPr sz="900" b="0">
                          <a:solidFill>
                            <a:srgbClr val="2D2D2D"/>
                          </a:solidFill>
                          <a:latin typeface="微软雅黑" panose="020B0503020204020204" charset="-122"/>
                        </a:rPr>
                        <a:t>SQL+ 非 gold Refiner v2</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12/13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4/13</a:t>
                      </a:r>
                      <a:endParaRPr sz="900" b="0">
                        <a:solidFill>
                          <a:srgbClr val="2D2D2D"/>
                        </a:solidFill>
                        <a:latin typeface="微软雅黑" panose="020B0503020204020204" charset="-122"/>
                      </a:endParaRPr>
                    </a:p>
                  </a:txBody>
                  <a:tcPr>
                    <a:solidFill>
                      <a:srgbClr val="FFFFFF"/>
                    </a:solidFill>
                  </a:tcPr>
                </a:tc>
              </a:tr>
              <a:tr h="525145">
                <a:tc>
                  <a:txBody>
                    <a:bodyPr/>
                    <a:lstStyle/>
                    <a:p>
                      <a:pPr algn="l"/>
                      <a:r>
                        <a:rPr sz="900" b="0">
                          <a:solidFill>
                            <a:srgbClr val="2D2D2D"/>
                          </a:solidFill>
                          <a:latin typeface="微软雅黑" panose="020B0503020204020204" charset="-122"/>
                        </a:rPr>
                        <a:t>Direct SQL 非 gold Refiner</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14</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14/14</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6/14</a:t>
                      </a:r>
                      <a:endParaRPr sz="900" b="0">
                        <a:solidFill>
                          <a:srgbClr val="2D2D2D"/>
                        </a:solidFill>
                        <a:latin typeface="微软雅黑" panose="020B0503020204020204" charset="-122"/>
                      </a:endParaRPr>
                    </a:p>
                  </a:txBody>
                  <a:tcPr>
                    <a:solidFill>
                      <a:srgbClr val="EEF2F7"/>
                    </a:solidFill>
                  </a:tcPr>
                </a:tc>
              </a:tr>
              <a:tr h="525145">
                <a:tc>
                  <a:txBody>
                    <a:bodyPr/>
                    <a:lstStyle/>
                    <a:p>
                      <a:pPr algn="l"/>
                      <a:r>
                        <a:rPr sz="900" b="0">
                          <a:solidFill>
                            <a:srgbClr val="2D2D2D"/>
                          </a:solidFill>
                          <a:latin typeface="微软雅黑" panose="020B0503020204020204" charset="-122"/>
                        </a:rPr>
                        <a:t>SQL+ Schema-Critic-Refiner</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3/13</a:t>
                      </a:r>
                      <a:endParaRPr sz="900" b="0">
                        <a:solidFill>
                          <a:srgbClr val="2D2D2D"/>
                        </a:solidFill>
                        <a:latin typeface="微软雅黑" panose="020B0503020204020204" charset="-122"/>
                      </a:endParaRPr>
                    </a:p>
                  </a:txBody>
                  <a:tcPr>
                    <a:solidFill>
                      <a:srgbClr val="FFFFFF"/>
                    </a:solidFill>
                  </a:tcPr>
                </a:tc>
              </a:tr>
              <a:tr h="525145">
                <a:tc>
                  <a:txBody>
                    <a:bodyPr/>
                    <a:lstStyle/>
                    <a:p>
                      <a:pPr algn="l"/>
                      <a:r>
                        <a:rPr sz="900" b="0">
                          <a:solidFill>
                            <a:srgbClr val="2D2D2D"/>
                          </a:solidFill>
                          <a:latin typeface="微软雅黑" panose="020B0503020204020204" charset="-122"/>
                        </a:rPr>
                        <a:t>SQL+ Step-wise Critic-Refiner</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13</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12/13</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3/13</a:t>
                      </a:r>
                      <a:endParaRPr sz="900" b="0">
                        <a:solidFill>
                          <a:srgbClr val="2D2D2D"/>
                        </a:solidFill>
                        <a:latin typeface="微软雅黑" panose="020B0503020204020204" charset="-122"/>
                      </a:endParaRPr>
                    </a:p>
                  </a:txBody>
                  <a:tcPr>
                    <a:solidFill>
                      <a:srgbClr val="EEF2F7"/>
                    </a:solidFill>
                  </a:tcPr>
                </a:tc>
              </a:tr>
              <a:tr h="525145">
                <a:tc>
                  <a:txBody>
                    <a:bodyPr/>
                    <a:lstStyle/>
                    <a:p>
                      <a:pPr algn="l"/>
                      <a:r>
                        <a:rPr sz="900" b="0">
                          <a:solidFill>
                            <a:srgbClr val="2D2D2D"/>
                          </a:solidFill>
                          <a:latin typeface="微软雅黑" panose="020B0503020204020204" charset="-122"/>
                        </a:rPr>
                        <a:t>SQL+ Skill Router + Repair Skills v3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FFFFFF"/>
                    </a:solidFill>
                  </a:tcPr>
                </a:tc>
              </a:tr>
            </a:tbl>
          </a:graphicData>
        </a:graphic>
      </p:graphicFrame>
      <p:sp>
        <p:nvSpPr>
          <p:cNvPr id="4" name="TextBox 3"/>
          <p:cNvSpPr txBox="1"/>
          <p:nvPr/>
        </p:nvSpPr>
        <p:spPr>
          <a:xfrm>
            <a:off x="502920" y="6021705"/>
            <a:ext cx="7863840" cy="256540"/>
          </a:xfrm>
          <a:prstGeom prst="rect">
            <a:avLst/>
          </a:prstGeom>
          <a:noFill/>
        </p:spPr>
        <p:txBody>
          <a:bodyPr wrap="none">
            <a:noAutofit/>
          </a:bodyPr>
          <a:lstStyle/>
          <a:p>
            <a:pPr algn="l"/>
            <a:r>
              <a:rPr sz="1100" b="0">
                <a:solidFill>
                  <a:srgbClr val="C65911"/>
                </a:solidFill>
                <a:latin typeface="微软雅黑" panose="020B0503020204020204" charset="-122"/>
              </a:rPr>
              <a:t>结论：简单多 Agent 串联不一定提升，Critic + Router + 局部 skill 的闭环更稳定。</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18</a:t>
            </a:r>
            <a:endParaRPr sz="800" b="0">
              <a:solidFill>
                <a:srgbClr val="646464"/>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67360" y="105283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Repairability 指标对比</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467995" y="1839595"/>
          <a:ext cx="8229600" cy="356235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712470">
                <a:tc>
                  <a:txBody>
                    <a:bodyPr/>
                    <a:lstStyle/>
                    <a:p>
                      <a:pPr algn="ctr"/>
                      <a:r>
                        <a:rPr sz="1000" b="1">
                          <a:solidFill>
                            <a:srgbClr val="FFFFFF"/>
                          </a:solidFill>
                          <a:latin typeface="微软雅黑" panose="020B0503020204020204" charset="-122"/>
                        </a:rPr>
                        <a:t>方法</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样例数</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修复成功</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定位准确率</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最小 patch 率</a:t>
                      </a:r>
                      <a:endParaRPr sz="1000" b="1">
                        <a:solidFill>
                          <a:srgbClr val="FFFFFF"/>
                        </a:solidFill>
                        <a:latin typeface="微软雅黑" panose="020B0503020204020204" charset="-122"/>
                      </a:endParaRPr>
                    </a:p>
                  </a:txBody>
                  <a:tcPr>
                    <a:solidFill>
                      <a:srgbClr val="1F4E79"/>
                    </a:solidFill>
                  </a:tcPr>
                </a:tc>
                <a:tc>
                  <a:txBody>
                    <a:bodyPr/>
                    <a:lstStyle/>
                    <a:p>
                      <a:pPr algn="ctr"/>
                      <a:r>
                        <a:rPr sz="1000" b="1">
                          <a:solidFill>
                            <a:srgbClr val="FFFFFF"/>
                          </a:solidFill>
                          <a:latin typeface="微软雅黑" panose="020B0503020204020204" charset="-122"/>
                        </a:rPr>
                        <a:t>平均 repair token</a:t>
                      </a:r>
                      <a:endParaRPr sz="1000" b="1">
                        <a:solidFill>
                          <a:srgbClr val="FFFFFF"/>
                        </a:solidFill>
                        <a:latin typeface="微软雅黑" panose="020B0503020204020204" charset="-122"/>
                      </a:endParaRPr>
                    </a:p>
                  </a:txBody>
                  <a:tcPr>
                    <a:solidFill>
                      <a:srgbClr val="1F4E79"/>
                    </a:solidFill>
                  </a:tcPr>
                </a:tc>
              </a:tr>
              <a:tr h="712470">
                <a:tc>
                  <a:txBody>
                    <a:bodyPr/>
                    <a:lstStyle/>
                    <a:p>
                      <a:pPr algn="l"/>
                      <a:r>
                        <a:rPr sz="900" b="0">
                          <a:solidFill>
                            <a:srgbClr val="2D2D2D"/>
                          </a:solidFill>
                          <a:latin typeface="微软雅黑" panose="020B0503020204020204" charset="-122"/>
                        </a:rPr>
                        <a:t>Direct SQL Refiner</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14</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6/14</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0.8571</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0.8571</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1609.3571</a:t>
                      </a:r>
                      <a:endParaRPr sz="900" b="0">
                        <a:solidFill>
                          <a:srgbClr val="2D2D2D"/>
                        </a:solidFill>
                        <a:latin typeface="微软雅黑" panose="020B0503020204020204" charset="-122"/>
                      </a:endParaRPr>
                    </a:p>
                  </a:txBody>
                  <a:tcPr>
                    <a:solidFill>
                      <a:srgbClr val="FFFFFF"/>
                    </a:solidFill>
                  </a:tcPr>
                </a:tc>
              </a:tr>
              <a:tr h="712470">
                <a:tc>
                  <a:txBody>
                    <a:bodyPr/>
                    <a:lstStyle/>
                    <a:p>
                      <a:pPr algn="l"/>
                      <a:r>
                        <a:rPr sz="900" b="0">
                          <a:solidFill>
                            <a:srgbClr val="2D2D2D"/>
                          </a:solidFill>
                          <a:latin typeface="微软雅黑" panose="020B0503020204020204" charset="-122"/>
                        </a:rPr>
                        <a:t>SQL+ Critic Router Skills</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13</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13/13</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0.7692</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0.9231</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3813.9231</a:t>
                      </a:r>
                      <a:endParaRPr sz="900" b="0">
                        <a:solidFill>
                          <a:srgbClr val="2D2D2D"/>
                        </a:solidFill>
                        <a:latin typeface="微软雅黑" panose="020B0503020204020204" charset="-122"/>
                      </a:endParaRPr>
                    </a:p>
                  </a:txBody>
                  <a:tcPr>
                    <a:solidFill>
                      <a:srgbClr val="EEF2F7"/>
                    </a:solidFill>
                  </a:tcPr>
                </a:tc>
              </a:tr>
              <a:tr h="712470">
                <a:tc>
                  <a:txBody>
                    <a:bodyPr/>
                    <a:lstStyle/>
                    <a:p>
                      <a:pPr algn="l"/>
                      <a:r>
                        <a:rPr sz="900" b="0">
                          <a:solidFill>
                            <a:srgbClr val="2D2D2D"/>
                          </a:solidFill>
                          <a:latin typeface="微软雅黑" panose="020B0503020204020204" charset="-122"/>
                        </a:rPr>
                        <a:t>Direct SQL overlap</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9</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4/9</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0.8889</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0.8889</a:t>
                      </a:r>
                      <a:endParaRPr sz="900" b="0">
                        <a:solidFill>
                          <a:srgbClr val="2D2D2D"/>
                        </a:solidFill>
                        <a:latin typeface="微软雅黑" panose="020B0503020204020204" charset="-122"/>
                      </a:endParaRPr>
                    </a:p>
                  </a:txBody>
                  <a:tcPr>
                    <a:solidFill>
                      <a:srgbClr val="FFFFFF"/>
                    </a:solidFill>
                  </a:tcPr>
                </a:tc>
                <a:tc>
                  <a:txBody>
                    <a:bodyPr/>
                    <a:lstStyle/>
                    <a:p>
                      <a:pPr algn="l"/>
                      <a:r>
                        <a:rPr sz="900" b="0">
                          <a:solidFill>
                            <a:srgbClr val="2D2D2D"/>
                          </a:solidFill>
                          <a:latin typeface="微软雅黑" panose="020B0503020204020204" charset="-122"/>
                        </a:rPr>
                        <a:t>1583.2222</a:t>
                      </a:r>
                      <a:endParaRPr sz="900" b="0">
                        <a:solidFill>
                          <a:srgbClr val="2D2D2D"/>
                        </a:solidFill>
                        <a:latin typeface="微软雅黑" panose="020B0503020204020204" charset="-122"/>
                      </a:endParaRPr>
                    </a:p>
                  </a:txBody>
                  <a:tcPr>
                    <a:solidFill>
                      <a:srgbClr val="FFFFFF"/>
                    </a:solidFill>
                  </a:tcPr>
                </a:tc>
              </a:tr>
              <a:tr h="712470">
                <a:tc>
                  <a:txBody>
                    <a:bodyPr/>
                    <a:lstStyle/>
                    <a:p>
                      <a:pPr algn="l"/>
                      <a:r>
                        <a:rPr sz="900" b="0">
                          <a:solidFill>
                            <a:srgbClr val="2D2D2D"/>
                          </a:solidFill>
                          <a:latin typeface="微软雅黑" panose="020B0503020204020204" charset="-122"/>
                        </a:rPr>
                        <a:t>SQL+ Router overlap</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9</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9/9</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0.7778</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0.8889</a:t>
                      </a:r>
                      <a:endParaRPr sz="900" b="0">
                        <a:solidFill>
                          <a:srgbClr val="2D2D2D"/>
                        </a:solidFill>
                        <a:latin typeface="微软雅黑" panose="020B0503020204020204" charset="-122"/>
                      </a:endParaRPr>
                    </a:p>
                  </a:txBody>
                  <a:tcPr>
                    <a:solidFill>
                      <a:srgbClr val="EEF2F7"/>
                    </a:solidFill>
                  </a:tcPr>
                </a:tc>
                <a:tc>
                  <a:txBody>
                    <a:bodyPr/>
                    <a:lstStyle/>
                    <a:p>
                      <a:pPr algn="l"/>
                      <a:r>
                        <a:rPr sz="900" b="0">
                          <a:solidFill>
                            <a:srgbClr val="2D2D2D"/>
                          </a:solidFill>
                          <a:latin typeface="微软雅黑" panose="020B0503020204020204" charset="-122"/>
                        </a:rPr>
                        <a:t>4001.7778</a:t>
                      </a:r>
                      <a:endParaRPr sz="900" b="0">
                        <a:solidFill>
                          <a:srgbClr val="2D2D2D"/>
                        </a:solidFill>
                        <a:latin typeface="微软雅黑" panose="020B0503020204020204" charset="-122"/>
                      </a:endParaRPr>
                    </a:p>
                  </a:txBody>
                  <a:tcPr>
                    <a:solidFill>
                      <a:srgbClr val="EEF2F7"/>
                    </a:solidFill>
                  </a:tcPr>
                </a:tc>
              </a:tr>
            </a:tbl>
          </a:graphicData>
        </a:graphic>
      </p:graphicFrame>
      <p:sp>
        <p:nvSpPr>
          <p:cNvPr id="4" name="TextBox 3"/>
          <p:cNvSpPr txBox="1"/>
          <p:nvPr/>
        </p:nvSpPr>
        <p:spPr>
          <a:xfrm>
            <a:off x="539115" y="6022340"/>
            <a:ext cx="7863840" cy="305435"/>
          </a:xfrm>
          <a:prstGeom prst="rect">
            <a:avLst/>
          </a:prstGeom>
          <a:noFill/>
        </p:spPr>
        <p:txBody>
          <a:bodyPr wrap="none">
            <a:noAutofit/>
          </a:bodyPr>
          <a:lstStyle/>
          <a:p>
            <a:pPr algn="l"/>
            <a:r>
              <a:rPr sz="1100" b="0">
                <a:solidFill>
                  <a:srgbClr val="C65911"/>
                </a:solidFill>
                <a:latin typeface="微软雅黑" panose="020B0503020204020204" charset="-122"/>
              </a:rPr>
              <a:t>结论：SQL+ 修复成功率和 patch 可控性更好，但 Critic token 成本更高。</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19</a:t>
            </a:r>
            <a:endParaRPr sz="800" b="0">
              <a:solidFill>
                <a:srgbClr val="646464"/>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4970" y="1052830"/>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分治 Repair Skill 实验</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457200" y="1885950"/>
          <a:ext cx="8229600" cy="3470910"/>
        </p:xfrm>
        <a:graphic>
          <a:graphicData uri="http://schemas.openxmlformats.org/drawingml/2006/table">
            <a:tbl>
              <a:tblPr firstRow="1" bandRow="1">
                <a:tableStyleId>{5C22544A-7EE6-4342-B048-85BDC9FD1C3A}</a:tableStyleId>
              </a:tblPr>
              <a:tblGrid>
                <a:gridCol w="2057400"/>
                <a:gridCol w="2057400"/>
                <a:gridCol w="2057400"/>
                <a:gridCol w="2057400"/>
              </a:tblGrid>
              <a:tr h="578485">
                <a:tc>
                  <a:txBody>
                    <a:bodyPr/>
                    <a:lstStyle/>
                    <a:p>
                      <a:pPr algn="ctr"/>
                      <a:r>
                        <a:rPr sz="1100" b="1">
                          <a:solidFill>
                            <a:srgbClr val="FFFFFF"/>
                          </a:solidFill>
                          <a:latin typeface="微软雅黑" panose="020B0503020204020204" charset="-122"/>
                        </a:rPr>
                        <a:t>Repair Skill</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样例数</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修复成功</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覆盖问题</a:t>
                      </a:r>
                      <a:endParaRPr sz="1100" b="1">
                        <a:solidFill>
                          <a:srgbClr val="FFFFFF"/>
                        </a:solidFill>
                        <a:latin typeface="微软雅黑" panose="020B0503020204020204" charset="-122"/>
                      </a:endParaRPr>
                    </a:p>
                  </a:txBody>
                  <a:tcPr>
                    <a:solidFill>
                      <a:srgbClr val="1F4E79"/>
                    </a:solidFill>
                  </a:tcPr>
                </a:tc>
              </a:tr>
              <a:tr h="578485">
                <a:tc>
                  <a:txBody>
                    <a:bodyPr/>
                    <a:lstStyle/>
                    <a:p>
                      <a:pPr algn="l"/>
                      <a:r>
                        <a:rPr sz="1000" b="0">
                          <a:solidFill>
                            <a:srgbClr val="2D2D2D"/>
                          </a:solidFill>
                          <a:latin typeface="微软雅黑" panose="020B0503020204020204" charset="-122"/>
                        </a:rPr>
                        <a:t>value-linking</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3/3</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候选值、日期边界、状态值</a:t>
                      </a:r>
                      <a:endParaRPr sz="1000" b="0">
                        <a:solidFill>
                          <a:srgbClr val="2D2D2D"/>
                        </a:solidFill>
                        <a:latin typeface="微软雅黑" panose="020B0503020204020204" charset="-122"/>
                      </a:endParaRPr>
                    </a:p>
                  </a:txBody>
                  <a:tcPr>
                    <a:solidFill>
                      <a:srgbClr val="FFFFFF"/>
                    </a:solidFill>
                  </a:tcPr>
                </a:tc>
              </a:tr>
              <a:tr h="578485">
                <a:tc>
                  <a:txBody>
                    <a:bodyPr/>
                    <a:lstStyle/>
                    <a:p>
                      <a:pPr algn="l"/>
                      <a:r>
                        <a:rPr sz="1000" b="0">
                          <a:solidFill>
                            <a:srgbClr val="2D2D2D"/>
                          </a:solidFill>
                          <a:latin typeface="微软雅黑" panose="020B0503020204020204" charset="-122"/>
                        </a:rPr>
                        <a:t>ORDER</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3</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3/3</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排序字段、排序方向、LIMIT</a:t>
                      </a:r>
                      <a:endParaRPr sz="1000" b="0">
                        <a:solidFill>
                          <a:srgbClr val="2D2D2D"/>
                        </a:solidFill>
                        <a:latin typeface="微软雅黑" panose="020B0503020204020204" charset="-122"/>
                      </a:endParaRPr>
                    </a:p>
                  </a:txBody>
                  <a:tcPr>
                    <a:solidFill>
                      <a:srgbClr val="EEF2F7"/>
                    </a:solidFill>
                  </a:tcPr>
                </a:tc>
              </a:tr>
              <a:tr h="578485">
                <a:tc>
                  <a:txBody>
                    <a:bodyPr/>
                    <a:lstStyle/>
                    <a:p>
                      <a:pPr algn="l"/>
                      <a:r>
                        <a:rPr sz="1000" b="0">
                          <a:solidFill>
                            <a:srgbClr val="2D2D2D"/>
                          </a:solidFill>
                          <a:latin typeface="微软雅黑" panose="020B0503020204020204" charset="-122"/>
                        </a:rPr>
                        <a:t>aggregation</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3/3</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COUNT 口径、GROUP 维度、AGG 别名</a:t>
                      </a:r>
                      <a:endParaRPr sz="1000" b="0">
                        <a:solidFill>
                          <a:srgbClr val="2D2D2D"/>
                        </a:solidFill>
                        <a:latin typeface="微软雅黑" panose="020B0503020204020204" charset="-122"/>
                      </a:endParaRPr>
                    </a:p>
                  </a:txBody>
                  <a:tcPr>
                    <a:solidFill>
                      <a:srgbClr val="FFFFFF"/>
                    </a:solidFill>
                  </a:tcPr>
                </a:tc>
              </a:tr>
              <a:tr h="578485">
                <a:tc>
                  <a:txBody>
                    <a:bodyPr/>
                    <a:lstStyle/>
                    <a:p>
                      <a:pPr algn="l"/>
                      <a:r>
                        <a:rPr sz="1000" b="0">
                          <a:solidFill>
                            <a:srgbClr val="2D2D2D"/>
                          </a:solidFill>
                          <a:latin typeface="微软雅黑" panose="020B0503020204020204" charset="-122"/>
                        </a:rPr>
                        <a:t>join</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3</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3/3</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JOIN 方向、冗余 JOIN、缺失 JOIN、paid 过滤</a:t>
                      </a:r>
                      <a:endParaRPr sz="1000" b="0">
                        <a:solidFill>
                          <a:srgbClr val="2D2D2D"/>
                        </a:solidFill>
                        <a:latin typeface="微软雅黑" panose="020B0503020204020204" charset="-122"/>
                      </a:endParaRPr>
                    </a:p>
                  </a:txBody>
                  <a:tcPr>
                    <a:solidFill>
                      <a:srgbClr val="EEF2F7"/>
                    </a:solidFill>
                  </a:tcPr>
                </a:tc>
              </a:tr>
              <a:tr h="578485">
                <a:tc>
                  <a:txBody>
                    <a:bodyPr/>
                    <a:lstStyle/>
                    <a:p>
                      <a:pPr algn="l"/>
                      <a:r>
                        <a:rPr sz="1000" b="0">
                          <a:solidFill>
                            <a:srgbClr val="2D2D2D"/>
                          </a:solidFill>
                          <a:latin typeface="微软雅黑" panose="020B0503020204020204" charset="-122"/>
                        </a:rPr>
                        <a:t>projection</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1</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1/1</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结果列多、列少或列顺序错误</a:t>
                      </a:r>
                      <a:endParaRPr sz="1000" b="0">
                        <a:solidFill>
                          <a:srgbClr val="2D2D2D"/>
                        </a:solidFill>
                        <a:latin typeface="微软雅黑" panose="020B0503020204020204" charset="-122"/>
                      </a:endParaRPr>
                    </a:p>
                  </a:txBody>
                  <a:tcPr>
                    <a:solidFill>
                      <a:srgbClr val="FFFFFF"/>
                    </a:solidFill>
                  </a:tcPr>
                </a:tc>
              </a:tr>
            </a:tbl>
          </a:graphicData>
        </a:graphic>
      </p:graphicFrame>
      <p:sp>
        <p:nvSpPr>
          <p:cNvPr id="4" name="TextBox 3"/>
          <p:cNvSpPr txBox="1"/>
          <p:nvPr/>
        </p:nvSpPr>
        <p:spPr>
          <a:xfrm>
            <a:off x="502920" y="6021070"/>
            <a:ext cx="7863840" cy="290830"/>
          </a:xfrm>
          <a:prstGeom prst="rect">
            <a:avLst/>
          </a:prstGeom>
          <a:noFill/>
        </p:spPr>
        <p:txBody>
          <a:bodyPr wrap="none">
            <a:noAutofit/>
          </a:bodyPr>
          <a:lstStyle/>
          <a:p>
            <a:pPr algn="l"/>
            <a:r>
              <a:rPr sz="1100" b="0">
                <a:solidFill>
                  <a:srgbClr val="C65911"/>
                </a:solidFill>
                <a:latin typeface="微软雅黑" panose="020B0503020204020204" charset="-122"/>
              </a:rPr>
              <a:t>结论：不同错误类型需要不同的局部修复策略，整体重写不是最优路径。</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20</a:t>
            </a:r>
            <a:endParaRPr sz="800" b="0">
              <a:solidFill>
                <a:srgbClr val="646464"/>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1124585"/>
            <a:ext cx="8229600" cy="502920"/>
          </a:xfrm>
          <a:prstGeom prst="rect">
            <a:avLst/>
          </a:prstGeom>
          <a:noFill/>
        </p:spPr>
        <p:txBody>
          <a:bodyPr wrap="none">
            <a:spAutoFit/>
          </a:bodyPr>
          <a:lstStyle/>
          <a:p>
            <a:pPr algn="l"/>
            <a:r>
              <a:rPr sz="2500" b="1">
                <a:solidFill>
                  <a:srgbClr val="1F4E79"/>
                </a:solidFill>
                <a:latin typeface="微软雅黑" panose="020B0503020204020204" charset="-122"/>
              </a:rPr>
              <a:t>Spider 小规模 Benchmark Smoke Test</a:t>
            </a:r>
            <a:endParaRPr sz="2500" b="1">
              <a:solidFill>
                <a:srgbClr val="1F4E79"/>
              </a:solidFill>
              <a:latin typeface="微软雅黑" panose="020B0503020204020204" charset="-122"/>
            </a:endParaRPr>
          </a:p>
        </p:txBody>
      </p:sp>
      <p:graphicFrame>
        <p:nvGraphicFramePr>
          <p:cNvPr id="3" name="Table 2"/>
          <p:cNvGraphicFramePr>
            <a:graphicFrameLocks noGrp="1"/>
          </p:cNvGraphicFramePr>
          <p:nvPr>
            <p:custDataLst>
              <p:tags r:id="rId1"/>
            </p:custDataLst>
          </p:nvPr>
        </p:nvGraphicFramePr>
        <p:xfrm>
          <a:off x="395605" y="1844675"/>
          <a:ext cx="8229600" cy="3667125"/>
        </p:xfrm>
        <a:graphic>
          <a:graphicData uri="http://schemas.openxmlformats.org/drawingml/2006/table">
            <a:tbl>
              <a:tblPr firstRow="1" bandRow="1">
                <a:tableStyleId>{5C22544A-7EE6-4342-B048-85BDC9FD1C3A}</a:tableStyleId>
              </a:tblPr>
              <a:tblGrid>
                <a:gridCol w="2743200"/>
                <a:gridCol w="2743200"/>
                <a:gridCol w="2743200"/>
              </a:tblGrid>
              <a:tr h="523875">
                <a:tc>
                  <a:txBody>
                    <a:bodyPr/>
                    <a:lstStyle/>
                    <a:p>
                      <a:pPr algn="ctr"/>
                      <a:r>
                        <a:rPr sz="1100" b="1">
                          <a:solidFill>
                            <a:srgbClr val="FFFFFF"/>
                          </a:solidFill>
                          <a:latin typeface="微软雅黑" panose="020B0503020204020204" charset="-122"/>
                        </a:rPr>
                        <a:t>指标</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结果</a:t>
                      </a:r>
                      <a:endParaRPr sz="1100" b="1">
                        <a:solidFill>
                          <a:srgbClr val="FFFFFF"/>
                        </a:solidFill>
                        <a:latin typeface="微软雅黑" panose="020B0503020204020204" charset="-122"/>
                      </a:endParaRPr>
                    </a:p>
                  </a:txBody>
                  <a:tcPr>
                    <a:solidFill>
                      <a:srgbClr val="1F4E79"/>
                    </a:solidFill>
                  </a:tcPr>
                </a:tc>
                <a:tc>
                  <a:txBody>
                    <a:bodyPr/>
                    <a:lstStyle/>
                    <a:p>
                      <a:pPr algn="ctr"/>
                      <a:r>
                        <a:rPr sz="1100" b="1">
                          <a:solidFill>
                            <a:srgbClr val="FFFFFF"/>
                          </a:solidFill>
                          <a:latin typeface="微软雅黑" panose="020B0503020204020204" charset="-122"/>
                        </a:rPr>
                        <a:t>边界说明</a:t>
                      </a:r>
                      <a:endParaRPr sz="1100" b="1">
                        <a:solidFill>
                          <a:srgbClr val="FFFFFF"/>
                        </a:solidFill>
                        <a:latin typeface="微软雅黑" panose="020B0503020204020204" charset="-122"/>
                      </a:endParaRPr>
                    </a:p>
                  </a:txBody>
                  <a:tcPr>
                    <a:solidFill>
                      <a:srgbClr val="1F4E79"/>
                    </a:solidFill>
                  </a:tcPr>
                </a:tc>
              </a:tr>
              <a:tr h="523875">
                <a:tc>
                  <a:txBody>
                    <a:bodyPr/>
                    <a:lstStyle/>
                    <a:p>
                      <a:pPr algn="l"/>
                      <a:r>
                        <a:rPr sz="1000" b="0">
                          <a:solidFill>
                            <a:srgbClr val="2D2D2D"/>
                          </a:solidFill>
                          <a:latin typeface="微软雅黑" panose="020B0503020204020204" charset="-122"/>
                        </a:rPr>
                        <a:t>数据集</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Spider dev 子集</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只验证迁移可行性</a:t>
                      </a:r>
                      <a:endParaRPr sz="1000" b="0">
                        <a:solidFill>
                          <a:srgbClr val="2D2D2D"/>
                        </a:solidFill>
                        <a:latin typeface="微软雅黑" panose="020B0503020204020204" charset="-122"/>
                      </a:endParaRPr>
                    </a:p>
                  </a:txBody>
                  <a:tcPr>
                    <a:solidFill>
                      <a:srgbClr val="FFFFFF"/>
                    </a:solidFill>
                  </a:tcPr>
                </a:tc>
              </a:tr>
              <a:tr h="523875">
                <a:tc>
                  <a:txBody>
                    <a:bodyPr/>
                    <a:lstStyle/>
                    <a:p>
                      <a:pPr algn="l"/>
                      <a:r>
                        <a:rPr sz="1000" b="0">
                          <a:solidFill>
                            <a:srgbClr val="2D2D2D"/>
                          </a:solidFill>
                          <a:latin typeface="微软雅黑" panose="020B0503020204020204" charset="-122"/>
                        </a:rPr>
                        <a:t>数据库</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concert_singer</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当前 SQL+ 子集可覆盖</a:t>
                      </a:r>
                      <a:endParaRPr sz="1000" b="0">
                        <a:solidFill>
                          <a:srgbClr val="2D2D2D"/>
                        </a:solidFill>
                        <a:latin typeface="微软雅黑" panose="020B0503020204020204" charset="-122"/>
                      </a:endParaRPr>
                    </a:p>
                  </a:txBody>
                  <a:tcPr>
                    <a:solidFill>
                      <a:srgbClr val="EEF2F7"/>
                    </a:solidFill>
                  </a:tcPr>
                </a:tc>
              </a:tr>
              <a:tr h="523875">
                <a:tc>
                  <a:txBody>
                    <a:bodyPr/>
                    <a:lstStyle/>
                    <a:p>
                      <a:pPr algn="l"/>
                      <a:r>
                        <a:rPr sz="1000" b="0">
                          <a:solidFill>
                            <a:srgbClr val="2D2D2D"/>
                          </a:solidFill>
                          <a:latin typeface="微软雅黑" panose="020B0503020204020204" charset="-122"/>
                        </a:rPr>
                        <a:t>样例数</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20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非完整 Spider</a:t>
                      </a:r>
                      <a:endParaRPr sz="1000" b="0">
                        <a:solidFill>
                          <a:srgbClr val="2D2D2D"/>
                        </a:solidFill>
                        <a:latin typeface="微软雅黑" panose="020B0503020204020204" charset="-122"/>
                      </a:endParaRPr>
                    </a:p>
                  </a:txBody>
                  <a:tcPr>
                    <a:solidFill>
                      <a:srgbClr val="FFFFFF"/>
                    </a:solidFill>
                  </a:tcPr>
                </a:tc>
              </a:tr>
              <a:tr h="523875">
                <a:tc>
                  <a:txBody>
                    <a:bodyPr/>
                    <a:lstStyle/>
                    <a:p>
                      <a:pPr algn="l"/>
                      <a:r>
                        <a:rPr sz="1000" b="0">
                          <a:solidFill>
                            <a:srgbClr val="2D2D2D"/>
                          </a:solidFill>
                          <a:latin typeface="微软雅黑" panose="020B0503020204020204" charset="-122"/>
                        </a:rPr>
                        <a:t>SQL+ 有效</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20/20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转换链路可用</a:t>
                      </a:r>
                      <a:endParaRPr sz="1000" b="0">
                        <a:solidFill>
                          <a:srgbClr val="2D2D2D"/>
                        </a:solidFill>
                        <a:latin typeface="微软雅黑" panose="020B0503020204020204" charset="-122"/>
                      </a:endParaRPr>
                    </a:p>
                  </a:txBody>
                  <a:tcPr>
                    <a:solidFill>
                      <a:srgbClr val="EEF2F7"/>
                    </a:solidFill>
                  </a:tcPr>
                </a:tc>
              </a:tr>
              <a:tr h="523875">
                <a:tc>
                  <a:txBody>
                    <a:bodyPr/>
                    <a:lstStyle/>
                    <a:p>
                      <a:pPr algn="l"/>
                      <a:r>
                        <a:rPr sz="1000" b="0">
                          <a:solidFill>
                            <a:srgbClr val="2D2D2D"/>
                          </a:solidFill>
                          <a:latin typeface="微软雅黑" panose="020B0503020204020204" charset="-122"/>
                        </a:rPr>
                        <a:t>SQL 可执行</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20/20</a:t>
                      </a:r>
                      <a:endParaRPr sz="1000" b="0">
                        <a:solidFill>
                          <a:srgbClr val="2D2D2D"/>
                        </a:solidFill>
                        <a:latin typeface="微软雅黑" panose="020B0503020204020204" charset="-122"/>
                      </a:endParaRPr>
                    </a:p>
                  </a:txBody>
                  <a:tcPr>
                    <a:solidFill>
                      <a:srgbClr val="FFFFFF"/>
                    </a:solidFill>
                  </a:tcPr>
                </a:tc>
                <a:tc>
                  <a:txBody>
                    <a:bodyPr/>
                    <a:lstStyle/>
                    <a:p>
                      <a:pPr algn="l"/>
                      <a:r>
                        <a:rPr sz="1000" b="0">
                          <a:solidFill>
                            <a:srgbClr val="2D2D2D"/>
                          </a:solidFill>
                          <a:latin typeface="微软雅黑" panose="020B0503020204020204" charset="-122"/>
                        </a:rPr>
                        <a:t>执行无错误</a:t>
                      </a:r>
                      <a:endParaRPr sz="1000" b="0">
                        <a:solidFill>
                          <a:srgbClr val="2D2D2D"/>
                        </a:solidFill>
                        <a:latin typeface="微软雅黑" panose="020B0503020204020204" charset="-122"/>
                      </a:endParaRPr>
                    </a:p>
                  </a:txBody>
                  <a:tcPr>
                    <a:solidFill>
                      <a:srgbClr val="FFFFFF"/>
                    </a:solidFill>
                  </a:tcPr>
                </a:tc>
              </a:tr>
              <a:tr h="523875">
                <a:tc>
                  <a:txBody>
                    <a:bodyPr/>
                    <a:lstStyle/>
                    <a:p>
                      <a:pPr algn="l"/>
                      <a:r>
                        <a:rPr sz="1000" b="0">
                          <a:solidFill>
                            <a:srgbClr val="2D2D2D"/>
                          </a:solidFill>
                          <a:latin typeface="微软雅黑" panose="020B0503020204020204" charset="-122"/>
                        </a:rPr>
                        <a:t>执行一致</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20/20</a:t>
                      </a:r>
                      <a:endParaRPr sz="1000" b="0">
                        <a:solidFill>
                          <a:srgbClr val="2D2D2D"/>
                        </a:solidFill>
                        <a:latin typeface="微软雅黑" panose="020B0503020204020204" charset="-122"/>
                      </a:endParaRPr>
                    </a:p>
                  </a:txBody>
                  <a:tcPr>
                    <a:solidFill>
                      <a:srgbClr val="EEF2F7"/>
                    </a:solidFill>
                  </a:tcPr>
                </a:tc>
                <a:tc>
                  <a:txBody>
                    <a:bodyPr/>
                    <a:lstStyle/>
                    <a:p>
                      <a:pPr algn="l"/>
                      <a:r>
                        <a:rPr sz="1000" b="0">
                          <a:solidFill>
                            <a:srgbClr val="2D2D2D"/>
                          </a:solidFill>
                          <a:latin typeface="微软雅黑" panose="020B0503020204020204" charset="-122"/>
                        </a:rPr>
                        <a:t>与 gold SQL 结果一致</a:t>
                      </a:r>
                      <a:endParaRPr sz="1000" b="0">
                        <a:solidFill>
                          <a:srgbClr val="2D2D2D"/>
                        </a:solidFill>
                        <a:latin typeface="微软雅黑" panose="020B0503020204020204" charset="-122"/>
                      </a:endParaRPr>
                    </a:p>
                  </a:txBody>
                  <a:tcPr>
                    <a:solidFill>
                      <a:srgbClr val="EEF2F7"/>
                    </a:solidFill>
                  </a:tcPr>
                </a:tc>
              </a:tr>
            </a:tbl>
          </a:graphicData>
        </a:graphic>
      </p:graphicFrame>
      <p:sp>
        <p:nvSpPr>
          <p:cNvPr id="4" name="TextBox 3"/>
          <p:cNvSpPr txBox="1"/>
          <p:nvPr/>
        </p:nvSpPr>
        <p:spPr>
          <a:xfrm>
            <a:off x="502920" y="6021705"/>
            <a:ext cx="7863840" cy="238125"/>
          </a:xfrm>
          <a:prstGeom prst="rect">
            <a:avLst/>
          </a:prstGeom>
          <a:noFill/>
        </p:spPr>
        <p:txBody>
          <a:bodyPr wrap="none">
            <a:noAutofit/>
          </a:bodyPr>
          <a:lstStyle/>
          <a:p>
            <a:pPr algn="l"/>
            <a:r>
              <a:rPr sz="1100" b="0">
                <a:solidFill>
                  <a:srgbClr val="C65911"/>
                </a:solidFill>
                <a:latin typeface="微软雅黑" panose="020B0503020204020204" charset="-122"/>
              </a:rPr>
              <a:t>结论：这是公开 benchmark 子集迁移证据，不是完整 Spider benchmark 分数。</a:t>
            </a:r>
            <a:endParaRPr sz="1100" b="0">
              <a:solidFill>
                <a:srgbClr val="C65911"/>
              </a:solidFill>
              <a:latin typeface="微软雅黑" panose="020B0503020204020204" charset="-122"/>
            </a:endParaRP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21</a:t>
            </a:r>
            <a:endParaRPr sz="800" b="0">
              <a:solidFill>
                <a:srgbClr val="646464"/>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当前结果对研究假设的支撑</a:t>
            </a:r>
            <a:endParaRPr sz="2800" b="1">
              <a:solidFill>
                <a:srgbClr val="1F4E79"/>
              </a:solidFill>
              <a:latin typeface="微软雅黑" panose="020B0503020204020204" charset="-122"/>
            </a:endParaRPr>
          </a:p>
        </p:txBody>
      </p:sp>
      <p:sp>
        <p:nvSpPr>
          <p:cNvPr id="4" name="TextBox 3"/>
          <p:cNvSpPr txBox="1"/>
          <p:nvPr/>
        </p:nvSpPr>
        <p:spPr>
          <a:xfrm>
            <a:off x="457200" y="1844675"/>
            <a:ext cx="7863840" cy="4206240"/>
          </a:xfrm>
          <a:prstGeom prst="rect">
            <a:avLst/>
          </a:prstGeom>
          <a:noFill/>
        </p:spPr>
        <p:txBody>
          <a:bodyPr wrap="square">
            <a:spAutoFit/>
          </a:bodyPr>
          <a:lstStyle/>
          <a:p>
            <a:pPr>
              <a:spcAft>
                <a:spcPts val="800"/>
              </a:spcAft>
              <a:defRPr sz="1800">
                <a:solidFill>
                  <a:srgbClr val="2D2D2D"/>
                </a:solidFill>
                <a:latin typeface="微软雅黑" panose="020B0503020204020204" charset="-122"/>
              </a:defRPr>
            </a:pPr>
            <a:r>
              <a:t>SQL+ 转换 30/30 说明中间表示和确定性转换具备基础可行性。</a:t>
            </a:r>
          </a:p>
          <a:p>
            <a:pPr>
              <a:spcAft>
                <a:spcPts val="800"/>
              </a:spcAft>
              <a:defRPr sz="1800">
                <a:solidFill>
                  <a:srgbClr val="2D2D2D"/>
                </a:solidFill>
                <a:latin typeface="微软雅黑" panose="020B0503020204020204" charset="-122"/>
              </a:defRPr>
            </a:pPr>
            <a:r>
              <a:t>IR 对比说明 SQL+ 不应被表述为更短，而应表述为更低耦合、更适合步骤级定位。</a:t>
            </a:r>
          </a:p>
          <a:p>
            <a:pPr>
              <a:spcAft>
                <a:spcPts val="800"/>
              </a:spcAft>
              <a:defRPr sz="1800">
                <a:solidFill>
                  <a:srgbClr val="2D2D2D"/>
                </a:solidFill>
                <a:latin typeface="微软雅黑" panose="020B0503020204020204" charset="-122"/>
              </a:defRPr>
            </a:pPr>
            <a:r>
              <a:t>Direct SQL 与 SQL+ 初次生成差距很小，说明仅替换输出格式不足以解决 NL2SQL。</a:t>
            </a:r>
          </a:p>
          <a:p>
            <a:pPr>
              <a:spcAft>
                <a:spcPts val="800"/>
              </a:spcAft>
              <a:defRPr sz="1800">
                <a:solidFill>
                  <a:srgbClr val="2D2D2D"/>
                </a:solidFill>
                <a:latin typeface="微软雅黑" panose="020B0503020204020204" charset="-122"/>
              </a:defRPr>
            </a:pPr>
            <a:r>
              <a:t>Skill Router v3 的 13/13 说明错误类型路由和局部 repair skill 是值得继续研究的方向。</a:t>
            </a:r>
          </a:p>
          <a:p>
            <a:pPr>
              <a:spcAft>
                <a:spcPts val="800"/>
              </a:spcAft>
              <a:defRPr sz="1800">
                <a:solidFill>
                  <a:srgbClr val="2D2D2D"/>
                </a:solidFill>
                <a:latin typeface="微软雅黑" panose="020B0503020204020204" charset="-122"/>
              </a:defRPr>
            </a:pPr>
            <a:r>
              <a:t>Spider smoke test 20/20 说明当前 SQL+ 子集具备初步公开数据集迁移可能。</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22</a:t>
            </a:r>
            <a:endParaRPr sz="800" b="0">
              <a:solidFill>
                <a:srgbClr val="646464"/>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当前不足与风险</a:t>
            </a:r>
            <a:endParaRPr sz="2800" b="1">
              <a:solidFill>
                <a:srgbClr val="1F4E79"/>
              </a:solidFill>
              <a:latin typeface="微软雅黑" panose="020B0503020204020204" charset="-122"/>
            </a:endParaRPr>
          </a:p>
        </p:txBody>
      </p:sp>
      <p:sp>
        <p:nvSpPr>
          <p:cNvPr id="4" name="TextBox 3"/>
          <p:cNvSpPr txBox="1"/>
          <p:nvPr/>
        </p:nvSpPr>
        <p:spPr>
          <a:xfrm>
            <a:off x="457200" y="1910715"/>
            <a:ext cx="7863840" cy="4206240"/>
          </a:xfrm>
          <a:prstGeom prst="rect">
            <a:avLst/>
          </a:prstGeom>
          <a:noFill/>
        </p:spPr>
        <p:txBody>
          <a:bodyPr wrap="square">
            <a:spAutoFit/>
          </a:bodyPr>
          <a:lstStyle/>
          <a:p>
            <a:pPr>
              <a:spcAft>
                <a:spcPts val="800"/>
              </a:spcAft>
              <a:defRPr sz="1800">
                <a:solidFill>
                  <a:srgbClr val="2D2D2D"/>
                </a:solidFill>
                <a:latin typeface="微软雅黑" panose="020B0503020204020204" charset="-122"/>
              </a:defRPr>
            </a:pPr>
            <a:r>
              <a:t>自建数据集规模仍小，查询类型以常见分析查询为主。</a:t>
            </a:r>
          </a:p>
          <a:p>
            <a:pPr>
              <a:spcAft>
                <a:spcPts val="800"/>
              </a:spcAft>
              <a:defRPr sz="1800">
                <a:solidFill>
                  <a:srgbClr val="2D2D2D"/>
                </a:solidFill>
                <a:latin typeface="微软雅黑" panose="020B0503020204020204" charset="-122"/>
              </a:defRPr>
            </a:pPr>
            <a:r>
              <a:t>SemQL-style / NatSQL-style 目前是 controlled proxy，不是完整系统复现。</a:t>
            </a:r>
          </a:p>
          <a:p>
            <a:pPr>
              <a:spcAft>
                <a:spcPts val="800"/>
              </a:spcAft>
              <a:defRPr sz="1800">
                <a:solidFill>
                  <a:srgbClr val="2D2D2D"/>
                </a:solidFill>
                <a:latin typeface="微软雅黑" panose="020B0503020204020204" charset="-122"/>
              </a:defRPr>
            </a:pPr>
            <a:r>
              <a:t>Skill Router v3 的 13/13 来自当前已知 SQL+ 失败集，不能外推为大规模 benchmark 性能。</a:t>
            </a:r>
          </a:p>
          <a:p>
            <a:pPr>
              <a:spcAft>
                <a:spcPts val="800"/>
              </a:spcAft>
              <a:defRPr sz="1800">
                <a:solidFill>
                  <a:srgbClr val="2D2D2D"/>
                </a:solidFill>
                <a:latin typeface="微软雅黑" panose="020B0503020204020204" charset="-122"/>
              </a:defRPr>
            </a:pPr>
            <a:r>
              <a:t>旧 Direct SQL 与 SQL+ Critic 输出没有完整 API latency，端到端修复延迟仍需重跑。</a:t>
            </a:r>
          </a:p>
          <a:p>
            <a:pPr>
              <a:spcAft>
                <a:spcPts val="800"/>
              </a:spcAft>
              <a:defRPr sz="1800">
                <a:solidFill>
                  <a:srgbClr val="2D2D2D"/>
                </a:solidFill>
                <a:latin typeface="微软雅黑" panose="020B0503020204020204" charset="-122"/>
              </a:defRPr>
            </a:pPr>
            <a:r>
              <a:t>达梦 SQL 方言适配尚未完成，当前主要在 SQLite / 标准 SQL 链路上验证机制。</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23</a:t>
            </a:r>
            <a:endParaRPr sz="800" b="0">
              <a:solidFill>
                <a:srgbClr val="646464"/>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后续研究计划</a:t>
            </a:r>
            <a:endParaRPr sz="2800" b="1">
              <a:solidFill>
                <a:srgbClr val="1F4E79"/>
              </a:solidFill>
              <a:latin typeface="微软雅黑" panose="020B0503020204020204" charset="-122"/>
            </a:endParaRPr>
          </a:p>
        </p:txBody>
      </p:sp>
      <p:sp>
        <p:nvSpPr>
          <p:cNvPr id="4" name="TextBox 3"/>
          <p:cNvSpPr txBox="1"/>
          <p:nvPr/>
        </p:nvSpPr>
        <p:spPr>
          <a:xfrm>
            <a:off x="457200" y="1844675"/>
            <a:ext cx="7863840" cy="4206240"/>
          </a:xfrm>
          <a:prstGeom prst="rect">
            <a:avLst/>
          </a:prstGeom>
          <a:noFill/>
        </p:spPr>
        <p:txBody>
          <a:bodyPr wrap="square">
            <a:spAutoFit/>
          </a:bodyPr>
          <a:lstStyle/>
          <a:p>
            <a:pPr>
              <a:spcAft>
                <a:spcPts val="800"/>
              </a:spcAft>
              <a:defRPr sz="1800">
                <a:solidFill>
                  <a:srgbClr val="2D2D2D"/>
                </a:solidFill>
                <a:latin typeface="微软雅黑" panose="020B0503020204020204" charset="-122"/>
              </a:defRPr>
            </a:pPr>
            <a:r>
              <a:t>扩展 SQL+ 语法：覆盖复杂子查询、LEFT JOIN、窗口函数、复杂布尔条件等结构。</a:t>
            </a:r>
          </a:p>
          <a:p>
            <a:pPr>
              <a:spcAft>
                <a:spcPts val="800"/>
              </a:spcAft>
              <a:defRPr sz="1800">
                <a:solidFill>
                  <a:srgbClr val="2D2D2D"/>
                </a:solidFill>
                <a:latin typeface="微软雅黑" panose="020B0503020204020204" charset="-122"/>
              </a:defRPr>
            </a:pPr>
            <a:r>
              <a:t>完善 Schema Agent 与 Critic Agent：引入 schema/value lookup、SQL+ parser、SQL executor 和结果预览工具。</a:t>
            </a:r>
          </a:p>
          <a:p>
            <a:pPr>
              <a:spcAft>
                <a:spcPts val="800"/>
              </a:spcAft>
              <a:defRPr sz="1800">
                <a:solidFill>
                  <a:srgbClr val="2D2D2D"/>
                </a:solidFill>
                <a:latin typeface="微软雅黑" panose="020B0503020204020204" charset="-122"/>
              </a:defRPr>
            </a:pPr>
            <a:r>
              <a:t>扩展无报错语义错：重点处理 projection mismatch、复合聚合错误和多步修复顺序。</a:t>
            </a:r>
          </a:p>
          <a:p>
            <a:pPr>
              <a:spcAft>
                <a:spcPts val="800"/>
              </a:spcAft>
              <a:defRPr sz="1800">
                <a:solidFill>
                  <a:srgbClr val="2D2D2D"/>
                </a:solidFill>
                <a:latin typeface="微软雅黑" panose="020B0503020204020204" charset="-122"/>
              </a:defRPr>
            </a:pPr>
            <a:r>
              <a:t>扩大公开数据集验证：从 Spider 单库 smoke test 扩展到多数据库、多难度子集，再考虑 BIRD。</a:t>
            </a:r>
          </a:p>
          <a:p>
            <a:pPr>
              <a:spcAft>
                <a:spcPts val="800"/>
              </a:spcAft>
              <a:defRPr sz="1800">
                <a:solidFill>
                  <a:srgbClr val="2D2D2D"/>
                </a:solidFill>
                <a:latin typeface="微软雅黑" panose="020B0503020204020204" charset="-122"/>
              </a:defRPr>
            </a:pPr>
            <a:r>
              <a:t>适配达梦 SQL 方言：验证 SQL+ 到达梦 SQL 的函数、分页、日期和方言兼容性。</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24</a:t>
            </a:r>
            <a:endParaRPr sz="800" b="0">
              <a:solidFill>
                <a:srgbClr val="646464"/>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预期创新点</a:t>
            </a:r>
            <a:endParaRPr sz="2800" b="1">
              <a:solidFill>
                <a:srgbClr val="1F4E79"/>
              </a:solidFill>
              <a:latin typeface="微软雅黑" panose="020B0503020204020204" charset="-122"/>
            </a:endParaRPr>
          </a:p>
        </p:txBody>
      </p:sp>
      <p:sp>
        <p:nvSpPr>
          <p:cNvPr id="4" name="TextBox 3"/>
          <p:cNvSpPr txBox="1"/>
          <p:nvPr/>
        </p:nvSpPr>
        <p:spPr>
          <a:xfrm>
            <a:off x="457200" y="1844675"/>
            <a:ext cx="7863840" cy="4206240"/>
          </a:xfrm>
          <a:prstGeom prst="rect">
            <a:avLst/>
          </a:prstGeom>
          <a:noFill/>
        </p:spPr>
        <p:txBody>
          <a:bodyPr wrap="square">
            <a:spAutoFit/>
          </a:bodyPr>
          <a:lstStyle/>
          <a:p>
            <a:pPr>
              <a:spcAft>
                <a:spcPts val="800"/>
              </a:spcAft>
              <a:defRPr sz="1800">
                <a:solidFill>
                  <a:srgbClr val="2D2D2D"/>
                </a:solidFill>
                <a:latin typeface="微软雅黑" panose="020B0503020204020204" charset="-122"/>
              </a:defRPr>
            </a:pPr>
            <a:r>
              <a:t>面向生成和修复的 SQL+ 中间查询表示：不是替代 SQL，而是服务于 NL2SQL 生成、转换、诊断和局部修复的步骤化表达层。</a:t>
            </a:r>
          </a:p>
          <a:p>
            <a:pPr>
              <a:spcAft>
                <a:spcPts val="800"/>
              </a:spcAft>
              <a:defRPr sz="1800">
                <a:solidFill>
                  <a:srgbClr val="2D2D2D"/>
                </a:solidFill>
                <a:latin typeface="微软雅黑" panose="020B0503020204020204" charset="-122"/>
              </a:defRPr>
            </a:pPr>
            <a:r>
              <a:t>面向 SQL+ 的多智能体诊断与技能路由机制：将 Critic Agent、Skill Router、Repair Skill 和 Executor 组织为反馈闭环。</a:t>
            </a:r>
          </a:p>
          <a:p>
            <a:pPr>
              <a:spcAft>
                <a:spcPts val="800"/>
              </a:spcAft>
              <a:defRPr sz="1800">
                <a:solidFill>
                  <a:srgbClr val="2D2D2D"/>
                </a:solidFill>
                <a:latin typeface="微软雅黑" panose="020B0503020204020204" charset="-122"/>
              </a:defRPr>
            </a:pPr>
            <a:r>
              <a:t>面向 repairability 的评价体系：除 execution accuracy 外，引入 error localization accuracy、router accuracy、patch minimality、repair rounds、token cost 和 latency。</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25</a:t>
            </a:r>
            <a:endParaRPr sz="800" b="0">
              <a:solidFill>
                <a:srgbClr val="646464"/>
              </a:solidFill>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总结</a:t>
            </a:r>
            <a:endParaRPr sz="2800" b="1">
              <a:solidFill>
                <a:srgbClr val="1F4E79"/>
              </a:solidFill>
              <a:latin typeface="微软雅黑" panose="020B0503020204020204" charset="-122"/>
            </a:endParaRPr>
          </a:p>
        </p:txBody>
      </p:sp>
      <p:sp>
        <p:nvSpPr>
          <p:cNvPr id="4" name="TextBox 3"/>
          <p:cNvSpPr txBox="1"/>
          <p:nvPr/>
        </p:nvSpPr>
        <p:spPr>
          <a:xfrm>
            <a:off x="457200" y="1844675"/>
            <a:ext cx="7863840" cy="4206240"/>
          </a:xfrm>
          <a:prstGeom prst="rect">
            <a:avLst/>
          </a:prstGeom>
          <a:noFill/>
        </p:spPr>
        <p:txBody>
          <a:bodyPr wrap="square">
            <a:spAutoFit/>
          </a:bodyPr>
          <a:lstStyle/>
          <a:p>
            <a:pPr>
              <a:spcAft>
                <a:spcPts val="800"/>
              </a:spcAft>
              <a:defRPr sz="1800">
                <a:solidFill>
                  <a:srgbClr val="2D2D2D"/>
                </a:solidFill>
                <a:latin typeface="微软雅黑" panose="020B0503020204020204" charset="-122"/>
              </a:defRPr>
            </a:pPr>
            <a:r>
              <a:t>本课题研究重点不是一个简单 Text-to-SQL Demo，而是 SQL+ 中间表示与多智能体反馈修正机制。</a:t>
            </a:r>
          </a:p>
          <a:p>
            <a:pPr>
              <a:spcAft>
                <a:spcPts val="800"/>
              </a:spcAft>
              <a:defRPr sz="1800">
                <a:solidFill>
                  <a:srgbClr val="2D2D2D"/>
                </a:solidFill>
                <a:latin typeface="微软雅黑" panose="020B0503020204020204" charset="-122"/>
              </a:defRPr>
            </a:pPr>
            <a:r>
              <a:t>当前实验证明 SQL+ 表达与转换链路可行，且局部 repair skill 在已知失败集上具有初步效果。</a:t>
            </a:r>
          </a:p>
          <a:p>
            <a:pPr>
              <a:spcAft>
                <a:spcPts val="800"/>
              </a:spcAft>
              <a:defRPr sz="1800">
                <a:solidFill>
                  <a:srgbClr val="2D2D2D"/>
                </a:solidFill>
                <a:latin typeface="微软雅黑" panose="020B0503020204020204" charset="-122"/>
              </a:defRPr>
            </a:pPr>
            <a:r>
              <a:t>SQL+ 的优势不能概括为更短或初次生成更准，而应落在低耦合、可定位、可路由和可修复上。</a:t>
            </a:r>
          </a:p>
          <a:p>
            <a:pPr>
              <a:spcAft>
                <a:spcPts val="800"/>
              </a:spcAft>
              <a:defRPr sz="1800">
                <a:solidFill>
                  <a:srgbClr val="2D2D2D"/>
                </a:solidFill>
                <a:latin typeface="微软雅黑" panose="020B0503020204020204" charset="-122"/>
              </a:defRPr>
            </a:pPr>
            <a:r>
              <a:t>后续重点是扩大样例规模、增强真实非 gold 诊断、补齐 latency 成本，并适配公开数据集和达梦 SQL 方言。</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26</a:t>
            </a:r>
            <a:endParaRPr sz="800" b="0">
              <a:solidFill>
                <a:srgbClr val="646464"/>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lgn="l"/>
            <a:r>
              <a:rPr sz="2800" b="1">
                <a:solidFill>
                  <a:srgbClr val="1F4E79"/>
                </a:solidFill>
                <a:latin typeface="微软雅黑" panose="020B0503020204020204" charset="-122"/>
              </a:rPr>
              <a:t>主要参考文献</a:t>
            </a:r>
            <a:endParaRPr sz="2800" b="1">
              <a:solidFill>
                <a:srgbClr val="1F4E79"/>
              </a:solidFill>
              <a:latin typeface="微软雅黑" panose="020B0503020204020204" charset="-122"/>
            </a:endParaRPr>
          </a:p>
        </p:txBody>
      </p:sp>
      <p:sp>
        <p:nvSpPr>
          <p:cNvPr id="4" name="TextBox 3"/>
          <p:cNvSpPr txBox="1"/>
          <p:nvPr/>
        </p:nvSpPr>
        <p:spPr>
          <a:xfrm>
            <a:off x="457200" y="1844675"/>
            <a:ext cx="7863840" cy="4206240"/>
          </a:xfrm>
          <a:prstGeom prst="rect">
            <a:avLst/>
          </a:prstGeom>
          <a:noFill/>
        </p:spPr>
        <p:txBody>
          <a:bodyPr wrap="square">
            <a:spAutoFit/>
          </a:bodyPr>
          <a:lstStyle/>
          <a:p>
            <a:pPr>
              <a:spcAft>
                <a:spcPts val="800"/>
              </a:spcAft>
              <a:defRPr sz="1800">
                <a:solidFill>
                  <a:srgbClr val="2D2D2D"/>
                </a:solidFill>
                <a:latin typeface="微软雅黑" panose="020B0503020204020204" charset="-122"/>
              </a:defRPr>
            </a:pPr>
            <a:r>
              <a:t>Spider, BIRD, Spider 2.0：Text-to-SQL benchmark 与真实场景评估。</a:t>
            </a:r>
          </a:p>
          <a:p>
            <a:pPr>
              <a:spcAft>
                <a:spcPts val="800"/>
              </a:spcAft>
              <a:defRPr sz="1800">
                <a:solidFill>
                  <a:srgbClr val="2D2D2D"/>
                </a:solidFill>
                <a:latin typeface="微软雅黑" panose="020B0503020204020204" charset="-122"/>
              </a:defRPr>
            </a:pPr>
            <a:r>
              <a:t>IRNet/SemQL, NatSQL：Text-to-SQL 中间表示研究。</a:t>
            </a:r>
          </a:p>
          <a:p>
            <a:pPr>
              <a:spcAft>
                <a:spcPts val="800"/>
              </a:spcAft>
              <a:defRPr sz="1800">
                <a:solidFill>
                  <a:srgbClr val="2D2D2D"/>
                </a:solidFill>
                <a:latin typeface="微软雅黑" panose="020B0503020204020204" charset="-122"/>
              </a:defRPr>
            </a:pPr>
            <a:r>
              <a:t>RAT-SQL, PICARD, RESDSQL：schema linking、语法约束与结构化解析。</a:t>
            </a:r>
          </a:p>
          <a:p>
            <a:pPr>
              <a:spcAft>
                <a:spcPts val="800"/>
              </a:spcAft>
              <a:defRPr sz="1800">
                <a:solidFill>
                  <a:srgbClr val="2D2D2D"/>
                </a:solidFill>
                <a:latin typeface="微软雅黑" panose="020B0503020204020204" charset="-122"/>
              </a:defRPr>
            </a:pPr>
            <a:r>
              <a:t>DAIL-SQL, DIN-SQL, CHESS, CHASE-SQL：LLM-based Text-to-SQL、任务分解与候选选择。</a:t>
            </a:r>
          </a:p>
          <a:p>
            <a:pPr>
              <a:spcAft>
                <a:spcPts val="800"/>
              </a:spcAft>
              <a:defRPr sz="1800">
                <a:solidFill>
                  <a:srgbClr val="2D2D2D"/>
                </a:solidFill>
                <a:latin typeface="微软雅黑" panose="020B0503020204020204" charset="-122"/>
              </a:defRPr>
            </a:pPr>
            <a:r>
              <a:t>MAC-SQL, SQLCritic, Tool-Assisted Agent, LEVER：多智能体、执行反馈和修复评估。</a:t>
            </a:r>
          </a:p>
          <a:p>
            <a:pPr>
              <a:spcAft>
                <a:spcPts val="800"/>
              </a:spcAft>
              <a:defRPr sz="1800">
                <a:solidFill>
                  <a:srgbClr val="2D2D2D"/>
                </a:solidFill>
                <a:latin typeface="微软雅黑" panose="020B0503020204020204" charset="-122"/>
              </a:defRPr>
            </a:pPr>
            <a:r>
              <a:t>GoogleSQL Pipe Syntax：SQL 线性表达与 SQL 语言扩展。</a:t>
            </a:r>
          </a:p>
        </p:txBody>
      </p:sp>
      <p:sp>
        <p:nvSpPr>
          <p:cNvPr id="5" name="TextBox 4"/>
          <p:cNvSpPr txBox="1"/>
          <p:nvPr/>
        </p:nvSpPr>
        <p:spPr>
          <a:xfrm>
            <a:off x="502920" y="6327648"/>
            <a:ext cx="8229600" cy="228600"/>
          </a:xfrm>
          <a:prstGeom prst="rect">
            <a:avLst/>
          </a:prstGeom>
          <a:noFill/>
        </p:spPr>
        <p:txBody>
          <a:bodyPr wrap="none">
            <a:spAutoFit/>
          </a:bodyPr>
          <a:lstStyle/>
          <a:p>
            <a:pPr algn="l"/>
            <a:r>
              <a:rPr sz="800" b="0">
                <a:solidFill>
                  <a:srgbClr val="646464"/>
                </a:solidFill>
                <a:latin typeface="微软雅黑" panose="020B0503020204020204" charset="-122"/>
              </a:rPr>
              <a:t>开题汇报 · SQL+ / NL2SQL / Multi-Agent  ·  27</a:t>
            </a:r>
            <a:endParaRPr sz="800" b="0">
              <a:solidFill>
                <a:srgbClr val="646464"/>
              </a:solidFill>
              <a:latin typeface="微软雅黑" panose="020B0503020204020204" charset="-122"/>
            </a:endParaRPr>
          </a:p>
        </p:txBody>
      </p:sp>
    </p:spTree>
  </p:cSld>
  <p:clrMapOvr>
    <a:masterClrMapping/>
  </p:clrMapOvr>
</p:sld>
</file>

<file path=ppt/tags/tag1.xml><?xml version="1.0" encoding="utf-8"?>
<p:tagLst xmlns:p="http://schemas.openxmlformats.org/presentationml/2006/main">
  <p:tag name="TABLE_ENDDRAG_ORIGIN_RECT" val="655*287"/>
  <p:tag name="TABLE_ENDDRAG_RECT" val="17*133*655*287"/>
</p:tagLst>
</file>

<file path=ppt/tags/tag2.xml><?xml version="1.0" encoding="utf-8"?>
<p:tagLst xmlns:p="http://schemas.openxmlformats.org/presentationml/2006/main">
  <p:tag name="TABLE_ENDDRAG_ORIGIN_RECT" val="648*332"/>
  <p:tag name="TABLE_ENDDRAG_RECT" val="36*139*648*332"/>
</p:tagLst>
</file>

<file path=ppt/tags/tag3.xml><?xml version="1.0" encoding="utf-8"?>
<p:tagLst xmlns:p="http://schemas.openxmlformats.org/presentationml/2006/main">
  <p:tag name="TABLE_ENDDRAG_ORIGIN_RECT" val="657*310"/>
  <p:tag name="TABLE_ENDDRAG_RECT" val="20*97*657*310"/>
</p:tagLst>
</file>

<file path=ppt/tags/tag4.xml><?xml version="1.0" encoding="utf-8"?>
<p:tagLst xmlns:p="http://schemas.openxmlformats.org/presentationml/2006/main">
  <p:tag name="TABLE_ENDDRAG_ORIGIN_RECT" val="648*309"/>
  <p:tag name="TABLE_ENDDRAG_RECT" val="39*104*648*309"/>
</p:tagLst>
</file>

<file path=ppt/tags/tag5.xml><?xml version="1.0" encoding="utf-8"?>
<p:tagLst xmlns:p="http://schemas.openxmlformats.org/presentationml/2006/main">
  <p:tag name="TABLE_ENDDRAG_ORIGIN_RECT" val="648*247"/>
  <p:tag name="TABLE_ENDDRAG_RECT" val="39*104*648*247"/>
</p:tagLst>
</file>

<file path=ppt/tags/tag6.xml><?xml version="1.0" encoding="utf-8"?>
<p:tagLst xmlns:p="http://schemas.openxmlformats.org/presentationml/2006/main">
  <p:tag name="TABLE_ENDDRAG_ORIGIN_RECT" val="648*280"/>
  <p:tag name="TABLE_ENDDRAG_RECT" val="39*104*648*280"/>
</p:tagLst>
</file>

<file path=ppt/tags/tag7.xml><?xml version="1.0" encoding="utf-8"?>
<p:tagLst xmlns:p="http://schemas.openxmlformats.org/presentationml/2006/main">
  <p:tag name="TABLE_ENDDRAG_ORIGIN_RECT" val="648*273"/>
  <p:tag name="TABLE_ENDDRAG_RECT" val="39*122*648*273"/>
</p:tagLst>
</file>

<file path=ppt/tags/tag8.xml><?xml version="1.0" encoding="utf-8"?>
<p:tagLst xmlns:p="http://schemas.openxmlformats.org/presentationml/2006/main">
  <p:tag name="TABLE_ENDDRAG_ORIGIN_RECT" val="648*288"/>
  <p:tag name="TABLE_ENDDRAG_RECT" val="39*104*648*288"/>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8127</Words>
  <Application>WPS 演示</Application>
  <PresentationFormat>全屏显示(4:3)</PresentationFormat>
  <Paragraphs>797</Paragraphs>
  <Slides>27</Slides>
  <Notes>39</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27</vt:i4>
      </vt:variant>
    </vt:vector>
  </HeadingPairs>
  <TitlesOfParts>
    <vt:vector size="44" baseType="lpstr">
      <vt:lpstr>Arial</vt:lpstr>
      <vt:lpstr>宋体</vt:lpstr>
      <vt:lpstr>Wingdings</vt:lpstr>
      <vt:lpstr>黑体</vt:lpstr>
      <vt:lpstr>Tahoma</vt:lpstr>
      <vt:lpstr>Lucida Sans</vt:lpstr>
      <vt:lpstr>Comic Sans MS</vt:lpstr>
      <vt:lpstr>楷体_GB2312</vt:lpstr>
      <vt:lpstr>新宋体</vt:lpstr>
      <vt:lpstr>Times</vt:lpstr>
      <vt:lpstr>Times New Roman</vt:lpstr>
      <vt:lpstr>微软雅黑</vt:lpstr>
      <vt:lpstr>Arial Unicode MS</vt:lpstr>
      <vt:lpstr>Berlin Sans FB</vt:lpstr>
      <vt:lpstr>Wingdings</vt:lpstr>
      <vt:lpstr>楷体_GB2312</vt:lpstr>
      <vt:lpstr>1_自定义设计方案</vt:lpstr>
      <vt:lpstr>面向 SQL+ 简化查询表达的多智能体自然语言数据库查询生成与反馈修正方法研究</vt:lpstr>
      <vt:lpstr>汇报提纲</vt:lpstr>
      <vt:lpstr>研究背景：自然语言数据库查询仍然不稳定</vt:lpstr>
      <vt:lpstr>核心动机：为什么引入 SQL+</vt:lpstr>
      <vt:lpstr>国内外研究现状：Text-to-SQL</vt:lpstr>
      <vt:lpstr>国内外研究现状：中间表示与 Agent</vt:lpstr>
      <vt:lpstr>拟解决的关键问题</vt:lpstr>
      <vt:lpstr>PowerPoint 演示文稿</vt:lpstr>
      <vt:lpstr>PowerPoint 演示文稿</vt:lpstr>
      <vt:lpstr>多智能体框架设计</vt:lpstr>
      <vt:lpstr>PowerPoint 演示文稿</vt:lpstr>
      <vt:lpstr>实验数据、对比方法与指标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当前结果对研究假设的支撑</vt:lpstr>
      <vt:lpstr>当前不足与风险</vt:lpstr>
      <vt:lpstr>后续研究计划</vt:lpstr>
      <vt:lpstr>预期创新点</vt:lpstr>
      <vt:lpstr>总结</vt:lpstr>
      <vt:lpstr>主要参考文献</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Administrator</cp:lastModifiedBy>
  <cp:revision>1490</cp:revision>
  <dcterms:created xsi:type="dcterms:W3CDTF">2007-06-21T01:14:00Z</dcterms:created>
  <dcterms:modified xsi:type="dcterms:W3CDTF">2026-06-17T13:22:07Z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81899DB0FEDB4A43B9A3BBCE3303E96C_12</vt:lpwstr>
  </property>
</Properties>
</file>