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4"/>
  </p:notesMasterIdLst>
  <p:handoutMasterIdLst>
    <p:handoutMasterId r:id="rId29"/>
  </p:handout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Lst>
  <p:sldSz cx="9144000" cy="6858000" type="screen4x3"/>
  <p:notesSz cx="7099300" cy="10234295"/>
  <p:defaultTextStyle>
    <a:defPPr>
      <a:defRPr lang="zh-CN"/>
    </a:defPPr>
    <a:lvl1pPr marL="0" lvl="0"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1pPr>
    <a:lvl2pPr marL="457200" lvl="1"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2pPr>
    <a:lvl3pPr marL="914400" lvl="2"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3pPr>
    <a:lvl4pPr marL="1371600" lvl="3"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4pPr>
    <a:lvl5pPr marL="1828800" lvl="4"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5pPr>
    <a:lvl6pPr marL="2286000" lvl="5"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6pPr>
    <a:lvl7pPr marL="2743200" lvl="6"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7pPr>
    <a:lvl8pPr marL="3200400" lvl="7"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8pPr>
    <a:lvl9pPr marL="3657600" lvl="8"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9pPr>
  </p:defaultTextStyle>
  <p:extLst>
    <p:ext uri="{EFAFB233-063F-42B5-8137-9DF3F51BA10A}">
      <p15:sldGuideLst xmlns:p15="http://schemas.microsoft.com/office/powerpoint/2012/main">
        <p15:guide id="1" orient="horz" pos="2129" userDrawn="1">
          <p15:clr>
            <a:srgbClr val="A4A3A4"/>
          </p15:clr>
        </p15:guide>
        <p15:guide id="2" pos="290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99"/>
    <a:srgbClr val="CCFF99"/>
    <a:srgbClr val="66FF99"/>
    <a:srgbClr val="D9E7FB"/>
    <a:srgbClr val="0033CC"/>
    <a:srgbClr val="004A82"/>
    <a:srgbClr val="9C4A09"/>
    <a:srgbClr val="BF8C61"/>
    <a:srgbClr val="ED7D31"/>
    <a:srgbClr val="FF33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99" autoAdjust="0"/>
    <p:restoredTop sz="71429" autoAdjust="0"/>
  </p:normalViewPr>
  <p:slideViewPr>
    <p:cSldViewPr showGuides="1">
      <p:cViewPr varScale="1">
        <p:scale>
          <a:sx n="66" d="100"/>
          <a:sy n="66" d="100"/>
        </p:scale>
        <p:origin x="1752" y="32"/>
      </p:cViewPr>
      <p:guideLst>
        <p:guide orient="horz" pos="2129"/>
        <p:guide pos="2906"/>
      </p:guideLst>
    </p:cSldViewPr>
  </p:slideViewPr>
  <p:outlineViewPr>
    <p:cViewPr>
      <p:scale>
        <a:sx n="33" d="100"/>
        <a:sy n="33" d="100"/>
      </p:scale>
      <p:origin x="0" y="0"/>
    </p:cViewPr>
  </p:outlineViewPr>
  <p:notesTextViewPr>
    <p:cViewPr>
      <p:scale>
        <a:sx n="100" d="100"/>
        <a:sy n="100" d="100"/>
      </p:scale>
      <p:origin x="0" y="0"/>
    </p:cViewPr>
  </p:notesTextViewPr>
  <p:sorterViewPr showFormatting="0">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2" Type="http://schemas.openxmlformats.org/officeDocument/2006/relationships/tableStyles" Target="tableStyles.xml"/><Relationship Id="rId31" Type="http://schemas.openxmlformats.org/officeDocument/2006/relationships/viewProps" Target="viewProps.xml"/><Relationship Id="rId30" Type="http://schemas.openxmlformats.org/officeDocument/2006/relationships/presProps" Target="presProps.xml"/><Relationship Id="rId3" Type="http://schemas.openxmlformats.org/officeDocument/2006/relationships/slide" Target="slides/slide1.xml"/><Relationship Id="rId29" Type="http://schemas.openxmlformats.org/officeDocument/2006/relationships/handoutMaster" Target="handoutMasters/handoutMaster1.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6322" name="Rectangle 2"/>
          <p:cNvSpPr>
            <a:spLocks noGrp="1" noChangeArrowheads="1"/>
          </p:cNvSpPr>
          <p:nvPr>
            <p:ph type="hdr" sz="quarter"/>
          </p:nvPr>
        </p:nvSpPr>
        <p:spPr bwMode="auto">
          <a:xfrm>
            <a:off x="0" y="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lstStyle>
            <a:lvl1pP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l" defTabSz="990600" rtl="0" eaLnBrk="1" fontAlgn="base" latinLnBrk="0" hangingPunct="1">
              <a:lnSpc>
                <a:spcPct val="100000"/>
              </a:lnSpc>
              <a:spcBef>
                <a:spcPct val="0"/>
              </a:spcBef>
              <a:spcAft>
                <a:spcPct val="0"/>
              </a:spcAft>
              <a:buClrTx/>
              <a:buSzTx/>
              <a:buFontTx/>
              <a:buNone/>
              <a:defRPr/>
            </a:pPr>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56323" name="Rectangle 3"/>
          <p:cNvSpPr>
            <a:spLocks noGrp="1" noChangeArrowheads="1"/>
          </p:cNvSpPr>
          <p:nvPr>
            <p:ph type="dt" sz="quarter" idx="1"/>
          </p:nvPr>
        </p:nvSpPr>
        <p:spPr bwMode="auto">
          <a:xfrm>
            <a:off x="4021138" y="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lstStyle>
            <a:lvl1pPr algn="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r" defTabSz="990600" rtl="0" eaLnBrk="1" fontAlgn="base" latinLnBrk="0" hangingPunct="1">
              <a:lnSpc>
                <a:spcPct val="100000"/>
              </a:lnSpc>
              <a:spcBef>
                <a:spcPct val="0"/>
              </a:spcBef>
              <a:spcAft>
                <a:spcPct val="0"/>
              </a:spcAft>
              <a:buClrTx/>
              <a:buSzTx/>
              <a:buFontTx/>
              <a:buNone/>
              <a:defRPr/>
            </a:pPr>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56324" name="Rectangle 4"/>
          <p:cNvSpPr>
            <a:spLocks noGrp="1" noChangeArrowheads="1"/>
          </p:cNvSpPr>
          <p:nvPr>
            <p:ph type="ftr" sz="quarter" idx="2"/>
          </p:nvPr>
        </p:nvSpPr>
        <p:spPr bwMode="auto">
          <a:xfrm>
            <a:off x="0" y="972185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b" anchorCtr="0" compatLnSpc="1"/>
          <a:lstStyle>
            <a:lvl1pP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l" defTabSz="990600" rtl="0" eaLnBrk="1" fontAlgn="base" latinLnBrk="0" hangingPunct="1">
              <a:lnSpc>
                <a:spcPct val="100000"/>
              </a:lnSpc>
              <a:spcBef>
                <a:spcPct val="0"/>
              </a:spcBef>
              <a:spcAft>
                <a:spcPct val="0"/>
              </a:spcAft>
              <a:buClrTx/>
              <a:buSzTx/>
              <a:buFontTx/>
              <a:buNone/>
              <a:defRPr/>
            </a:pPr>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56325" name="Rectangle 5"/>
          <p:cNvSpPr>
            <a:spLocks noGrp="1" noChangeArrowheads="1"/>
          </p:cNvSpPr>
          <p:nvPr>
            <p:ph type="sldNum" sz="quarter" idx="3"/>
          </p:nvPr>
        </p:nvSpPr>
        <p:spPr bwMode="auto">
          <a:xfrm>
            <a:off x="4021138" y="972185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b" anchorCtr="0" compatLnSpc="1"/>
          <a:lstStyle>
            <a:lvl1pPr algn="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r" defTabSz="990600" rtl="0" eaLnBrk="1" fontAlgn="base" latinLnBrk="0" hangingPunct="1">
              <a:lnSpc>
                <a:spcPct val="100000"/>
              </a:lnSpc>
              <a:spcBef>
                <a:spcPct val="0"/>
              </a:spcBef>
              <a:spcAft>
                <a:spcPct val="0"/>
              </a:spcAft>
              <a:buClrTx/>
              <a:buSzTx/>
              <a:buFontTx/>
              <a:buNone/>
              <a:defRPr/>
            </a:pPr>
            <a:fld id="{51542B31-73EC-40E4-BA2E-3718341A1938}" type="slidenum">
              <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0" y="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lstStyle>
            <a:lvl1pP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l" defTabSz="990600" rtl="0" eaLnBrk="1" fontAlgn="base" latinLnBrk="0" hangingPunct="1">
              <a:lnSpc>
                <a:spcPct val="100000"/>
              </a:lnSpc>
              <a:spcBef>
                <a:spcPct val="0"/>
              </a:spcBef>
              <a:spcAft>
                <a:spcPct val="0"/>
              </a:spcAft>
              <a:buClrTx/>
              <a:buSzTx/>
              <a:buFontTx/>
              <a:buNone/>
              <a:defRPr/>
            </a:pPr>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3075" name="Rectangle 3"/>
          <p:cNvSpPr>
            <a:spLocks noGrp="1" noChangeArrowheads="1"/>
          </p:cNvSpPr>
          <p:nvPr>
            <p:ph type="dt" idx="1"/>
          </p:nvPr>
        </p:nvSpPr>
        <p:spPr bwMode="auto">
          <a:xfrm>
            <a:off x="4021138" y="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lstStyle>
            <a:lvl1pPr algn="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r" defTabSz="990600" rtl="0" eaLnBrk="1" fontAlgn="base" latinLnBrk="0" hangingPunct="1">
              <a:lnSpc>
                <a:spcPct val="100000"/>
              </a:lnSpc>
              <a:spcBef>
                <a:spcPct val="0"/>
              </a:spcBef>
              <a:spcAft>
                <a:spcPct val="0"/>
              </a:spcAft>
              <a:buClrTx/>
              <a:buSzTx/>
              <a:buFontTx/>
              <a:buNone/>
              <a:defRPr/>
            </a:pPr>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3076" name="Rectangle 4"/>
          <p:cNvSpPr>
            <a:spLocks noGrp="1" noRot="1" noChangeAspect="1" noTextEdit="1"/>
          </p:cNvSpPr>
          <p:nvPr>
            <p:ph type="sldImg" idx="2"/>
          </p:nvPr>
        </p:nvSpPr>
        <p:spPr>
          <a:xfrm>
            <a:off x="990600" y="768350"/>
            <a:ext cx="5118100" cy="3836988"/>
          </a:xfrm>
          <a:prstGeom prst="rect">
            <a:avLst/>
          </a:prstGeom>
          <a:noFill/>
          <a:ln w="9525" cap="flat" cmpd="sng">
            <a:solidFill>
              <a:srgbClr val="000000"/>
            </a:solidFill>
            <a:prstDash val="solid"/>
            <a:miter/>
            <a:headEnd type="none" w="med" len="med"/>
            <a:tailEnd type="none" w="med" len="med"/>
          </a:ln>
        </p:spPr>
      </p:sp>
      <p:sp>
        <p:nvSpPr>
          <p:cNvPr id="3077" name="Rectangle 5"/>
          <p:cNvSpPr>
            <a:spLocks noGrp="1" noChangeArrowheads="1"/>
          </p:cNvSpPr>
          <p:nvPr>
            <p:ph type="body" sz="quarter" idx="3"/>
          </p:nvPr>
        </p:nvSpPr>
        <p:spPr bwMode="auto">
          <a:xfrm>
            <a:off x="709613" y="4860925"/>
            <a:ext cx="5680075" cy="4605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lstStyle/>
          <a:p>
            <a:pPr marL="0" marR="0" lvl="0"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t>单击此处编辑母版文本样式</a:t>
            </a: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a:p>
            <a:pPr marL="457200" marR="0" lvl="1"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t>第二级</a:t>
            </a: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a:p>
            <a:pPr marL="914400" marR="0" lvl="2"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t>第三级</a:t>
            </a: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a:p>
            <a:pPr marL="1371600" marR="0" lvl="3"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t>第四级</a:t>
            </a: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a:p>
            <a:pPr marL="1828800" marR="0" lvl="4"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t>第五级</a:t>
            </a: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3078" name="Rectangle 6"/>
          <p:cNvSpPr>
            <a:spLocks noGrp="1" noChangeArrowheads="1"/>
          </p:cNvSpPr>
          <p:nvPr>
            <p:ph type="ftr" sz="quarter" idx="4"/>
          </p:nvPr>
        </p:nvSpPr>
        <p:spPr bwMode="auto">
          <a:xfrm>
            <a:off x="0" y="972185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b" anchorCtr="0" compatLnSpc="1"/>
          <a:lstStyle>
            <a:lvl1pP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l" defTabSz="990600" rtl="0" eaLnBrk="1" fontAlgn="base" latinLnBrk="0" hangingPunct="1">
              <a:lnSpc>
                <a:spcPct val="100000"/>
              </a:lnSpc>
              <a:spcBef>
                <a:spcPct val="0"/>
              </a:spcBef>
              <a:spcAft>
                <a:spcPct val="0"/>
              </a:spcAft>
              <a:buClrTx/>
              <a:buSzTx/>
              <a:buFontTx/>
              <a:buNone/>
              <a:defRPr/>
            </a:pPr>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3079" name="Rectangle 7"/>
          <p:cNvSpPr>
            <a:spLocks noGrp="1" noChangeArrowheads="1"/>
          </p:cNvSpPr>
          <p:nvPr>
            <p:ph type="sldNum" sz="quarter" idx="5"/>
          </p:nvPr>
        </p:nvSpPr>
        <p:spPr bwMode="auto">
          <a:xfrm>
            <a:off x="4021138" y="972185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b" anchorCtr="0" compatLnSpc="1"/>
          <a:lstStyle>
            <a:lvl1pPr algn="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r" defTabSz="990600" rtl="0" eaLnBrk="1" fontAlgn="base" latinLnBrk="0" hangingPunct="1">
              <a:lnSpc>
                <a:spcPct val="100000"/>
              </a:lnSpc>
              <a:spcBef>
                <a:spcPct val="0"/>
              </a:spcBef>
              <a:spcAft>
                <a:spcPct val="0"/>
              </a:spcAft>
              <a:buClrTx/>
              <a:buSzTx/>
              <a:buFontTx/>
              <a:buNone/>
              <a:defRPr/>
            </a:pPr>
            <a:fld id="{989180F7-3713-4556-8363-0F6EEBB166EB}" type="slidenum">
              <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Tree>
  </p:cSld>
  <p:clrMap bg1="lt1" tx1="dk1" bg2="lt2" tx2="dk2" accent1="accent1" accent2="accent2" accent3="accent3" accent4="accent4" accent5="accent5" accent6="accent6" hlink="hlink" folHlink="folHlink"/>
  <p:hf sldNum="0" hdr="0" ftr="0" dt="0"/>
  <p:notesStyle>
    <a:lvl1pPr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讲解思路</a:t>
            </a:r>
            <a:endParaRPr lang="zh-CN" altLang="en-US"/>
          </a:p>
          <a:p>
            <a:r>
              <a:rPr lang="zh-CN" altLang="en-US"/>
              <a:t>这一页不要急着讲技术细节，先用 40 秒交代研究对象、研究矛盾和你的切入点。老师最关心的是：你到底研究什么、为什么值得研究、和数据库方向有什么关系。</a:t>
            </a:r>
            <a:endParaRPr lang="zh-CN" altLang="en-US"/>
          </a:p>
          <a:p>
            <a:r>
              <a:rPr lang="zh-CN" altLang="en-US"/>
              <a:t>【讲稿】</a:t>
            </a:r>
            <a:endParaRPr lang="zh-CN" altLang="en-US"/>
          </a:p>
          <a:p>
            <a:r>
              <a:rPr lang="zh-CN" altLang="en-US"/>
              <a:t>各位老师好，我本次开题汇报的题目是“面向 </a:t>
            </a:r>
            <a:r>
              <a:rPr lang="en-US" altLang="zh-CN"/>
              <a:t>SQL+ </a:t>
            </a:r>
            <a:r>
              <a:rPr lang="zh-CN" altLang="en-US"/>
              <a:t>简化查询表达的多智能体自然语言数据库查询生成与反馈修正方法研究”。这个题目包含三个关键词：第一是 </a:t>
            </a:r>
            <a:r>
              <a:rPr lang="en-US" altLang="zh-CN"/>
              <a:t>Text-to-SQL，</a:t>
            </a:r>
            <a:r>
              <a:rPr lang="zh-CN" altLang="en-US"/>
              <a:t>也就是把自然语言问题转成数据库查询；第二是 </a:t>
            </a:r>
            <a:r>
              <a:rPr lang="en-US" altLang="zh-CN"/>
              <a:t>SQL+ </a:t>
            </a:r>
            <a:r>
              <a:rPr lang="zh-CN" altLang="en-US"/>
              <a:t>中间表示，我希望通过更步骤化、更接近数据流的表达降低查询生成和修复难度；第三是多智能体反馈修正，也就是在生成错误后，不是简单让大模型整条重写，而是把执行反馈、错误定位、技能路由和局部修复组织成闭环。我的汇报会重点说明：为什么自然语言转 </a:t>
            </a:r>
            <a:r>
              <a:rPr lang="en-US" altLang="zh-CN"/>
              <a:t>SQL </a:t>
            </a:r>
            <a:r>
              <a:rPr lang="zh-CN" altLang="en-US"/>
              <a:t>仍然不稳定，为什么要引入 </a:t>
            </a:r>
            <a:r>
              <a:rPr lang="en-US" altLang="zh-CN"/>
              <a:t>SQL+，</a:t>
            </a:r>
            <a:r>
              <a:rPr lang="zh-CN" altLang="en-US"/>
              <a:t>为什么要用多 </a:t>
            </a:r>
            <a:r>
              <a:rPr lang="en-US" altLang="zh-CN"/>
              <a:t>Agent </a:t>
            </a:r>
            <a:r>
              <a:rPr lang="zh-CN" altLang="en-US"/>
              <a:t>和 </a:t>
            </a:r>
            <a:r>
              <a:rPr lang="en-US" altLang="zh-CN"/>
              <a:t>Repair Skill，</a:t>
            </a:r>
            <a:r>
              <a:rPr lang="zh-CN" altLang="en-US"/>
              <a:t>以及目前做了哪些可行性验证。</a:t>
            </a:r>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讲解思路</a:t>
            </a:r>
            <a:endParaRPr lang="zh-CN" altLang="en-US"/>
          </a:p>
          <a:p>
            <a:r>
              <a:rPr lang="zh-CN" altLang="en-US"/>
              <a:t>这一页是路线图。讲的时候要让老师知道后面每一部分之间的因果关系：背景提出问题，研究发展找到空白，动机测试支撑设计，系统设计说明方案，可行性验证证明能跑，最后给出计划。</a:t>
            </a:r>
            <a:endParaRPr lang="zh-CN" altLang="en-US"/>
          </a:p>
          <a:p>
            <a:r>
              <a:rPr lang="zh-CN" altLang="en-US"/>
              <a:t>【讲稿】</a:t>
            </a:r>
            <a:endParaRPr lang="zh-CN" altLang="en-US"/>
          </a:p>
          <a:p>
            <a:r>
              <a:rPr lang="zh-CN" altLang="en-US"/>
              <a:t>本次汇报分为六部分。第一部分介绍背景与问题，说明自然语言数据库查询为什么仍然不稳定，尤其是生成错误以后为什么难修。第二部分梳理研究发展，从 </a:t>
            </a:r>
            <a:r>
              <a:rPr lang="en-US" altLang="zh-CN"/>
              <a:t>Spider、BIRD </a:t>
            </a:r>
            <a:r>
              <a:rPr lang="zh-CN" altLang="en-US"/>
              <a:t>这类 </a:t>
            </a:r>
            <a:r>
              <a:rPr lang="en-US" altLang="zh-CN"/>
              <a:t>benchmark，</a:t>
            </a:r>
            <a:r>
              <a:rPr lang="zh-CN" altLang="en-US"/>
              <a:t>到 </a:t>
            </a:r>
            <a:r>
              <a:rPr lang="en-US" altLang="zh-CN"/>
              <a:t>SemQL、NatSQL </a:t>
            </a:r>
            <a:r>
              <a:rPr lang="zh-CN" altLang="en-US"/>
              <a:t>这类中间表示，再到执行反馈和多智能体 </a:t>
            </a:r>
            <a:r>
              <a:rPr lang="en-US" altLang="zh-CN"/>
              <a:t>Text-to-SQL。</a:t>
            </a:r>
            <a:r>
              <a:rPr lang="zh-CN" altLang="en-US"/>
              <a:t>第三部分是动机测试，我会按实验设置、过程、结果和结论说明为什么不是单纯追求更短的语法，而是追求可定位、可解释、可修复。第四部分介绍系统设计，即 </a:t>
            </a:r>
            <a:r>
              <a:rPr lang="en-US" altLang="zh-CN"/>
              <a:t>SQL+ </a:t>
            </a:r>
            <a:r>
              <a:rPr lang="zh-CN" altLang="en-US"/>
              <a:t>中间表示与 </a:t>
            </a:r>
            <a:r>
              <a:rPr lang="en-US" altLang="zh-CN"/>
              <a:t>Critic、Router、Repair Skill、Executor </a:t>
            </a:r>
            <a:r>
              <a:rPr lang="zh-CN" altLang="en-US"/>
              <a:t>组成的反馈闭环。第五部分介绍可行性与初期验证，包括转换、修复、</a:t>
            </a:r>
            <a:r>
              <a:rPr lang="en-US" altLang="zh-CN"/>
              <a:t>repair skill </a:t>
            </a:r>
            <a:r>
              <a:rPr lang="zh-CN" altLang="en-US"/>
              <a:t>和 </a:t>
            </a:r>
            <a:r>
              <a:rPr lang="en-US" altLang="zh-CN"/>
              <a:t>Spider </a:t>
            </a:r>
            <a:r>
              <a:rPr lang="zh-CN" altLang="en-US"/>
              <a:t>小子集。最后说明后续实验设计、风险控制和预期创新点。</a:t>
            </a:r>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讲解思路</a:t>
            </a:r>
            <a:endParaRPr lang="zh-CN" altLang="en-US"/>
          </a:p>
          <a:p>
            <a:r>
              <a:rPr lang="zh-CN" altLang="en-US"/>
              <a:t>这一页要把“单次生成不稳定”和“错误难修”讲清楚。不要只说 </a:t>
            </a:r>
            <a:r>
              <a:rPr lang="en-US" altLang="zh-CN"/>
              <a:t>LLM </a:t>
            </a:r>
            <a:r>
              <a:rPr lang="zh-CN" altLang="en-US"/>
              <a:t>会错，要具体拆成 </a:t>
            </a:r>
            <a:r>
              <a:rPr lang="en-US" altLang="zh-CN"/>
              <a:t>schema linking、value linking、aggregation、projection/order </a:t>
            </a:r>
            <a:r>
              <a:rPr lang="zh-CN" altLang="en-US"/>
              <a:t>四类错误。</a:t>
            </a:r>
            <a:endParaRPr lang="zh-CN" altLang="en-US"/>
          </a:p>
          <a:p>
            <a:r>
              <a:rPr lang="zh-CN" altLang="en-US"/>
              <a:t>【讲稿】</a:t>
            </a:r>
            <a:endParaRPr lang="zh-CN" altLang="en-US"/>
          </a:p>
          <a:p>
            <a:r>
              <a:rPr lang="zh-CN" altLang="en-US"/>
              <a:t>自然语言数据库查询的理想流程是：业务人员提出自然语言问题，</a:t>
            </a:r>
            <a:r>
              <a:rPr lang="en-US" altLang="zh-CN"/>
              <a:t>LLM </a:t>
            </a:r>
            <a:r>
              <a:rPr lang="zh-CN" altLang="en-US"/>
              <a:t>或 </a:t>
            </a:r>
            <a:r>
              <a:rPr lang="en-US" altLang="zh-CN"/>
              <a:t>Agent </a:t>
            </a:r>
            <a:r>
              <a:rPr lang="zh-CN" altLang="en-US"/>
              <a:t>生成 </a:t>
            </a:r>
            <a:r>
              <a:rPr lang="en-US" altLang="zh-CN"/>
              <a:t>SQL，</a:t>
            </a:r>
            <a:r>
              <a:rPr lang="zh-CN" altLang="en-US"/>
              <a:t>数据库执行后返回结果或错误反馈。问题在于，这条链路并不是生成一条语法正确的 </a:t>
            </a:r>
            <a:r>
              <a:rPr lang="en-US" altLang="zh-CN"/>
              <a:t>SQL </a:t>
            </a:r>
            <a:r>
              <a:rPr lang="zh-CN" altLang="en-US"/>
              <a:t>就结束了。实际错误可以分成几类：第一类是 </a:t>
            </a:r>
            <a:r>
              <a:rPr lang="en-US" altLang="zh-CN"/>
              <a:t>schema linking </a:t>
            </a:r>
            <a:r>
              <a:rPr lang="zh-CN" altLang="en-US"/>
              <a:t>错误，比如选错表、选错列、连接路径不对；这种错误会继续影响 </a:t>
            </a:r>
            <a:r>
              <a:rPr lang="en-US" altLang="zh-CN"/>
              <a:t>WHERE、GROUP BY </a:t>
            </a:r>
            <a:r>
              <a:rPr lang="zh-CN" altLang="en-US"/>
              <a:t>和 </a:t>
            </a:r>
            <a:r>
              <a:rPr lang="en-US" altLang="zh-CN"/>
              <a:t>SELECT。</a:t>
            </a:r>
            <a:r>
              <a:rPr lang="zh-CN" altLang="en-US"/>
              <a:t>第二类是 </a:t>
            </a:r>
            <a:r>
              <a:rPr lang="en-US" altLang="zh-CN"/>
              <a:t>value linking </a:t>
            </a:r>
            <a:r>
              <a:rPr lang="zh-CN" altLang="en-US"/>
              <a:t>错误，比如枚举值、日期范围、阈值理解错，这类错误最麻烦，因为 </a:t>
            </a:r>
            <a:r>
              <a:rPr lang="en-US" altLang="zh-CN"/>
              <a:t>SQL </a:t>
            </a:r>
            <a:r>
              <a:rPr lang="zh-CN" altLang="en-US"/>
              <a:t>可能能执行，但结果语义是错的。第三类是 </a:t>
            </a:r>
            <a:r>
              <a:rPr lang="en-US" altLang="zh-CN"/>
              <a:t>aggregation </a:t>
            </a:r>
            <a:r>
              <a:rPr lang="zh-CN" altLang="en-US"/>
              <a:t>错误，比如 </a:t>
            </a:r>
            <a:r>
              <a:rPr lang="en-US" altLang="zh-CN"/>
              <a:t>COUNT、SUM、GROUP BY、HAVING </a:t>
            </a:r>
            <a:r>
              <a:rPr lang="zh-CN" altLang="en-US"/>
              <a:t>的口径不对，往往涉及跨子句依赖。第四类是 </a:t>
            </a:r>
            <a:r>
              <a:rPr lang="en-US" altLang="zh-CN"/>
              <a:t>projection、order </a:t>
            </a:r>
            <a:r>
              <a:rPr lang="zh-CN" altLang="en-US"/>
              <a:t>和 </a:t>
            </a:r>
            <a:r>
              <a:rPr lang="en-US" altLang="zh-CN"/>
              <a:t>top-k </a:t>
            </a:r>
            <a:r>
              <a:rPr lang="zh-CN" altLang="en-US"/>
              <a:t>错误，比如输出列不符合问题，排序字段或方向错，结果看似合理但不满足用户问题。因此本课题的重点不是只追求第一次生成，而是关注生成失败后的错误定位、修复路由和局部修复。</a:t>
            </a:r>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rPr lang="zh-CN" altLang="en-US"/>
              <a:t>讲解思路</a:t>
            </a:r>
            <a:endParaRPr lang="en-US" altLang="zh-CN"/>
          </a:p>
          <a:p>
            <a:r>
              <a:rPr lang="zh-CN" altLang="en-US"/>
              <a:t>这一页主要讲国内外研究现状，不要只罗列文献名字，而是要按照技术发展脉络来讲：</a:t>
            </a:r>
            <a:endParaRPr lang="zh-CN" altLang="en-US"/>
          </a:p>
          <a:p>
            <a:r>
              <a:rPr lang="zh-CN" altLang="en-US"/>
              <a:t>第一阶段是 </a:t>
            </a:r>
            <a:r>
              <a:rPr lang="en-US" altLang="zh-CN"/>
              <a:t>benchmark，</a:t>
            </a:r>
            <a:r>
              <a:rPr lang="zh-CN" altLang="en-US"/>
              <a:t>让 </a:t>
            </a:r>
            <a:r>
              <a:rPr lang="en-US" altLang="zh-CN"/>
              <a:t>Text-to-SQL </a:t>
            </a:r>
            <a:r>
              <a:rPr lang="zh-CN" altLang="en-US"/>
              <a:t>任务从简单单表查询走向跨数据库复杂查询；</a:t>
            </a:r>
            <a:endParaRPr lang="zh-CN" altLang="en-US"/>
          </a:p>
          <a:p>
            <a:r>
              <a:rPr lang="zh-CN" altLang="en-US"/>
              <a:t>第二阶段是中间表示和 </a:t>
            </a:r>
            <a:r>
              <a:rPr lang="en-US" altLang="zh-CN"/>
              <a:t>schema linking，</a:t>
            </a:r>
            <a:r>
              <a:rPr lang="zh-CN" altLang="en-US"/>
              <a:t>解决 </a:t>
            </a:r>
            <a:r>
              <a:rPr lang="en-US" altLang="zh-CN"/>
              <a:t>SQL </a:t>
            </a:r>
            <a:r>
              <a:rPr lang="zh-CN" altLang="en-US"/>
              <a:t>结构复杂、表列匹配困难的问题；</a:t>
            </a:r>
            <a:endParaRPr lang="zh-CN" altLang="en-US"/>
          </a:p>
          <a:p>
            <a:r>
              <a:rPr lang="zh-CN" altLang="en-US"/>
              <a:t>第三阶段是 </a:t>
            </a:r>
            <a:r>
              <a:rPr lang="en-US" altLang="zh-CN"/>
              <a:t>SQL </a:t>
            </a:r>
            <a:r>
              <a:rPr lang="zh-CN" altLang="en-US"/>
              <a:t>扩展、任务分解和执行反馈，让模型不仅生成 </a:t>
            </a:r>
            <a:r>
              <a:rPr lang="en-US" altLang="zh-CN"/>
              <a:t>SQL，</a:t>
            </a:r>
            <a:r>
              <a:rPr lang="zh-CN" altLang="en-US"/>
              <a:t>还能利用数据库执行结果进行验证；</a:t>
            </a:r>
            <a:endParaRPr lang="zh-CN" altLang="en-US"/>
          </a:p>
          <a:p>
            <a:r>
              <a:rPr lang="zh-CN" altLang="en-US"/>
              <a:t>第四阶段是 </a:t>
            </a:r>
            <a:r>
              <a:rPr lang="en-US" altLang="zh-CN"/>
              <a:t>agentic NL2SQL，</a:t>
            </a:r>
            <a:r>
              <a:rPr lang="zh-CN" altLang="en-US"/>
              <a:t>也就是多智能体或多模块协作，把检索、规划、生成、验证和修复拆开处理。</a:t>
            </a:r>
            <a:endParaRPr lang="en-US" altLang="zh-CN"/>
          </a:p>
          <a:p>
            <a:r>
              <a:rPr lang="zh-CN" altLang="en-US"/>
              <a:t>最后要落到本课题的切入点：已有工作已经证明中间表示、执行反馈和多智能体都有价值，但 </a:t>
            </a:r>
            <a:r>
              <a:rPr lang="en-US" altLang="zh-CN"/>
              <a:t>SQL+ </a:t>
            </a:r>
            <a:r>
              <a:rPr lang="zh-CN" altLang="en-US"/>
              <a:t>层面的“错误定位—技能路由—局部修复”还没有被充分研究。</a:t>
            </a:r>
            <a:endParaRPr lang="en-US" altLang="zh-CN"/>
          </a:p>
          <a:p>
            <a:r>
              <a:rPr lang="zh-CN" altLang="en-US"/>
              <a:t>【讲稿】</a:t>
            </a:r>
            <a:endParaRPr lang="en-US" altLang="zh-CN"/>
          </a:p>
          <a:p>
            <a:r>
              <a:rPr lang="zh-CN" altLang="en-US"/>
              <a:t>这一页主要按照技术发展脉络介绍相关工作。</a:t>
            </a:r>
            <a:r>
              <a:rPr lang="en-US" altLang="zh-CN"/>
              <a:t>Text-to-SQL </a:t>
            </a:r>
            <a:r>
              <a:rPr lang="zh-CN" altLang="en-US"/>
              <a:t>的研究大致可以分成四条线：公开评测、中间表示与 </a:t>
            </a:r>
            <a:r>
              <a:rPr lang="en-US" altLang="zh-CN"/>
              <a:t>schema linking、SQL </a:t>
            </a:r>
            <a:r>
              <a:rPr lang="zh-CN" altLang="en-US"/>
              <a:t>扩展与执行反馈，以及多智能体 </a:t>
            </a:r>
            <a:r>
              <a:rPr lang="en-US" altLang="zh-CN"/>
              <a:t>NL2SQL。</a:t>
            </a:r>
            <a:endParaRPr lang="en-US" altLang="zh-CN"/>
          </a:p>
          <a:p>
            <a:r>
              <a:rPr lang="zh-CN" altLang="en-US"/>
              <a:t>首先是公开评测。</a:t>
            </a:r>
            <a:r>
              <a:rPr lang="en-US" altLang="zh-CN"/>
              <a:t>Spider </a:t>
            </a:r>
            <a:r>
              <a:rPr lang="zh-CN" altLang="en-US"/>
              <a:t>是 </a:t>
            </a:r>
            <a:r>
              <a:rPr lang="en-US" altLang="zh-CN"/>
              <a:t>Text-to-SQL </a:t>
            </a:r>
            <a:r>
              <a:rPr lang="zh-CN" altLang="en-US"/>
              <a:t>领域很重要的跨数据库复杂查询数据集，它要求模型在没有见过的新数据库上生成 </a:t>
            </a:r>
            <a:r>
              <a:rPr lang="en-US" altLang="zh-CN"/>
              <a:t>SQL，</a:t>
            </a:r>
            <a:r>
              <a:rPr lang="zh-CN" altLang="en-US"/>
              <a:t>因此推动了跨 </a:t>
            </a:r>
            <a:r>
              <a:rPr lang="en-US" altLang="zh-CN"/>
              <a:t>schema </a:t>
            </a:r>
            <a:r>
              <a:rPr lang="zh-CN" altLang="en-US"/>
              <a:t>泛化、多表连接、聚合、嵌套查询等复杂场景研究。</a:t>
            </a:r>
            <a:r>
              <a:rPr lang="en-US" altLang="zh-CN"/>
              <a:t>BIRD </a:t>
            </a:r>
            <a:r>
              <a:rPr lang="zh-CN" altLang="en-US"/>
              <a:t>在 </a:t>
            </a:r>
            <a:r>
              <a:rPr lang="en-US" altLang="zh-CN"/>
              <a:t>Spider </a:t>
            </a:r>
            <a:r>
              <a:rPr lang="zh-CN" altLang="en-US"/>
              <a:t>的基础上更贴近真实数据库环境，引入真实数据、外部知识和效率要求。它们给本课题的启发是：</a:t>
            </a:r>
            <a:r>
              <a:rPr lang="en-US" altLang="zh-CN"/>
              <a:t>Text-to-SQL </a:t>
            </a:r>
            <a:r>
              <a:rPr lang="zh-CN" altLang="en-US"/>
              <a:t>不能只看语法正确，还要看执行结果、复杂查询稳定性和真实场景适配能力。</a:t>
            </a:r>
            <a:endParaRPr lang="en-US" altLang="zh-CN"/>
          </a:p>
          <a:p>
            <a:r>
              <a:rPr lang="zh-CN" altLang="en-US"/>
              <a:t>第二类是中间表示和 </a:t>
            </a:r>
            <a:r>
              <a:rPr lang="en-US" altLang="zh-CN"/>
              <a:t>schema linking。IRNet </a:t>
            </a:r>
            <a:r>
              <a:rPr lang="zh-CN" altLang="en-US"/>
              <a:t>提出了 </a:t>
            </a:r>
            <a:r>
              <a:rPr lang="en-US" altLang="zh-CN"/>
              <a:t>SemQL，</a:t>
            </a:r>
            <a:r>
              <a:rPr lang="zh-CN" altLang="en-US"/>
              <a:t>希望先生成一种语义化中间表示，再转换成 </a:t>
            </a:r>
            <a:r>
              <a:rPr lang="en-US" altLang="zh-CN"/>
              <a:t>SQL；NatSQL </a:t>
            </a:r>
            <a:r>
              <a:rPr lang="zh-CN" altLang="en-US"/>
              <a:t>也是通过简化 </a:t>
            </a:r>
            <a:r>
              <a:rPr lang="en-US" altLang="zh-CN"/>
              <a:t>SQL </a:t>
            </a:r>
            <a:r>
              <a:rPr lang="zh-CN" altLang="en-US"/>
              <a:t>表达降低生成难度。</a:t>
            </a:r>
            <a:r>
              <a:rPr lang="en-US" altLang="zh-CN"/>
              <a:t>RAT-SQL </a:t>
            </a:r>
            <a:r>
              <a:rPr lang="zh-CN" altLang="en-US"/>
              <a:t>重点解决自然语言和数据库表列之间的匹配问题，也就是 </a:t>
            </a:r>
            <a:r>
              <a:rPr lang="en-US" altLang="zh-CN"/>
              <a:t>schema linking；PICARD </a:t>
            </a:r>
            <a:r>
              <a:rPr lang="zh-CN" altLang="en-US"/>
              <a:t>则在解码过程中加入 </a:t>
            </a:r>
            <a:r>
              <a:rPr lang="en-US" altLang="zh-CN"/>
              <a:t>SQL </a:t>
            </a:r>
            <a:r>
              <a:rPr lang="zh-CN" altLang="en-US"/>
              <a:t>语法约束，减少非法 </a:t>
            </a:r>
            <a:r>
              <a:rPr lang="en-US" altLang="zh-CN"/>
              <a:t>SQL。</a:t>
            </a:r>
            <a:r>
              <a:rPr lang="zh-CN" altLang="en-US"/>
              <a:t>它们说明，中间表示和约束机制确实能降低 </a:t>
            </a:r>
            <a:r>
              <a:rPr lang="en-US" altLang="zh-CN"/>
              <a:t>SQL </a:t>
            </a:r>
            <a:r>
              <a:rPr lang="zh-CN" altLang="en-US"/>
              <a:t>生成难度。但这些工作更多关注初次生成，而我的课题更关注生成失败后的诊断和局部修复。</a:t>
            </a:r>
            <a:endParaRPr lang="en-US" altLang="zh-CN"/>
          </a:p>
          <a:p>
            <a:r>
              <a:rPr lang="zh-CN" altLang="en-US"/>
              <a:t>第三类是 </a:t>
            </a:r>
            <a:r>
              <a:rPr lang="en-US" altLang="zh-CN"/>
              <a:t>SQL </a:t>
            </a:r>
            <a:r>
              <a:rPr lang="zh-CN" altLang="en-US"/>
              <a:t>扩展、任务分解和执行反馈。</a:t>
            </a:r>
            <a:r>
              <a:rPr lang="en-US" altLang="zh-CN"/>
              <a:t>Pipe Syntax </a:t>
            </a:r>
            <a:r>
              <a:rPr lang="zh-CN" altLang="en-US"/>
              <a:t>提出用更线性的管道式方式组织 </a:t>
            </a:r>
            <a:r>
              <a:rPr lang="en-US" altLang="zh-CN"/>
              <a:t>SQL，</a:t>
            </a:r>
            <a:r>
              <a:rPr lang="zh-CN" altLang="en-US"/>
              <a:t>使查询步骤更接近数据流。</a:t>
            </a:r>
            <a:r>
              <a:rPr lang="en-US" altLang="zh-CN"/>
              <a:t>DIN-SQL </a:t>
            </a:r>
            <a:r>
              <a:rPr lang="zh-CN" altLang="en-US"/>
              <a:t>把复杂 </a:t>
            </a:r>
            <a:r>
              <a:rPr lang="en-US" altLang="zh-CN"/>
              <a:t>Text-to-SQL </a:t>
            </a:r>
            <a:r>
              <a:rPr lang="zh-CN" altLang="en-US"/>
              <a:t>任务拆成多个阶段，例如 </a:t>
            </a:r>
            <a:r>
              <a:rPr lang="en-US" altLang="zh-CN"/>
              <a:t>schema linking、</a:t>
            </a:r>
            <a:r>
              <a:rPr lang="zh-CN" altLang="en-US"/>
              <a:t>问题分解和 </a:t>
            </a:r>
            <a:r>
              <a:rPr lang="en-US" altLang="zh-CN"/>
              <a:t>SQL </a:t>
            </a:r>
            <a:r>
              <a:rPr lang="zh-CN" altLang="en-US"/>
              <a:t>生成。</a:t>
            </a:r>
            <a:r>
              <a:rPr lang="en-US" altLang="zh-CN"/>
              <a:t>LEVER </a:t>
            </a:r>
            <a:r>
              <a:rPr lang="zh-CN" altLang="en-US"/>
              <a:t>则强调利用执行结果来验证候选 </a:t>
            </a:r>
            <a:r>
              <a:rPr lang="en-US" altLang="zh-CN"/>
              <a:t>SQL。</a:t>
            </a:r>
            <a:r>
              <a:rPr lang="zh-CN" altLang="en-US"/>
              <a:t>这些工作说明，查询表达的线性化、任务分解和执行反馈都能提高系统稳定性。对本课题来说，</a:t>
            </a:r>
            <a:r>
              <a:rPr lang="en-US" altLang="zh-CN"/>
              <a:t>SQL+ </a:t>
            </a:r>
            <a:r>
              <a:rPr lang="zh-CN" altLang="en-US"/>
              <a:t>就希望承担这样一个中间层作用：把执行反馈压回 </a:t>
            </a:r>
            <a:r>
              <a:rPr lang="en-US" altLang="zh-CN"/>
              <a:t>WHERE、JOIN、GROUP、AGG、ORDER </a:t>
            </a:r>
            <a:r>
              <a:rPr lang="zh-CN" altLang="en-US"/>
              <a:t>等具体步骤，便于后续修复。</a:t>
            </a:r>
            <a:endParaRPr lang="en-US" altLang="zh-CN"/>
          </a:p>
          <a:p>
            <a:r>
              <a:rPr lang="zh-CN" altLang="en-US"/>
              <a:t>第四类是 </a:t>
            </a:r>
            <a:r>
              <a:rPr lang="en-US" altLang="zh-CN"/>
              <a:t>agentic NL2SQL。CHESS、CHASE-SQL、MAC-SQL、SQL-Factory </a:t>
            </a:r>
            <a:r>
              <a:rPr lang="zh-CN" altLang="en-US"/>
              <a:t>等工作都体现了多模块或多智能体协作思想，比如进行 </a:t>
            </a:r>
            <a:r>
              <a:rPr lang="en-US" altLang="zh-CN"/>
              <a:t>schema </a:t>
            </a:r>
            <a:r>
              <a:rPr lang="zh-CN" altLang="en-US"/>
              <a:t>检索、候选 </a:t>
            </a:r>
            <a:r>
              <a:rPr lang="en-US" altLang="zh-CN"/>
              <a:t>SQL </a:t>
            </a:r>
            <a:r>
              <a:rPr lang="zh-CN" altLang="en-US"/>
              <a:t>生成、结果选择、验证和数据生成。它们说明，多 </a:t>
            </a:r>
            <a:r>
              <a:rPr lang="en-US" altLang="zh-CN"/>
              <a:t>Agent </a:t>
            </a:r>
            <a:r>
              <a:rPr lang="zh-CN" altLang="en-US"/>
              <a:t>的价值不是简单增加模块数量，而是把复杂任务拆成可观察、可评价的子任务。</a:t>
            </a:r>
            <a:endParaRPr lang="en-US" altLang="zh-CN"/>
          </a:p>
          <a:p>
            <a:r>
              <a:rPr lang="zh-CN" altLang="en-US"/>
              <a:t>所以，本课题的研究空间是：已有工作已经证明 </a:t>
            </a:r>
            <a:r>
              <a:rPr lang="en-US" altLang="zh-CN"/>
              <a:t>benchmark、</a:t>
            </a:r>
            <a:r>
              <a:rPr lang="zh-CN" altLang="en-US"/>
              <a:t>中间表示、执行反馈和多 </a:t>
            </a:r>
            <a:r>
              <a:rPr lang="en-US" altLang="zh-CN"/>
              <a:t>Agent </a:t>
            </a:r>
            <a:r>
              <a:rPr lang="zh-CN" altLang="en-US"/>
              <a:t>都有价值，但 </a:t>
            </a:r>
            <a:r>
              <a:rPr lang="en-US" altLang="zh-CN"/>
              <a:t>SQL+ </a:t>
            </a:r>
            <a:r>
              <a:rPr lang="zh-CN" altLang="en-US"/>
              <a:t>层面的“错误定位—技能路由—局部修复”还没有被充分展开。我的工作就是围绕 </a:t>
            </a:r>
            <a:r>
              <a:rPr lang="en-US" altLang="zh-CN"/>
              <a:t>SQL+ </a:t>
            </a:r>
            <a:r>
              <a:rPr lang="zh-CN" altLang="en-US"/>
              <a:t>步骤化中间表示，构建 </a:t>
            </a:r>
            <a:r>
              <a:rPr lang="en-US" altLang="zh-CN"/>
              <a:t>Critic、Router、Repair Skill </a:t>
            </a:r>
            <a:r>
              <a:rPr lang="zh-CN" altLang="en-US"/>
              <a:t>和 </a:t>
            </a:r>
            <a:r>
              <a:rPr lang="en-US" altLang="zh-CN"/>
              <a:t>Executor </a:t>
            </a:r>
            <a:r>
              <a:rPr lang="zh-CN" altLang="en-US"/>
              <a:t>组成的可修复闭环。</a:t>
            </a:r>
            <a:endParaRPr lang="zh-CN" altLang="en-US"/>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讲解思路</a:t>
            </a:r>
            <a:endParaRPr lang="zh-CN" altLang="en-US"/>
          </a:p>
          <a:p>
            <a:r>
              <a:rPr lang="zh-CN" altLang="en-US"/>
              <a:t>这一页是上一页的表格化总结。讲的时候按“已解决什么—还没解决什么—对本课题启发”三步走。</a:t>
            </a:r>
            <a:endParaRPr lang="zh-CN" altLang="en-US"/>
          </a:p>
          <a:p>
            <a:r>
              <a:rPr lang="zh-CN" altLang="en-US">
                <a:sym typeface="+mn-ea"/>
              </a:rPr>
              <a:t>【讲稿】</a:t>
            </a:r>
            <a:endParaRPr lang="en-US" altLang="zh-CN"/>
          </a:p>
          <a:p>
            <a:r>
              <a:rPr lang="zh-CN" altLang="en-US"/>
              <a:t>这一页把相关工作归成五类。公开评测方面，</a:t>
            </a:r>
            <a:r>
              <a:rPr lang="en-US" altLang="zh-CN"/>
              <a:t>Spider、BIRD、Spider 2.0 </a:t>
            </a:r>
            <a:r>
              <a:rPr lang="zh-CN" altLang="en-US"/>
              <a:t>解决了复杂 </a:t>
            </a:r>
            <a:r>
              <a:rPr lang="en-US" altLang="zh-CN"/>
              <a:t>schema、</a:t>
            </a:r>
            <a:r>
              <a:rPr lang="zh-CN" altLang="en-US"/>
              <a:t>真实数据和企业工作流评价的问题，但后续仍要从小子集扩展到多库和真实方言。中间表示方面，</a:t>
            </a:r>
            <a:r>
              <a:rPr lang="en-US" altLang="zh-CN"/>
              <a:t>SemQL、NatSQL </a:t>
            </a:r>
            <a:r>
              <a:rPr lang="zh-CN" altLang="en-US"/>
              <a:t>和 </a:t>
            </a:r>
            <a:r>
              <a:rPr lang="en-US" altLang="zh-CN"/>
              <a:t>Pipe-style </a:t>
            </a:r>
            <a:r>
              <a:rPr lang="zh-CN" altLang="en-US"/>
              <a:t>表达降低了 </a:t>
            </a:r>
            <a:r>
              <a:rPr lang="en-US" altLang="zh-CN"/>
              <a:t>SQL </a:t>
            </a:r>
            <a:r>
              <a:rPr lang="zh-CN" altLang="en-US"/>
              <a:t>生成或表达复杂度，但 </a:t>
            </a:r>
            <a:r>
              <a:rPr lang="en-US" altLang="zh-CN"/>
              <a:t>SQL+ </a:t>
            </a:r>
            <a:r>
              <a:rPr lang="zh-CN" altLang="en-US"/>
              <a:t>需要进一步证明它不是换语法，而是提供修复接口。约束与验证方面，</a:t>
            </a:r>
            <a:r>
              <a:rPr lang="en-US" altLang="zh-CN"/>
              <a:t>PICARD </a:t>
            </a:r>
            <a:r>
              <a:rPr lang="zh-CN" altLang="en-US"/>
              <a:t>和 </a:t>
            </a:r>
            <a:r>
              <a:rPr lang="en-US" altLang="zh-CN"/>
              <a:t>LEVER </a:t>
            </a:r>
            <a:r>
              <a:rPr lang="zh-CN" altLang="en-US"/>
              <a:t>说明语法约束、执行验证、候选筛选有价值，但执行反馈还需要进入诊断和 </a:t>
            </a:r>
            <a:r>
              <a:rPr lang="en-US" altLang="zh-CN"/>
              <a:t>patch </a:t>
            </a:r>
            <a:r>
              <a:rPr lang="zh-CN" altLang="en-US"/>
              <a:t>过程。</a:t>
            </a:r>
            <a:r>
              <a:rPr lang="en-US" altLang="zh-CN"/>
              <a:t>Agentic NL2SQL </a:t>
            </a:r>
            <a:r>
              <a:rPr lang="zh-CN" altLang="en-US"/>
              <a:t>方面，</a:t>
            </a:r>
            <a:r>
              <a:rPr lang="en-US" altLang="zh-CN"/>
              <a:t>DIN-SQL、CHESS、CHASE-SQL、MAC-SQL </a:t>
            </a:r>
            <a:r>
              <a:rPr lang="zh-CN" altLang="en-US"/>
              <a:t>强调分解、多候选和多角色协作，但还需要更清楚的步骤级错误定位和 </a:t>
            </a:r>
            <a:r>
              <a:rPr lang="en-US" altLang="zh-CN"/>
              <a:t>repair skill </a:t>
            </a:r>
            <a:r>
              <a:rPr lang="zh-CN" altLang="en-US"/>
              <a:t>评价。数据生成方面，</a:t>
            </a:r>
            <a:r>
              <a:rPr lang="en-US" altLang="zh-CN"/>
              <a:t>SQL-Factory </a:t>
            </a:r>
            <a:r>
              <a:rPr lang="zh-CN" altLang="en-US"/>
              <a:t>可用于后续扩充训练和评测样例。总体趋势是从单次生成走向真实环境、工具反馈、多智能体协作和可验证修复。</a:t>
            </a:r>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rPr lang="zh-CN" altLang="en-US"/>
              <a:t>讲解思路</a:t>
            </a:r>
            <a:endParaRPr lang="zh-CN" altLang="en-US"/>
          </a:p>
          <a:p>
            <a:r>
              <a:rPr lang="zh-CN" altLang="en-US"/>
              <a:t>这一页开始进入实验，要先强调“动机测试不是最终 </a:t>
            </a:r>
            <a:r>
              <a:rPr lang="en-US" altLang="zh-CN"/>
              <a:t>benchmark”，</a:t>
            </a:r>
            <a:r>
              <a:rPr lang="zh-CN" altLang="en-US"/>
              <a:t>它服务于开题阶段的设计合理性。四个 </a:t>
            </a:r>
            <a:r>
              <a:rPr lang="en-US" altLang="zh-CN"/>
              <a:t>H </a:t>
            </a:r>
            <a:r>
              <a:rPr lang="zh-CN" altLang="en-US"/>
              <a:t>分别回答初次生成、表达复杂度、生成成本、修复收益。</a:t>
            </a:r>
            <a:endParaRPr lang="zh-CN" altLang="en-US"/>
          </a:p>
          <a:p>
            <a:r>
              <a:rPr lang="zh-CN" altLang="en-US"/>
              <a:t>【讲稿】</a:t>
            </a:r>
            <a:endParaRPr lang="zh-CN" altLang="en-US"/>
          </a:p>
          <a:p>
            <a:r>
              <a:rPr lang="zh-CN" altLang="en-US"/>
              <a:t>这一页说明动机测试的整体设计。开题阶段我不是直接宣称 </a:t>
            </a:r>
            <a:r>
              <a:rPr lang="en-US" altLang="zh-CN"/>
              <a:t>SQL+ </a:t>
            </a:r>
            <a:r>
              <a:rPr lang="zh-CN" altLang="en-US"/>
              <a:t>一定比 </a:t>
            </a:r>
            <a:r>
              <a:rPr lang="en-US" altLang="zh-CN"/>
              <a:t>SQL </a:t>
            </a:r>
            <a:r>
              <a:rPr lang="zh-CN" altLang="en-US"/>
              <a:t>更好，而是把问题拆成四个假设来验证。</a:t>
            </a:r>
            <a:r>
              <a:rPr lang="en-US" altLang="zh-CN"/>
              <a:t>H1 </a:t>
            </a:r>
            <a:r>
              <a:rPr lang="zh-CN" altLang="en-US"/>
              <a:t>是初次生成：</a:t>
            </a:r>
            <a:r>
              <a:rPr lang="en-US" altLang="zh-CN"/>
              <a:t>SQL+ </a:t>
            </a:r>
            <a:r>
              <a:rPr lang="zh-CN" altLang="en-US"/>
              <a:t>是否比直接 </a:t>
            </a:r>
            <a:r>
              <a:rPr lang="en-US" altLang="zh-CN"/>
              <a:t>SQL </a:t>
            </a:r>
            <a:r>
              <a:rPr lang="zh-CN" altLang="en-US"/>
              <a:t>更容易生成，对比 </a:t>
            </a:r>
            <a:r>
              <a:rPr lang="en-US" altLang="zh-CN"/>
              <a:t>Direct SQL </a:t>
            </a:r>
            <a:r>
              <a:rPr lang="zh-CN" altLang="en-US"/>
              <a:t>和 </a:t>
            </a:r>
            <a:r>
              <a:rPr lang="en-US" altLang="zh-CN"/>
              <a:t>NL2SQL+ prompt，</a:t>
            </a:r>
            <a:r>
              <a:rPr lang="zh-CN" altLang="en-US"/>
              <a:t>指标是 </a:t>
            </a:r>
            <a:r>
              <a:rPr lang="en-US" altLang="zh-CN"/>
              <a:t>execution match </a:t>
            </a:r>
            <a:r>
              <a:rPr lang="zh-CN" altLang="en-US"/>
              <a:t>和 </a:t>
            </a:r>
            <a:r>
              <a:rPr lang="en-US" altLang="zh-CN"/>
              <a:t>valid rate。H2 </a:t>
            </a:r>
            <a:r>
              <a:rPr lang="zh-CN" altLang="en-US"/>
              <a:t>是表达复杂度：</a:t>
            </a:r>
            <a:r>
              <a:rPr lang="en-US" altLang="zh-CN"/>
              <a:t>SQL+ </a:t>
            </a:r>
            <a:r>
              <a:rPr lang="zh-CN" altLang="en-US"/>
              <a:t>与 </a:t>
            </a:r>
            <a:r>
              <a:rPr lang="en-US" altLang="zh-CN"/>
              <a:t>SemQL-style、NatSQL-style、Pipe-style </a:t>
            </a:r>
            <a:r>
              <a:rPr lang="zh-CN" altLang="en-US"/>
              <a:t>有什么差别，对同一批 </a:t>
            </a:r>
            <a:r>
              <a:rPr lang="en-US" altLang="zh-CN"/>
              <a:t>gold SQL </a:t>
            </a:r>
            <a:r>
              <a:rPr lang="zh-CN" altLang="en-US"/>
              <a:t>改写成多种 </a:t>
            </a:r>
            <a:r>
              <a:rPr lang="en-US" altLang="zh-CN"/>
              <a:t>IR proxy，</a:t>
            </a:r>
            <a:r>
              <a:rPr lang="zh-CN" altLang="en-US"/>
              <a:t>统计 </a:t>
            </a:r>
            <a:r>
              <a:rPr lang="en-US" altLang="zh-CN"/>
              <a:t>token、</a:t>
            </a:r>
            <a:r>
              <a:rPr lang="zh-CN" altLang="en-US"/>
              <a:t>步骤、嵌套、别名依赖和跨子句引用。</a:t>
            </a:r>
            <a:r>
              <a:rPr lang="en-US" altLang="zh-CN"/>
              <a:t>H3 </a:t>
            </a:r>
            <a:r>
              <a:rPr lang="zh-CN" altLang="en-US"/>
              <a:t>是生成成本：</a:t>
            </a:r>
            <a:r>
              <a:rPr lang="en-US" altLang="zh-CN"/>
              <a:t>SQL+ </a:t>
            </a:r>
            <a:r>
              <a:rPr lang="zh-CN" altLang="en-US"/>
              <a:t>是否带来额外 </a:t>
            </a:r>
            <a:r>
              <a:rPr lang="en-US" altLang="zh-CN"/>
              <a:t>token </a:t>
            </a:r>
            <a:r>
              <a:rPr lang="zh-CN" altLang="en-US"/>
              <a:t>和延迟，同模型生成 </a:t>
            </a:r>
            <a:r>
              <a:rPr lang="en-US" altLang="zh-CN"/>
              <a:t>Direct SQL、SQL+、NatSQL-style、SemQL-style，</a:t>
            </a:r>
            <a:r>
              <a:rPr lang="zh-CN" altLang="en-US"/>
              <a:t>比较 </a:t>
            </a:r>
            <a:r>
              <a:rPr lang="en-US" altLang="zh-CN"/>
              <a:t>token、latency、execution match。H4 </a:t>
            </a:r>
            <a:r>
              <a:rPr lang="zh-CN" altLang="en-US"/>
              <a:t>是修复收益：如果 </a:t>
            </a:r>
            <a:r>
              <a:rPr lang="en-US" altLang="zh-CN"/>
              <a:t>SQL+ </a:t>
            </a:r>
            <a:r>
              <a:rPr lang="zh-CN" altLang="en-US"/>
              <a:t>有额外成本，它是否能通过更高修复成功率抵消，对比 </a:t>
            </a:r>
            <a:r>
              <a:rPr lang="en-US" altLang="zh-CN"/>
              <a:t>Direct Refiner </a:t>
            </a:r>
            <a:r>
              <a:rPr lang="zh-CN" altLang="en-US"/>
              <a:t>和 </a:t>
            </a:r>
            <a:r>
              <a:rPr lang="en-US" altLang="zh-CN"/>
              <a:t>SQL+ Critic Router Skills，</a:t>
            </a:r>
            <a:r>
              <a:rPr lang="zh-CN" altLang="en-US"/>
              <a:t>指标是 </a:t>
            </a:r>
            <a:r>
              <a:rPr lang="en-US" altLang="zh-CN"/>
              <a:t>repair success、patch minimality </a:t>
            </a:r>
            <a:r>
              <a:rPr lang="zh-CN" altLang="en-US"/>
              <a:t>和 </a:t>
            </a:r>
            <a:r>
              <a:rPr lang="en-US" altLang="zh-CN"/>
              <a:t>rounds。</a:t>
            </a:r>
            <a:endParaRPr lang="en-US" altLang="zh-CN"/>
          </a:p>
          <a:p>
            <a:endParaRPr lang="en-US" altLang="zh-CN"/>
          </a:p>
          <a:p>
            <a:r>
              <a:rPr lang="en-US" altLang="en-US"/>
              <a:t></a:t>
            </a:r>
            <a:r>
              <a:rPr lang="zh-CN" altLang="en-US"/>
              <a:t>设置：数据包括自建订单分析 30 条、</a:t>
            </a:r>
            <a:r>
              <a:rPr lang="en-US" altLang="zh-CN"/>
              <a:t>SQL+ </a:t>
            </a:r>
            <a:r>
              <a:rPr lang="zh-CN" altLang="en-US"/>
              <a:t>已知失败集 13 条、</a:t>
            </a:r>
            <a:r>
              <a:rPr lang="en-US" altLang="zh-CN"/>
              <a:t>Spider concert_singer 20 </a:t>
            </a:r>
            <a:r>
              <a:rPr lang="zh-CN" altLang="en-US"/>
              <a:t>条小子集。模型为 </a:t>
            </a:r>
            <a:r>
              <a:rPr lang="en-US" altLang="zh-CN"/>
              <a:t>gpt-5-mini，</a:t>
            </a:r>
            <a:r>
              <a:rPr lang="zh-CN" altLang="en-US"/>
              <a:t>执行环境为 </a:t>
            </a:r>
            <a:r>
              <a:rPr lang="en-US" altLang="zh-CN"/>
              <a:t>SQLite，SQL+ parser/translator </a:t>
            </a:r>
            <a:r>
              <a:rPr lang="zh-CN" altLang="en-US"/>
              <a:t>负责转换。</a:t>
            </a:r>
            <a:endParaRPr lang="zh-CN" altLang="en-US"/>
          </a:p>
          <a:p>
            <a:r>
              <a:rPr lang="en-US" altLang="en-US"/>
              <a:t></a:t>
            </a:r>
            <a:r>
              <a:rPr lang="zh-CN" altLang="en-US"/>
              <a:t>过程：先做初次生成对比，再做不同 </a:t>
            </a:r>
            <a:r>
              <a:rPr lang="en-US" altLang="zh-CN"/>
              <a:t>IR proxy </a:t>
            </a:r>
            <a:r>
              <a:rPr lang="zh-CN" altLang="en-US"/>
              <a:t>的表达复杂度统计，再做生成成本对比，最后在失败样例上做修复策略对比。</a:t>
            </a:r>
            <a:endParaRPr lang="zh-CN" altLang="en-US"/>
          </a:p>
          <a:p>
            <a:r>
              <a:rPr lang="en-US" altLang="en-US"/>
              <a:t></a:t>
            </a:r>
            <a:r>
              <a:rPr lang="zh-CN" altLang="en-US"/>
              <a:t>变量：自变量是生成/表示/修复方法：</a:t>
            </a:r>
            <a:r>
              <a:rPr lang="en-US" altLang="zh-CN"/>
              <a:t>Direct SQL、NL2SQL+、SemQL-style、NatSQL-style、Pipe-style、Direct Refiner、SQL+ Router Skills。</a:t>
            </a:r>
            <a:r>
              <a:rPr lang="zh-CN" altLang="en-US"/>
              <a:t>因变量是 </a:t>
            </a:r>
            <a:r>
              <a:rPr lang="en-US" altLang="zh-CN"/>
              <a:t>valid rate、execution match、token、latency、repair success、patch minimality、rounds。</a:t>
            </a:r>
            <a:r>
              <a:rPr lang="zh-CN" altLang="en-US"/>
              <a:t>控制变量是同一批问题、同一模型、同一 </a:t>
            </a:r>
            <a:r>
              <a:rPr lang="en-US" altLang="zh-CN"/>
              <a:t>SQLite </a:t>
            </a:r>
            <a:r>
              <a:rPr lang="zh-CN" altLang="en-US"/>
              <a:t>执行器、同一 </a:t>
            </a:r>
            <a:r>
              <a:rPr lang="en-US" altLang="zh-CN"/>
              <a:t>gold SQL </a:t>
            </a:r>
            <a:r>
              <a:rPr lang="zh-CN" altLang="en-US"/>
              <a:t>离线评价口径。</a:t>
            </a:r>
            <a:endParaRPr lang="zh-CN" altLang="en-US"/>
          </a:p>
          <a:p>
            <a:r>
              <a:rPr lang="en-US" altLang="en-US"/>
              <a:t></a:t>
            </a:r>
            <a:r>
              <a:rPr lang="zh-CN" altLang="en-US"/>
              <a:t>结论：这组实验服务于设计依据：</a:t>
            </a:r>
            <a:r>
              <a:rPr lang="en-US" altLang="zh-CN"/>
              <a:t>SQL+ </a:t>
            </a:r>
            <a:r>
              <a:rPr lang="zh-CN" altLang="en-US"/>
              <a:t>的价值主要在可定位、可解释、可修复，而不是单纯更短或初次生成显著更准。</a:t>
            </a:r>
            <a:endParaRPr lang="zh-CN" altLang="en-US"/>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rPr lang="zh-CN" altLang="en-US"/>
              <a:t>讲解思路</a:t>
            </a:r>
            <a:endParaRPr lang="zh-CN" altLang="en-US"/>
          </a:p>
          <a:p>
            <a:r>
              <a:rPr lang="zh-CN" altLang="en-US"/>
              <a:t>这一页要把实验口径讲严谨，尤其是 </a:t>
            </a:r>
            <a:r>
              <a:rPr lang="en-US" altLang="zh-CN"/>
              <a:t>gold SQL </a:t>
            </a:r>
            <a:r>
              <a:rPr lang="zh-CN" altLang="en-US"/>
              <a:t>不能进入生成和修复，否则老师会质疑“用答案修答案”。</a:t>
            </a:r>
            <a:endParaRPr lang="zh-CN" altLang="en-US"/>
          </a:p>
          <a:p>
            <a:r>
              <a:rPr lang="zh-CN" altLang="en-US"/>
              <a:t>【讲稿】</a:t>
            </a:r>
            <a:endParaRPr lang="zh-CN" altLang="en-US"/>
          </a:p>
          <a:p>
            <a:r>
              <a:rPr lang="zh-CN" altLang="en-US"/>
              <a:t>这一页给出统一实验设置。数据上，自建订单数据集有 30 条自然语言查询和对应 </a:t>
            </a:r>
            <a:r>
              <a:rPr lang="en-US" altLang="zh-CN"/>
              <a:t>SQL+、SQL，</a:t>
            </a:r>
            <a:r>
              <a:rPr lang="zh-CN" altLang="en-US"/>
              <a:t>用于转换、生成和复杂度评估；13 条 </a:t>
            </a:r>
            <a:r>
              <a:rPr lang="en-US" altLang="zh-CN"/>
              <a:t>SQL+ </a:t>
            </a:r>
            <a:r>
              <a:rPr lang="zh-CN" altLang="en-US"/>
              <a:t>已知失败样例用于修复能力评估；</a:t>
            </a:r>
            <a:r>
              <a:rPr lang="en-US" altLang="zh-CN"/>
              <a:t>Spider </a:t>
            </a:r>
            <a:r>
              <a:rPr lang="zh-CN" altLang="en-US"/>
              <a:t>的 </a:t>
            </a:r>
            <a:r>
              <a:rPr lang="en-US" altLang="zh-CN"/>
              <a:t>concert_singer 20 </a:t>
            </a:r>
            <a:r>
              <a:rPr lang="zh-CN" altLang="en-US"/>
              <a:t>条小子集用于公开数据集迁移的 </a:t>
            </a:r>
            <a:r>
              <a:rPr lang="en-US" altLang="zh-CN"/>
              <a:t>smoke test。</a:t>
            </a:r>
            <a:r>
              <a:rPr lang="zh-CN" altLang="en-US"/>
              <a:t>模型和执行环境上，主要使用 </a:t>
            </a:r>
            <a:r>
              <a:rPr lang="en-US" altLang="zh-CN"/>
              <a:t>gpt-5-mini、SQLite、SQL+ parser/translator </a:t>
            </a:r>
            <a:r>
              <a:rPr lang="zh-CN" altLang="en-US"/>
              <a:t>和 </a:t>
            </a:r>
            <a:r>
              <a:rPr lang="en-US" altLang="zh-CN"/>
              <a:t>Executor。</a:t>
            </a:r>
            <a:r>
              <a:rPr lang="zh-CN" altLang="en-US"/>
              <a:t>对比对象包括 </a:t>
            </a:r>
            <a:r>
              <a:rPr lang="en-US" altLang="zh-CN"/>
              <a:t>Direct SQL、NL2SQL+、SemQL/NatSQL/Pipe-style proxy、Direct Refiner </a:t>
            </a:r>
            <a:r>
              <a:rPr lang="zh-CN" altLang="en-US"/>
              <a:t>和 </a:t>
            </a:r>
            <a:r>
              <a:rPr lang="en-US" altLang="zh-CN"/>
              <a:t>SQL+ Router Skills。</a:t>
            </a:r>
            <a:r>
              <a:rPr lang="zh-CN" altLang="en-US"/>
              <a:t>最重要的是评价边界：</a:t>
            </a:r>
            <a:r>
              <a:rPr lang="en-US" altLang="zh-CN"/>
              <a:t>gold SQL </a:t>
            </a:r>
            <a:r>
              <a:rPr lang="zh-CN" altLang="en-US"/>
              <a:t>只用于离线 </a:t>
            </a:r>
            <a:r>
              <a:rPr lang="en-US" altLang="zh-CN"/>
              <a:t>execution match，</a:t>
            </a:r>
            <a:r>
              <a:rPr lang="zh-CN" altLang="en-US"/>
              <a:t>不进入 </a:t>
            </a:r>
            <a:r>
              <a:rPr lang="en-US" altLang="zh-CN"/>
              <a:t>Generator、Refiner、Critic、Router </a:t>
            </a:r>
            <a:r>
              <a:rPr lang="zh-CN" altLang="en-US"/>
              <a:t>或 </a:t>
            </a:r>
            <a:r>
              <a:rPr lang="en-US" altLang="zh-CN"/>
              <a:t>Repair Skill，</a:t>
            </a:r>
            <a:r>
              <a:rPr lang="zh-CN" altLang="en-US"/>
              <a:t>这样可以避免把 </a:t>
            </a:r>
            <a:r>
              <a:rPr lang="en-US" altLang="zh-CN"/>
              <a:t>gold </a:t>
            </a:r>
            <a:r>
              <a:rPr lang="zh-CN" altLang="en-US"/>
              <a:t>诊断伪装成真实修复能力。</a:t>
            </a:r>
            <a:endParaRPr lang="zh-CN" altLang="en-US"/>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这一页把动机测试一改成三个结果表。左上表是 30 条自建订单样例上的初次生成 baseline：Direct SQL 为 16/30，NL2SQL+ prompt v1 为 13/30，prompt v2 为 17/30。这个结果说明 SQL+ 作为生成目标可以跑通，但仅靠输出格式变化，准确率提升很有限。右上表是同一模型、同一批问题下的 IR 生成成本对比：SQL+ 的 execution match 为 14/30，略高于 Direct SQL 的 12/30 和 NatSQL-style proxy 的 13/30，但平均 token 和 latency 更高。下方表是表达复杂度对比：SQL+ 的 token 不比 SQL 少，但别名依赖和跨子句引用明显更低。</a:t>
            </a:r>
          </a:p>
          <a:p>
            <a:r>
              <a:t>【答辩备注】</a:t>
            </a:r>
          </a:p>
          <a:p>
            <a:r>
              <a:t>这里要讲清楚三个实验的计算方式。初次生成表是模型输出后统一转 SQL，在 SQLite 上执行，并与 gold SQL 执行结果比较得到 execution match。IR 生成成本表记录模型 API 的输入 token、输出 token、总 token 和响应延迟；valid repr 表示是否符合目标表示格式，valid SQL 表示转换或抽取后的 SQL 能否执行。复杂度表不是模型生成结果，而是把同一批 gold 查询整理成 SQL、SQL+、SemQL-style proxy、NatSQL-style proxy 和 Pipe-style proxy 后统计：token 为文本分词近似数，步骤/子句为 SQL+ 管道步骤或 SQL 子句数，别名依赖统计 ORDER/HAVING/SELECT 对别名的依赖，跨子句引用统计同一逻辑字段或表达式跨多个子句反复出现的次数。结论要谨慎：SQL+ 不是更短、更省，而是用显式步骤换取更清楚的错误定位边界。</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这一页把多 Agent 与 Repair Skill 的实验结果列成两张表。上表比较不同修复方案：诊断辅助 Refiner 是 13/13，但它使用 gold-derived differences，只能证明链路可行；SQL+ 非 gold 单 Refiner 是 4/13，Direct SQL 非 gold Refiner 是 6/14；Schema-Critic-Refiner 和 Step-wise Critic-Refiner 都是 3/13；只有 Critic -&gt; Skill Router -&gt; Repair Skills 达到 13/13。下表进一步比较 repairability 指标：SQL+ Router Skills 的修复成功率更高，平均 patch minimality 为 0.9744，但 repair token 和轮数也更高。</a:t>
            </a:r>
          </a:p>
          <a:p>
            <a:r>
              <a:t>【答辩备注】</a:t>
            </a:r>
          </a:p>
          <a:p>
            <a:r>
              <a:t>这里要强调“多 Agent 有必要”的证据不是 agent 数量，而是分工是否形成可验证的中间产物。单 Refiner 容易整体重写或改错位置；Critic 如果只输出诊断文本，但不能稳定映射到修复动作，效果也不好。Skill Router 的作用是把错误类型映射到 value-linking、ORDER、aggregation、join、projection 等局部 repair skill。repair success 通过修复后 SQL 执行结果是否与 gold SQL 一致计算；error localization accuracy 表示错误步骤或类型是否定位到人工分析的区域；patch minimality 越高，说明修改越集中，越少大范围重写。边界是：13/13 只限当前已知失败集，后续要扩展更多数据库和复合错误。</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这一页把动机测试转成系统设计依据。观察一是初次生成提升有限，所以研究重点不能只放在 prompt。观察二是 SQL+ 的结构依赖更低，所以更适合作为错误定位载体。观察三是局部修复的收益明显，所以系统应该把错误反馈导入 Critic、Router 和 Repair Skill，而不是直接重写 SQL。</a:t>
            </a:r>
          </a:p>
          <a:p>
            <a:r>
              <a:t>【答辩备注】</a:t>
            </a:r>
          </a:p>
          <a:p>
            <a:r>
              <a:t>答辩时可以把这一页作为过渡：前面的实验回答“为什么要做”，后面的系统架构回答“怎么做”。核心闭环是 Natural Language -&gt; SQL+ -&gt; SQL -&gt; Execution Feedback -&gt; Critic -&gt; Router -&gt; Repair Skill -&gt; Re-execute。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这一页改成原始 SQL 与 SQL+ 对照。左边是等价的标准 SQL，右边是 SQL+ 中间表示。可以看到，标准 SQL 的 SELECT 写在最前面，但它依赖后面的 JOIN、WHERE、GROUP BY 和 ORDER BY；SQL+ 则按数据流顺序把数据源、连接、过滤、分组、聚合、投影和排序拆成步骤。这样不是为了让文本更短，而是为了让每一步成为可诊断、可局部修改的锚点。</a:t>
            </a:r>
          </a:p>
          <a:p>
            <a:r>
              <a:t>【答辩备注】</a:t>
            </a:r>
          </a:p>
          <a:p>
            <a:r>
              <a:t>如果老师问 SQL+ 和普通 SQL 的区别，可以用这个例子回答：SQL 里 `amount` 别名、GROUP BY 和 ORDER BY 的关系需要跨子句理解；SQL+ 中 AGG、SELECT、ORDER 是相邻或显式步骤，更容易判断错误属于聚合口径、别名引用还是排序逻辑。最终 SQL+ 仍通过 translator 转回 SQL 执行，不替代数据库执行语言。</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可行性测试分成四层：第一层验证 SQL+ 转换链路是否稳定；第二层验证自然语言生成 SQL+ 是否可行；第三层验证执行失败后能否在 SQL+ 层修复；第四层用 Spider 小子集验证能否迁移到公开 Text-to-SQL 数据。</a:t>
            </a:r>
          </a:p>
          <a:p>
            <a:r>
              <a:t>【答辩备注】</a:t>
            </a:r>
          </a:p>
          <a:p>
            <a:r>
              <a:t>这里要主动说明边界：当前不是完整 Spider 或 BIRD 跑榜，而是开题阶段的 feasibility evidence。它的作用是证明系统链路可以跑通，关键指标可以量化，后续能够扩展到更大 benchmark。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这一页统一说明可行性测试的数据和指标。自建订单数据包含 4 张表和 30 条自然语言问题，支持 WHERE、JOIN、GROUP、AGG、ORDER、LIMIT 等常见分析查询。Spider 小子集来自 concert_singer 的 20 条样例。主要指标包括 SQL+ valid、SQL executable、execution match、repair success、token 和 latency。</a:t>
            </a:r>
          </a:p>
          <a:p>
            <a:r>
              <a:t>【答辩备注】</a:t>
            </a:r>
          </a:p>
          <a:p>
            <a:r>
              <a:t>SQL+ valid 表示 parser 能否解析；SQL executable 表示转换后的 SQL 能否执行；execution match 表示生成 SQL 与 gold SQL 的执行结果是否一致；repair success 表示修复后结果是否变正确；token 和 latency 用于衡量多 Agent 与 SQL+ 的额外开销。</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第一组可行性测试验证 SQL+ 转换链路。方法是把 30 条自建订单分析查询写成 SQL+，经过 SQL+ parser 和 translator 转成 SQL，再在 SQLite 中执行，并与预期 SQL 执行结果比较。当前结果是 SQL+ valid 30/30，SQL executable 30/30，execution match 30/30。</a:t>
            </a:r>
          </a:p>
          <a:p>
            <a:r>
              <a:t>【答辩备注】</a:t>
            </a:r>
          </a:p>
          <a:p>
            <a:r>
              <a:t>这组实验不能解释为模型生成准确率，它只是证明 SQL+ 不是纸面语法，而是能被解析、转换和执行的中间表示。这个结果支撑研究内容一：SQL+ 查询表达与转换机制。</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第二组可行性测试验证 SQL+ 层修复。数据是 13 条 SQL+ prompt v2 的已知失败样例，并设置 Direct SQL Refiner 和 SQL+ 单 Refiner 作为对照。结果显示 Direct Refiner 为 6/14，SQL+ 单 Refiner 为 4/13，而 Critic -&gt; Skill Router -&gt; Repair Skills 达到 13/13。</a:t>
            </a:r>
          </a:p>
          <a:p>
            <a:r>
              <a:t>【答辩备注】</a:t>
            </a:r>
          </a:p>
          <a:p>
            <a:r>
              <a:t>要谨慎解释：13/13 是当前已知失败集上的结果，不是大规模 benchmark。它说明局部 repair skill 对这些错误类型有效，但后续还要扩展到更多 schema、更多 SQL 结构和更多错误类型。同时 patch minimality 0.9744 表示修复主要是小范围局部修改，符合 SQL+ 可修复性的设计目标。</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这一页展示 Repair Skill 的分治结果。value-linking 处理字段值或日期边界，ORDER/LIMIT 处理排序和 top-k，aggregation 处理聚合口径、别名和 HAVING/ORDER 引用，join 处理连接路径和冗余连接，projection 处理输出列多余或缺失。每类错误都对应局部修改策略。</a:t>
            </a:r>
          </a:p>
          <a:p>
            <a:r>
              <a:t>【答辩备注】</a:t>
            </a:r>
          </a:p>
          <a:p>
            <a:r>
              <a:t>这页可以回应老师对“工程步骤”的质疑：分治不是简单流程，而是错误类型建模。每类错误的可观测信号、候选 patch 空间和执行验证方式不同，所以需要 Skill Router 决定调用哪个 repair skill。</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最后一组可行性测试是 Spider 小子集。第一项 conversion smoke test 是 gold SQL -&gt; SQL+ -&gt; SQL，20/20，说明转换器可以迁移；第二项 fresh e2e 是 question + schema 直接生成 SQL+，同一 20 条样例为 19/20；第三项把同一次 fresh 输出进入 Skill Router 和 semantic repair skill 后达到 20/20。</a:t>
            </a:r>
          </a:p>
          <a:p>
            <a:r>
              <a:t>【答辩备注】</a:t>
            </a:r>
          </a:p>
          <a:p>
            <a:r>
              <a:t>必须强调边界：这只是 concert_singer 的 20 条小子集，不是完整 Spider benchmark。gold SQL 只用于评价，不参与 fresh e2e 生成。这个结果只能作为公开数据迁移的初步可行性证据，后续需要扩展多数据库、多难度和更多 SQL 结构。</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pic>
        <p:nvPicPr>
          <p:cNvPr id="2050" name="图片 8"/>
          <p:cNvPicPr>
            <a:picLocks noChangeAspect="1"/>
          </p:cNvPicPr>
          <p:nvPr userDrawn="1"/>
        </p:nvPicPr>
        <p:blipFill>
          <a:blip r:embed="rId2"/>
          <a:stretch>
            <a:fillRect/>
          </a:stretch>
        </p:blipFill>
        <p:spPr>
          <a:xfrm>
            <a:off x="1588" y="9525"/>
            <a:ext cx="9144000" cy="6845300"/>
          </a:xfrm>
          <a:prstGeom prst="rect">
            <a:avLst/>
          </a:prstGeom>
          <a:noFill/>
          <a:ln w="9525">
            <a:noFill/>
          </a:ln>
        </p:spPr>
      </p:pic>
      <p:sp>
        <p:nvSpPr>
          <p:cNvPr id="2" name="Rectangle 23"/>
          <p:cNvSpPr>
            <a:spLocks noChangeArrowheads="1"/>
          </p:cNvSpPr>
          <p:nvPr/>
        </p:nvSpPr>
        <p:spPr bwMode="auto">
          <a:xfrm flipV="1">
            <a:off x="315913" y="3589338"/>
            <a:ext cx="8693150" cy="55563"/>
          </a:xfrm>
          <a:prstGeom prst="rect">
            <a:avLst/>
          </a:prstGeom>
          <a:gradFill rotWithShape="0">
            <a:gsLst>
              <a:gs pos="0">
                <a:schemeClr val="bg2"/>
              </a:gs>
              <a:gs pos="100000">
                <a:schemeClr val="bg1"/>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1pPr>
            <a:lvl2pPr marL="742950" indent="-28575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2pPr>
            <a:lvl3pPr marL="1143000" indent="-22860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3pPr>
            <a:lvl4pPr marL="1600200" indent="-22860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4pPr>
            <a:lvl5pPr marL="2057400" indent="-22860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5pPr>
            <a:lvl6pPr marL="25146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6pPr>
            <a:lvl7pPr marL="29718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7pPr>
            <a:lvl8pPr marL="34290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8pPr>
            <a:lvl9pPr marL="38862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9pPr>
          </a:lstStyle>
          <a:p>
            <a:pPr marL="0" marR="0" lvl="0" indent="0" algn="l" defTabSz="914400" rtl="0" eaLnBrk="1" fontAlgn="base" latinLnBrk="0" hangingPunct="1">
              <a:lnSpc>
                <a:spcPct val="110000"/>
              </a:lnSpc>
              <a:spcBef>
                <a:spcPct val="20000"/>
              </a:spcBef>
              <a:spcAft>
                <a:spcPct val="0"/>
              </a:spcAft>
              <a:buClr>
                <a:srgbClr val="3366FF"/>
              </a:buClr>
              <a:buSzPct val="75000"/>
              <a:buFont typeface="Wingdings" panose="05000000000000000000" pitchFamily="2" charset="2"/>
              <a:buNone/>
              <a:defRPr/>
            </a:pPr>
            <a:endParaRPr kumimoji="1" lang="zh-CN" altLang="en-US" sz="2000" b="0" i="0" u="none" strike="noStrike" kern="1200" cap="none" spc="0" normalizeH="0" baseline="0" noProof="0">
              <a:ln>
                <a:noFill/>
              </a:ln>
              <a:solidFill>
                <a:srgbClr val="FF3300"/>
              </a:solidFill>
              <a:effectLst/>
              <a:uLnTx/>
              <a:uFillTx/>
              <a:latin typeface="Arial" panose="020B0604020202020204" pitchFamily="34" charset="0"/>
              <a:ea typeface="黑体" panose="02010609060101010101" pitchFamily="49" charset="-122"/>
              <a:cs typeface="+mn-cs"/>
            </a:endParaRPr>
          </a:p>
        </p:txBody>
      </p:sp>
      <p:sp>
        <p:nvSpPr>
          <p:cNvPr id="136195" name="Rectangle 3"/>
          <p:cNvSpPr>
            <a:spLocks noGrp="1" noChangeArrowheads="1"/>
          </p:cNvSpPr>
          <p:nvPr>
            <p:ph type="subTitle" idx="1"/>
          </p:nvPr>
        </p:nvSpPr>
        <p:spPr>
          <a:xfrm>
            <a:off x="1371600" y="3886200"/>
            <a:ext cx="6400800" cy="1752600"/>
          </a:xfrm>
        </p:spPr>
        <p:txBody>
          <a:bodyPr/>
          <a:lstStyle>
            <a:lvl1pPr marL="0" indent="0" algn="ctr">
              <a:buFont typeface="Wingdings" panose="05000000000000000000" pitchFamily="2" charset="2"/>
              <a:buNone/>
              <a:defRPr b="1">
                <a:solidFill>
                  <a:srgbClr val="0000CC"/>
                </a:solidFill>
                <a:latin typeface="Times" charset="0"/>
              </a:defRPr>
            </a:lvl1pPr>
          </a:lstStyle>
          <a:p>
            <a:pPr lvl="0"/>
            <a:r>
              <a:rPr lang="zh-CN" altLang="en-US" noProof="0"/>
              <a:t>单击此处编辑母版副标题样式</a:t>
            </a:r>
            <a:endParaRPr lang="zh-CN" altLang="en-US" noProof="0"/>
          </a:p>
        </p:txBody>
      </p:sp>
      <p:sp>
        <p:nvSpPr>
          <p:cNvPr id="10" name="标题 9"/>
          <p:cNvSpPr>
            <a:spLocks noGrp="1"/>
          </p:cNvSpPr>
          <p:nvPr>
            <p:ph type="title"/>
          </p:nvPr>
        </p:nvSpPr>
        <p:spPr>
          <a:xfrm>
            <a:off x="485775" y="908720"/>
            <a:ext cx="8229600" cy="863600"/>
          </a:xfrm>
        </p:spPr>
        <p:txBody>
          <a:bodyPr/>
          <a:lstStyle/>
          <a:p>
            <a:r>
              <a:rPr lang="zh-CN" altLang="en-US" dirty="0"/>
              <a:t>单击此处编辑母版标题样式</a:t>
            </a:r>
            <a:endParaRPr lang="zh-CN" altLang="en-US" dirty="0"/>
          </a:p>
        </p:txBody>
      </p:sp>
      <p:sp>
        <p:nvSpPr>
          <p:cNvPr id="11" name="日期占位符 1"/>
          <p:cNvSpPr>
            <a:spLocks noGrp="1"/>
          </p:cNvSpPr>
          <p:nvPr>
            <p:ph type="dt" sz="half" idx="2"/>
          </p:nvPr>
        </p:nvSpPr>
        <p:spPr bwMode="auto">
          <a:xfrm>
            <a:off x="457200" y="6245225"/>
            <a:ext cx="2133600" cy="4762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12" name="页脚占位符 2"/>
          <p:cNvSpPr>
            <a:spLocks noGrp="1"/>
          </p:cNvSpPr>
          <p:nvPr>
            <p:ph type="ftr" sz="quarter" idx="3"/>
          </p:nvPr>
        </p:nvSpPr>
        <p:spPr bwMode="auto">
          <a:xfrm>
            <a:off x="3124200" y="6245225"/>
            <a:ext cx="2895600" cy="4762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13" name="灯片编号占位符 8"/>
          <p:cNvSpPr>
            <a:spLocks noGrp="1"/>
          </p:cNvSpPr>
          <p:nvPr>
            <p:ph type="sldNum" sz="quarter" idx="4"/>
          </p:nvPr>
        </p:nvSpPr>
        <p:spPr bwMode="auto">
          <a:xfrm>
            <a:off x="6553200" y="6245225"/>
            <a:ext cx="2133600" cy="4762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p>
            <a:pPr marL="0" marR="0" lvl="0" indent="0" algn="r" defTabSz="914400" rtl="0" eaLnBrk="1" fontAlgn="base" latinLnBrk="0" hangingPunct="1">
              <a:lnSpc>
                <a:spcPct val="100000"/>
              </a:lnSpc>
              <a:spcBef>
                <a:spcPct val="0"/>
              </a:spcBef>
              <a:spcAft>
                <a:spcPct val="0"/>
              </a:spcAft>
              <a:buClrTx/>
              <a:buSzTx/>
              <a:buFontTx/>
              <a:buNone/>
              <a:defRPr/>
            </a:pPr>
            <a:fld id="{6A90D09A-ED5D-47CC-A45F-D492BA9A6C1B}" type="slidenum">
              <a:rPr kumimoji="0" lang="en-US" altLang="zh-CN" sz="1400" b="0" i="0" u="none" strike="noStrike" kern="1200" cap="none" spc="0" normalizeH="0" baseline="0" noProof="0" smtClean="0">
                <a:ln>
                  <a:noFill/>
                </a:ln>
                <a:solidFill>
                  <a:schemeClr val="tx1"/>
                </a:solidFill>
                <a:effectLst/>
                <a:uLnTx/>
                <a:uFillTx/>
                <a:latin typeface="Arial" panose="020B0604020202020204" pitchFamily="34" charset="0"/>
                <a:ea typeface="宋体" panose="02010600030101010101" pitchFamily="2" charset="-122"/>
                <a:cs typeface="+mn-cs"/>
              </a:rPr>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sz="3600" b="0"/>
            </a:lvl1pPr>
          </a:lstStyle>
          <a:p>
            <a:r>
              <a:rPr lang="zh-CN" altLang="en-US" dirty="0"/>
              <a:t>单击此处编辑母版标题样式</a:t>
            </a:r>
            <a:endParaRPr lang="zh-CN" altLang="en-US" dirty="0"/>
          </a:p>
        </p:txBody>
      </p:sp>
      <p:sp>
        <p:nvSpPr>
          <p:cNvPr id="3" name="内容占位符 2"/>
          <p:cNvSpPr>
            <a:spLocks noGrp="1"/>
          </p:cNvSpPr>
          <p:nvPr>
            <p:ph idx="1"/>
          </p:nvPr>
        </p:nvSpPr>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5" name="页脚占位符 4"/>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6" name="灯片编号占位符 5"/>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6A90D09A-ED5D-47CC-A45F-D492BA9A6C1B}" type="slidenum">
              <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3" name="页脚占位符 2"/>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4" name="灯片编号占位符 3"/>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6A90D09A-ED5D-47CC-A45F-D492BA9A6C1B}" type="slidenum">
              <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Tree>
  </p:cSld>
  <p:clrMapOvr>
    <a:masterClrMapping/>
  </p:clrMapOvr>
</p:sldLayout>
</file>

<file path=ppt/slideMasters/_rels/slideMaster1.xml.rels><?xml version="1.0" encoding="UTF-8" standalone="yes"?>
<Relationships xmlns="http://schemas.openxmlformats.org/package/2006/relationships"><Relationship Id="rId5" Type="http://schemas.openxmlformats.org/officeDocument/2006/relationships/theme" Target="../theme/theme1.xml"/><Relationship Id="rId4" Type="http://schemas.openxmlformats.org/officeDocument/2006/relationships/image" Target="../media/image1.jpeg"/><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6" name="图片 1"/>
          <p:cNvPicPr>
            <a:picLocks noChangeAspect="1"/>
          </p:cNvPicPr>
          <p:nvPr userDrawn="1"/>
        </p:nvPicPr>
        <p:blipFill>
          <a:blip r:embed="rId4"/>
          <a:stretch>
            <a:fillRect/>
          </a:stretch>
        </p:blipFill>
        <p:spPr>
          <a:xfrm>
            <a:off x="0" y="6350"/>
            <a:ext cx="9144000" cy="6845300"/>
          </a:xfrm>
          <a:prstGeom prst="rect">
            <a:avLst/>
          </a:prstGeom>
          <a:noFill/>
          <a:ln w="9525">
            <a:noFill/>
          </a:ln>
        </p:spPr>
      </p:pic>
      <p:sp>
        <p:nvSpPr>
          <p:cNvPr id="135170" name="Rectangle 2"/>
          <p:cNvSpPr>
            <a:spLocks noGrp="1" noChangeArrowheads="1"/>
          </p:cNvSpPr>
          <p:nvPr>
            <p:ph type="title"/>
          </p:nvPr>
        </p:nvSpPr>
        <p:spPr bwMode="auto">
          <a:xfrm>
            <a:off x="457200" y="836613"/>
            <a:ext cx="8229600" cy="863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lstStyle/>
          <a:p>
            <a:pPr lvl="0"/>
            <a:r>
              <a:rPr lang="zh-CN" altLang="en-US" dirty="0"/>
              <a:t>模板</a:t>
            </a:r>
            <a:r>
              <a:rPr lang="en-US" altLang="zh-CN" dirty="0"/>
              <a:t>Chapter</a:t>
            </a:r>
            <a:endParaRPr lang="en-US" altLang="zh-CN" dirty="0"/>
          </a:p>
        </p:txBody>
      </p:sp>
      <p:sp>
        <p:nvSpPr>
          <p:cNvPr id="1028" name="Rectangle 3"/>
          <p:cNvSpPr>
            <a:spLocks noGrp="1"/>
          </p:cNvSpPr>
          <p:nvPr>
            <p:ph type="body" idx="1"/>
          </p:nvPr>
        </p:nvSpPr>
        <p:spPr>
          <a:xfrm>
            <a:off x="457200" y="1916113"/>
            <a:ext cx="8229600" cy="4525962"/>
          </a:xfrm>
          <a:prstGeom prst="rect">
            <a:avLst/>
          </a:prstGeom>
          <a:noFill/>
          <a:ln w="9525">
            <a:noFill/>
          </a:ln>
        </p:spPr>
        <p:txBody>
          <a:bodyPr/>
          <a:lstStyle/>
          <a:p>
            <a:pPr lvl="0"/>
            <a:r>
              <a:rPr lang="zh-CN" altLang="en-US" dirty="0"/>
              <a:t>第一级</a:t>
            </a:r>
            <a:r>
              <a:rPr lang="en-US" altLang="zh-CN" dirty="0"/>
              <a:t>abcd</a:t>
            </a:r>
            <a:endParaRPr lang="en-US" altLang="zh-CN" dirty="0"/>
          </a:p>
          <a:p>
            <a:pPr lvl="1"/>
            <a:r>
              <a:rPr lang="zh-CN" altLang="en-US" dirty="0"/>
              <a:t>第二级</a:t>
            </a:r>
            <a:r>
              <a:rPr lang="en-US" altLang="zh-CN" dirty="0"/>
              <a:t>adb</a:t>
            </a:r>
            <a:endParaRPr lang="en-US" altLang="zh-CN" dirty="0"/>
          </a:p>
          <a:p>
            <a:pPr lvl="2"/>
            <a:r>
              <a:rPr lang="zh-CN" altLang="en-US" dirty="0"/>
              <a:t>第三级</a:t>
            </a:r>
            <a:r>
              <a:rPr lang="en-US" altLang="zh-CN" dirty="0"/>
              <a:t>kljaskf</a:t>
            </a:r>
            <a:endParaRPr lang="en-US" altLang="zh-CN" dirty="0"/>
          </a:p>
          <a:p>
            <a:pPr lvl="3"/>
            <a:r>
              <a:rPr lang="zh-CN" altLang="en-US" dirty="0"/>
              <a:t>第四级</a:t>
            </a:r>
            <a:endParaRPr lang="zh-CN" altLang="en-US" dirty="0"/>
          </a:p>
          <a:p>
            <a:pPr lvl="4"/>
            <a:r>
              <a:rPr lang="zh-CN" altLang="en-US" dirty="0"/>
              <a:t>第五级</a:t>
            </a:r>
            <a:endParaRPr lang="zh-CN" altLang="en-US" dirty="0"/>
          </a:p>
        </p:txBody>
      </p:sp>
      <p:sp>
        <p:nvSpPr>
          <p:cNvPr id="135172" name="Rectangle 4"/>
          <p:cNvSpPr>
            <a:spLocks noGrp="1" noChangeArrowheads="1"/>
          </p:cNvSpPr>
          <p:nvPr>
            <p:ph type="dt" sz="half" idx="2"/>
          </p:nvPr>
        </p:nvSpPr>
        <p:spPr bwMode="auto">
          <a:xfrm>
            <a:off x="457200" y="6245225"/>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eaLnBrk="1" hangingPunct="1">
              <a:lnSpc>
                <a:spcPct val="100000"/>
              </a:lnSpc>
              <a:spcBef>
                <a:spcPct val="0"/>
              </a:spcBef>
              <a:buClrTx/>
              <a:buSzTx/>
              <a:buFontTx/>
              <a:buNone/>
              <a:defRPr kumimoji="0" sz="1400">
                <a:solidFill>
                  <a:schemeClr val="tx1"/>
                </a:solidFill>
                <a:ea typeface="宋体" panose="02010600030101010101" pitchFamily="2" charset="-122"/>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135173" name="Rectangle 5"/>
          <p:cNvSpPr>
            <a:spLocks noGrp="1" noChangeArrowheads="1"/>
          </p:cNvSpPr>
          <p:nvPr>
            <p:ph type="ftr" sz="quarter" idx="3"/>
          </p:nvPr>
        </p:nvSpPr>
        <p:spPr bwMode="auto">
          <a:xfrm>
            <a:off x="3124200" y="6245225"/>
            <a:ext cx="2895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lgn="ctr" eaLnBrk="1" hangingPunct="1">
              <a:lnSpc>
                <a:spcPct val="100000"/>
              </a:lnSpc>
              <a:spcBef>
                <a:spcPct val="0"/>
              </a:spcBef>
              <a:buClrTx/>
              <a:buSzTx/>
              <a:buFontTx/>
              <a:buNone/>
              <a:defRPr kumimoji="0" sz="1400">
                <a:solidFill>
                  <a:schemeClr val="tx1"/>
                </a:solidFill>
                <a:ea typeface="宋体" panose="02010600030101010101" pitchFamily="2" charset="-122"/>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135174" name="Rectangle 6"/>
          <p:cNvSpPr>
            <a:spLocks noGrp="1" noChangeArrowheads="1"/>
          </p:cNvSpPr>
          <p:nvPr>
            <p:ph type="sldNum" sz="quarter" idx="4"/>
          </p:nvPr>
        </p:nvSpPr>
        <p:spPr bwMode="auto">
          <a:xfrm>
            <a:off x="6553200" y="6245225"/>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lgn="r" eaLnBrk="1" hangingPunct="1">
              <a:lnSpc>
                <a:spcPct val="100000"/>
              </a:lnSpc>
              <a:spcBef>
                <a:spcPct val="0"/>
              </a:spcBef>
              <a:buClrTx/>
              <a:buSzTx/>
              <a:buFontTx/>
              <a:buNone/>
              <a:defRPr kumimoji="0" sz="1400">
                <a:solidFill>
                  <a:schemeClr val="tx1"/>
                </a:solidFill>
                <a:ea typeface="宋体" panose="02010600030101010101" pitchFamily="2" charset="-122"/>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A90D09A-ED5D-47CC-A45F-D492BA9A6C1B}" type="slidenum">
              <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1032" name="Rectangle 17"/>
          <p:cNvSpPr>
            <a:spLocks noChangeArrowheads="1"/>
          </p:cNvSpPr>
          <p:nvPr/>
        </p:nvSpPr>
        <p:spPr bwMode="gray">
          <a:xfrm>
            <a:off x="442913" y="1668463"/>
            <a:ext cx="8226425" cy="31750"/>
          </a:xfrm>
          <a:prstGeom prst="rect">
            <a:avLst/>
          </a:prstGeom>
          <a:gradFill rotWithShape="0">
            <a:gsLst>
              <a:gs pos="0">
                <a:schemeClr val="bg2"/>
              </a:gs>
              <a:gs pos="100000">
                <a:schemeClr val="bg1"/>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1pPr>
            <a:lvl2pPr marL="742950" indent="-28575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2pPr>
            <a:lvl3pPr marL="1143000" indent="-22860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3pPr>
            <a:lvl4pPr marL="1600200" indent="-22860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4pPr>
            <a:lvl5pPr marL="2057400" indent="-22860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5pPr>
            <a:lvl6pPr marL="25146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6pPr>
            <a:lvl7pPr marL="29718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7pPr>
            <a:lvl8pPr marL="34290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8pPr>
            <a:lvl9pPr marL="38862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zh-CN" sz="2400" b="0" i="0" u="none" strike="noStrike" kern="1200" cap="none" spc="0" normalizeH="0" baseline="0" noProof="0">
              <a:ln>
                <a:noFill/>
              </a:ln>
              <a:solidFill>
                <a:schemeClr val="tx1"/>
              </a:solidFill>
              <a:effectLst/>
              <a:uLnTx/>
              <a:uFillTx/>
              <a:latin typeface="Tahoma" panose="020B0604030504040204" pitchFamily="34" charset="0"/>
              <a:ea typeface="宋体" panose="02010600030101010101" pitchFamily="2" charset="-122"/>
              <a:cs typeface="+mn-cs"/>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hdr="0" ftr="0" dt="0"/>
  <p:txStyles>
    <p:titleStyle>
      <a:lvl1pPr algn="ctr" rtl="0" eaLnBrk="0" fontAlgn="base" hangingPunct="0">
        <a:spcBef>
          <a:spcPct val="0"/>
        </a:spcBef>
        <a:spcAft>
          <a:spcPct val="0"/>
        </a:spcAft>
        <a:defRPr kumimoji="1" sz="3600" b="0" kern="1200">
          <a:solidFill>
            <a:srgbClr val="CC0000"/>
          </a:solidFill>
          <a:effectLst>
            <a:outerShdw blurRad="38100" dist="38100" dir="2700000" algn="tl">
              <a:srgbClr val="C0C0C0"/>
            </a:outerShdw>
          </a:effectLst>
          <a:latin typeface="+mj-lt"/>
          <a:ea typeface="+mj-ea"/>
          <a:cs typeface="+mj-cs"/>
        </a:defRPr>
      </a:lvl1pPr>
      <a:lvl2pPr algn="ctr" rtl="0" eaLnBrk="0" fontAlgn="base" hangingPunct="0">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2pPr>
      <a:lvl3pPr algn="ctr" rtl="0" eaLnBrk="0" fontAlgn="base" hangingPunct="0">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3pPr>
      <a:lvl4pPr algn="ctr" rtl="0" eaLnBrk="0" fontAlgn="base" hangingPunct="0">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4pPr>
      <a:lvl5pPr algn="ctr" rtl="0" eaLnBrk="0" fontAlgn="base" hangingPunct="0">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5pPr>
      <a:lvl6pPr marL="457200" algn="ctr" rtl="0" fontAlgn="base">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6pPr>
      <a:lvl7pPr marL="914400" algn="ctr" rtl="0" fontAlgn="base">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7pPr>
      <a:lvl8pPr marL="1371600" algn="ctr" rtl="0" fontAlgn="base">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8pPr>
      <a:lvl9pPr marL="1828800" algn="ctr" rtl="0" fontAlgn="base">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9pPr>
    </p:titleStyle>
    <p:bodyStyle>
      <a:lvl1pPr marL="342900" indent="-342900" algn="l" rtl="0" eaLnBrk="0" fontAlgn="base" hangingPunct="0">
        <a:spcBef>
          <a:spcPct val="20000"/>
        </a:spcBef>
        <a:spcAft>
          <a:spcPct val="0"/>
        </a:spcAft>
        <a:buClr>
          <a:srgbClr val="3366FF"/>
        </a:buClr>
        <a:buSzPct val="75000"/>
        <a:buFont typeface="Wingdings" panose="05000000000000000000" pitchFamily="2" charset="2"/>
        <a:buChar char="ª"/>
        <a:defRPr kumimoji="1" sz="3600" kern="1200">
          <a:solidFill>
            <a:schemeClr val="tx1"/>
          </a:solidFill>
          <a:latin typeface="+mn-lt"/>
          <a:ea typeface="+mn-ea"/>
          <a:cs typeface="+mn-cs"/>
        </a:defRPr>
      </a:lvl1pPr>
      <a:lvl2pPr marL="742950" indent="-285750" algn="l" rtl="0" eaLnBrk="0" fontAlgn="base" hangingPunct="0">
        <a:spcBef>
          <a:spcPct val="20000"/>
        </a:spcBef>
        <a:spcAft>
          <a:spcPct val="0"/>
        </a:spcAft>
        <a:buClr>
          <a:srgbClr val="990033"/>
        </a:buClr>
        <a:buSzPct val="80000"/>
        <a:buFont typeface="Wingdings" panose="05000000000000000000" pitchFamily="2" charset="2"/>
        <a:buChar char="Ø"/>
        <a:defRPr sz="2800" kern="1200">
          <a:solidFill>
            <a:schemeClr val="tx1"/>
          </a:solidFill>
          <a:latin typeface="Arial" panose="020B0604020202020204" pitchFamily="34" charset="0"/>
          <a:ea typeface="+mn-ea"/>
          <a:cs typeface="+mn-cs"/>
        </a:defRPr>
      </a:lvl2pPr>
      <a:lvl3pPr marL="1143000" indent="-228600" algn="l" rtl="0" eaLnBrk="0" fontAlgn="base" hangingPunct="0">
        <a:spcBef>
          <a:spcPct val="20000"/>
        </a:spcBef>
        <a:spcAft>
          <a:spcPct val="0"/>
        </a:spcAft>
        <a:buClr>
          <a:srgbClr val="FF0000"/>
        </a:buClr>
        <a:buChar char="•"/>
        <a:defRPr sz="2400" b="1" kern="1200">
          <a:solidFill>
            <a:schemeClr val="tx1"/>
          </a:solidFill>
          <a:latin typeface="Comic Sans MS" panose="030F0702030302020204" pitchFamily="66" charset="0"/>
          <a:ea typeface="楷体_GB2312" pitchFamily="49" charset="-122"/>
          <a:cs typeface="+mn-cs"/>
        </a:defRPr>
      </a:lvl3pPr>
      <a:lvl4pPr marL="1600200" indent="-228600" algn="l" rtl="0" eaLnBrk="0" fontAlgn="base" hangingPunct="0">
        <a:spcBef>
          <a:spcPct val="20000"/>
        </a:spcBef>
        <a:spcAft>
          <a:spcPct val="0"/>
        </a:spcAft>
        <a:buChar char="–"/>
        <a:defRPr sz="2000" kern="1200">
          <a:solidFill>
            <a:schemeClr val="tx1"/>
          </a:solidFill>
          <a:latin typeface="Arial" panose="020B0604020202020204" pitchFamily="34" charset="0"/>
          <a:ea typeface="宋体" panose="02010600030101010101" pitchFamily="2" charset="-122"/>
          <a:cs typeface="+mn-cs"/>
        </a:defRPr>
      </a:lvl4pPr>
      <a:lvl5pPr marL="2057400" indent="-228600" algn="l" rtl="0" eaLnBrk="0" fontAlgn="base" hangingPunct="0">
        <a:spcBef>
          <a:spcPct val="20000"/>
        </a:spcBef>
        <a:spcAft>
          <a:spcPct val="0"/>
        </a:spcAft>
        <a:buChar char="»"/>
        <a:defRPr sz="2000" kern="1200">
          <a:solidFill>
            <a:schemeClr val="tx1"/>
          </a:solidFill>
          <a:latin typeface="Arial" panose="020B0604020202020204" pitchFamily="34" charset="0"/>
          <a:ea typeface="宋体" panose="02010600030101010101" pitchFamily="2"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9" Type="http://schemas.openxmlformats.org/officeDocument/2006/relationships/tags" Target="../tags/tag9.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6" Type="http://schemas.openxmlformats.org/officeDocument/2006/relationships/notesSlide" Target="../notesSlides/notesSlide2.xml"/><Relationship Id="rId25" Type="http://schemas.openxmlformats.org/officeDocument/2006/relationships/slideLayout" Target="../slideLayouts/slideLayout3.xml"/><Relationship Id="rId24" Type="http://schemas.openxmlformats.org/officeDocument/2006/relationships/tags" Target="../tags/tag24.xml"/><Relationship Id="rId23" Type="http://schemas.openxmlformats.org/officeDocument/2006/relationships/tags" Target="../tags/tag23.xml"/><Relationship Id="rId22" Type="http://schemas.openxmlformats.org/officeDocument/2006/relationships/tags" Target="../tags/tag22.xml"/><Relationship Id="rId21" Type="http://schemas.openxmlformats.org/officeDocument/2006/relationships/tags" Target="../tags/tag21.xml"/><Relationship Id="rId20" Type="http://schemas.openxmlformats.org/officeDocument/2006/relationships/tags" Target="../tags/tag20.xml"/><Relationship Id="rId2" Type="http://schemas.openxmlformats.org/officeDocument/2006/relationships/tags" Target="../tags/tag2.xml"/><Relationship Id="rId19" Type="http://schemas.openxmlformats.org/officeDocument/2006/relationships/tags" Target="../tags/tag19.xml"/><Relationship Id="rId18" Type="http://schemas.openxmlformats.org/officeDocument/2006/relationships/tags" Target="../tags/tag18.xml"/><Relationship Id="rId17" Type="http://schemas.openxmlformats.org/officeDocument/2006/relationships/tags" Target="../tags/tag17.xml"/><Relationship Id="rId16" Type="http://schemas.openxmlformats.org/officeDocument/2006/relationships/tags" Target="../tags/tag16.xml"/><Relationship Id="rId15" Type="http://schemas.openxmlformats.org/officeDocument/2006/relationships/tags" Target="../tags/tag15.xml"/><Relationship Id="rId14" Type="http://schemas.openxmlformats.org/officeDocument/2006/relationships/tags" Target="../tags/tag14.xml"/><Relationship Id="rId13" Type="http://schemas.openxmlformats.org/officeDocument/2006/relationships/tags" Target="../tags/tag13.xml"/><Relationship Id="rId12" Type="http://schemas.openxmlformats.org/officeDocument/2006/relationships/tags" Target="../tags/tag12.xml"/><Relationship Id="rId11" Type="http://schemas.openxmlformats.org/officeDocument/2006/relationships/tags" Target="../tags/tag11.xml"/><Relationship Id="rId10" Type="http://schemas.openxmlformats.org/officeDocument/2006/relationships/tags" Target="../tags/tag10.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9" Type="http://schemas.openxmlformats.org/officeDocument/2006/relationships/tags" Target="../tags/tag33.xml"/><Relationship Id="rId8" Type="http://schemas.openxmlformats.org/officeDocument/2006/relationships/tags" Target="../tags/tag32.xml"/><Relationship Id="rId7" Type="http://schemas.openxmlformats.org/officeDocument/2006/relationships/tags" Target="../tags/tag31.xml"/><Relationship Id="rId6" Type="http://schemas.openxmlformats.org/officeDocument/2006/relationships/tags" Target="../tags/tag30.xml"/><Relationship Id="rId5" Type="http://schemas.openxmlformats.org/officeDocument/2006/relationships/tags" Target="../tags/tag29.xml"/><Relationship Id="rId4" Type="http://schemas.openxmlformats.org/officeDocument/2006/relationships/tags" Target="../tags/tag28.xml"/><Relationship Id="rId3" Type="http://schemas.openxmlformats.org/officeDocument/2006/relationships/tags" Target="../tags/tag27.xml"/><Relationship Id="rId22" Type="http://schemas.openxmlformats.org/officeDocument/2006/relationships/notesSlide" Target="../notesSlides/notesSlide4.xml"/><Relationship Id="rId21" Type="http://schemas.openxmlformats.org/officeDocument/2006/relationships/slideLayout" Target="../slideLayouts/slideLayout3.xml"/><Relationship Id="rId20" Type="http://schemas.openxmlformats.org/officeDocument/2006/relationships/tags" Target="../tags/tag44.xml"/><Relationship Id="rId2" Type="http://schemas.openxmlformats.org/officeDocument/2006/relationships/tags" Target="../tags/tag26.xml"/><Relationship Id="rId19" Type="http://schemas.openxmlformats.org/officeDocument/2006/relationships/tags" Target="../tags/tag43.xml"/><Relationship Id="rId18" Type="http://schemas.openxmlformats.org/officeDocument/2006/relationships/tags" Target="../tags/tag42.xml"/><Relationship Id="rId17" Type="http://schemas.openxmlformats.org/officeDocument/2006/relationships/tags" Target="../tags/tag41.xml"/><Relationship Id="rId16" Type="http://schemas.openxmlformats.org/officeDocument/2006/relationships/tags" Target="../tags/tag40.xml"/><Relationship Id="rId15" Type="http://schemas.openxmlformats.org/officeDocument/2006/relationships/tags" Target="../tags/tag39.xml"/><Relationship Id="rId14" Type="http://schemas.openxmlformats.org/officeDocument/2006/relationships/tags" Target="../tags/tag38.xml"/><Relationship Id="rId13" Type="http://schemas.openxmlformats.org/officeDocument/2006/relationships/tags" Target="../tags/tag37.xml"/><Relationship Id="rId12" Type="http://schemas.openxmlformats.org/officeDocument/2006/relationships/tags" Target="../tags/tag36.xml"/><Relationship Id="rId11" Type="http://schemas.openxmlformats.org/officeDocument/2006/relationships/tags" Target="../tags/tag35.xml"/><Relationship Id="rId10" Type="http://schemas.openxmlformats.org/officeDocument/2006/relationships/tags" Target="../tags/tag34.xml"/><Relationship Id="rId1" Type="http://schemas.openxmlformats.org/officeDocument/2006/relationships/tags" Target="../tags/tag2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9" Type="http://schemas.openxmlformats.org/officeDocument/2006/relationships/tags" Target="../tags/tag53.xml"/><Relationship Id="rId8" Type="http://schemas.openxmlformats.org/officeDocument/2006/relationships/tags" Target="../tags/tag52.xml"/><Relationship Id="rId7" Type="http://schemas.openxmlformats.org/officeDocument/2006/relationships/tags" Target="../tags/tag51.xml"/><Relationship Id="rId6" Type="http://schemas.openxmlformats.org/officeDocument/2006/relationships/tags" Target="../tags/tag50.xml"/><Relationship Id="rId5" Type="http://schemas.openxmlformats.org/officeDocument/2006/relationships/tags" Target="../tags/tag49.xml"/><Relationship Id="rId4" Type="http://schemas.openxmlformats.org/officeDocument/2006/relationships/tags" Target="../tags/tag48.xml"/><Relationship Id="rId3" Type="http://schemas.openxmlformats.org/officeDocument/2006/relationships/tags" Target="../tags/tag47.xml"/><Relationship Id="rId2" Type="http://schemas.openxmlformats.org/officeDocument/2006/relationships/tags" Target="../tags/tag46.xml"/><Relationship Id="rId19" Type="http://schemas.openxmlformats.org/officeDocument/2006/relationships/slideLayout" Target="../slideLayouts/slideLayout3.xml"/><Relationship Id="rId18" Type="http://schemas.openxmlformats.org/officeDocument/2006/relationships/tags" Target="../tags/tag62.xml"/><Relationship Id="rId17" Type="http://schemas.openxmlformats.org/officeDocument/2006/relationships/tags" Target="../tags/tag61.xml"/><Relationship Id="rId16" Type="http://schemas.openxmlformats.org/officeDocument/2006/relationships/tags" Target="../tags/tag60.xml"/><Relationship Id="rId15" Type="http://schemas.openxmlformats.org/officeDocument/2006/relationships/tags" Target="../tags/tag59.xml"/><Relationship Id="rId14" Type="http://schemas.openxmlformats.org/officeDocument/2006/relationships/tags" Target="../tags/tag58.xml"/><Relationship Id="rId13" Type="http://schemas.openxmlformats.org/officeDocument/2006/relationships/tags" Target="../tags/tag57.xml"/><Relationship Id="rId12" Type="http://schemas.openxmlformats.org/officeDocument/2006/relationships/tags" Target="../tags/tag56.xml"/><Relationship Id="rId11" Type="http://schemas.openxmlformats.org/officeDocument/2006/relationships/tags" Target="../tags/tag55.xml"/><Relationship Id="rId10" Type="http://schemas.openxmlformats.org/officeDocument/2006/relationships/tags" Target="../tags/tag54.xml"/><Relationship Id="rId1" Type="http://schemas.openxmlformats.org/officeDocument/2006/relationships/tags" Target="../tags/tag4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9" Type="http://schemas.openxmlformats.org/officeDocument/2006/relationships/tags" Target="../tags/tag71.xml"/><Relationship Id="rId8" Type="http://schemas.openxmlformats.org/officeDocument/2006/relationships/tags" Target="../tags/tag70.xml"/><Relationship Id="rId7" Type="http://schemas.openxmlformats.org/officeDocument/2006/relationships/tags" Target="../tags/tag69.xml"/><Relationship Id="rId6" Type="http://schemas.openxmlformats.org/officeDocument/2006/relationships/tags" Target="../tags/tag68.xml"/><Relationship Id="rId5" Type="http://schemas.openxmlformats.org/officeDocument/2006/relationships/tags" Target="../tags/tag67.xml"/><Relationship Id="rId4" Type="http://schemas.openxmlformats.org/officeDocument/2006/relationships/tags" Target="../tags/tag66.xml"/><Relationship Id="rId3" Type="http://schemas.openxmlformats.org/officeDocument/2006/relationships/tags" Target="../tags/tag65.xml"/><Relationship Id="rId2" Type="http://schemas.openxmlformats.org/officeDocument/2006/relationships/tags" Target="../tags/tag64.xml"/><Relationship Id="rId13" Type="http://schemas.openxmlformats.org/officeDocument/2006/relationships/slideLayout" Target="../slideLayouts/slideLayout3.xml"/><Relationship Id="rId12" Type="http://schemas.openxmlformats.org/officeDocument/2006/relationships/tags" Target="../tags/tag74.xml"/><Relationship Id="rId11" Type="http://schemas.openxmlformats.org/officeDocument/2006/relationships/tags" Target="../tags/tag73.xml"/><Relationship Id="rId10" Type="http://schemas.openxmlformats.org/officeDocument/2006/relationships/tags" Target="../tags/tag72.xml"/><Relationship Id="rId1" Type="http://schemas.openxmlformats.org/officeDocument/2006/relationships/tags" Target="../tags/tag6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ubtitle 1"/>
          <p:cNvSpPr>
            <a:spLocks noGrp="1"/>
          </p:cNvSpPr>
          <p:nvPr>
            <p:ph type="subTitle" idx="1"/>
          </p:nvPr>
        </p:nvSpPr>
        <p:spPr/>
        <p:txBody>
          <a:bodyPr wrap="square" anchor="ctr"/>
          <a:lstStyle/>
          <a:p>
            <a:pPr algn="ctr"/>
            <a:r>
              <a:rPr sz="1700" b="0">
                <a:solidFill>
                  <a:srgbClr val="1F2933"/>
                </a:solidFill>
                <a:latin typeface="微软雅黑" panose="020B0503020204020204" charset="-122"/>
              </a:rPr>
              <a:t>研究方向：Text-to-SQL / SQL+ 中间表示 / 多智能体 / 执行反馈修正
汇报人：待填写    导师：待填写    时间：待填写</a:t>
            </a:r>
            <a:endParaRPr sz="1700" b="0">
              <a:solidFill>
                <a:srgbClr val="1F2933"/>
              </a:solidFill>
              <a:latin typeface="微软雅黑" panose="020B0503020204020204" charset="-122"/>
            </a:endParaRPr>
          </a:p>
        </p:txBody>
      </p:sp>
      <p:sp>
        <p:nvSpPr>
          <p:cNvPr id="3" name="Title 2"/>
          <p:cNvSpPr>
            <a:spLocks noGrp="1"/>
          </p:cNvSpPr>
          <p:nvPr>
            <p:ph type="title"/>
          </p:nvPr>
        </p:nvSpPr>
        <p:spPr>
          <a:xfrm>
            <a:off x="502920" y="2348900"/>
            <a:ext cx="8229600" cy="863600"/>
          </a:xfrm>
        </p:spPr>
        <p:txBody>
          <a:bodyPr wrap="square" anchor="ctr"/>
          <a:lstStyle/>
          <a:p>
            <a:pPr algn="ctr"/>
            <a:r>
              <a:rPr sz="2700" b="1">
                <a:solidFill>
                  <a:srgbClr val="18375C"/>
                </a:solidFill>
                <a:latin typeface="微软雅黑" panose="020B0503020204020204" charset="-122"/>
              </a:rPr>
              <a:t>面向 SQL+ 简化查询表达的多智能体自然语言数据库查询生成与反馈修正方法研究</a:t>
            </a:r>
            <a:endParaRPr sz="2700" b="1">
              <a:solidFill>
                <a:srgbClr val="18375C"/>
              </a:solidFill>
              <a:latin typeface="微软雅黑" panose="020B0503020204020204" charset="-122"/>
            </a:endParaRPr>
          </a:p>
        </p:txBody>
      </p:sp>
      <p:sp>
        <p:nvSpPr>
          <p:cNvPr id="4" name="TextBox 3"/>
          <p:cNvSpPr txBox="1"/>
          <p:nvPr/>
        </p:nvSpPr>
        <p:spPr>
          <a:xfrm>
            <a:off x="502920" y="6428232"/>
            <a:ext cx="8138160" cy="201168"/>
          </a:xfrm>
          <a:prstGeom prst="rect">
            <a:avLst/>
          </a:prstGeom>
          <a:noFill/>
        </p:spPr>
        <p:txBody>
          <a:bodyPr wrap="square" anchor="ctr">
            <a:spAutoFit/>
          </a:bodyPr>
          <a:lstStyle/>
          <a:p>
            <a:pPr algn="l"/>
            <a:r>
              <a:rPr sz="800" b="0">
                <a:solidFill>
                  <a:srgbClr val="667080"/>
                </a:solidFill>
                <a:latin typeface="微软雅黑" panose="020B0503020204020204" charset="-122"/>
              </a:rPr>
              <a:t>开题汇报 | SQL+ / Text-to-SQL / Multi-Agent | 1</a:t>
            </a:r>
            <a:endParaRPr sz="800" b="0">
              <a:solidFill>
                <a:srgbClr val="667080"/>
              </a:solidFill>
              <a:latin typeface="微软雅黑" panose="020B050302020402020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11480" y="1052703"/>
            <a:ext cx="8412480" cy="530352"/>
          </a:xfrm>
          <a:prstGeom prst="rect">
            <a:avLst/>
          </a:prstGeom>
          <a:noFill/>
        </p:spPr>
        <p:txBody>
          <a:bodyPr wrap="square" anchor="ctr">
            <a:spAutoFit/>
          </a:bodyPr>
          <a:lstStyle/>
          <a:p>
            <a:pPr algn="l"/>
            <a:r>
              <a:rPr sz="2400" b="1">
                <a:solidFill>
                  <a:srgbClr val="18375C"/>
                </a:solidFill>
                <a:latin typeface="微软雅黑" panose="020B0503020204020204" charset="-122"/>
              </a:rPr>
              <a:t>汇报结构</a:t>
            </a:r>
            <a:endParaRPr sz="2400" b="1">
              <a:solidFill>
                <a:srgbClr val="18375C"/>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667080"/>
                </a:solidFill>
                <a:latin typeface="微软雅黑" panose="020B0503020204020204" charset="-122"/>
              </a:rPr>
              <a:t>开题汇报 | SQL+ / Text-to-SQL / Multi-Agent | 2</a:t>
            </a:r>
            <a:endParaRPr sz="800" b="0">
              <a:solidFill>
                <a:srgbClr val="667080"/>
              </a:solidFill>
              <a:latin typeface="微软雅黑" panose="020B0503020204020204" charset="-122"/>
            </a:endParaRPr>
          </a:p>
        </p:txBody>
      </p:sp>
      <p:sp>
        <p:nvSpPr>
          <p:cNvPr id="4" name="Rectangle 3"/>
          <p:cNvSpPr/>
          <p:nvPr>
            <p:custDataLst>
              <p:tags r:id="rId1"/>
            </p:custDataLst>
          </p:nvPr>
        </p:nvSpPr>
        <p:spPr>
          <a:xfrm>
            <a:off x="525145" y="1997837"/>
            <a:ext cx="2286000" cy="1371600"/>
          </a:xfrm>
          <a:prstGeom prst="rect">
            <a:avLst/>
          </a:prstGeom>
          <a:solidFill>
            <a:srgbClr val="EBF0F6"/>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5" name="TextBox 4"/>
          <p:cNvSpPr txBox="1"/>
          <p:nvPr>
            <p:custDataLst>
              <p:tags r:id="rId2"/>
            </p:custDataLst>
          </p:nvPr>
        </p:nvSpPr>
        <p:spPr>
          <a:xfrm>
            <a:off x="671449" y="2125853"/>
            <a:ext cx="384048" cy="310896"/>
          </a:xfrm>
          <a:prstGeom prst="rect">
            <a:avLst/>
          </a:prstGeom>
          <a:noFill/>
        </p:spPr>
        <p:txBody>
          <a:bodyPr wrap="square" anchor="ctr">
            <a:spAutoFit/>
          </a:bodyPr>
          <a:lstStyle/>
          <a:p>
            <a:pPr algn="ctr"/>
            <a:r>
              <a:rPr sz="1800" b="1">
                <a:solidFill>
                  <a:srgbClr val="18375C"/>
                </a:solidFill>
                <a:latin typeface="微软雅黑" panose="020B0503020204020204" charset="-122"/>
              </a:rPr>
              <a:t>1</a:t>
            </a:r>
            <a:endParaRPr sz="1800" b="1">
              <a:solidFill>
                <a:srgbClr val="18375C"/>
              </a:solidFill>
              <a:latin typeface="微软雅黑" panose="020B0503020204020204" charset="-122"/>
            </a:endParaRPr>
          </a:p>
        </p:txBody>
      </p:sp>
      <p:sp>
        <p:nvSpPr>
          <p:cNvPr id="6" name="TextBox 5"/>
          <p:cNvSpPr txBox="1"/>
          <p:nvPr>
            <p:custDataLst>
              <p:tags r:id="rId3"/>
            </p:custDataLst>
          </p:nvPr>
        </p:nvSpPr>
        <p:spPr>
          <a:xfrm>
            <a:off x="1064641" y="2133219"/>
            <a:ext cx="1508760" cy="274320"/>
          </a:xfrm>
          <a:prstGeom prst="rect">
            <a:avLst/>
          </a:prstGeom>
          <a:noFill/>
        </p:spPr>
        <p:txBody>
          <a:bodyPr wrap="square" anchor="ctr">
            <a:spAutoFit/>
          </a:bodyPr>
          <a:lstStyle/>
          <a:p>
            <a:pPr algn="l"/>
            <a:r>
              <a:rPr sz="1400" b="1">
                <a:solidFill>
                  <a:srgbClr val="18375C"/>
                </a:solidFill>
                <a:latin typeface="微软雅黑" panose="020B0503020204020204" charset="-122"/>
              </a:rPr>
              <a:t>背景与问题</a:t>
            </a:r>
            <a:endParaRPr sz="1400" b="1">
              <a:solidFill>
                <a:srgbClr val="18375C"/>
              </a:solidFill>
              <a:latin typeface="微软雅黑" panose="020B0503020204020204" charset="-122"/>
            </a:endParaRPr>
          </a:p>
        </p:txBody>
      </p:sp>
      <p:sp>
        <p:nvSpPr>
          <p:cNvPr id="7" name="TextBox 6"/>
          <p:cNvSpPr txBox="1"/>
          <p:nvPr>
            <p:custDataLst>
              <p:tags r:id="rId4"/>
            </p:custDataLst>
          </p:nvPr>
        </p:nvSpPr>
        <p:spPr>
          <a:xfrm>
            <a:off x="726313" y="2619629"/>
            <a:ext cx="1874519" cy="475488"/>
          </a:xfrm>
          <a:prstGeom prst="rect">
            <a:avLst/>
          </a:prstGeom>
          <a:noFill/>
        </p:spPr>
        <p:txBody>
          <a:bodyPr wrap="square" anchor="ctr">
            <a:spAutoFit/>
          </a:bodyPr>
          <a:lstStyle/>
          <a:p>
            <a:pPr algn="l"/>
            <a:r>
              <a:rPr sz="1000" b="0">
                <a:solidFill>
                  <a:srgbClr val="1F2933"/>
                </a:solidFill>
                <a:latin typeface="微软雅黑" panose="020B0503020204020204" charset="-122"/>
              </a:rPr>
              <a:t>自然语言数据库查询为什么仍不稳定</a:t>
            </a:r>
            <a:endParaRPr sz="1000" b="0">
              <a:solidFill>
                <a:srgbClr val="1F2933"/>
              </a:solidFill>
              <a:latin typeface="微软雅黑" panose="020B0503020204020204" charset="-122"/>
            </a:endParaRPr>
          </a:p>
        </p:txBody>
      </p:sp>
      <p:sp>
        <p:nvSpPr>
          <p:cNvPr id="8" name="Rectangle 7"/>
          <p:cNvSpPr/>
          <p:nvPr>
            <p:custDataLst>
              <p:tags r:id="rId5"/>
            </p:custDataLst>
          </p:nvPr>
        </p:nvSpPr>
        <p:spPr>
          <a:xfrm>
            <a:off x="3268345" y="1997837"/>
            <a:ext cx="2286000" cy="1371600"/>
          </a:xfrm>
          <a:prstGeom prst="rect">
            <a:avLst/>
          </a:prstGeom>
          <a:solidFill>
            <a:srgbClr val="F1F3F5"/>
          </a:solidFill>
          <a:ln>
            <a:solidFill>
              <a:srgbClr val="525C6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9" name="TextBox 8"/>
          <p:cNvSpPr txBox="1"/>
          <p:nvPr>
            <p:custDataLst>
              <p:tags r:id="rId6"/>
            </p:custDataLst>
          </p:nvPr>
        </p:nvSpPr>
        <p:spPr>
          <a:xfrm>
            <a:off x="3414649" y="2125853"/>
            <a:ext cx="384048" cy="310896"/>
          </a:xfrm>
          <a:prstGeom prst="rect">
            <a:avLst/>
          </a:prstGeom>
          <a:noFill/>
        </p:spPr>
        <p:txBody>
          <a:bodyPr wrap="square" anchor="ctr">
            <a:spAutoFit/>
          </a:bodyPr>
          <a:lstStyle/>
          <a:p>
            <a:pPr algn="ctr"/>
            <a:r>
              <a:rPr sz="1800" b="1">
                <a:solidFill>
                  <a:srgbClr val="525C69"/>
                </a:solidFill>
                <a:latin typeface="微软雅黑" panose="020B0503020204020204" charset="-122"/>
              </a:rPr>
              <a:t>2</a:t>
            </a:r>
            <a:endParaRPr sz="1800" b="1">
              <a:solidFill>
                <a:srgbClr val="525C69"/>
              </a:solidFill>
              <a:latin typeface="微软雅黑" panose="020B0503020204020204" charset="-122"/>
            </a:endParaRPr>
          </a:p>
        </p:txBody>
      </p:sp>
      <p:sp>
        <p:nvSpPr>
          <p:cNvPr id="10" name="TextBox 9"/>
          <p:cNvSpPr txBox="1"/>
          <p:nvPr>
            <p:custDataLst>
              <p:tags r:id="rId7"/>
            </p:custDataLst>
          </p:nvPr>
        </p:nvSpPr>
        <p:spPr>
          <a:xfrm>
            <a:off x="3830701" y="2133219"/>
            <a:ext cx="1508760" cy="274320"/>
          </a:xfrm>
          <a:prstGeom prst="rect">
            <a:avLst/>
          </a:prstGeom>
          <a:noFill/>
        </p:spPr>
        <p:txBody>
          <a:bodyPr wrap="square" anchor="ctr">
            <a:spAutoFit/>
          </a:bodyPr>
          <a:lstStyle/>
          <a:p>
            <a:pPr algn="l"/>
            <a:r>
              <a:rPr sz="1400" b="1">
                <a:solidFill>
                  <a:srgbClr val="525C69"/>
                </a:solidFill>
                <a:latin typeface="微软雅黑" panose="020B0503020204020204" charset="-122"/>
              </a:rPr>
              <a:t>研究发展</a:t>
            </a:r>
            <a:endParaRPr sz="1400" b="1">
              <a:solidFill>
                <a:srgbClr val="525C69"/>
              </a:solidFill>
              <a:latin typeface="微软雅黑" panose="020B0503020204020204" charset="-122"/>
            </a:endParaRPr>
          </a:p>
        </p:txBody>
      </p:sp>
      <p:sp>
        <p:nvSpPr>
          <p:cNvPr id="11" name="TextBox 10"/>
          <p:cNvSpPr txBox="1"/>
          <p:nvPr>
            <p:custDataLst>
              <p:tags r:id="rId8"/>
            </p:custDataLst>
          </p:nvPr>
        </p:nvSpPr>
        <p:spPr>
          <a:xfrm>
            <a:off x="3469513" y="2619629"/>
            <a:ext cx="1874519" cy="475488"/>
          </a:xfrm>
          <a:prstGeom prst="rect">
            <a:avLst/>
          </a:prstGeom>
          <a:noFill/>
        </p:spPr>
        <p:txBody>
          <a:bodyPr wrap="square" anchor="ctr">
            <a:spAutoFit/>
          </a:bodyPr>
          <a:lstStyle/>
          <a:p>
            <a:pPr algn="l"/>
            <a:r>
              <a:rPr sz="1000" b="0">
                <a:solidFill>
                  <a:srgbClr val="1F2933"/>
                </a:solidFill>
                <a:latin typeface="微软雅黑" panose="020B0503020204020204" charset="-122"/>
              </a:rPr>
              <a:t>Text-to-SQL、IR、Agentic NL2SQL 的演进</a:t>
            </a:r>
            <a:endParaRPr sz="1000" b="0">
              <a:solidFill>
                <a:srgbClr val="1F2933"/>
              </a:solidFill>
              <a:latin typeface="微软雅黑" panose="020B0503020204020204" charset="-122"/>
            </a:endParaRPr>
          </a:p>
        </p:txBody>
      </p:sp>
      <p:sp>
        <p:nvSpPr>
          <p:cNvPr id="12" name="Rectangle 11"/>
          <p:cNvSpPr/>
          <p:nvPr>
            <p:custDataLst>
              <p:tags r:id="rId9"/>
            </p:custDataLst>
          </p:nvPr>
        </p:nvSpPr>
        <p:spPr>
          <a:xfrm>
            <a:off x="6011545" y="1997837"/>
            <a:ext cx="2286000" cy="1371600"/>
          </a:xfrm>
          <a:prstGeom prst="rect">
            <a:avLst/>
          </a:prstGeom>
          <a:solidFill>
            <a:srgbClr val="EBF0F6"/>
          </a:solidFill>
          <a:ln>
            <a:solidFill>
              <a:srgbClr val="3A4E5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13" name="TextBox 12"/>
          <p:cNvSpPr txBox="1"/>
          <p:nvPr>
            <p:custDataLst>
              <p:tags r:id="rId10"/>
            </p:custDataLst>
          </p:nvPr>
        </p:nvSpPr>
        <p:spPr>
          <a:xfrm>
            <a:off x="6157849" y="2125853"/>
            <a:ext cx="384048" cy="310896"/>
          </a:xfrm>
          <a:prstGeom prst="rect">
            <a:avLst/>
          </a:prstGeom>
          <a:noFill/>
        </p:spPr>
        <p:txBody>
          <a:bodyPr wrap="square" anchor="ctr">
            <a:spAutoFit/>
          </a:bodyPr>
          <a:lstStyle/>
          <a:p>
            <a:pPr algn="ctr"/>
            <a:r>
              <a:rPr sz="1800" b="1">
                <a:solidFill>
                  <a:srgbClr val="3A4E5E"/>
                </a:solidFill>
                <a:latin typeface="微软雅黑" panose="020B0503020204020204" charset="-122"/>
              </a:rPr>
              <a:t>3</a:t>
            </a:r>
            <a:endParaRPr sz="1800" b="1">
              <a:solidFill>
                <a:srgbClr val="3A4E5E"/>
              </a:solidFill>
              <a:latin typeface="微软雅黑" panose="020B0503020204020204" charset="-122"/>
            </a:endParaRPr>
          </a:p>
        </p:txBody>
      </p:sp>
      <p:sp>
        <p:nvSpPr>
          <p:cNvPr id="14" name="TextBox 13"/>
          <p:cNvSpPr txBox="1"/>
          <p:nvPr>
            <p:custDataLst>
              <p:tags r:id="rId11"/>
            </p:custDataLst>
          </p:nvPr>
        </p:nvSpPr>
        <p:spPr>
          <a:xfrm>
            <a:off x="6541516" y="2133219"/>
            <a:ext cx="1508760" cy="274320"/>
          </a:xfrm>
          <a:prstGeom prst="rect">
            <a:avLst/>
          </a:prstGeom>
          <a:noFill/>
        </p:spPr>
        <p:txBody>
          <a:bodyPr wrap="square" anchor="ctr">
            <a:spAutoFit/>
          </a:bodyPr>
          <a:lstStyle/>
          <a:p>
            <a:pPr algn="l"/>
            <a:r>
              <a:rPr sz="1400" b="1">
                <a:solidFill>
                  <a:srgbClr val="3A4E5E"/>
                </a:solidFill>
                <a:latin typeface="微软雅黑" panose="020B0503020204020204" charset="-122"/>
              </a:rPr>
              <a:t>动机测试</a:t>
            </a:r>
            <a:endParaRPr sz="1400" b="1">
              <a:solidFill>
                <a:srgbClr val="3A4E5E"/>
              </a:solidFill>
              <a:latin typeface="微软雅黑" panose="020B0503020204020204" charset="-122"/>
            </a:endParaRPr>
          </a:p>
        </p:txBody>
      </p:sp>
      <p:sp>
        <p:nvSpPr>
          <p:cNvPr id="15" name="TextBox 14"/>
          <p:cNvSpPr txBox="1"/>
          <p:nvPr>
            <p:custDataLst>
              <p:tags r:id="rId12"/>
            </p:custDataLst>
          </p:nvPr>
        </p:nvSpPr>
        <p:spPr>
          <a:xfrm>
            <a:off x="6212713" y="2619629"/>
            <a:ext cx="1874519" cy="475488"/>
          </a:xfrm>
          <a:prstGeom prst="rect">
            <a:avLst/>
          </a:prstGeom>
          <a:noFill/>
        </p:spPr>
        <p:txBody>
          <a:bodyPr wrap="square" anchor="ctr">
            <a:spAutoFit/>
          </a:bodyPr>
          <a:lstStyle/>
          <a:p>
            <a:pPr algn="l"/>
            <a:r>
              <a:rPr sz="1000" b="0">
                <a:solidFill>
                  <a:srgbClr val="1F2933"/>
                </a:solidFill>
                <a:latin typeface="微软雅黑" panose="020B0503020204020204" charset="-122"/>
              </a:rPr>
              <a:t>按实验设置、方法、结果和分析说明为什么这样设计</a:t>
            </a:r>
            <a:endParaRPr sz="1000" b="0">
              <a:solidFill>
                <a:srgbClr val="1F2933"/>
              </a:solidFill>
              <a:latin typeface="微软雅黑" panose="020B0503020204020204" charset="-122"/>
            </a:endParaRPr>
          </a:p>
        </p:txBody>
      </p:sp>
      <p:sp>
        <p:nvSpPr>
          <p:cNvPr id="16" name="Rectangle 15"/>
          <p:cNvSpPr/>
          <p:nvPr>
            <p:custDataLst>
              <p:tags r:id="rId13"/>
            </p:custDataLst>
          </p:nvPr>
        </p:nvSpPr>
        <p:spPr>
          <a:xfrm>
            <a:off x="525145" y="3963796"/>
            <a:ext cx="2286000" cy="1371600"/>
          </a:xfrm>
          <a:prstGeom prst="rect">
            <a:avLst/>
          </a:prstGeom>
          <a:solidFill>
            <a:srgbClr val="FAEBEB"/>
          </a:solidFill>
          <a:ln>
            <a:solidFill>
              <a:srgbClr val="B2262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17" name="TextBox 16"/>
          <p:cNvSpPr txBox="1"/>
          <p:nvPr>
            <p:custDataLst>
              <p:tags r:id="rId14"/>
            </p:custDataLst>
          </p:nvPr>
        </p:nvSpPr>
        <p:spPr>
          <a:xfrm>
            <a:off x="671449" y="4091813"/>
            <a:ext cx="384048" cy="310896"/>
          </a:xfrm>
          <a:prstGeom prst="rect">
            <a:avLst/>
          </a:prstGeom>
          <a:noFill/>
        </p:spPr>
        <p:txBody>
          <a:bodyPr wrap="square" anchor="ctr">
            <a:spAutoFit/>
          </a:bodyPr>
          <a:lstStyle/>
          <a:p>
            <a:pPr algn="ctr"/>
            <a:r>
              <a:rPr sz="1800" b="1">
                <a:solidFill>
                  <a:srgbClr val="B22626"/>
                </a:solidFill>
                <a:latin typeface="微软雅黑" panose="020B0503020204020204" charset="-122"/>
              </a:rPr>
              <a:t>4</a:t>
            </a:r>
            <a:endParaRPr sz="1800" b="1">
              <a:solidFill>
                <a:srgbClr val="B22626"/>
              </a:solidFill>
              <a:latin typeface="微软雅黑" panose="020B0503020204020204" charset="-122"/>
            </a:endParaRPr>
          </a:p>
        </p:txBody>
      </p:sp>
      <p:sp>
        <p:nvSpPr>
          <p:cNvPr id="18" name="TextBox 17"/>
          <p:cNvSpPr txBox="1"/>
          <p:nvPr>
            <p:custDataLst>
              <p:tags r:id="rId15"/>
            </p:custDataLst>
          </p:nvPr>
        </p:nvSpPr>
        <p:spPr>
          <a:xfrm>
            <a:off x="1064641" y="4101084"/>
            <a:ext cx="1508760" cy="274320"/>
          </a:xfrm>
          <a:prstGeom prst="rect">
            <a:avLst/>
          </a:prstGeom>
          <a:noFill/>
        </p:spPr>
        <p:txBody>
          <a:bodyPr wrap="square" anchor="ctr">
            <a:spAutoFit/>
          </a:bodyPr>
          <a:lstStyle/>
          <a:p>
            <a:pPr algn="l"/>
            <a:r>
              <a:rPr sz="1400" b="1">
                <a:solidFill>
                  <a:srgbClr val="B22626"/>
                </a:solidFill>
                <a:latin typeface="微软雅黑" panose="020B0503020204020204" charset="-122"/>
              </a:rPr>
              <a:t>系统设计</a:t>
            </a:r>
            <a:endParaRPr sz="1400" b="1">
              <a:solidFill>
                <a:srgbClr val="B22626"/>
              </a:solidFill>
              <a:latin typeface="微软雅黑" panose="020B0503020204020204" charset="-122"/>
            </a:endParaRPr>
          </a:p>
        </p:txBody>
      </p:sp>
      <p:sp>
        <p:nvSpPr>
          <p:cNvPr id="19" name="TextBox 18"/>
          <p:cNvSpPr txBox="1"/>
          <p:nvPr>
            <p:custDataLst>
              <p:tags r:id="rId16"/>
            </p:custDataLst>
          </p:nvPr>
        </p:nvSpPr>
        <p:spPr>
          <a:xfrm>
            <a:off x="726313" y="4585588"/>
            <a:ext cx="1874519" cy="475488"/>
          </a:xfrm>
          <a:prstGeom prst="rect">
            <a:avLst/>
          </a:prstGeom>
          <a:noFill/>
        </p:spPr>
        <p:txBody>
          <a:bodyPr wrap="square" anchor="ctr">
            <a:spAutoFit/>
          </a:bodyPr>
          <a:lstStyle/>
          <a:p>
            <a:pPr algn="l"/>
            <a:r>
              <a:rPr sz="1000" b="0">
                <a:solidFill>
                  <a:srgbClr val="1F2933"/>
                </a:solidFill>
                <a:latin typeface="微软雅黑" panose="020B0503020204020204" charset="-122"/>
              </a:rPr>
              <a:t>SQL+ 中间表示与多智能体反馈闭环</a:t>
            </a:r>
            <a:endParaRPr sz="1000" b="0">
              <a:solidFill>
                <a:srgbClr val="1F2933"/>
              </a:solidFill>
              <a:latin typeface="微软雅黑" panose="020B0503020204020204" charset="-122"/>
            </a:endParaRPr>
          </a:p>
        </p:txBody>
      </p:sp>
      <p:sp>
        <p:nvSpPr>
          <p:cNvPr id="20" name="Rectangle 19"/>
          <p:cNvSpPr/>
          <p:nvPr>
            <p:custDataLst>
              <p:tags r:id="rId17"/>
            </p:custDataLst>
          </p:nvPr>
        </p:nvSpPr>
        <p:spPr>
          <a:xfrm>
            <a:off x="3268345" y="3963796"/>
            <a:ext cx="2286000" cy="1371600"/>
          </a:xfrm>
          <a:prstGeom prst="rect">
            <a:avLst/>
          </a:prstGeom>
          <a:solidFill>
            <a:srgbClr val="F6F8FA"/>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21" name="TextBox 20"/>
          <p:cNvSpPr txBox="1"/>
          <p:nvPr>
            <p:custDataLst>
              <p:tags r:id="rId18"/>
            </p:custDataLst>
          </p:nvPr>
        </p:nvSpPr>
        <p:spPr>
          <a:xfrm>
            <a:off x="3414649" y="4091813"/>
            <a:ext cx="384048" cy="310896"/>
          </a:xfrm>
          <a:prstGeom prst="rect">
            <a:avLst/>
          </a:prstGeom>
          <a:noFill/>
        </p:spPr>
        <p:txBody>
          <a:bodyPr wrap="square" anchor="ctr">
            <a:spAutoFit/>
          </a:bodyPr>
          <a:lstStyle/>
          <a:p>
            <a:pPr algn="ctr"/>
            <a:r>
              <a:rPr sz="1800" b="1">
                <a:solidFill>
                  <a:srgbClr val="18375C"/>
                </a:solidFill>
                <a:latin typeface="微软雅黑" panose="020B0503020204020204" charset="-122"/>
              </a:rPr>
              <a:t>5</a:t>
            </a:r>
            <a:endParaRPr sz="1800" b="1">
              <a:solidFill>
                <a:srgbClr val="18375C"/>
              </a:solidFill>
              <a:latin typeface="微软雅黑" panose="020B0503020204020204" charset="-122"/>
            </a:endParaRPr>
          </a:p>
        </p:txBody>
      </p:sp>
      <p:sp>
        <p:nvSpPr>
          <p:cNvPr id="22" name="TextBox 21"/>
          <p:cNvSpPr txBox="1"/>
          <p:nvPr>
            <p:custDataLst>
              <p:tags r:id="rId19"/>
            </p:custDataLst>
          </p:nvPr>
        </p:nvSpPr>
        <p:spPr>
          <a:xfrm>
            <a:off x="3816350" y="4084638"/>
            <a:ext cx="1775460" cy="306705"/>
          </a:xfrm>
          <a:prstGeom prst="rect">
            <a:avLst/>
          </a:prstGeom>
          <a:noFill/>
        </p:spPr>
        <p:txBody>
          <a:bodyPr wrap="square" anchor="ctr">
            <a:spAutoFit/>
          </a:bodyPr>
          <a:lstStyle/>
          <a:p>
            <a:pPr algn="l"/>
            <a:r>
              <a:rPr sz="1400" b="1">
                <a:solidFill>
                  <a:srgbClr val="18375C"/>
                </a:solidFill>
                <a:latin typeface="微软雅黑" panose="020B0503020204020204" charset="-122"/>
              </a:rPr>
              <a:t>可行性与初期验证</a:t>
            </a:r>
            <a:endParaRPr sz="1400" b="1">
              <a:solidFill>
                <a:srgbClr val="18375C"/>
              </a:solidFill>
              <a:latin typeface="微软雅黑" panose="020B0503020204020204" charset="-122"/>
            </a:endParaRPr>
          </a:p>
        </p:txBody>
      </p:sp>
      <p:sp>
        <p:nvSpPr>
          <p:cNvPr id="23" name="TextBox 22"/>
          <p:cNvSpPr txBox="1"/>
          <p:nvPr>
            <p:custDataLst>
              <p:tags r:id="rId20"/>
            </p:custDataLst>
          </p:nvPr>
        </p:nvSpPr>
        <p:spPr>
          <a:xfrm>
            <a:off x="3469513" y="4585588"/>
            <a:ext cx="1874519" cy="475488"/>
          </a:xfrm>
          <a:prstGeom prst="rect">
            <a:avLst/>
          </a:prstGeom>
          <a:noFill/>
        </p:spPr>
        <p:txBody>
          <a:bodyPr wrap="square" anchor="ctr">
            <a:spAutoFit/>
          </a:bodyPr>
          <a:lstStyle/>
          <a:p>
            <a:pPr algn="l"/>
            <a:r>
              <a:rPr sz="1000" b="0">
                <a:solidFill>
                  <a:srgbClr val="1F2933"/>
                </a:solidFill>
                <a:latin typeface="微软雅黑" panose="020B0503020204020204" charset="-122"/>
              </a:rPr>
              <a:t>转换、修复、repair skill 和 Spider 小子集</a:t>
            </a:r>
            <a:endParaRPr sz="1000" b="0">
              <a:solidFill>
                <a:srgbClr val="1F2933"/>
              </a:solidFill>
              <a:latin typeface="微软雅黑" panose="020B0503020204020204" charset="-122"/>
            </a:endParaRPr>
          </a:p>
        </p:txBody>
      </p:sp>
      <p:sp>
        <p:nvSpPr>
          <p:cNvPr id="24" name="Rectangle 23"/>
          <p:cNvSpPr/>
          <p:nvPr>
            <p:custDataLst>
              <p:tags r:id="rId21"/>
            </p:custDataLst>
          </p:nvPr>
        </p:nvSpPr>
        <p:spPr>
          <a:xfrm>
            <a:off x="6011545" y="3963796"/>
            <a:ext cx="2286000" cy="1371600"/>
          </a:xfrm>
          <a:prstGeom prst="rect">
            <a:avLst/>
          </a:prstGeom>
          <a:solidFill>
            <a:srgbClr val="F6F8FA"/>
          </a:solidFill>
          <a:ln>
            <a:solidFill>
              <a:srgbClr val="525C6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25" name="TextBox 24"/>
          <p:cNvSpPr txBox="1"/>
          <p:nvPr>
            <p:custDataLst>
              <p:tags r:id="rId22"/>
            </p:custDataLst>
          </p:nvPr>
        </p:nvSpPr>
        <p:spPr>
          <a:xfrm>
            <a:off x="6157849" y="4091813"/>
            <a:ext cx="384048" cy="310896"/>
          </a:xfrm>
          <a:prstGeom prst="rect">
            <a:avLst/>
          </a:prstGeom>
          <a:noFill/>
        </p:spPr>
        <p:txBody>
          <a:bodyPr wrap="square" anchor="ctr">
            <a:spAutoFit/>
          </a:bodyPr>
          <a:lstStyle/>
          <a:p>
            <a:pPr algn="ctr"/>
            <a:r>
              <a:rPr sz="1800" b="1">
                <a:solidFill>
                  <a:srgbClr val="525C69"/>
                </a:solidFill>
                <a:latin typeface="微软雅黑" panose="020B0503020204020204" charset="-122"/>
              </a:rPr>
              <a:t>6</a:t>
            </a:r>
            <a:endParaRPr sz="1800" b="1">
              <a:solidFill>
                <a:srgbClr val="525C69"/>
              </a:solidFill>
              <a:latin typeface="微软雅黑" panose="020B0503020204020204" charset="-122"/>
            </a:endParaRPr>
          </a:p>
        </p:txBody>
      </p:sp>
      <p:sp>
        <p:nvSpPr>
          <p:cNvPr id="26" name="TextBox 25"/>
          <p:cNvSpPr txBox="1"/>
          <p:nvPr>
            <p:custDataLst>
              <p:tags r:id="rId23"/>
            </p:custDataLst>
          </p:nvPr>
        </p:nvSpPr>
        <p:spPr>
          <a:xfrm>
            <a:off x="6515481" y="4082669"/>
            <a:ext cx="1508760" cy="274320"/>
          </a:xfrm>
          <a:prstGeom prst="rect">
            <a:avLst/>
          </a:prstGeom>
          <a:noFill/>
        </p:spPr>
        <p:txBody>
          <a:bodyPr wrap="square" anchor="ctr">
            <a:spAutoFit/>
          </a:bodyPr>
          <a:lstStyle/>
          <a:p>
            <a:pPr algn="l"/>
            <a:r>
              <a:rPr sz="1400" b="1">
                <a:solidFill>
                  <a:srgbClr val="525C69"/>
                </a:solidFill>
                <a:latin typeface="微软雅黑" panose="020B0503020204020204" charset="-122"/>
              </a:rPr>
              <a:t>后续计划</a:t>
            </a:r>
            <a:endParaRPr sz="1400" b="1">
              <a:solidFill>
                <a:srgbClr val="525C69"/>
              </a:solidFill>
              <a:latin typeface="微软雅黑" panose="020B0503020204020204" charset="-122"/>
            </a:endParaRPr>
          </a:p>
        </p:txBody>
      </p:sp>
      <p:sp>
        <p:nvSpPr>
          <p:cNvPr id="27" name="TextBox 26"/>
          <p:cNvSpPr txBox="1"/>
          <p:nvPr>
            <p:custDataLst>
              <p:tags r:id="rId24"/>
            </p:custDataLst>
          </p:nvPr>
        </p:nvSpPr>
        <p:spPr>
          <a:xfrm>
            <a:off x="6212713" y="4585588"/>
            <a:ext cx="1874519" cy="475488"/>
          </a:xfrm>
          <a:prstGeom prst="rect">
            <a:avLst/>
          </a:prstGeom>
          <a:noFill/>
        </p:spPr>
        <p:txBody>
          <a:bodyPr wrap="square" anchor="ctr">
            <a:spAutoFit/>
          </a:bodyPr>
          <a:lstStyle/>
          <a:p>
            <a:pPr algn="l"/>
            <a:r>
              <a:rPr sz="1000" b="0">
                <a:solidFill>
                  <a:srgbClr val="1F2933"/>
                </a:solidFill>
                <a:latin typeface="微软雅黑" panose="020B0503020204020204" charset="-122"/>
              </a:rPr>
              <a:t>多组对比、消融、公开子集和达梦适配</a:t>
            </a:r>
            <a:endParaRPr sz="1000" b="0">
              <a:solidFill>
                <a:srgbClr val="1F2933"/>
              </a:solidFill>
              <a:latin typeface="微软雅黑" panose="020B0503020204020204"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11480" y="1052703"/>
            <a:ext cx="8412480" cy="530352"/>
          </a:xfrm>
          <a:prstGeom prst="rect">
            <a:avLst/>
          </a:prstGeom>
          <a:noFill/>
        </p:spPr>
        <p:txBody>
          <a:bodyPr wrap="square" anchor="ctr">
            <a:spAutoFit/>
          </a:bodyPr>
          <a:lstStyle/>
          <a:p>
            <a:pPr algn="l"/>
            <a:r>
              <a:rPr sz="2400" b="1">
                <a:solidFill>
                  <a:srgbClr val="18375C"/>
                </a:solidFill>
                <a:latin typeface="微软雅黑" panose="020B0503020204020204" charset="-122"/>
              </a:rPr>
              <a:t>背景与问题：自然语言查询需要可修复</a:t>
            </a:r>
            <a:endParaRPr sz="2400" b="1">
              <a:solidFill>
                <a:srgbClr val="18375C"/>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667080"/>
                </a:solidFill>
                <a:latin typeface="微软雅黑" panose="020B0503020204020204" charset="-122"/>
              </a:rPr>
              <a:t>开题汇报 | SQL+ / Text-to-SQL / Multi-Agent | 3</a:t>
            </a:r>
            <a:endParaRPr sz="800" b="0">
              <a:solidFill>
                <a:srgbClr val="667080"/>
              </a:solidFill>
              <a:latin typeface="微软雅黑" panose="020B0503020204020204" charset="-122"/>
            </a:endParaRPr>
          </a:p>
        </p:txBody>
      </p:sp>
      <p:sp>
        <p:nvSpPr>
          <p:cNvPr id="4" name="Rectangle 3"/>
          <p:cNvSpPr/>
          <p:nvPr/>
        </p:nvSpPr>
        <p:spPr>
          <a:xfrm>
            <a:off x="675005" y="2176145"/>
            <a:ext cx="2103120" cy="804672"/>
          </a:xfrm>
          <a:prstGeom prst="rect">
            <a:avLst/>
          </a:prstGeom>
          <a:solidFill>
            <a:srgbClr val="EBF0F6"/>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1F2933"/>
                </a:solidFill>
                <a:latin typeface="微软雅黑" panose="020B0503020204020204" charset="-122"/>
              </a:rPr>
              <a:t>业务人员
自然语言问题</a:t>
            </a:r>
            <a:endParaRPr sz="1200" b="1">
              <a:solidFill>
                <a:srgbClr val="1F2933"/>
              </a:solidFill>
              <a:latin typeface="微软雅黑" panose="020B0503020204020204" charset="-122"/>
            </a:endParaRPr>
          </a:p>
        </p:txBody>
      </p:sp>
      <p:sp>
        <p:nvSpPr>
          <p:cNvPr id="5" name="TextBox 4"/>
          <p:cNvSpPr txBox="1"/>
          <p:nvPr/>
        </p:nvSpPr>
        <p:spPr>
          <a:xfrm>
            <a:off x="2869565" y="2404745"/>
            <a:ext cx="310896" cy="237744"/>
          </a:xfrm>
          <a:prstGeom prst="rect">
            <a:avLst/>
          </a:prstGeom>
          <a:noFill/>
        </p:spPr>
        <p:txBody>
          <a:bodyPr wrap="square" anchor="ctr">
            <a:spAutoFit/>
          </a:bodyPr>
          <a:lstStyle/>
          <a:p>
            <a:pPr algn="ctr"/>
            <a:r>
              <a:rPr sz="1600" b="1">
                <a:solidFill>
                  <a:srgbClr val="667080"/>
                </a:solidFill>
                <a:latin typeface="微软雅黑" panose="020B0503020204020204" charset="-122"/>
              </a:rPr>
              <a:t>→</a:t>
            </a:r>
            <a:endParaRPr sz="1600" b="1">
              <a:solidFill>
                <a:srgbClr val="667080"/>
              </a:solidFill>
              <a:latin typeface="微软雅黑" panose="020B0503020204020204" charset="-122"/>
            </a:endParaRPr>
          </a:p>
        </p:txBody>
      </p:sp>
      <p:sp>
        <p:nvSpPr>
          <p:cNvPr id="6" name="Rectangle 5"/>
          <p:cNvSpPr/>
          <p:nvPr/>
        </p:nvSpPr>
        <p:spPr>
          <a:xfrm>
            <a:off x="3235325" y="2176145"/>
            <a:ext cx="2103120" cy="804672"/>
          </a:xfrm>
          <a:prstGeom prst="rect">
            <a:avLst/>
          </a:prstGeom>
          <a:solidFill>
            <a:srgbClr val="EBF0F6"/>
          </a:solidFill>
          <a:ln>
            <a:solidFill>
              <a:srgbClr val="3A4E5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1F2933"/>
                </a:solidFill>
                <a:latin typeface="微软雅黑" panose="020B0503020204020204" charset="-122"/>
              </a:rPr>
              <a:t>LLM / Agent
生成 SQL</a:t>
            </a:r>
            <a:endParaRPr sz="1200" b="1">
              <a:solidFill>
                <a:srgbClr val="1F2933"/>
              </a:solidFill>
              <a:latin typeface="微软雅黑" panose="020B0503020204020204" charset="-122"/>
            </a:endParaRPr>
          </a:p>
        </p:txBody>
      </p:sp>
      <p:sp>
        <p:nvSpPr>
          <p:cNvPr id="7" name="TextBox 6"/>
          <p:cNvSpPr txBox="1"/>
          <p:nvPr/>
        </p:nvSpPr>
        <p:spPr>
          <a:xfrm>
            <a:off x="5439029" y="2404745"/>
            <a:ext cx="310896" cy="237744"/>
          </a:xfrm>
          <a:prstGeom prst="rect">
            <a:avLst/>
          </a:prstGeom>
          <a:noFill/>
        </p:spPr>
        <p:txBody>
          <a:bodyPr wrap="square" anchor="ctr">
            <a:spAutoFit/>
          </a:bodyPr>
          <a:lstStyle/>
          <a:p>
            <a:pPr algn="ctr"/>
            <a:r>
              <a:rPr sz="1600" b="1">
                <a:solidFill>
                  <a:srgbClr val="667080"/>
                </a:solidFill>
                <a:latin typeface="微软雅黑" panose="020B0503020204020204" charset="-122"/>
              </a:rPr>
              <a:t>→</a:t>
            </a:r>
            <a:endParaRPr sz="1600" b="1">
              <a:solidFill>
                <a:srgbClr val="667080"/>
              </a:solidFill>
              <a:latin typeface="微软雅黑" panose="020B0503020204020204" charset="-122"/>
            </a:endParaRPr>
          </a:p>
        </p:txBody>
      </p:sp>
      <p:sp>
        <p:nvSpPr>
          <p:cNvPr id="8" name="Rectangle 7"/>
          <p:cNvSpPr/>
          <p:nvPr/>
        </p:nvSpPr>
        <p:spPr>
          <a:xfrm>
            <a:off x="5795645" y="2176145"/>
            <a:ext cx="2377440" cy="804672"/>
          </a:xfrm>
          <a:prstGeom prst="rect">
            <a:avLst/>
          </a:prstGeom>
          <a:solidFill>
            <a:srgbClr val="F1F3F5"/>
          </a:solidFill>
          <a:ln>
            <a:solidFill>
              <a:srgbClr val="525C6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1F2933"/>
                </a:solidFill>
                <a:latin typeface="微软雅黑" panose="020B0503020204020204" charset="-122"/>
              </a:rPr>
              <a:t>数据库执行
结果或错误反馈</a:t>
            </a:r>
            <a:endParaRPr sz="1200" b="1">
              <a:solidFill>
                <a:srgbClr val="1F2933"/>
              </a:solidFill>
              <a:latin typeface="微软雅黑" panose="020B0503020204020204" charset="-122"/>
            </a:endParaRPr>
          </a:p>
        </p:txBody>
      </p:sp>
      <p:graphicFrame>
        <p:nvGraphicFramePr>
          <p:cNvPr id="9" name="Table 8"/>
          <p:cNvGraphicFramePr>
            <a:graphicFrameLocks noGrp="1"/>
          </p:cNvGraphicFramePr>
          <p:nvPr/>
        </p:nvGraphicFramePr>
        <p:xfrm>
          <a:off x="411480" y="3298190"/>
          <a:ext cx="8321040" cy="2317750"/>
        </p:xfrm>
        <a:graphic>
          <a:graphicData uri="http://schemas.openxmlformats.org/drawingml/2006/table">
            <a:tbl>
              <a:tblPr firstRow="1" bandRow="1">
                <a:tableStyleId>{5C22544A-7EE6-4342-B048-85BDC9FD1C3A}</a:tableStyleId>
              </a:tblPr>
              <a:tblGrid>
                <a:gridCol w="2773680"/>
                <a:gridCol w="2773680"/>
                <a:gridCol w="2773680"/>
              </a:tblGrid>
              <a:tr h="463550">
                <a:tc>
                  <a:txBody>
                    <a:bodyPr/>
                    <a:lstStyle/>
                    <a:p>
                      <a:pPr algn="ctr"/>
                      <a:r>
                        <a:rPr sz="1400" b="1">
                          <a:solidFill>
                            <a:srgbClr val="FFFFFF"/>
                          </a:solidFill>
                          <a:latin typeface="微软雅黑" panose="020B0503020204020204" charset="-122"/>
                        </a:rPr>
                        <a:t>错误层级</a:t>
                      </a:r>
                      <a:endParaRPr sz="1400" b="1">
                        <a:solidFill>
                          <a:srgbClr val="FFFFFF"/>
                        </a:solidFill>
                        <a:latin typeface="微软雅黑" panose="020B0503020204020204" charset="-122"/>
                      </a:endParaRPr>
                    </a:p>
                  </a:txBody>
                  <a:tcPr marL="36576" marR="36576">
                    <a:solidFill>
                      <a:srgbClr val="18375C"/>
                    </a:solidFill>
                  </a:tcPr>
                </a:tc>
                <a:tc>
                  <a:txBody>
                    <a:bodyPr/>
                    <a:lstStyle/>
                    <a:p>
                      <a:pPr algn="ctr"/>
                      <a:r>
                        <a:rPr sz="1400" b="1">
                          <a:solidFill>
                            <a:srgbClr val="FFFFFF"/>
                          </a:solidFill>
                          <a:latin typeface="微软雅黑" panose="020B0503020204020204" charset="-122"/>
                        </a:rPr>
                        <a:t>常见表现</a:t>
                      </a:r>
                      <a:endParaRPr sz="1400" b="1">
                        <a:solidFill>
                          <a:srgbClr val="FFFFFF"/>
                        </a:solidFill>
                        <a:latin typeface="微软雅黑" panose="020B0503020204020204" charset="-122"/>
                      </a:endParaRPr>
                    </a:p>
                  </a:txBody>
                  <a:tcPr marL="36576" marR="36576">
                    <a:solidFill>
                      <a:srgbClr val="18375C"/>
                    </a:solidFill>
                  </a:tcPr>
                </a:tc>
                <a:tc>
                  <a:txBody>
                    <a:bodyPr/>
                    <a:lstStyle/>
                    <a:p>
                      <a:pPr algn="ctr"/>
                      <a:r>
                        <a:rPr sz="1400" b="1">
                          <a:solidFill>
                            <a:srgbClr val="FFFFFF"/>
                          </a:solidFill>
                          <a:latin typeface="微软雅黑" panose="020B0503020204020204" charset="-122"/>
                        </a:rPr>
                        <a:t>为什么难修</a:t>
                      </a:r>
                      <a:endParaRPr sz="1400" b="1">
                        <a:solidFill>
                          <a:srgbClr val="FFFFFF"/>
                        </a:solidFill>
                        <a:latin typeface="微软雅黑" panose="020B0503020204020204" charset="-122"/>
                      </a:endParaRPr>
                    </a:p>
                  </a:txBody>
                  <a:tcPr marL="36576" marR="36576">
                    <a:solidFill>
                      <a:srgbClr val="18375C"/>
                    </a:solidFill>
                  </a:tcPr>
                </a:tc>
              </a:tr>
              <a:tr h="463550">
                <a:tc>
                  <a:txBody>
                    <a:bodyPr/>
                    <a:lstStyle/>
                    <a:p>
                      <a:pPr algn="ctr"/>
                      <a:r>
                        <a:rPr sz="1200" b="0">
                          <a:solidFill>
                            <a:srgbClr val="1F2933"/>
                          </a:solidFill>
                          <a:latin typeface="微软雅黑" panose="020B0503020204020204" charset="-122"/>
                        </a:rPr>
                        <a:t>schema linking</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表列选择、连接路径错误</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会传导到 WHERE、GROUP 和 SELECT</a:t>
                      </a:r>
                      <a:endParaRPr sz="1200" b="0">
                        <a:solidFill>
                          <a:srgbClr val="1F2933"/>
                        </a:solidFill>
                        <a:latin typeface="微软雅黑" panose="020B0503020204020204" charset="-122"/>
                      </a:endParaRPr>
                    </a:p>
                  </a:txBody>
                  <a:tcPr marL="36576" marR="36576">
                    <a:solidFill>
                      <a:srgbClr val="FFFFFF"/>
                    </a:solidFill>
                  </a:tcPr>
                </a:tc>
              </a:tr>
              <a:tr h="463550">
                <a:tc>
                  <a:txBody>
                    <a:bodyPr/>
                    <a:lstStyle/>
                    <a:p>
                      <a:pPr algn="ctr"/>
                      <a:r>
                        <a:rPr sz="1200" b="0">
                          <a:solidFill>
                            <a:srgbClr val="1F2933"/>
                          </a:solidFill>
                          <a:latin typeface="微软雅黑" panose="020B0503020204020204" charset="-122"/>
                        </a:rPr>
                        <a:t>value linking</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枚举值、日期、阈值错误</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执行可能不报错，但结果语义错</a:t>
                      </a:r>
                      <a:endParaRPr sz="1200" b="0">
                        <a:solidFill>
                          <a:srgbClr val="1F2933"/>
                        </a:solidFill>
                        <a:latin typeface="微软雅黑" panose="020B0503020204020204" charset="-122"/>
                      </a:endParaRPr>
                    </a:p>
                  </a:txBody>
                  <a:tcPr marL="36576" marR="36576">
                    <a:solidFill>
                      <a:srgbClr val="F6F8FA"/>
                    </a:solidFill>
                  </a:tcPr>
                </a:tc>
              </a:tr>
              <a:tr h="463550">
                <a:tc>
                  <a:txBody>
                    <a:bodyPr/>
                    <a:lstStyle/>
                    <a:p>
                      <a:pPr algn="ctr"/>
                      <a:r>
                        <a:rPr sz="1200" b="0">
                          <a:solidFill>
                            <a:srgbClr val="1F2933"/>
                          </a:solidFill>
                          <a:latin typeface="微软雅黑" panose="020B0503020204020204" charset="-122"/>
                        </a:rPr>
                        <a:t>aggregation</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COUNT、GROUP、HAVING 口径错误</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涉及跨子句依赖</a:t>
                      </a:r>
                      <a:endParaRPr sz="1200" b="0">
                        <a:solidFill>
                          <a:srgbClr val="1F2933"/>
                        </a:solidFill>
                        <a:latin typeface="微软雅黑" panose="020B0503020204020204" charset="-122"/>
                      </a:endParaRPr>
                    </a:p>
                  </a:txBody>
                  <a:tcPr marL="36576" marR="36576">
                    <a:solidFill>
                      <a:srgbClr val="FFFFFF"/>
                    </a:solidFill>
                  </a:tcPr>
                </a:tc>
              </a:tr>
              <a:tr h="463550">
                <a:tc>
                  <a:txBody>
                    <a:bodyPr/>
                    <a:lstStyle/>
                    <a:p>
                      <a:pPr algn="ctr"/>
                      <a:r>
                        <a:rPr sz="1200" b="0">
                          <a:solidFill>
                            <a:srgbClr val="1F2933"/>
                          </a:solidFill>
                          <a:latin typeface="微软雅黑" panose="020B0503020204020204" charset="-122"/>
                        </a:rPr>
                        <a:t>projection/order</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输出列、排序字段、top-k 错误</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结果看似合理但不符合问题</a:t>
                      </a:r>
                      <a:endParaRPr sz="1200" b="0">
                        <a:solidFill>
                          <a:srgbClr val="1F2933"/>
                        </a:solidFill>
                        <a:latin typeface="微软雅黑" panose="020B0503020204020204" charset="-122"/>
                      </a:endParaRPr>
                    </a:p>
                  </a:txBody>
                  <a:tcPr marL="36576" marR="36576">
                    <a:solidFill>
                      <a:srgbClr val="F6F8FA"/>
                    </a:solidFill>
                  </a:tcPr>
                </a:tc>
              </a:tr>
            </a:tbl>
          </a:graphicData>
        </a:graphic>
      </p:graphicFrame>
      <p:sp>
        <p:nvSpPr>
          <p:cNvPr id="10" name="Rectangle 9"/>
          <p:cNvSpPr/>
          <p:nvPr/>
        </p:nvSpPr>
        <p:spPr>
          <a:xfrm>
            <a:off x="804545" y="5933440"/>
            <a:ext cx="7543800" cy="401955"/>
          </a:xfrm>
          <a:prstGeom prst="rect">
            <a:avLst/>
          </a:prstGeom>
          <a:solidFill>
            <a:srgbClr val="FAEBEB"/>
          </a:solidFill>
          <a:ln>
            <a:solidFill>
              <a:srgbClr val="B2262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a:solidFill>
                  <a:srgbClr val="B22626"/>
                </a:solidFill>
                <a:latin typeface="微软雅黑" panose="020B0503020204020204" charset="-122"/>
              </a:rPr>
              <a:t>重点：本课题关注生成失败后的定位、路由和局部修复。</a:t>
            </a:r>
            <a:endParaRPr sz="1500" b="1">
              <a:solidFill>
                <a:srgbClr val="B22626"/>
              </a:solidFill>
              <a:latin typeface="微软雅黑" panose="020B0503020204020204" charset="-122"/>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3192" y="1033271"/>
            <a:ext cx="8412480" cy="530352"/>
          </a:xfrm>
          <a:prstGeom prst="rect">
            <a:avLst/>
          </a:prstGeom>
          <a:noFill/>
        </p:spPr>
        <p:txBody>
          <a:bodyPr wrap="square" lIns="36576" tIns="18288" rIns="36576" bIns="18288" anchor="ctr">
            <a:spAutoFit/>
          </a:bodyPr>
          <a:lstStyle/>
          <a:p>
            <a:pPr algn="l"/>
            <a:r>
              <a:rPr sz="2000" b="1">
                <a:solidFill>
                  <a:srgbClr val="18375C"/>
                </a:solidFill>
                <a:latin typeface="微软雅黑" panose="020B0503020204020204" charset="-122"/>
              </a:rPr>
              <a:t>研究发展：从 benchmark 到可修复的 agentic NL2SQL</a:t>
            </a:r>
            <a:endParaRPr sz="2000" b="1">
              <a:solidFill>
                <a:srgbClr val="18375C"/>
              </a:solidFill>
              <a:latin typeface="微软雅黑" panose="020B0503020204020204" charset="-122"/>
            </a:endParaRPr>
          </a:p>
        </p:txBody>
      </p:sp>
      <p:sp>
        <p:nvSpPr>
          <p:cNvPr id="4" name="TextBox 3"/>
          <p:cNvSpPr txBox="1"/>
          <p:nvPr/>
        </p:nvSpPr>
        <p:spPr>
          <a:xfrm>
            <a:off x="502920" y="6428232"/>
            <a:ext cx="8138160" cy="201168"/>
          </a:xfrm>
          <a:prstGeom prst="rect">
            <a:avLst/>
          </a:prstGeom>
          <a:noFill/>
        </p:spPr>
        <p:txBody>
          <a:bodyPr wrap="square" lIns="36576" tIns="18288" rIns="36576" bIns="18288" anchor="ctr">
            <a:spAutoFit/>
          </a:bodyPr>
          <a:lstStyle/>
          <a:p>
            <a:pPr algn="l"/>
            <a:r>
              <a:rPr sz="800" b="0">
                <a:solidFill>
                  <a:srgbClr val="525C69"/>
                </a:solidFill>
                <a:latin typeface="微软雅黑" panose="020B0503020204020204" charset="-122"/>
              </a:rPr>
              <a:t>开题汇报 | SQL+ / Text-to-SQL / Multi-Agent | 4</a:t>
            </a:r>
            <a:endParaRPr sz="800" b="0">
              <a:solidFill>
                <a:srgbClr val="525C69"/>
              </a:solidFill>
              <a:latin typeface="微软雅黑" panose="020B0503020204020204" charset="-122"/>
            </a:endParaRPr>
          </a:p>
        </p:txBody>
      </p:sp>
      <p:sp>
        <p:nvSpPr>
          <p:cNvPr id="5" name="TextBox 4"/>
          <p:cNvSpPr txBox="1"/>
          <p:nvPr/>
        </p:nvSpPr>
        <p:spPr>
          <a:xfrm>
            <a:off x="467360" y="1700276"/>
            <a:ext cx="8046720" cy="210312"/>
          </a:xfrm>
          <a:prstGeom prst="rect">
            <a:avLst/>
          </a:prstGeom>
          <a:noFill/>
        </p:spPr>
        <p:txBody>
          <a:bodyPr wrap="square" lIns="36576" tIns="18288" rIns="36576" bIns="18288" anchor="ctr">
            <a:spAutoFit/>
          </a:bodyPr>
          <a:lstStyle/>
          <a:p>
            <a:pPr algn="ctr"/>
            <a:r>
              <a:rPr sz="1000" b="0">
                <a:solidFill>
                  <a:srgbClr val="525C69"/>
                </a:solidFill>
                <a:latin typeface="微软雅黑" panose="020B0503020204020204" charset="-122"/>
              </a:rPr>
              <a:t>按研究问题梳理现有工作：复杂查询生成、中间表示/SQL 扩展、执行反馈和多智能体修复。</a:t>
            </a:r>
            <a:endParaRPr sz="1000" b="0">
              <a:solidFill>
                <a:srgbClr val="525C69"/>
              </a:solidFill>
              <a:latin typeface="微软雅黑" panose="020B0503020204020204" charset="-122"/>
            </a:endParaRPr>
          </a:p>
        </p:txBody>
      </p:sp>
      <p:sp>
        <p:nvSpPr>
          <p:cNvPr id="6" name="Rounded Rectangle 5"/>
          <p:cNvSpPr/>
          <p:nvPr>
            <p:custDataLst>
              <p:tags r:id="rId1"/>
            </p:custDataLst>
          </p:nvPr>
        </p:nvSpPr>
        <p:spPr>
          <a:xfrm>
            <a:off x="502920" y="1993392"/>
            <a:ext cx="1874519" cy="3401568"/>
          </a:xfrm>
          <a:prstGeom prst="roundRect">
            <a:avLst/>
          </a:prstGeom>
          <a:solidFill>
            <a:srgbClr val="F6F8FA"/>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custDataLst>
              <p:tags r:id="rId2"/>
            </p:custDataLst>
          </p:nvPr>
        </p:nvSpPr>
        <p:spPr>
          <a:xfrm>
            <a:off x="612648" y="2130552"/>
            <a:ext cx="1655064" cy="256032"/>
          </a:xfrm>
          <a:prstGeom prst="rect">
            <a:avLst/>
          </a:prstGeom>
          <a:noFill/>
        </p:spPr>
        <p:txBody>
          <a:bodyPr wrap="square" lIns="36576" tIns="18288" rIns="36576" bIns="18288" anchor="ctr">
            <a:spAutoFit/>
          </a:bodyPr>
          <a:lstStyle/>
          <a:p>
            <a:pPr algn="ctr"/>
            <a:r>
              <a:rPr sz="1020" b="1">
                <a:solidFill>
                  <a:srgbClr val="18375C"/>
                </a:solidFill>
                <a:latin typeface="微软雅黑" panose="020B0503020204020204" charset="-122"/>
              </a:rPr>
              <a:t>2018/2023</a:t>
            </a:r>
            <a:endParaRPr sz="1020" b="1">
              <a:solidFill>
                <a:srgbClr val="18375C"/>
              </a:solidFill>
              <a:latin typeface="微软雅黑" panose="020B0503020204020204" charset="-122"/>
            </a:endParaRPr>
          </a:p>
        </p:txBody>
      </p:sp>
      <p:sp>
        <p:nvSpPr>
          <p:cNvPr id="8" name="Rectangle 7"/>
          <p:cNvSpPr/>
          <p:nvPr>
            <p:custDataLst>
              <p:tags r:id="rId3"/>
            </p:custDataLst>
          </p:nvPr>
        </p:nvSpPr>
        <p:spPr>
          <a:xfrm>
            <a:off x="777240" y="2432304"/>
            <a:ext cx="1325880" cy="14630"/>
          </a:xfrm>
          <a:prstGeom prst="rect">
            <a:avLst/>
          </a:prstGeom>
          <a:solidFill>
            <a:srgbClr val="1837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custDataLst>
              <p:tags r:id="rId4"/>
            </p:custDataLst>
          </p:nvPr>
        </p:nvSpPr>
        <p:spPr>
          <a:xfrm>
            <a:off x="649224" y="2505456"/>
            <a:ext cx="1581912" cy="411480"/>
          </a:xfrm>
          <a:prstGeom prst="rect">
            <a:avLst/>
          </a:prstGeom>
          <a:noFill/>
        </p:spPr>
        <p:txBody>
          <a:bodyPr wrap="square" lIns="36576" tIns="18288" rIns="36576" bIns="18288" anchor="ctr">
            <a:spAutoFit/>
          </a:bodyPr>
          <a:lstStyle/>
          <a:p>
            <a:pPr algn="ctr"/>
            <a:r>
              <a:rPr sz="1000" b="1">
                <a:solidFill>
                  <a:srgbClr val="18375C"/>
                </a:solidFill>
                <a:latin typeface="微软雅黑" panose="020B0503020204020204" charset="-122"/>
              </a:rPr>
              <a:t>Benchmark 与复杂 schema</a:t>
            </a:r>
            <a:endParaRPr sz="1000" b="1">
              <a:solidFill>
                <a:srgbClr val="18375C"/>
              </a:solidFill>
              <a:latin typeface="微软雅黑" panose="020B0503020204020204" charset="-122"/>
            </a:endParaRPr>
          </a:p>
        </p:txBody>
      </p:sp>
      <p:sp>
        <p:nvSpPr>
          <p:cNvPr id="10" name="TextBox 9"/>
          <p:cNvSpPr txBox="1"/>
          <p:nvPr>
            <p:custDataLst>
              <p:tags r:id="rId5"/>
            </p:custDataLst>
          </p:nvPr>
        </p:nvSpPr>
        <p:spPr>
          <a:xfrm>
            <a:off x="667512" y="3433255"/>
            <a:ext cx="1545336" cy="1143635"/>
          </a:xfrm>
          <a:prstGeom prst="rect">
            <a:avLst/>
          </a:prstGeom>
          <a:noFill/>
        </p:spPr>
        <p:txBody>
          <a:bodyPr wrap="square" lIns="36576" tIns="18288" rIns="36576" bIns="18288" anchor="ctr">
            <a:spAutoFit/>
          </a:bodyPr>
          <a:lstStyle/>
          <a:p>
            <a:pPr algn="ctr" hangingPunct="1"/>
            <a:r>
              <a:rPr sz="1030" b="0">
                <a:solidFill>
                  <a:srgbClr val="1F2933"/>
                </a:solidFill>
                <a:latin typeface="微软雅黑" panose="020B0503020204020204" charset="-122"/>
              </a:rPr>
              <a:t>Spider 定义跨数据库复杂 SQL 任务；BIRD 引入真实数据库、外部知识和效率要求。
启发：评价不能只看语法，还要看执行一致、效率和复杂查询表现。</a:t>
            </a:r>
            <a:endParaRPr sz="1030" b="0">
              <a:solidFill>
                <a:srgbClr val="1F2933"/>
              </a:solidFill>
              <a:latin typeface="微软雅黑" panose="020B0503020204020204" charset="-122"/>
            </a:endParaRPr>
          </a:p>
        </p:txBody>
      </p:sp>
      <p:sp>
        <p:nvSpPr>
          <p:cNvPr id="11" name="Rounded Rectangle 10"/>
          <p:cNvSpPr/>
          <p:nvPr>
            <p:custDataLst>
              <p:tags r:id="rId6"/>
            </p:custDataLst>
          </p:nvPr>
        </p:nvSpPr>
        <p:spPr>
          <a:xfrm>
            <a:off x="2578608" y="1993392"/>
            <a:ext cx="1874519" cy="3401568"/>
          </a:xfrm>
          <a:prstGeom prst="roundRect">
            <a:avLst/>
          </a:prstGeom>
          <a:solidFill>
            <a:srgbClr val="F6F8FA"/>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custDataLst>
              <p:tags r:id="rId7"/>
            </p:custDataLst>
          </p:nvPr>
        </p:nvSpPr>
        <p:spPr>
          <a:xfrm>
            <a:off x="2688336" y="2130552"/>
            <a:ext cx="1655064" cy="256032"/>
          </a:xfrm>
          <a:prstGeom prst="rect">
            <a:avLst/>
          </a:prstGeom>
          <a:noFill/>
        </p:spPr>
        <p:txBody>
          <a:bodyPr wrap="square" lIns="36576" tIns="18288" rIns="36576" bIns="18288" anchor="ctr">
            <a:spAutoFit/>
          </a:bodyPr>
          <a:lstStyle/>
          <a:p>
            <a:pPr algn="ctr"/>
            <a:r>
              <a:rPr sz="1020" b="1">
                <a:solidFill>
                  <a:srgbClr val="18375C"/>
                </a:solidFill>
                <a:latin typeface="微软雅黑" panose="020B0503020204020204" charset="-122"/>
              </a:rPr>
              <a:t>2019-2021</a:t>
            </a:r>
            <a:endParaRPr sz="1020" b="1">
              <a:solidFill>
                <a:srgbClr val="18375C"/>
              </a:solidFill>
              <a:latin typeface="微软雅黑" panose="020B0503020204020204" charset="-122"/>
            </a:endParaRPr>
          </a:p>
        </p:txBody>
      </p:sp>
      <p:sp>
        <p:nvSpPr>
          <p:cNvPr id="13" name="Rectangle 12"/>
          <p:cNvSpPr/>
          <p:nvPr>
            <p:custDataLst>
              <p:tags r:id="rId8"/>
            </p:custDataLst>
          </p:nvPr>
        </p:nvSpPr>
        <p:spPr>
          <a:xfrm>
            <a:off x="2852927" y="2432304"/>
            <a:ext cx="1325880" cy="14630"/>
          </a:xfrm>
          <a:prstGeom prst="rect">
            <a:avLst/>
          </a:prstGeom>
          <a:solidFill>
            <a:srgbClr val="1837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custDataLst>
              <p:tags r:id="rId9"/>
            </p:custDataLst>
          </p:nvPr>
        </p:nvSpPr>
        <p:spPr>
          <a:xfrm>
            <a:off x="2724912" y="2505456"/>
            <a:ext cx="1581912" cy="411480"/>
          </a:xfrm>
          <a:prstGeom prst="rect">
            <a:avLst/>
          </a:prstGeom>
          <a:noFill/>
        </p:spPr>
        <p:txBody>
          <a:bodyPr wrap="square" lIns="36576" tIns="18288" rIns="36576" bIns="18288" anchor="ctr">
            <a:spAutoFit/>
          </a:bodyPr>
          <a:lstStyle/>
          <a:p>
            <a:pPr algn="ctr"/>
            <a:r>
              <a:rPr sz="1000" b="1">
                <a:solidFill>
                  <a:srgbClr val="18375C"/>
                </a:solidFill>
                <a:latin typeface="微软雅黑" panose="020B0503020204020204" charset="-122"/>
              </a:rPr>
              <a:t>中间表示与 schema linking</a:t>
            </a:r>
            <a:endParaRPr sz="1000" b="1">
              <a:solidFill>
                <a:srgbClr val="18375C"/>
              </a:solidFill>
              <a:latin typeface="微软雅黑" panose="020B0503020204020204" charset="-122"/>
            </a:endParaRPr>
          </a:p>
        </p:txBody>
      </p:sp>
      <p:sp>
        <p:nvSpPr>
          <p:cNvPr id="15" name="TextBox 14"/>
          <p:cNvSpPr txBox="1"/>
          <p:nvPr>
            <p:custDataLst>
              <p:tags r:id="rId10"/>
            </p:custDataLst>
          </p:nvPr>
        </p:nvSpPr>
        <p:spPr>
          <a:xfrm>
            <a:off x="2743200" y="3353880"/>
            <a:ext cx="1545336" cy="1302385"/>
          </a:xfrm>
          <a:prstGeom prst="rect">
            <a:avLst/>
          </a:prstGeom>
          <a:noFill/>
        </p:spPr>
        <p:txBody>
          <a:bodyPr wrap="square" lIns="36576" tIns="18288" rIns="36576" bIns="18288" anchor="ctr">
            <a:spAutoFit/>
          </a:bodyPr>
          <a:lstStyle/>
          <a:p>
            <a:pPr algn="ctr" hangingPunct="1"/>
            <a:r>
              <a:rPr sz="1030" b="0">
                <a:solidFill>
                  <a:srgbClr val="1F2933"/>
                </a:solidFill>
                <a:latin typeface="微软雅黑" panose="020B0503020204020204" charset="-122"/>
              </a:rPr>
              <a:t>IRNet/SemQL、RAT-SQL、NatSQL、PICARD 分别从语义表示、schema linking、简化表达和约束解码降低生成难度。
启发：SQL+ 要体现线性、可转换、可局部修复。</a:t>
            </a:r>
            <a:endParaRPr sz="1030" b="0">
              <a:solidFill>
                <a:srgbClr val="1F2933"/>
              </a:solidFill>
              <a:latin typeface="微软雅黑" panose="020B0503020204020204" charset="-122"/>
            </a:endParaRPr>
          </a:p>
        </p:txBody>
      </p:sp>
      <p:sp>
        <p:nvSpPr>
          <p:cNvPr id="16" name="Rounded Rectangle 15"/>
          <p:cNvSpPr/>
          <p:nvPr>
            <p:custDataLst>
              <p:tags r:id="rId11"/>
            </p:custDataLst>
          </p:nvPr>
        </p:nvSpPr>
        <p:spPr>
          <a:xfrm>
            <a:off x="4654296" y="1993392"/>
            <a:ext cx="1874519" cy="3401568"/>
          </a:xfrm>
          <a:prstGeom prst="roundRect">
            <a:avLst/>
          </a:prstGeom>
          <a:solidFill>
            <a:srgbClr val="F6F8FA"/>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custDataLst>
              <p:tags r:id="rId12"/>
            </p:custDataLst>
          </p:nvPr>
        </p:nvSpPr>
        <p:spPr>
          <a:xfrm>
            <a:off x="4764024" y="2130552"/>
            <a:ext cx="1655064" cy="256032"/>
          </a:xfrm>
          <a:prstGeom prst="rect">
            <a:avLst/>
          </a:prstGeom>
          <a:noFill/>
        </p:spPr>
        <p:txBody>
          <a:bodyPr wrap="square" lIns="36576" tIns="18288" rIns="36576" bIns="18288" anchor="ctr">
            <a:spAutoFit/>
          </a:bodyPr>
          <a:lstStyle/>
          <a:p>
            <a:pPr algn="ctr"/>
            <a:r>
              <a:rPr sz="1020" b="1">
                <a:solidFill>
                  <a:srgbClr val="18375C"/>
                </a:solidFill>
                <a:latin typeface="微软雅黑" panose="020B0503020204020204" charset="-122"/>
              </a:rPr>
              <a:t>2023-2024</a:t>
            </a:r>
            <a:endParaRPr sz="1020" b="1">
              <a:solidFill>
                <a:srgbClr val="18375C"/>
              </a:solidFill>
              <a:latin typeface="微软雅黑" panose="020B0503020204020204" charset="-122"/>
            </a:endParaRPr>
          </a:p>
        </p:txBody>
      </p:sp>
      <p:sp>
        <p:nvSpPr>
          <p:cNvPr id="18" name="Rectangle 17"/>
          <p:cNvSpPr/>
          <p:nvPr>
            <p:custDataLst>
              <p:tags r:id="rId13"/>
            </p:custDataLst>
          </p:nvPr>
        </p:nvSpPr>
        <p:spPr>
          <a:xfrm>
            <a:off x="4928616" y="2432304"/>
            <a:ext cx="1325880" cy="14630"/>
          </a:xfrm>
          <a:prstGeom prst="rect">
            <a:avLst/>
          </a:prstGeom>
          <a:solidFill>
            <a:srgbClr val="1837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custDataLst>
              <p:tags r:id="rId14"/>
            </p:custDataLst>
          </p:nvPr>
        </p:nvSpPr>
        <p:spPr>
          <a:xfrm>
            <a:off x="4800600" y="2505456"/>
            <a:ext cx="1581912" cy="411480"/>
          </a:xfrm>
          <a:prstGeom prst="rect">
            <a:avLst/>
          </a:prstGeom>
          <a:noFill/>
        </p:spPr>
        <p:txBody>
          <a:bodyPr wrap="square" lIns="36576" tIns="18288" rIns="36576" bIns="18288" anchor="ctr">
            <a:spAutoFit/>
          </a:bodyPr>
          <a:lstStyle/>
          <a:p>
            <a:pPr algn="ctr"/>
            <a:r>
              <a:rPr sz="1000" b="1">
                <a:solidFill>
                  <a:srgbClr val="18375C"/>
                </a:solidFill>
                <a:latin typeface="微软雅黑" panose="020B0503020204020204" charset="-122"/>
              </a:rPr>
              <a:t>SQL 扩展与执行反馈</a:t>
            </a:r>
            <a:endParaRPr sz="1000" b="1">
              <a:solidFill>
                <a:srgbClr val="18375C"/>
              </a:solidFill>
              <a:latin typeface="微软雅黑" panose="020B0503020204020204" charset="-122"/>
            </a:endParaRPr>
          </a:p>
        </p:txBody>
      </p:sp>
      <p:sp>
        <p:nvSpPr>
          <p:cNvPr id="20" name="TextBox 19"/>
          <p:cNvSpPr txBox="1"/>
          <p:nvPr>
            <p:custDataLst>
              <p:tags r:id="rId15"/>
            </p:custDataLst>
          </p:nvPr>
        </p:nvSpPr>
        <p:spPr>
          <a:xfrm>
            <a:off x="4818888" y="3353880"/>
            <a:ext cx="1545336" cy="1302385"/>
          </a:xfrm>
          <a:prstGeom prst="rect">
            <a:avLst/>
          </a:prstGeom>
          <a:noFill/>
        </p:spPr>
        <p:txBody>
          <a:bodyPr wrap="square" lIns="36576" tIns="18288" rIns="36576" bIns="18288" anchor="ctr">
            <a:spAutoFit/>
          </a:bodyPr>
          <a:lstStyle/>
          <a:p>
            <a:pPr algn="ctr" hangingPunct="1"/>
            <a:r>
              <a:rPr sz="1030" b="0">
                <a:solidFill>
                  <a:srgbClr val="1F2933"/>
                </a:solidFill>
                <a:latin typeface="微软雅黑" panose="020B0503020204020204" charset="-122"/>
              </a:rPr>
              <a:t>Pipe Syntax 说明 SQL 可通过线性扩展提升可读性；DIN-SQL、LEVER 强调任务分解和执行验证。
启发：SQL+ 可作为执行反馈回流的步骤化中间层。</a:t>
            </a:r>
            <a:endParaRPr sz="1030" b="0">
              <a:solidFill>
                <a:srgbClr val="1F2933"/>
              </a:solidFill>
              <a:latin typeface="微软雅黑" panose="020B0503020204020204" charset="-122"/>
            </a:endParaRPr>
          </a:p>
        </p:txBody>
      </p:sp>
      <p:sp>
        <p:nvSpPr>
          <p:cNvPr id="21" name="Rounded Rectangle 20"/>
          <p:cNvSpPr/>
          <p:nvPr>
            <p:custDataLst>
              <p:tags r:id="rId16"/>
            </p:custDataLst>
          </p:nvPr>
        </p:nvSpPr>
        <p:spPr>
          <a:xfrm>
            <a:off x="6729984" y="1993392"/>
            <a:ext cx="1874519" cy="3401568"/>
          </a:xfrm>
          <a:prstGeom prst="roundRect">
            <a:avLst/>
          </a:prstGeom>
          <a:solidFill>
            <a:srgbClr val="F6F8FA"/>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custDataLst>
              <p:tags r:id="rId17"/>
            </p:custDataLst>
          </p:nvPr>
        </p:nvSpPr>
        <p:spPr>
          <a:xfrm>
            <a:off x="6839712" y="2130552"/>
            <a:ext cx="1655064" cy="256032"/>
          </a:xfrm>
          <a:prstGeom prst="rect">
            <a:avLst/>
          </a:prstGeom>
          <a:noFill/>
        </p:spPr>
        <p:txBody>
          <a:bodyPr wrap="square" lIns="36576" tIns="18288" rIns="36576" bIns="18288" anchor="ctr">
            <a:spAutoFit/>
          </a:bodyPr>
          <a:lstStyle/>
          <a:p>
            <a:pPr algn="ctr"/>
            <a:r>
              <a:rPr sz="1020" b="1">
                <a:solidFill>
                  <a:srgbClr val="18375C"/>
                </a:solidFill>
                <a:latin typeface="微软雅黑" panose="020B0503020204020204" charset="-122"/>
              </a:rPr>
              <a:t>2024-2025</a:t>
            </a:r>
            <a:endParaRPr sz="1020" b="1">
              <a:solidFill>
                <a:srgbClr val="18375C"/>
              </a:solidFill>
              <a:latin typeface="微软雅黑" panose="020B0503020204020204" charset="-122"/>
            </a:endParaRPr>
          </a:p>
        </p:txBody>
      </p:sp>
      <p:sp>
        <p:nvSpPr>
          <p:cNvPr id="23" name="Rectangle 22"/>
          <p:cNvSpPr/>
          <p:nvPr>
            <p:custDataLst>
              <p:tags r:id="rId18"/>
            </p:custDataLst>
          </p:nvPr>
        </p:nvSpPr>
        <p:spPr>
          <a:xfrm>
            <a:off x="7004304" y="2432304"/>
            <a:ext cx="1325880" cy="14630"/>
          </a:xfrm>
          <a:prstGeom prst="rect">
            <a:avLst/>
          </a:prstGeom>
          <a:solidFill>
            <a:srgbClr val="1837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custDataLst>
              <p:tags r:id="rId19"/>
            </p:custDataLst>
          </p:nvPr>
        </p:nvSpPr>
        <p:spPr>
          <a:xfrm>
            <a:off x="6876288" y="2505456"/>
            <a:ext cx="1581912" cy="411480"/>
          </a:xfrm>
          <a:prstGeom prst="rect">
            <a:avLst/>
          </a:prstGeom>
          <a:noFill/>
        </p:spPr>
        <p:txBody>
          <a:bodyPr wrap="square" lIns="36576" tIns="18288" rIns="36576" bIns="18288" anchor="ctr">
            <a:spAutoFit/>
          </a:bodyPr>
          <a:lstStyle/>
          <a:p>
            <a:pPr algn="ctr"/>
            <a:r>
              <a:rPr sz="1000" b="1">
                <a:solidFill>
                  <a:srgbClr val="18375C"/>
                </a:solidFill>
                <a:latin typeface="微软雅黑" panose="020B0503020204020204" charset="-122"/>
              </a:rPr>
              <a:t>Agentic NL2SQL</a:t>
            </a:r>
            <a:endParaRPr sz="1000" b="1">
              <a:solidFill>
                <a:srgbClr val="18375C"/>
              </a:solidFill>
              <a:latin typeface="微软雅黑" panose="020B0503020204020204" charset="-122"/>
            </a:endParaRPr>
          </a:p>
        </p:txBody>
      </p:sp>
      <p:sp>
        <p:nvSpPr>
          <p:cNvPr id="25" name="TextBox 24"/>
          <p:cNvSpPr txBox="1"/>
          <p:nvPr>
            <p:custDataLst>
              <p:tags r:id="rId20"/>
            </p:custDataLst>
          </p:nvPr>
        </p:nvSpPr>
        <p:spPr>
          <a:xfrm>
            <a:off x="6894576" y="3274822"/>
            <a:ext cx="1545336" cy="1460500"/>
          </a:xfrm>
          <a:prstGeom prst="rect">
            <a:avLst/>
          </a:prstGeom>
          <a:noFill/>
        </p:spPr>
        <p:txBody>
          <a:bodyPr wrap="square" lIns="36576" tIns="18288" rIns="36576" bIns="18288" anchor="ctr">
            <a:spAutoFit/>
          </a:bodyPr>
          <a:lstStyle/>
          <a:p>
            <a:pPr algn="ctr" hangingPunct="1"/>
            <a:r>
              <a:rPr sz="1030" b="0">
                <a:solidFill>
                  <a:srgbClr val="1F2933"/>
                </a:solidFill>
                <a:latin typeface="微软雅黑" panose="020B0503020204020204" charset="-122"/>
              </a:rPr>
              <a:t>CHESS、CHASE-SQL、MAC-SQL、SQL-Factory、Spider 2.0 强调检索、规划、候选生成、选择和验证。
启发：本课题把多 Agent 落到 Critic、Router、Repair Skill 的可修复闭环。</a:t>
            </a:r>
            <a:endParaRPr sz="1030" b="0">
              <a:solidFill>
                <a:srgbClr val="1F2933"/>
              </a:solidFill>
              <a:latin typeface="微软雅黑" panose="020B0503020204020204" charset="-122"/>
            </a:endParaRPr>
          </a:p>
        </p:txBody>
      </p:sp>
      <p:sp>
        <p:nvSpPr>
          <p:cNvPr id="26" name="Rounded Rectangle 25"/>
          <p:cNvSpPr/>
          <p:nvPr/>
        </p:nvSpPr>
        <p:spPr>
          <a:xfrm>
            <a:off x="658368" y="5760720"/>
            <a:ext cx="7909560" cy="365760"/>
          </a:xfrm>
          <a:prstGeom prst="roundRect">
            <a:avLst/>
          </a:prstGeom>
          <a:solidFill>
            <a:srgbClr val="FAEBEB"/>
          </a:solidFill>
          <a:ln w="12700">
            <a:solidFill>
              <a:srgbClr val="B2262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a:solidFill>
                  <a:srgbClr val="B22626"/>
                </a:solidFill>
                <a:latin typeface="微软雅黑" panose="020B0503020204020204" charset="-122"/>
              </a:rPr>
              <a:t>研究空间：已有工作证明生成和反馈有价值，但 SQL+ 层“错误定位—技能路由—局部修复”仍需专门研究。</a:t>
            </a:r>
            <a:endParaRPr sz="900" b="1">
              <a:solidFill>
                <a:srgbClr val="B22626"/>
              </a:solidFill>
              <a:latin typeface="微软雅黑" panose="020B0503020204020204"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11480" y="1052703"/>
            <a:ext cx="8412480" cy="530352"/>
          </a:xfrm>
          <a:prstGeom prst="rect">
            <a:avLst/>
          </a:prstGeom>
          <a:noFill/>
        </p:spPr>
        <p:txBody>
          <a:bodyPr wrap="square" anchor="ctr">
            <a:spAutoFit/>
          </a:bodyPr>
          <a:lstStyle/>
          <a:p>
            <a:pPr algn="l"/>
            <a:r>
              <a:rPr sz="2400" b="1">
                <a:solidFill>
                  <a:srgbClr val="18375C"/>
                </a:solidFill>
                <a:latin typeface="微软雅黑" panose="020B0503020204020204" charset="-122"/>
              </a:rPr>
              <a:t>当前研究与发展：benchmark、IR 与 agentic NL2SQL</a:t>
            </a:r>
            <a:endParaRPr sz="2400" b="1">
              <a:solidFill>
                <a:srgbClr val="18375C"/>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667080"/>
                </a:solidFill>
                <a:latin typeface="微软雅黑" panose="020B0503020204020204" charset="-122"/>
              </a:rPr>
              <a:t>开题汇报 | SQL+ / Text-to-SQL / Multi-Agent | 5</a:t>
            </a:r>
            <a:endParaRPr sz="800" b="0">
              <a:solidFill>
                <a:srgbClr val="667080"/>
              </a:solidFill>
              <a:latin typeface="微软雅黑" panose="020B0503020204020204" charset="-122"/>
            </a:endParaRPr>
          </a:p>
        </p:txBody>
      </p:sp>
      <p:graphicFrame>
        <p:nvGraphicFramePr>
          <p:cNvPr id="4" name="Table 3"/>
          <p:cNvGraphicFramePr>
            <a:graphicFrameLocks noGrp="1"/>
          </p:cNvGraphicFramePr>
          <p:nvPr/>
        </p:nvGraphicFramePr>
        <p:xfrm>
          <a:off x="411480" y="1996440"/>
          <a:ext cx="8321040" cy="3718560"/>
        </p:xfrm>
        <a:graphic>
          <a:graphicData uri="http://schemas.openxmlformats.org/drawingml/2006/table">
            <a:tbl>
              <a:tblPr firstRow="1" bandRow="1">
                <a:tableStyleId>{5C22544A-7EE6-4342-B048-85BDC9FD1C3A}</a:tableStyleId>
              </a:tblPr>
              <a:tblGrid>
                <a:gridCol w="1383030"/>
                <a:gridCol w="2777490"/>
                <a:gridCol w="2080260"/>
                <a:gridCol w="2080260"/>
              </a:tblGrid>
              <a:tr h="619760">
                <a:tc>
                  <a:txBody>
                    <a:bodyPr/>
                    <a:lstStyle/>
                    <a:p>
                      <a:pPr algn="ctr"/>
                      <a:r>
                        <a:rPr sz="1400" b="1">
                          <a:solidFill>
                            <a:srgbClr val="FFFFFF"/>
                          </a:solidFill>
                          <a:latin typeface="微软雅黑" panose="020B0503020204020204" charset="-122"/>
                        </a:rPr>
                        <a:t>方向</a:t>
                      </a:r>
                      <a:endParaRPr sz="1400" b="1">
                        <a:solidFill>
                          <a:srgbClr val="FFFFFF"/>
                        </a:solidFill>
                        <a:latin typeface="微软雅黑" panose="020B0503020204020204" charset="-122"/>
                      </a:endParaRPr>
                    </a:p>
                  </a:txBody>
                  <a:tcPr marL="36576" marR="36576">
                    <a:solidFill>
                      <a:srgbClr val="18375C"/>
                    </a:solidFill>
                  </a:tcPr>
                </a:tc>
                <a:tc>
                  <a:txBody>
                    <a:bodyPr/>
                    <a:lstStyle/>
                    <a:p>
                      <a:pPr algn="ctr"/>
                      <a:r>
                        <a:rPr sz="1400" b="1">
                          <a:solidFill>
                            <a:srgbClr val="FFFFFF"/>
                          </a:solidFill>
                          <a:latin typeface="微软雅黑" panose="020B0503020204020204" charset="-122"/>
                        </a:rPr>
                        <a:t>代表工作与年份</a:t>
                      </a:r>
                      <a:endParaRPr sz="1400" b="1">
                        <a:solidFill>
                          <a:srgbClr val="FFFFFF"/>
                        </a:solidFill>
                        <a:latin typeface="微软雅黑" panose="020B0503020204020204" charset="-122"/>
                      </a:endParaRPr>
                    </a:p>
                  </a:txBody>
                  <a:tcPr marL="36576" marR="36576">
                    <a:solidFill>
                      <a:srgbClr val="18375C"/>
                    </a:solidFill>
                  </a:tcPr>
                </a:tc>
                <a:tc>
                  <a:txBody>
                    <a:bodyPr/>
                    <a:lstStyle/>
                    <a:p>
                      <a:pPr algn="ctr"/>
                      <a:r>
                        <a:rPr sz="1400" b="1">
                          <a:solidFill>
                            <a:srgbClr val="FFFFFF"/>
                          </a:solidFill>
                          <a:latin typeface="微软雅黑" panose="020B0503020204020204" charset="-122"/>
                        </a:rPr>
                        <a:t>已解决问题</a:t>
                      </a:r>
                      <a:endParaRPr sz="1400" b="1">
                        <a:solidFill>
                          <a:srgbClr val="FFFFFF"/>
                        </a:solidFill>
                        <a:latin typeface="微软雅黑" panose="020B0503020204020204" charset="-122"/>
                      </a:endParaRPr>
                    </a:p>
                  </a:txBody>
                  <a:tcPr marL="36576" marR="36576">
                    <a:solidFill>
                      <a:srgbClr val="18375C"/>
                    </a:solidFill>
                  </a:tcPr>
                </a:tc>
                <a:tc>
                  <a:txBody>
                    <a:bodyPr/>
                    <a:lstStyle/>
                    <a:p>
                      <a:pPr algn="ctr"/>
                      <a:r>
                        <a:rPr sz="1400" b="1">
                          <a:solidFill>
                            <a:srgbClr val="FFFFFF"/>
                          </a:solidFill>
                          <a:latin typeface="微软雅黑" panose="020B0503020204020204" charset="-122"/>
                        </a:rPr>
                        <a:t>对本课题的启发</a:t>
                      </a:r>
                      <a:endParaRPr sz="1400" b="1">
                        <a:solidFill>
                          <a:srgbClr val="FFFFFF"/>
                        </a:solidFill>
                        <a:latin typeface="微软雅黑" panose="020B0503020204020204" charset="-122"/>
                      </a:endParaRPr>
                    </a:p>
                  </a:txBody>
                  <a:tcPr marL="36576" marR="36576">
                    <a:solidFill>
                      <a:srgbClr val="18375C"/>
                    </a:solidFill>
                  </a:tcPr>
                </a:tc>
              </a:tr>
              <a:tr h="619760">
                <a:tc>
                  <a:txBody>
                    <a:bodyPr/>
                    <a:lstStyle/>
                    <a:p>
                      <a:pPr algn="ctr"/>
                      <a:r>
                        <a:rPr sz="1200" b="0">
                          <a:solidFill>
                            <a:srgbClr val="1F2933"/>
                          </a:solidFill>
                          <a:latin typeface="微软雅黑" panose="020B0503020204020204" charset="-122"/>
                        </a:rPr>
                        <a:t>公开评测</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Spider 2018、BIRD 2023、Spider 2.0 2025</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复杂 schema、真实数据、企业工作流</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后续需要从小子集扩展到多库和真实方言</a:t>
                      </a:r>
                      <a:endParaRPr sz="1200" b="0">
                        <a:solidFill>
                          <a:srgbClr val="1F2933"/>
                        </a:solidFill>
                        <a:latin typeface="微软雅黑" panose="020B0503020204020204" charset="-122"/>
                      </a:endParaRPr>
                    </a:p>
                  </a:txBody>
                  <a:tcPr marL="36576" marR="36576">
                    <a:solidFill>
                      <a:srgbClr val="FFFFFF"/>
                    </a:solidFill>
                  </a:tcPr>
                </a:tc>
              </a:tr>
              <a:tr h="619760">
                <a:tc>
                  <a:txBody>
                    <a:bodyPr/>
                    <a:lstStyle/>
                    <a:p>
                      <a:pPr algn="ctr"/>
                      <a:r>
                        <a:rPr sz="1200" b="0">
                          <a:solidFill>
                            <a:srgbClr val="1F2933"/>
                          </a:solidFill>
                          <a:latin typeface="微软雅黑" panose="020B0503020204020204" charset="-122"/>
                        </a:rPr>
                        <a:t>中间表示</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SemQL 2019、NatSQL 2021、Pipe Syntax 2024</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降低 SQL 生成或表达复杂度</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SQL+ 要证明修复接口价值，而不只是换语法</a:t>
                      </a:r>
                      <a:endParaRPr sz="1200" b="0">
                        <a:solidFill>
                          <a:srgbClr val="1F2933"/>
                        </a:solidFill>
                        <a:latin typeface="微软雅黑" panose="020B0503020204020204" charset="-122"/>
                      </a:endParaRPr>
                    </a:p>
                  </a:txBody>
                  <a:tcPr marL="36576" marR="36576">
                    <a:solidFill>
                      <a:srgbClr val="F6F8FA"/>
                    </a:solidFill>
                  </a:tcPr>
                </a:tc>
              </a:tr>
              <a:tr h="619760">
                <a:tc>
                  <a:txBody>
                    <a:bodyPr/>
                    <a:lstStyle/>
                    <a:p>
                      <a:pPr algn="ctr"/>
                      <a:r>
                        <a:rPr sz="1200" b="0">
                          <a:solidFill>
                            <a:srgbClr val="1F2933"/>
                          </a:solidFill>
                          <a:latin typeface="微软雅黑" panose="020B0503020204020204" charset="-122"/>
                        </a:rPr>
                        <a:t>约束与验证</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PICARD 2021、LEVER 2023</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语法约束、执行验证、候选筛选</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执行反馈需要进入诊断和 patch 过程</a:t>
                      </a:r>
                      <a:endParaRPr sz="1200" b="0">
                        <a:solidFill>
                          <a:srgbClr val="1F2933"/>
                        </a:solidFill>
                        <a:latin typeface="微软雅黑" panose="020B0503020204020204" charset="-122"/>
                      </a:endParaRPr>
                    </a:p>
                  </a:txBody>
                  <a:tcPr marL="36576" marR="36576">
                    <a:solidFill>
                      <a:srgbClr val="FFFFFF"/>
                    </a:solidFill>
                  </a:tcPr>
                </a:tc>
              </a:tr>
              <a:tr h="619760">
                <a:tc>
                  <a:txBody>
                    <a:bodyPr/>
                    <a:lstStyle/>
                    <a:p>
                      <a:pPr algn="ctr"/>
                      <a:r>
                        <a:rPr sz="1200" b="0">
                          <a:solidFill>
                            <a:srgbClr val="1F2933"/>
                          </a:solidFill>
                          <a:latin typeface="微软雅黑" panose="020B0503020204020204" charset="-122"/>
                        </a:rPr>
                        <a:t>Agentic NL2SQL</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DIN-SQL 2023、CHESS 2024、CHASE-SQL 2024、MAC-SQL 2025</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分解、多候选、多角色协作</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需要更清楚的步骤级错误定位和 repair skill 评价</a:t>
                      </a:r>
                      <a:endParaRPr sz="1200" b="0">
                        <a:solidFill>
                          <a:srgbClr val="1F2933"/>
                        </a:solidFill>
                        <a:latin typeface="微软雅黑" panose="020B0503020204020204" charset="-122"/>
                      </a:endParaRPr>
                    </a:p>
                  </a:txBody>
                  <a:tcPr marL="36576" marR="36576">
                    <a:solidFill>
                      <a:srgbClr val="F6F8FA"/>
                    </a:solidFill>
                  </a:tcPr>
                </a:tc>
              </a:tr>
              <a:tr h="619760">
                <a:tc>
                  <a:txBody>
                    <a:bodyPr/>
                    <a:lstStyle/>
                    <a:p>
                      <a:pPr algn="ctr"/>
                      <a:r>
                        <a:rPr sz="1200" b="0">
                          <a:solidFill>
                            <a:srgbClr val="1F2933"/>
                          </a:solidFill>
                          <a:latin typeface="微软雅黑" panose="020B0503020204020204" charset="-122"/>
                        </a:rPr>
                        <a:t>数据生成</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SQL-Factory 2025</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多智能体生成高质量 SQL 数据</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可用于后续扩充训练和评测样例</a:t>
                      </a:r>
                      <a:endParaRPr sz="1200" b="0">
                        <a:solidFill>
                          <a:srgbClr val="1F2933"/>
                        </a:solidFill>
                        <a:latin typeface="微软雅黑" panose="020B0503020204020204" charset="-122"/>
                      </a:endParaRPr>
                    </a:p>
                  </a:txBody>
                  <a:tcPr marL="36576" marR="36576">
                    <a:solidFill>
                      <a:srgbClr val="FFFFFF"/>
                    </a:solidFill>
                  </a:tcPr>
                </a:tc>
              </a:tr>
            </a:tbl>
          </a:graphicData>
        </a:graphic>
      </p:graphicFrame>
      <p:sp>
        <p:nvSpPr>
          <p:cNvPr id="5" name="Rectangle 4"/>
          <p:cNvSpPr/>
          <p:nvPr/>
        </p:nvSpPr>
        <p:spPr>
          <a:xfrm>
            <a:off x="658368" y="5870448"/>
            <a:ext cx="7909560" cy="438912"/>
          </a:xfrm>
          <a:prstGeom prst="rect">
            <a:avLst/>
          </a:prstGeom>
          <a:solidFill>
            <a:srgbClr val="FAEBEB"/>
          </a:solidFill>
          <a:ln>
            <a:solidFill>
              <a:srgbClr val="B2262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B22626"/>
                </a:solidFill>
                <a:latin typeface="微软雅黑" panose="020B0503020204020204" charset="-122"/>
              </a:rPr>
              <a:t>研究趋势是从单次生成走向真实环境、工具反馈、多智能体协作和可验证修复。</a:t>
            </a:r>
            <a:endParaRPr sz="1000" b="1">
              <a:solidFill>
                <a:srgbClr val="B22626"/>
              </a:solidFill>
              <a:latin typeface="微软雅黑" panose="020B0503020204020204"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3192" y="1124711"/>
            <a:ext cx="8412480" cy="530352"/>
          </a:xfrm>
          <a:prstGeom prst="rect">
            <a:avLst/>
          </a:prstGeom>
          <a:noFill/>
        </p:spPr>
        <p:txBody>
          <a:bodyPr wrap="square" lIns="36576" tIns="18288" rIns="36576" bIns="18288" anchor="ctr">
            <a:spAutoFit/>
          </a:bodyPr>
          <a:lstStyle/>
          <a:p>
            <a:pPr algn="l"/>
            <a:r>
              <a:rPr sz="2000" b="1">
                <a:solidFill>
                  <a:srgbClr val="18375C"/>
                </a:solidFill>
                <a:latin typeface="微软雅黑" panose="020B0503020204020204" charset="-122"/>
              </a:rPr>
              <a:t>动机测试：问题、假设与实验分组</a:t>
            </a:r>
            <a:endParaRPr sz="2000" b="1">
              <a:solidFill>
                <a:srgbClr val="18375C"/>
              </a:solidFill>
              <a:latin typeface="微软雅黑" panose="020B0503020204020204" charset="-122"/>
            </a:endParaRPr>
          </a:p>
        </p:txBody>
      </p:sp>
      <p:sp>
        <p:nvSpPr>
          <p:cNvPr id="4" name="TextBox 3"/>
          <p:cNvSpPr txBox="1"/>
          <p:nvPr/>
        </p:nvSpPr>
        <p:spPr>
          <a:xfrm>
            <a:off x="502920" y="6428232"/>
            <a:ext cx="8138160" cy="201168"/>
          </a:xfrm>
          <a:prstGeom prst="rect">
            <a:avLst/>
          </a:prstGeom>
          <a:noFill/>
        </p:spPr>
        <p:txBody>
          <a:bodyPr wrap="square" lIns="36576" tIns="18288" rIns="36576" bIns="18288" anchor="ctr">
            <a:spAutoFit/>
          </a:bodyPr>
          <a:lstStyle/>
          <a:p>
            <a:pPr algn="l"/>
            <a:r>
              <a:rPr sz="800" b="0">
                <a:solidFill>
                  <a:srgbClr val="525C69"/>
                </a:solidFill>
                <a:latin typeface="微软雅黑" panose="020B0503020204020204" charset="-122"/>
              </a:rPr>
              <a:t>开题汇报 | SQL+ / Text-to-SQL / Multi-Agent | 6</a:t>
            </a:r>
            <a:endParaRPr sz="800" b="0">
              <a:solidFill>
                <a:srgbClr val="525C69"/>
              </a:solidFill>
              <a:latin typeface="微软雅黑" panose="020B0503020204020204" charset="-122"/>
            </a:endParaRPr>
          </a:p>
        </p:txBody>
      </p:sp>
      <p:graphicFrame>
        <p:nvGraphicFramePr>
          <p:cNvPr id="6" name="Table 5"/>
          <p:cNvGraphicFramePr>
            <a:graphicFrameLocks noGrp="1"/>
          </p:cNvGraphicFramePr>
          <p:nvPr/>
        </p:nvGraphicFramePr>
        <p:xfrm>
          <a:off x="502920" y="2029968"/>
          <a:ext cx="8183880" cy="3246120"/>
        </p:xfrm>
        <a:graphic>
          <a:graphicData uri="http://schemas.openxmlformats.org/drawingml/2006/table">
            <a:tbl>
              <a:tblPr firstRow="1" bandRow="1">
                <a:tableStyleId>{5C22544A-7EE6-4342-B048-85BDC9FD1C3A}</a:tableStyleId>
              </a:tblPr>
              <a:tblGrid>
                <a:gridCol w="1143000"/>
                <a:gridCol w="2057400"/>
                <a:gridCol w="2788920"/>
                <a:gridCol w="2194560"/>
              </a:tblGrid>
              <a:tr h="649224">
                <a:tc>
                  <a:txBody>
                    <a:bodyPr wrap="square"/>
                    <a:lstStyle/>
                    <a:p>
                      <a:pPr algn="ctr"/>
                      <a:r>
                        <a:rPr sz="1040" b="1">
                          <a:solidFill>
                            <a:srgbClr val="FFFFFF"/>
                          </a:solidFill>
                          <a:latin typeface="微软雅黑" panose="020B0503020204020204" charset="-122"/>
                        </a:rPr>
                        <a:t>假设</a:t>
                      </a:r>
                      <a:endParaRPr sz="104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1040" b="1">
                          <a:solidFill>
                            <a:srgbClr val="FFFFFF"/>
                          </a:solidFill>
                          <a:latin typeface="微软雅黑" panose="020B0503020204020204" charset="-122"/>
                        </a:rPr>
                        <a:t>要回答的问题</a:t>
                      </a:r>
                      <a:endParaRPr sz="104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1040" b="1">
                          <a:solidFill>
                            <a:srgbClr val="FFFFFF"/>
                          </a:solidFill>
                          <a:latin typeface="微软雅黑" panose="020B0503020204020204" charset="-122"/>
                        </a:rPr>
                        <a:t>实验设计</a:t>
                      </a:r>
                      <a:endParaRPr sz="104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1040" b="1">
                          <a:solidFill>
                            <a:srgbClr val="FFFFFF"/>
                          </a:solidFill>
                          <a:latin typeface="微软雅黑" panose="020B0503020204020204" charset="-122"/>
                        </a:rPr>
                        <a:t>关键指标</a:t>
                      </a:r>
                      <a:endParaRPr sz="1040" b="1">
                        <a:solidFill>
                          <a:srgbClr val="FFFFFF"/>
                        </a:solidFill>
                        <a:latin typeface="微软雅黑" panose="020B0503020204020204" charset="-122"/>
                      </a:endParaRPr>
                    </a:p>
                  </a:txBody>
                  <a:tcPr marL="36576" marR="36576" marT="18288" marB="18288" anchor="ctr">
                    <a:solidFill>
                      <a:srgbClr val="18375C"/>
                    </a:solidFill>
                  </a:tcPr>
                </a:tc>
              </a:tr>
              <a:tr h="649224">
                <a:tc>
                  <a:txBody>
                    <a:bodyPr wrap="square"/>
                    <a:lstStyle/>
                    <a:p>
                      <a:pPr algn="ctr"/>
                      <a:r>
                        <a:rPr sz="960" b="0">
                          <a:solidFill>
                            <a:srgbClr val="1F2933"/>
                          </a:solidFill>
                          <a:latin typeface="微软雅黑" panose="020B0503020204020204" charset="-122"/>
                        </a:rPr>
                        <a:t>H1 初次生成</a:t>
                      </a:r>
                      <a:endParaRPr sz="96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60" b="0">
                          <a:solidFill>
                            <a:srgbClr val="1F2933"/>
                          </a:solidFill>
                          <a:latin typeface="微软雅黑" panose="020B0503020204020204" charset="-122"/>
                        </a:rPr>
                        <a:t>SQL+ 是否比直接 SQL 更容易生成？</a:t>
                      </a:r>
                      <a:endParaRPr sz="96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60" b="0">
                          <a:solidFill>
                            <a:srgbClr val="1F2933"/>
                          </a:solidFill>
                          <a:latin typeface="微软雅黑" panose="020B0503020204020204" charset="-122"/>
                        </a:rPr>
                        <a:t>Direct SQL vs NL2SQL+ prompt</a:t>
                      </a:r>
                      <a:endParaRPr sz="96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60" b="0">
                          <a:solidFill>
                            <a:srgbClr val="1F2933"/>
                          </a:solidFill>
                          <a:latin typeface="微软雅黑" panose="020B0503020204020204" charset="-122"/>
                        </a:rPr>
                        <a:t>execution match / valid rate</a:t>
                      </a:r>
                      <a:endParaRPr sz="960" b="0">
                        <a:solidFill>
                          <a:srgbClr val="1F2933"/>
                        </a:solidFill>
                        <a:latin typeface="微软雅黑" panose="020B0503020204020204" charset="-122"/>
                      </a:endParaRPr>
                    </a:p>
                  </a:txBody>
                  <a:tcPr marL="36576" marR="36576" marT="18288" marB="18288" anchor="ctr">
                    <a:solidFill>
                      <a:srgbClr val="FFFFFF"/>
                    </a:solidFill>
                  </a:tcPr>
                </a:tc>
              </a:tr>
              <a:tr h="649224">
                <a:tc>
                  <a:txBody>
                    <a:bodyPr wrap="square"/>
                    <a:lstStyle/>
                    <a:p>
                      <a:pPr algn="ctr"/>
                      <a:r>
                        <a:rPr sz="960" b="0">
                          <a:solidFill>
                            <a:srgbClr val="1F2933"/>
                          </a:solidFill>
                          <a:latin typeface="微软雅黑" panose="020B0503020204020204" charset="-122"/>
                        </a:rPr>
                        <a:t>H2 表达复杂度</a:t>
                      </a:r>
                      <a:endParaRPr sz="96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960" b="0">
                          <a:solidFill>
                            <a:srgbClr val="1F2933"/>
                          </a:solidFill>
                          <a:latin typeface="微软雅黑" panose="020B0503020204020204" charset="-122"/>
                        </a:rPr>
                        <a:t>SQL+ 与 SemQL、NatSQL、Pipe-style 有何差别？</a:t>
                      </a:r>
                      <a:endParaRPr sz="96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960" b="0">
                          <a:solidFill>
                            <a:srgbClr val="1F2933"/>
                          </a:solidFill>
                          <a:latin typeface="微软雅黑" panose="020B0503020204020204" charset="-122"/>
                        </a:rPr>
                        <a:t>同一 gold SQL 改写为多种 IR proxy</a:t>
                      </a:r>
                      <a:endParaRPr sz="96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960" b="0">
                          <a:solidFill>
                            <a:srgbClr val="1F2933"/>
                          </a:solidFill>
                          <a:latin typeface="微软雅黑" panose="020B0503020204020204" charset="-122"/>
                        </a:rPr>
                        <a:t>token / 步骤 / 嵌套 / 别名依赖</a:t>
                      </a:r>
                      <a:endParaRPr sz="960" b="0">
                        <a:solidFill>
                          <a:srgbClr val="1F2933"/>
                        </a:solidFill>
                        <a:latin typeface="微软雅黑" panose="020B0503020204020204" charset="-122"/>
                      </a:endParaRPr>
                    </a:p>
                  </a:txBody>
                  <a:tcPr marL="36576" marR="36576" marT="18288" marB="18288" anchor="ctr">
                    <a:solidFill>
                      <a:srgbClr val="EEF2F6"/>
                    </a:solidFill>
                  </a:tcPr>
                </a:tc>
              </a:tr>
              <a:tr h="649224">
                <a:tc>
                  <a:txBody>
                    <a:bodyPr wrap="square"/>
                    <a:lstStyle/>
                    <a:p>
                      <a:pPr algn="ctr"/>
                      <a:r>
                        <a:rPr sz="960" b="0">
                          <a:solidFill>
                            <a:srgbClr val="1F2933"/>
                          </a:solidFill>
                          <a:latin typeface="微软雅黑" panose="020B0503020204020204" charset="-122"/>
                        </a:rPr>
                        <a:t>H3 生成成本</a:t>
                      </a:r>
                      <a:endParaRPr sz="96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60" b="0">
                          <a:solidFill>
                            <a:srgbClr val="1F2933"/>
                          </a:solidFill>
                          <a:latin typeface="微软雅黑" panose="020B0503020204020204" charset="-122"/>
                        </a:rPr>
                        <a:t>SQL+ 是否带来额外 token 和延迟？</a:t>
                      </a:r>
                      <a:endParaRPr sz="96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60" b="0">
                          <a:solidFill>
                            <a:srgbClr val="1F2933"/>
                          </a:solidFill>
                          <a:latin typeface="微软雅黑" panose="020B0503020204020204" charset="-122"/>
                        </a:rPr>
                        <a:t>同模型生成 Direct SQL、SQL+、NatSQL-style、SemQL-style</a:t>
                      </a:r>
                      <a:endParaRPr sz="96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60" b="0">
                          <a:solidFill>
                            <a:srgbClr val="1F2933"/>
                          </a:solidFill>
                          <a:latin typeface="微软雅黑" panose="020B0503020204020204" charset="-122"/>
                        </a:rPr>
                        <a:t>token / latency / execution match</a:t>
                      </a:r>
                      <a:endParaRPr sz="960" b="0">
                        <a:solidFill>
                          <a:srgbClr val="1F2933"/>
                        </a:solidFill>
                        <a:latin typeface="微软雅黑" panose="020B0503020204020204" charset="-122"/>
                      </a:endParaRPr>
                    </a:p>
                  </a:txBody>
                  <a:tcPr marL="36576" marR="36576" marT="18288" marB="18288" anchor="ctr">
                    <a:solidFill>
                      <a:srgbClr val="FFFFFF"/>
                    </a:solidFill>
                  </a:tcPr>
                </a:tc>
              </a:tr>
              <a:tr h="649224">
                <a:tc>
                  <a:txBody>
                    <a:bodyPr wrap="square"/>
                    <a:lstStyle/>
                    <a:p>
                      <a:pPr algn="ctr"/>
                      <a:r>
                        <a:rPr sz="960" b="0">
                          <a:solidFill>
                            <a:srgbClr val="1F2933"/>
                          </a:solidFill>
                          <a:latin typeface="微软雅黑" panose="020B0503020204020204" charset="-122"/>
                        </a:rPr>
                        <a:t>H4 修复收益</a:t>
                      </a:r>
                      <a:endParaRPr sz="96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960" b="0">
                          <a:solidFill>
                            <a:srgbClr val="1F2933"/>
                          </a:solidFill>
                          <a:latin typeface="微软雅黑" panose="020B0503020204020204" charset="-122"/>
                        </a:rPr>
                        <a:t>SQL+ 的修复收益能否抵消生成成本？</a:t>
                      </a:r>
                      <a:endParaRPr sz="96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960" b="0">
                          <a:solidFill>
                            <a:srgbClr val="1F2933"/>
                          </a:solidFill>
                          <a:latin typeface="微软雅黑" panose="020B0503020204020204" charset="-122"/>
                        </a:rPr>
                        <a:t>Direct Refiner vs SQL+ Critic Router Skills</a:t>
                      </a:r>
                      <a:endParaRPr sz="96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960" b="0">
                          <a:solidFill>
                            <a:srgbClr val="1F2933"/>
                          </a:solidFill>
                          <a:latin typeface="微软雅黑" panose="020B0503020204020204" charset="-122"/>
                        </a:rPr>
                        <a:t>repair success / patch minimality / rounds</a:t>
                      </a:r>
                      <a:endParaRPr sz="960" b="0">
                        <a:solidFill>
                          <a:srgbClr val="1F2933"/>
                        </a:solidFill>
                        <a:latin typeface="微软雅黑" panose="020B0503020204020204" charset="-122"/>
                      </a:endParaRPr>
                    </a:p>
                  </a:txBody>
                  <a:tcPr marL="36576" marR="36576" marT="18288" marB="18288" anchor="ctr">
                    <a:solidFill>
                      <a:srgbClr val="EEF2F6"/>
                    </a:solidFill>
                  </a:tcPr>
                </a:tc>
              </a:tr>
            </a:tbl>
          </a:graphicData>
        </a:graphic>
      </p:graphicFrame>
      <p:sp>
        <p:nvSpPr>
          <p:cNvPr id="7" name="Rounded Rectangle 6"/>
          <p:cNvSpPr/>
          <p:nvPr/>
        </p:nvSpPr>
        <p:spPr>
          <a:xfrm>
            <a:off x="658368" y="5779008"/>
            <a:ext cx="7909560" cy="365760"/>
          </a:xfrm>
          <a:prstGeom prst="roundRect">
            <a:avLst/>
          </a:prstGeom>
          <a:solidFill>
            <a:srgbClr val="FAEBEB"/>
          </a:solidFill>
          <a:ln w="12700">
            <a:solidFill>
              <a:srgbClr val="B2262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a:solidFill>
                  <a:srgbClr val="B22626"/>
                </a:solidFill>
                <a:latin typeface="微软雅黑" panose="020B0503020204020204" charset="-122"/>
              </a:rPr>
              <a:t>这一组测试服务于开题动机：证明 SQL+ 的价值主要在可定位、可解释、可修复，而不是单纯更短。</a:t>
            </a:r>
            <a:endParaRPr sz="900" b="1">
              <a:solidFill>
                <a:srgbClr val="B22626"/>
              </a:solidFill>
              <a:latin typeface="微软雅黑" panose="020B0503020204020204" charset="-122"/>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3192" y="1124711"/>
            <a:ext cx="8412480" cy="530352"/>
          </a:xfrm>
          <a:prstGeom prst="rect">
            <a:avLst/>
          </a:prstGeom>
          <a:noFill/>
        </p:spPr>
        <p:txBody>
          <a:bodyPr wrap="square" lIns="36576" tIns="18288" rIns="36576" bIns="18288" anchor="ctr">
            <a:spAutoFit/>
          </a:bodyPr>
          <a:lstStyle/>
          <a:p>
            <a:pPr algn="l"/>
            <a:r>
              <a:rPr sz="2000" b="1">
                <a:solidFill>
                  <a:srgbClr val="18375C"/>
                </a:solidFill>
                <a:latin typeface="微软雅黑" panose="020B0503020204020204" charset="-122"/>
              </a:rPr>
              <a:t>动机测试：统一实验设置与评价口径</a:t>
            </a:r>
            <a:endParaRPr sz="2000" b="1">
              <a:solidFill>
                <a:srgbClr val="18375C"/>
              </a:solidFill>
              <a:latin typeface="微软雅黑" panose="020B0503020204020204" charset="-122"/>
            </a:endParaRPr>
          </a:p>
        </p:txBody>
      </p:sp>
      <p:sp>
        <p:nvSpPr>
          <p:cNvPr id="4" name="TextBox 3"/>
          <p:cNvSpPr txBox="1"/>
          <p:nvPr/>
        </p:nvSpPr>
        <p:spPr>
          <a:xfrm>
            <a:off x="502920" y="6428232"/>
            <a:ext cx="8138160" cy="201168"/>
          </a:xfrm>
          <a:prstGeom prst="rect">
            <a:avLst/>
          </a:prstGeom>
          <a:noFill/>
        </p:spPr>
        <p:txBody>
          <a:bodyPr wrap="square" lIns="36576" tIns="18288" rIns="36576" bIns="18288" anchor="ctr">
            <a:spAutoFit/>
          </a:bodyPr>
          <a:lstStyle/>
          <a:p>
            <a:pPr algn="l"/>
            <a:r>
              <a:rPr sz="800" b="0">
                <a:solidFill>
                  <a:srgbClr val="525C69"/>
                </a:solidFill>
                <a:latin typeface="微软雅黑" panose="020B0503020204020204" charset="-122"/>
              </a:rPr>
              <a:t>开题汇报 | SQL+ / Text-to-SQL / Multi-Agent | 7</a:t>
            </a:r>
            <a:endParaRPr sz="800" b="0">
              <a:solidFill>
                <a:srgbClr val="525C69"/>
              </a:solidFill>
              <a:latin typeface="微软雅黑" panose="020B0503020204020204" charset="-122"/>
            </a:endParaRPr>
          </a:p>
        </p:txBody>
      </p:sp>
      <p:graphicFrame>
        <p:nvGraphicFramePr>
          <p:cNvPr id="5" name="Table 4"/>
          <p:cNvGraphicFramePr>
            <a:graphicFrameLocks noGrp="1"/>
          </p:cNvGraphicFramePr>
          <p:nvPr/>
        </p:nvGraphicFramePr>
        <p:xfrm>
          <a:off x="502920" y="1874519"/>
          <a:ext cx="8183880" cy="3429000"/>
        </p:xfrm>
        <a:graphic>
          <a:graphicData uri="http://schemas.openxmlformats.org/drawingml/2006/table">
            <a:tbl>
              <a:tblPr firstRow="1" bandRow="1">
                <a:tableStyleId>{5C22544A-7EE6-4342-B048-85BDC9FD1C3A}</a:tableStyleId>
              </a:tblPr>
              <a:tblGrid>
                <a:gridCol w="886460"/>
                <a:gridCol w="4417060"/>
                <a:gridCol w="2880360"/>
              </a:tblGrid>
              <a:tr h="685800">
                <a:tc>
                  <a:txBody>
                    <a:bodyPr wrap="square"/>
                    <a:lstStyle/>
                    <a:p>
                      <a:pPr algn="ctr"/>
                      <a:r>
                        <a:rPr sz="1200" b="1">
                          <a:solidFill>
                            <a:srgbClr val="FFFFFF"/>
                          </a:solidFill>
                          <a:latin typeface="微软雅黑" panose="020B0503020204020204" charset="-122"/>
                        </a:rPr>
                        <a:t>设置项</a:t>
                      </a:r>
                      <a:endParaRPr sz="120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1200" b="1">
                          <a:solidFill>
                            <a:srgbClr val="FFFFFF"/>
                          </a:solidFill>
                          <a:latin typeface="微软雅黑" panose="020B0503020204020204" charset="-122"/>
                        </a:rPr>
                        <a:t>具体配置</a:t>
                      </a:r>
                      <a:endParaRPr sz="120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1200" b="1">
                          <a:solidFill>
                            <a:srgbClr val="FFFFFF"/>
                          </a:solidFill>
                          <a:latin typeface="微软雅黑" panose="020B0503020204020204" charset="-122"/>
                        </a:rPr>
                        <a:t>作用</a:t>
                      </a:r>
                      <a:endParaRPr sz="1200" b="1">
                        <a:solidFill>
                          <a:srgbClr val="FFFFFF"/>
                        </a:solidFill>
                        <a:latin typeface="微软雅黑" panose="020B0503020204020204" charset="-122"/>
                      </a:endParaRPr>
                    </a:p>
                  </a:txBody>
                  <a:tcPr marL="36576" marR="36576" marT="18288" marB="18288" anchor="ctr">
                    <a:solidFill>
                      <a:srgbClr val="18375C"/>
                    </a:solidFill>
                  </a:tcPr>
                </a:tc>
              </a:tr>
              <a:tr h="685800">
                <a:tc>
                  <a:txBody>
                    <a:bodyPr wrap="square"/>
                    <a:lstStyle/>
                    <a:p>
                      <a:pPr algn="ctr"/>
                      <a:r>
                        <a:rPr sz="1080" b="0">
                          <a:solidFill>
                            <a:srgbClr val="1F2933"/>
                          </a:solidFill>
                          <a:latin typeface="微软雅黑" panose="020B0503020204020204" charset="-122"/>
                        </a:rPr>
                        <a:t>数据</a:t>
                      </a:r>
                      <a:endParaRPr sz="10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1080" b="0">
                          <a:solidFill>
                            <a:srgbClr val="1F2933"/>
                          </a:solidFill>
                          <a:latin typeface="微软雅黑" panose="020B0503020204020204" charset="-122"/>
                        </a:rPr>
                        <a:t>自建订单分析 30 条；SQL+ 已知失败集 13 条；Spider concert_singer 20 条小子集</a:t>
                      </a:r>
                      <a:endParaRPr sz="10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1080" b="0">
                          <a:solidFill>
                            <a:srgbClr val="1F2933"/>
                          </a:solidFill>
                          <a:latin typeface="微软雅黑" panose="020B0503020204020204" charset="-122"/>
                        </a:rPr>
                        <a:t>覆盖生成、转换、修复和公开子集迁移</a:t>
                      </a:r>
                      <a:endParaRPr sz="1080" b="0">
                        <a:solidFill>
                          <a:srgbClr val="1F2933"/>
                        </a:solidFill>
                        <a:latin typeface="微软雅黑" panose="020B0503020204020204" charset="-122"/>
                      </a:endParaRPr>
                    </a:p>
                  </a:txBody>
                  <a:tcPr marL="36576" marR="36576" marT="18288" marB="18288" anchor="ctr">
                    <a:solidFill>
                      <a:srgbClr val="FFFFFF"/>
                    </a:solidFill>
                  </a:tcPr>
                </a:tc>
              </a:tr>
              <a:tr h="685800">
                <a:tc>
                  <a:txBody>
                    <a:bodyPr wrap="square"/>
                    <a:lstStyle/>
                    <a:p>
                      <a:pPr algn="ctr"/>
                      <a:r>
                        <a:rPr sz="1080" b="0">
                          <a:solidFill>
                            <a:srgbClr val="1F2933"/>
                          </a:solidFill>
                          <a:latin typeface="微软雅黑" panose="020B0503020204020204" charset="-122"/>
                        </a:rPr>
                        <a:t>模型与执行</a:t>
                      </a:r>
                      <a:endParaRPr sz="10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1080" b="0">
                          <a:solidFill>
                            <a:srgbClr val="1F2933"/>
                          </a:solidFill>
                          <a:latin typeface="微软雅黑" panose="020B0503020204020204" charset="-122"/>
                        </a:rPr>
                        <a:t>gpt-5-mini；SQLite；SQL+ parser/translator；Executor 记录结果或错误</a:t>
                      </a:r>
                      <a:endParaRPr sz="10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1080" b="0">
                          <a:solidFill>
                            <a:srgbClr val="1F2933"/>
                          </a:solidFill>
                          <a:latin typeface="微软雅黑" panose="020B0503020204020204" charset="-122"/>
                        </a:rPr>
                        <a:t>保证各路线在同一环境下比较</a:t>
                      </a:r>
                      <a:endParaRPr sz="1080" b="0">
                        <a:solidFill>
                          <a:srgbClr val="1F2933"/>
                        </a:solidFill>
                        <a:latin typeface="微软雅黑" panose="020B0503020204020204" charset="-122"/>
                      </a:endParaRPr>
                    </a:p>
                  </a:txBody>
                  <a:tcPr marL="36576" marR="36576" marT="18288" marB="18288" anchor="ctr">
                    <a:solidFill>
                      <a:srgbClr val="EEF2F6"/>
                    </a:solidFill>
                  </a:tcPr>
                </a:tc>
              </a:tr>
              <a:tr h="685800">
                <a:tc>
                  <a:txBody>
                    <a:bodyPr wrap="square"/>
                    <a:lstStyle/>
                    <a:p>
                      <a:pPr algn="ctr"/>
                      <a:r>
                        <a:rPr sz="1080" b="0">
                          <a:solidFill>
                            <a:srgbClr val="1F2933"/>
                          </a:solidFill>
                          <a:latin typeface="微软雅黑" panose="020B0503020204020204" charset="-122"/>
                        </a:rPr>
                        <a:t>对比对象</a:t>
                      </a:r>
                      <a:endParaRPr sz="10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1080" b="0">
                          <a:solidFill>
                            <a:srgbClr val="1F2933"/>
                          </a:solidFill>
                          <a:latin typeface="微软雅黑" panose="020B0503020204020204" charset="-122"/>
                        </a:rPr>
                        <a:t>Direct SQL、NL2SQL+、SemQL/NatSQL/Pipe-style proxy、Direct Refiner、SQL+ Router Skills</a:t>
                      </a:r>
                      <a:endParaRPr sz="10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1080" b="0">
                          <a:solidFill>
                            <a:srgbClr val="1F2933"/>
                          </a:solidFill>
                          <a:latin typeface="微软雅黑" panose="020B0503020204020204" charset="-122"/>
                        </a:rPr>
                        <a:t>回答“为什么 SQL+、为什么多 Agent”</a:t>
                      </a:r>
                      <a:endParaRPr sz="1080" b="0">
                        <a:solidFill>
                          <a:srgbClr val="1F2933"/>
                        </a:solidFill>
                        <a:latin typeface="微软雅黑" panose="020B0503020204020204" charset="-122"/>
                      </a:endParaRPr>
                    </a:p>
                  </a:txBody>
                  <a:tcPr marL="36576" marR="36576" marT="18288" marB="18288" anchor="ctr">
                    <a:solidFill>
                      <a:srgbClr val="FFFFFF"/>
                    </a:solidFill>
                  </a:tcPr>
                </a:tc>
              </a:tr>
              <a:tr h="685800">
                <a:tc>
                  <a:txBody>
                    <a:bodyPr wrap="square"/>
                    <a:lstStyle/>
                    <a:p>
                      <a:pPr algn="ctr"/>
                      <a:r>
                        <a:rPr sz="1080" b="0">
                          <a:solidFill>
                            <a:srgbClr val="1F2933"/>
                          </a:solidFill>
                          <a:latin typeface="微软雅黑" panose="020B0503020204020204" charset="-122"/>
                        </a:rPr>
                        <a:t>评价口径</a:t>
                      </a:r>
                      <a:endParaRPr sz="10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1080" b="0">
                          <a:solidFill>
                            <a:srgbClr val="1F2933"/>
                          </a:solidFill>
                          <a:latin typeface="微软雅黑" panose="020B0503020204020204" charset="-122"/>
                        </a:rPr>
                        <a:t>gold SQL 只用于离线 execution match，不进入 Generator、Refiner 或 Repair Skill</a:t>
                      </a:r>
                      <a:endParaRPr sz="10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1080" b="0">
                          <a:solidFill>
                            <a:srgbClr val="1F2933"/>
                          </a:solidFill>
                          <a:latin typeface="微软雅黑" panose="020B0503020204020204" charset="-122"/>
                        </a:rPr>
                        <a:t>避免把 gold 诊断伪装成真实修复能力</a:t>
                      </a:r>
                      <a:endParaRPr sz="1080" b="0">
                        <a:solidFill>
                          <a:srgbClr val="1F2933"/>
                        </a:solidFill>
                        <a:latin typeface="微软雅黑" panose="020B0503020204020204" charset="-122"/>
                      </a:endParaRPr>
                    </a:p>
                  </a:txBody>
                  <a:tcPr marL="36576" marR="36576" marT="18288" marB="18288" anchor="ctr">
                    <a:solidFill>
                      <a:srgbClr val="EEF2F6"/>
                    </a:solidFill>
                  </a:tcPr>
                </a:tc>
              </a:tr>
            </a:tbl>
          </a:graphicData>
        </a:graphic>
      </p:graphicFrame>
      <p:sp>
        <p:nvSpPr>
          <p:cNvPr id="6" name="Rounded Rectangle 5"/>
          <p:cNvSpPr/>
          <p:nvPr/>
        </p:nvSpPr>
        <p:spPr>
          <a:xfrm>
            <a:off x="658368" y="5779008"/>
            <a:ext cx="7909560" cy="365760"/>
          </a:xfrm>
          <a:prstGeom prst="roundRect">
            <a:avLst/>
          </a:prstGeom>
          <a:solidFill>
            <a:srgbClr val="FAEBEB"/>
          </a:solidFill>
          <a:ln w="12700">
            <a:solidFill>
              <a:srgbClr val="B2262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a:solidFill>
                  <a:srgbClr val="B22626"/>
                </a:solidFill>
                <a:latin typeface="微软雅黑" panose="020B0503020204020204" charset="-122"/>
              </a:rPr>
              <a:t>实验过程统一围绕同一问题展开：SQL+ 和多 Agent 是否真的让错误更容易被定位和修复。</a:t>
            </a:r>
            <a:endParaRPr sz="900" b="1">
              <a:solidFill>
                <a:srgbClr val="B22626"/>
              </a:solidFill>
              <a:latin typeface="微软雅黑" panose="020B050302020402020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3192" y="1033271"/>
            <a:ext cx="8412480" cy="530352"/>
          </a:xfrm>
          <a:prstGeom prst="rect">
            <a:avLst/>
          </a:prstGeom>
          <a:noFill/>
        </p:spPr>
        <p:txBody>
          <a:bodyPr wrap="square" lIns="36576" tIns="18288" rIns="36576" bIns="18288" anchor="ctr">
            <a:spAutoFit/>
          </a:bodyPr>
          <a:lstStyle/>
          <a:p>
            <a:pPr algn="l"/>
            <a:r>
              <a:rPr sz="2000" b="1">
                <a:solidFill>
                  <a:srgbClr val="18375C"/>
                </a:solidFill>
                <a:latin typeface="微软雅黑" panose="020B0503020204020204" charset="-122"/>
              </a:rPr>
              <a:t>动机测试一：为什么设计 SQL+</a:t>
            </a:r>
            <a:endParaRPr sz="2000" b="1">
              <a:solidFill>
                <a:srgbClr val="18375C"/>
              </a:solidFill>
              <a:latin typeface="微软雅黑" panose="020B0503020204020204" charset="-122"/>
            </a:endParaRPr>
          </a:p>
        </p:txBody>
      </p:sp>
      <p:sp>
        <p:nvSpPr>
          <p:cNvPr id="4" name="TextBox 3"/>
          <p:cNvSpPr txBox="1"/>
          <p:nvPr/>
        </p:nvSpPr>
        <p:spPr>
          <a:xfrm>
            <a:off x="502920" y="6428232"/>
            <a:ext cx="8138160" cy="201168"/>
          </a:xfrm>
          <a:prstGeom prst="rect">
            <a:avLst/>
          </a:prstGeom>
          <a:noFill/>
        </p:spPr>
        <p:txBody>
          <a:bodyPr wrap="square" lIns="36576" tIns="18288" rIns="36576" bIns="18288" anchor="ctr">
            <a:spAutoFit/>
          </a:bodyPr>
          <a:lstStyle/>
          <a:p>
            <a:pPr algn="l"/>
            <a:r>
              <a:rPr sz="800" b="0">
                <a:solidFill>
                  <a:srgbClr val="525C69"/>
                </a:solidFill>
                <a:latin typeface="微软雅黑" panose="020B0503020204020204" charset="-122"/>
              </a:rPr>
              <a:t>开题汇报 | SQL+ / Text-to-SQL / Multi-Agent | 8</a:t>
            </a:r>
            <a:endParaRPr sz="800" b="0">
              <a:solidFill>
                <a:srgbClr val="525C69"/>
              </a:solidFill>
              <a:latin typeface="微软雅黑" panose="020B0503020204020204" charset="-122"/>
            </a:endParaRPr>
          </a:p>
        </p:txBody>
      </p:sp>
      <p:sp>
        <p:nvSpPr>
          <p:cNvPr id="5" name="TextBox 4"/>
          <p:cNvSpPr txBox="1"/>
          <p:nvPr/>
        </p:nvSpPr>
        <p:spPr>
          <a:xfrm>
            <a:off x="530352" y="1664208"/>
            <a:ext cx="8138160" cy="201168"/>
          </a:xfrm>
          <a:prstGeom prst="rect">
            <a:avLst/>
          </a:prstGeom>
          <a:noFill/>
        </p:spPr>
        <p:txBody>
          <a:bodyPr wrap="square" lIns="36576" tIns="18288" rIns="36576" bIns="18288" anchor="ctr">
            <a:spAutoFit/>
          </a:bodyPr>
          <a:lstStyle/>
          <a:p>
            <a:pPr algn="ctr"/>
            <a:r>
              <a:rPr sz="920" b="0">
                <a:solidFill>
                  <a:srgbClr val="525C69"/>
                </a:solidFill>
                <a:latin typeface="微软雅黑" panose="020B0503020204020204" charset="-122"/>
              </a:rPr>
              <a:t>同一批自建订单样例下，先看初次生成，再看不同中间表示的生成成本和结构依赖。</a:t>
            </a:r>
            <a:endParaRPr sz="920" b="0">
              <a:solidFill>
                <a:srgbClr val="525C69"/>
              </a:solidFill>
              <a:latin typeface="微软雅黑" panose="020B0503020204020204" charset="-122"/>
            </a:endParaRPr>
          </a:p>
        </p:txBody>
      </p:sp>
      <p:graphicFrame>
        <p:nvGraphicFramePr>
          <p:cNvPr id="6" name="Table 5"/>
          <p:cNvGraphicFramePr>
            <a:graphicFrameLocks noGrp="1"/>
          </p:cNvGraphicFramePr>
          <p:nvPr/>
        </p:nvGraphicFramePr>
        <p:xfrm>
          <a:off x="502920" y="1938528"/>
          <a:ext cx="3840480" cy="1234440"/>
        </p:xfrm>
        <a:graphic>
          <a:graphicData uri="http://schemas.openxmlformats.org/drawingml/2006/table">
            <a:tbl>
              <a:tblPr firstRow="1" bandRow="1">
                <a:tableStyleId>{5C22544A-7EE6-4342-B048-85BDC9FD1C3A}</a:tableStyleId>
              </a:tblPr>
              <a:tblGrid>
                <a:gridCol w="1143000"/>
                <a:gridCol w="502920"/>
                <a:gridCol w="713232"/>
                <a:gridCol w="713232"/>
                <a:gridCol w="768096"/>
              </a:tblGrid>
              <a:tr h="308610">
                <a:tc>
                  <a:txBody>
                    <a:bodyPr wrap="square"/>
                    <a:lstStyle/>
                    <a:p>
                      <a:pPr algn="ctr"/>
                      <a:r>
                        <a:rPr sz="860" b="1">
                          <a:solidFill>
                            <a:srgbClr val="FFFFFF"/>
                          </a:solidFill>
                          <a:latin typeface="微软雅黑" panose="020B0503020204020204" charset="-122"/>
                        </a:rPr>
                        <a:t>方法</a:t>
                      </a:r>
                      <a:endParaRPr sz="86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860" b="1">
                          <a:solidFill>
                            <a:srgbClr val="FFFFFF"/>
                          </a:solidFill>
                          <a:latin typeface="微软雅黑" panose="020B0503020204020204" charset="-122"/>
                        </a:rPr>
                        <a:t>样例</a:t>
                      </a:r>
                      <a:endParaRPr sz="86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860" b="1">
                          <a:solidFill>
                            <a:srgbClr val="FFFFFF"/>
                          </a:solidFill>
                          <a:latin typeface="微软雅黑" panose="020B0503020204020204" charset="-122"/>
                        </a:rPr>
                        <a:t>SQL+
valid</a:t>
                      </a:r>
                      <a:endParaRPr sz="86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860" b="1">
                          <a:solidFill>
                            <a:srgbClr val="FFFFFF"/>
                          </a:solidFill>
                          <a:latin typeface="微软雅黑" panose="020B0503020204020204" charset="-122"/>
                        </a:rPr>
                        <a:t>SQL
exec</a:t>
                      </a:r>
                      <a:endParaRPr sz="86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860" b="1">
                          <a:solidFill>
                            <a:srgbClr val="FFFFFF"/>
                          </a:solidFill>
                          <a:latin typeface="微软雅黑" panose="020B0503020204020204" charset="-122"/>
                        </a:rPr>
                        <a:t>Exec
match</a:t>
                      </a:r>
                      <a:endParaRPr sz="860" b="1">
                        <a:solidFill>
                          <a:srgbClr val="FFFFFF"/>
                        </a:solidFill>
                        <a:latin typeface="微软雅黑" panose="020B0503020204020204" charset="-122"/>
                      </a:endParaRPr>
                    </a:p>
                  </a:txBody>
                  <a:tcPr marL="36576" marR="36576" marT="18288" marB="18288" anchor="ctr">
                    <a:solidFill>
                      <a:srgbClr val="18375C"/>
                    </a:solidFill>
                  </a:tcPr>
                </a:tc>
              </a:tr>
              <a:tr h="308610">
                <a:tc>
                  <a:txBody>
                    <a:bodyPr wrap="square"/>
                    <a:lstStyle/>
                    <a:p>
                      <a:pPr algn="ctr"/>
                      <a:r>
                        <a:rPr sz="780" b="0">
                          <a:solidFill>
                            <a:srgbClr val="1F2933"/>
                          </a:solidFill>
                          <a:latin typeface="微软雅黑" panose="020B0503020204020204" charset="-122"/>
                        </a:rPr>
                        <a:t>Direct SQL</a:t>
                      </a:r>
                      <a:endParaRPr sz="7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780" b="0">
                          <a:solidFill>
                            <a:srgbClr val="1F2933"/>
                          </a:solidFill>
                          <a:latin typeface="微软雅黑" panose="020B0503020204020204" charset="-122"/>
                        </a:rPr>
                        <a:t>30</a:t>
                      </a:r>
                      <a:endParaRPr sz="7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780" b="0">
                          <a:solidFill>
                            <a:srgbClr val="1F2933"/>
                          </a:solidFill>
                          <a:latin typeface="微软雅黑" panose="020B0503020204020204" charset="-122"/>
                        </a:rPr>
                        <a:t>-</a:t>
                      </a:r>
                      <a:endParaRPr sz="7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780" b="0">
                          <a:solidFill>
                            <a:srgbClr val="1F2933"/>
                          </a:solidFill>
                          <a:latin typeface="微软雅黑" panose="020B0503020204020204" charset="-122"/>
                        </a:rPr>
                        <a:t>30/30</a:t>
                      </a:r>
                      <a:endParaRPr sz="7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780" b="0">
                          <a:solidFill>
                            <a:srgbClr val="1F2933"/>
                          </a:solidFill>
                          <a:latin typeface="微软雅黑" panose="020B0503020204020204" charset="-122"/>
                        </a:rPr>
                        <a:t>16/30</a:t>
                      </a:r>
                      <a:endParaRPr sz="780" b="0">
                        <a:solidFill>
                          <a:srgbClr val="1F2933"/>
                        </a:solidFill>
                        <a:latin typeface="微软雅黑" panose="020B0503020204020204" charset="-122"/>
                      </a:endParaRPr>
                    </a:p>
                  </a:txBody>
                  <a:tcPr marL="36576" marR="36576" marT="18288" marB="18288" anchor="ctr">
                    <a:solidFill>
                      <a:srgbClr val="FFFFFF"/>
                    </a:solidFill>
                  </a:tcPr>
                </a:tc>
              </a:tr>
              <a:tr h="308610">
                <a:tc>
                  <a:txBody>
                    <a:bodyPr wrap="square"/>
                    <a:lstStyle/>
                    <a:p>
                      <a:pPr algn="ctr"/>
                      <a:r>
                        <a:rPr sz="780" b="0">
                          <a:solidFill>
                            <a:srgbClr val="1F2933"/>
                          </a:solidFill>
                          <a:latin typeface="微软雅黑" panose="020B0503020204020204" charset="-122"/>
                        </a:rPr>
                        <a:t>NL2SQL+ prompt v1</a:t>
                      </a:r>
                      <a:endParaRPr sz="7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780" b="0">
                          <a:solidFill>
                            <a:srgbClr val="1F2933"/>
                          </a:solidFill>
                          <a:latin typeface="微软雅黑" panose="020B0503020204020204" charset="-122"/>
                        </a:rPr>
                        <a:t>30</a:t>
                      </a:r>
                      <a:endParaRPr sz="7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780" b="0">
                          <a:solidFill>
                            <a:srgbClr val="1F2933"/>
                          </a:solidFill>
                          <a:latin typeface="微软雅黑" panose="020B0503020204020204" charset="-122"/>
                        </a:rPr>
                        <a:t>30/30</a:t>
                      </a:r>
                      <a:endParaRPr sz="7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780" b="0">
                          <a:solidFill>
                            <a:srgbClr val="1F2933"/>
                          </a:solidFill>
                          <a:latin typeface="微软雅黑" panose="020B0503020204020204" charset="-122"/>
                        </a:rPr>
                        <a:t>30/30</a:t>
                      </a:r>
                      <a:endParaRPr sz="7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780" b="0">
                          <a:solidFill>
                            <a:srgbClr val="1F2933"/>
                          </a:solidFill>
                          <a:latin typeface="微软雅黑" panose="020B0503020204020204" charset="-122"/>
                        </a:rPr>
                        <a:t>13/30</a:t>
                      </a:r>
                      <a:endParaRPr sz="780" b="0">
                        <a:solidFill>
                          <a:srgbClr val="1F2933"/>
                        </a:solidFill>
                        <a:latin typeface="微软雅黑" panose="020B0503020204020204" charset="-122"/>
                      </a:endParaRPr>
                    </a:p>
                  </a:txBody>
                  <a:tcPr marL="36576" marR="36576" marT="18288" marB="18288" anchor="ctr">
                    <a:solidFill>
                      <a:srgbClr val="EEF2F6"/>
                    </a:solidFill>
                  </a:tcPr>
                </a:tc>
              </a:tr>
              <a:tr h="308610">
                <a:tc>
                  <a:txBody>
                    <a:bodyPr wrap="square"/>
                    <a:lstStyle/>
                    <a:p>
                      <a:pPr algn="ctr"/>
                      <a:r>
                        <a:rPr sz="780" b="0">
                          <a:solidFill>
                            <a:srgbClr val="1F2933"/>
                          </a:solidFill>
                          <a:latin typeface="微软雅黑" panose="020B0503020204020204" charset="-122"/>
                        </a:rPr>
                        <a:t>NL2SQL+ prompt v2</a:t>
                      </a:r>
                      <a:endParaRPr sz="7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780" b="0">
                          <a:solidFill>
                            <a:srgbClr val="1F2933"/>
                          </a:solidFill>
                          <a:latin typeface="微软雅黑" panose="020B0503020204020204" charset="-122"/>
                        </a:rPr>
                        <a:t>30</a:t>
                      </a:r>
                      <a:endParaRPr sz="7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780" b="0">
                          <a:solidFill>
                            <a:srgbClr val="1F2933"/>
                          </a:solidFill>
                          <a:latin typeface="微软雅黑" panose="020B0503020204020204" charset="-122"/>
                        </a:rPr>
                        <a:t>30/30</a:t>
                      </a:r>
                      <a:endParaRPr sz="7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780" b="0">
                          <a:solidFill>
                            <a:srgbClr val="1F2933"/>
                          </a:solidFill>
                          <a:latin typeface="微软雅黑" panose="020B0503020204020204" charset="-122"/>
                        </a:rPr>
                        <a:t>30/30</a:t>
                      </a:r>
                      <a:endParaRPr sz="7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780" b="0">
                          <a:solidFill>
                            <a:srgbClr val="1F2933"/>
                          </a:solidFill>
                          <a:latin typeface="微软雅黑" panose="020B0503020204020204" charset="-122"/>
                        </a:rPr>
                        <a:t>17/30</a:t>
                      </a:r>
                      <a:endParaRPr sz="780" b="0">
                        <a:solidFill>
                          <a:srgbClr val="1F2933"/>
                        </a:solidFill>
                        <a:latin typeface="微软雅黑" panose="020B0503020204020204" charset="-122"/>
                      </a:endParaRPr>
                    </a:p>
                  </a:txBody>
                  <a:tcPr marL="36576" marR="36576" marT="18288" marB="18288" anchor="ctr">
                    <a:solidFill>
                      <a:srgbClr val="FFFFFF"/>
                    </a:solidFill>
                  </a:tcPr>
                </a:tc>
              </a:tr>
            </a:tbl>
          </a:graphicData>
        </a:graphic>
      </p:graphicFrame>
      <p:graphicFrame>
        <p:nvGraphicFramePr>
          <p:cNvPr id="7" name="Table 6"/>
          <p:cNvGraphicFramePr>
            <a:graphicFrameLocks noGrp="1"/>
          </p:cNvGraphicFramePr>
          <p:nvPr/>
        </p:nvGraphicFramePr>
        <p:xfrm>
          <a:off x="4526280" y="1938528"/>
          <a:ext cx="4069080" cy="1645920"/>
        </p:xfrm>
        <a:graphic>
          <a:graphicData uri="http://schemas.openxmlformats.org/drawingml/2006/table">
            <a:tbl>
              <a:tblPr firstRow="1" bandRow="1">
                <a:tableStyleId>{5C22544A-7EE6-4342-B048-85BDC9FD1C3A}</a:tableStyleId>
              </a:tblPr>
              <a:tblGrid>
                <a:gridCol w="1035685"/>
                <a:gridCol w="793115"/>
                <a:gridCol w="621792"/>
                <a:gridCol w="502920"/>
                <a:gridCol w="566928"/>
                <a:gridCol w="548640"/>
              </a:tblGrid>
              <a:tr h="329184">
                <a:tc>
                  <a:txBody>
                    <a:bodyPr wrap="square"/>
                    <a:lstStyle/>
                    <a:p>
                      <a:pPr algn="ctr"/>
                      <a:r>
                        <a:rPr sz="810" b="1">
                          <a:solidFill>
                            <a:srgbClr val="FFFFFF"/>
                          </a:solidFill>
                          <a:latin typeface="微软雅黑" panose="020B0503020204020204" charset="-122"/>
                        </a:rPr>
                        <a:t>生成目标</a:t>
                      </a:r>
                      <a:endParaRPr sz="81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810" b="1">
                          <a:solidFill>
                            <a:srgbClr val="FFFFFF"/>
                          </a:solidFill>
                          <a:latin typeface="微软雅黑" panose="020B0503020204020204" charset="-122"/>
                        </a:rPr>
                        <a:t>repr
valid</a:t>
                      </a:r>
                      <a:endParaRPr sz="81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810" b="1">
                          <a:solidFill>
                            <a:srgbClr val="FFFFFF"/>
                          </a:solidFill>
                          <a:latin typeface="微软雅黑" panose="020B0503020204020204" charset="-122"/>
                        </a:rPr>
                        <a:t>SQL
valid</a:t>
                      </a:r>
                      <a:endParaRPr sz="81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810" b="1">
                          <a:solidFill>
                            <a:srgbClr val="FFFFFF"/>
                          </a:solidFill>
                          <a:latin typeface="微软雅黑" panose="020B0503020204020204" charset="-122"/>
                        </a:rPr>
                        <a:t>Exec</a:t>
                      </a:r>
                      <a:endParaRPr sz="81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810" b="1">
                          <a:solidFill>
                            <a:srgbClr val="FFFFFF"/>
                          </a:solidFill>
                          <a:latin typeface="微软雅黑" panose="020B0503020204020204" charset="-122"/>
                        </a:rPr>
                        <a:t>tokens</a:t>
                      </a:r>
                      <a:endParaRPr sz="81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810" b="1">
                          <a:solidFill>
                            <a:srgbClr val="FFFFFF"/>
                          </a:solidFill>
                          <a:latin typeface="微软雅黑" panose="020B0503020204020204" charset="-122"/>
                        </a:rPr>
                        <a:t>latency</a:t>
                      </a:r>
                      <a:endParaRPr sz="810" b="1">
                        <a:solidFill>
                          <a:srgbClr val="FFFFFF"/>
                        </a:solidFill>
                        <a:latin typeface="微软雅黑" panose="020B0503020204020204" charset="-122"/>
                      </a:endParaRPr>
                    </a:p>
                  </a:txBody>
                  <a:tcPr marL="36576" marR="36576" marT="18288" marB="18288" anchor="ctr">
                    <a:solidFill>
                      <a:srgbClr val="18375C"/>
                    </a:solidFill>
                  </a:tcPr>
                </a:tc>
              </a:tr>
              <a:tr h="329184">
                <a:tc>
                  <a:txBody>
                    <a:bodyPr wrap="square"/>
                    <a:lstStyle/>
                    <a:p>
                      <a:pPr algn="ctr"/>
                      <a:r>
                        <a:rPr sz="730" b="0">
                          <a:solidFill>
                            <a:srgbClr val="1F2933"/>
                          </a:solidFill>
                          <a:latin typeface="微软雅黑" panose="020B0503020204020204" charset="-122"/>
                        </a:rPr>
                        <a:t>Direct SQL</a:t>
                      </a:r>
                      <a:endParaRPr sz="73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730" b="0">
                          <a:solidFill>
                            <a:srgbClr val="1F2933"/>
                          </a:solidFill>
                          <a:latin typeface="微软雅黑" panose="020B0503020204020204" charset="-122"/>
                        </a:rPr>
                        <a:t>30/30</a:t>
                      </a:r>
                      <a:endParaRPr sz="73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730" b="0">
                          <a:solidFill>
                            <a:srgbClr val="1F2933"/>
                          </a:solidFill>
                          <a:latin typeface="微软雅黑" panose="020B0503020204020204" charset="-122"/>
                        </a:rPr>
                        <a:t>30/30</a:t>
                      </a:r>
                      <a:endParaRPr sz="73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730" b="0">
                          <a:solidFill>
                            <a:srgbClr val="1F2933"/>
                          </a:solidFill>
                          <a:latin typeface="微软雅黑" panose="020B0503020204020204" charset="-122"/>
                        </a:rPr>
                        <a:t>12/30</a:t>
                      </a:r>
                      <a:endParaRPr sz="73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730" b="0">
                          <a:solidFill>
                            <a:srgbClr val="1F2933"/>
                          </a:solidFill>
                          <a:latin typeface="微软雅黑" panose="020B0503020204020204" charset="-122"/>
                        </a:rPr>
                        <a:t>599.17</a:t>
                      </a:r>
                      <a:endParaRPr sz="73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730" b="0">
                          <a:solidFill>
                            <a:srgbClr val="1F2933"/>
                          </a:solidFill>
                          <a:latin typeface="微软雅黑" panose="020B0503020204020204" charset="-122"/>
                        </a:rPr>
                        <a:t>6.59s</a:t>
                      </a:r>
                      <a:endParaRPr sz="730" b="0">
                        <a:solidFill>
                          <a:srgbClr val="1F2933"/>
                        </a:solidFill>
                        <a:latin typeface="微软雅黑" panose="020B0503020204020204" charset="-122"/>
                      </a:endParaRPr>
                    </a:p>
                  </a:txBody>
                  <a:tcPr marL="36576" marR="36576" marT="18288" marB="18288" anchor="ctr">
                    <a:solidFill>
                      <a:srgbClr val="FFFFFF"/>
                    </a:solidFill>
                  </a:tcPr>
                </a:tc>
              </a:tr>
              <a:tr h="329184">
                <a:tc>
                  <a:txBody>
                    <a:bodyPr wrap="square"/>
                    <a:lstStyle/>
                    <a:p>
                      <a:pPr algn="ctr"/>
                      <a:r>
                        <a:rPr sz="730" b="0">
                          <a:solidFill>
                            <a:srgbClr val="1F2933"/>
                          </a:solidFill>
                          <a:latin typeface="微软雅黑" panose="020B0503020204020204" charset="-122"/>
                        </a:rPr>
                        <a:t>SQL+</a:t>
                      </a:r>
                      <a:endParaRPr sz="73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730" b="0">
                          <a:solidFill>
                            <a:srgbClr val="1F2933"/>
                          </a:solidFill>
                          <a:latin typeface="微软雅黑" panose="020B0503020204020204" charset="-122"/>
                        </a:rPr>
                        <a:t>28/30</a:t>
                      </a:r>
                      <a:endParaRPr sz="73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730" b="0">
                          <a:solidFill>
                            <a:srgbClr val="1F2933"/>
                          </a:solidFill>
                          <a:latin typeface="微软雅黑" panose="020B0503020204020204" charset="-122"/>
                        </a:rPr>
                        <a:t>28/30</a:t>
                      </a:r>
                      <a:endParaRPr sz="73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730" b="0">
                          <a:solidFill>
                            <a:srgbClr val="1F2933"/>
                          </a:solidFill>
                          <a:latin typeface="微软雅黑" panose="020B0503020204020204" charset="-122"/>
                        </a:rPr>
                        <a:t>14/30</a:t>
                      </a:r>
                      <a:endParaRPr sz="73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730" b="0">
                          <a:solidFill>
                            <a:srgbClr val="1F2933"/>
                          </a:solidFill>
                          <a:latin typeface="微软雅黑" panose="020B0503020204020204" charset="-122"/>
                        </a:rPr>
                        <a:t>813.03</a:t>
                      </a:r>
                      <a:endParaRPr sz="73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730" b="0">
                          <a:solidFill>
                            <a:srgbClr val="1F2933"/>
                          </a:solidFill>
                          <a:latin typeface="微软雅黑" panose="020B0503020204020204" charset="-122"/>
                        </a:rPr>
                        <a:t>9.22s</a:t>
                      </a:r>
                      <a:endParaRPr sz="730" b="0">
                        <a:solidFill>
                          <a:srgbClr val="1F2933"/>
                        </a:solidFill>
                        <a:latin typeface="微软雅黑" panose="020B0503020204020204" charset="-122"/>
                      </a:endParaRPr>
                    </a:p>
                  </a:txBody>
                  <a:tcPr marL="36576" marR="36576" marT="18288" marB="18288" anchor="ctr">
                    <a:solidFill>
                      <a:srgbClr val="EEF2F6"/>
                    </a:solidFill>
                  </a:tcPr>
                </a:tc>
              </a:tr>
              <a:tr h="329184">
                <a:tc>
                  <a:txBody>
                    <a:bodyPr wrap="square"/>
                    <a:lstStyle/>
                    <a:p>
                      <a:pPr algn="ctr"/>
                      <a:r>
                        <a:rPr sz="730" b="0">
                          <a:solidFill>
                            <a:srgbClr val="1F2933"/>
                          </a:solidFill>
                          <a:latin typeface="微软雅黑" panose="020B0503020204020204" charset="-122"/>
                        </a:rPr>
                        <a:t>NatSQL-style proxy</a:t>
                      </a:r>
                      <a:endParaRPr sz="73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730" b="0">
                          <a:solidFill>
                            <a:srgbClr val="1F2933"/>
                          </a:solidFill>
                          <a:latin typeface="微软雅黑" panose="020B0503020204020204" charset="-122"/>
                        </a:rPr>
                        <a:t>30/30</a:t>
                      </a:r>
                      <a:endParaRPr sz="73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730" b="0">
                          <a:solidFill>
                            <a:srgbClr val="1F2933"/>
                          </a:solidFill>
                          <a:latin typeface="微软雅黑" panose="020B0503020204020204" charset="-122"/>
                        </a:rPr>
                        <a:t>30/30</a:t>
                      </a:r>
                      <a:endParaRPr sz="73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730" b="0">
                          <a:solidFill>
                            <a:srgbClr val="1F2933"/>
                          </a:solidFill>
                          <a:latin typeface="微软雅黑" panose="020B0503020204020204" charset="-122"/>
                        </a:rPr>
                        <a:t>13/30</a:t>
                      </a:r>
                      <a:endParaRPr sz="73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730" b="0">
                          <a:solidFill>
                            <a:srgbClr val="1F2933"/>
                          </a:solidFill>
                          <a:latin typeface="微软雅黑" panose="020B0503020204020204" charset="-122"/>
                        </a:rPr>
                        <a:t>740.77</a:t>
                      </a:r>
                      <a:endParaRPr sz="73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730" b="0">
                          <a:solidFill>
                            <a:srgbClr val="1F2933"/>
                          </a:solidFill>
                          <a:latin typeface="微软雅黑" panose="020B0503020204020204" charset="-122"/>
                        </a:rPr>
                        <a:t>6.28s</a:t>
                      </a:r>
                      <a:endParaRPr sz="730" b="0">
                        <a:solidFill>
                          <a:srgbClr val="1F2933"/>
                        </a:solidFill>
                        <a:latin typeface="微软雅黑" panose="020B0503020204020204" charset="-122"/>
                      </a:endParaRPr>
                    </a:p>
                  </a:txBody>
                  <a:tcPr marL="36576" marR="36576" marT="18288" marB="18288" anchor="ctr">
                    <a:solidFill>
                      <a:srgbClr val="FFFFFF"/>
                    </a:solidFill>
                  </a:tcPr>
                </a:tc>
              </a:tr>
              <a:tr h="329184">
                <a:tc>
                  <a:txBody>
                    <a:bodyPr wrap="square"/>
                    <a:lstStyle/>
                    <a:p>
                      <a:pPr algn="ctr"/>
                      <a:r>
                        <a:rPr sz="730" b="0">
                          <a:solidFill>
                            <a:srgbClr val="1F2933"/>
                          </a:solidFill>
                          <a:latin typeface="微软雅黑" panose="020B0503020204020204" charset="-122"/>
                        </a:rPr>
                        <a:t>SemQL-style proxy</a:t>
                      </a:r>
                      <a:endParaRPr sz="73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730" b="0">
                          <a:solidFill>
                            <a:srgbClr val="1F2933"/>
                          </a:solidFill>
                          <a:latin typeface="微软雅黑" panose="020B0503020204020204" charset="-122"/>
                        </a:rPr>
                        <a:t>30/30</a:t>
                      </a:r>
                      <a:endParaRPr sz="73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730" b="0">
                          <a:solidFill>
                            <a:srgbClr val="1F2933"/>
                          </a:solidFill>
                          <a:latin typeface="微软雅黑" panose="020B0503020204020204" charset="-122"/>
                        </a:rPr>
                        <a:t>25/30</a:t>
                      </a:r>
                      <a:endParaRPr sz="73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730" b="0">
                          <a:solidFill>
                            <a:srgbClr val="1F2933"/>
                          </a:solidFill>
                          <a:latin typeface="微软雅黑" panose="020B0503020204020204" charset="-122"/>
                        </a:rPr>
                        <a:t>12/30</a:t>
                      </a:r>
                      <a:endParaRPr sz="73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730" b="0">
                          <a:solidFill>
                            <a:srgbClr val="1F2933"/>
                          </a:solidFill>
                          <a:latin typeface="微软雅黑" panose="020B0503020204020204" charset="-122"/>
                        </a:rPr>
                        <a:t>1028.97</a:t>
                      </a:r>
                      <a:endParaRPr sz="73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730" b="0">
                          <a:solidFill>
                            <a:srgbClr val="1F2933"/>
                          </a:solidFill>
                          <a:latin typeface="微软雅黑" panose="020B0503020204020204" charset="-122"/>
                        </a:rPr>
                        <a:t>9.97s</a:t>
                      </a:r>
                      <a:endParaRPr sz="730" b="0">
                        <a:solidFill>
                          <a:srgbClr val="1F2933"/>
                        </a:solidFill>
                        <a:latin typeface="微软雅黑" panose="020B0503020204020204" charset="-122"/>
                      </a:endParaRPr>
                    </a:p>
                  </a:txBody>
                  <a:tcPr marL="36576" marR="36576" marT="18288" marB="18288" anchor="ctr">
                    <a:solidFill>
                      <a:srgbClr val="EEF2F6"/>
                    </a:solidFill>
                  </a:tcPr>
                </a:tc>
              </a:tr>
            </a:tbl>
          </a:graphicData>
        </a:graphic>
      </p:graphicFrame>
      <p:graphicFrame>
        <p:nvGraphicFramePr>
          <p:cNvPr id="8" name="Table 7"/>
          <p:cNvGraphicFramePr>
            <a:graphicFrameLocks noGrp="1"/>
          </p:cNvGraphicFramePr>
          <p:nvPr/>
        </p:nvGraphicFramePr>
        <p:xfrm>
          <a:off x="502920" y="3886200"/>
          <a:ext cx="6903720" cy="1325880"/>
        </p:xfrm>
        <a:graphic>
          <a:graphicData uri="http://schemas.openxmlformats.org/drawingml/2006/table">
            <a:tbl>
              <a:tblPr firstRow="1" bandRow="1">
                <a:tableStyleId>{5C22544A-7EE6-4342-B048-85BDC9FD1C3A}</a:tableStyleId>
              </a:tblPr>
              <a:tblGrid>
                <a:gridCol w="1371600"/>
                <a:gridCol w="1051560"/>
                <a:gridCol w="1051560"/>
                <a:gridCol w="1143000"/>
                <a:gridCol w="1280160"/>
                <a:gridCol w="1005840"/>
              </a:tblGrid>
              <a:tr h="220980">
                <a:tc>
                  <a:txBody>
                    <a:bodyPr wrap="square"/>
                    <a:lstStyle/>
                    <a:p>
                      <a:pPr algn="ctr"/>
                      <a:r>
                        <a:rPr sz="910" b="1">
                          <a:solidFill>
                            <a:srgbClr val="FFFFFF"/>
                          </a:solidFill>
                          <a:latin typeface="微软雅黑" panose="020B0503020204020204" charset="-122"/>
                        </a:rPr>
                        <a:t>表示</a:t>
                      </a:r>
                      <a:endParaRPr sz="91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910" b="1">
                          <a:solidFill>
                            <a:srgbClr val="FFFFFF"/>
                          </a:solidFill>
                          <a:latin typeface="微软雅黑" panose="020B0503020204020204" charset="-122"/>
                        </a:rPr>
                        <a:t>avg token</a:t>
                      </a:r>
                      <a:endParaRPr sz="91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910" b="1">
                          <a:solidFill>
                            <a:srgbClr val="FFFFFF"/>
                          </a:solidFill>
                          <a:latin typeface="微软雅黑" panose="020B0503020204020204" charset="-122"/>
                        </a:rPr>
                        <a:t>步骤/子句</a:t>
                      </a:r>
                      <a:endParaRPr sz="91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910" b="1">
                          <a:solidFill>
                            <a:srgbClr val="FFFFFF"/>
                          </a:solidFill>
                          <a:latin typeface="微软雅黑" panose="020B0503020204020204" charset="-122"/>
                        </a:rPr>
                        <a:t>别名依赖</a:t>
                      </a:r>
                      <a:endParaRPr sz="91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910" b="1">
                          <a:solidFill>
                            <a:srgbClr val="FFFFFF"/>
                          </a:solidFill>
                          <a:latin typeface="微软雅黑" panose="020B0503020204020204" charset="-122"/>
                        </a:rPr>
                        <a:t>跨子句引用</a:t>
                      </a:r>
                      <a:endParaRPr sz="91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910" b="1">
                          <a:solidFill>
                            <a:srgbClr val="FFFFFF"/>
                          </a:solidFill>
                          <a:latin typeface="微软雅黑" panose="020B0503020204020204" charset="-122"/>
                        </a:rPr>
                        <a:t>转换成功</a:t>
                      </a:r>
                      <a:endParaRPr sz="910" b="1">
                        <a:solidFill>
                          <a:srgbClr val="FFFFFF"/>
                        </a:solidFill>
                        <a:latin typeface="微软雅黑" panose="020B0503020204020204" charset="-122"/>
                      </a:endParaRPr>
                    </a:p>
                  </a:txBody>
                  <a:tcPr marL="36576" marR="36576" marT="18288" marB="18288" anchor="ctr">
                    <a:solidFill>
                      <a:srgbClr val="18375C"/>
                    </a:solidFill>
                  </a:tcPr>
                </a:tc>
              </a:tr>
              <a:tr h="220980">
                <a:tc>
                  <a:txBody>
                    <a:bodyPr wrap="square"/>
                    <a:lstStyle/>
                    <a:p>
                      <a:pPr algn="ctr"/>
                      <a:r>
                        <a:rPr sz="830" b="0">
                          <a:solidFill>
                            <a:srgbClr val="1F2933"/>
                          </a:solidFill>
                          <a:latin typeface="微软雅黑" panose="020B0503020204020204" charset="-122"/>
                        </a:rPr>
                        <a:t>Standard SQL</a:t>
                      </a:r>
                      <a:endParaRPr sz="83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30" b="0">
                          <a:solidFill>
                            <a:srgbClr val="1F2933"/>
                          </a:solidFill>
                          <a:latin typeface="微软雅黑" panose="020B0503020204020204" charset="-122"/>
                        </a:rPr>
                        <a:t>31.53</a:t>
                      </a:r>
                      <a:endParaRPr sz="83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30" b="0">
                          <a:solidFill>
                            <a:srgbClr val="1F2933"/>
                          </a:solidFill>
                          <a:latin typeface="微软雅黑" panose="020B0503020204020204" charset="-122"/>
                        </a:rPr>
                        <a:t>5.90</a:t>
                      </a:r>
                      <a:endParaRPr sz="83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30" b="0">
                          <a:solidFill>
                            <a:srgbClr val="1F2933"/>
                          </a:solidFill>
                          <a:latin typeface="微软雅黑" panose="020B0503020204020204" charset="-122"/>
                        </a:rPr>
                        <a:t>2.03</a:t>
                      </a:r>
                      <a:endParaRPr sz="83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30" b="0">
                          <a:solidFill>
                            <a:srgbClr val="1F2933"/>
                          </a:solidFill>
                          <a:latin typeface="微软雅黑" panose="020B0503020204020204" charset="-122"/>
                        </a:rPr>
                        <a:t>2.33</a:t>
                      </a:r>
                      <a:endParaRPr sz="83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30" b="0">
                          <a:solidFill>
                            <a:srgbClr val="1F2933"/>
                          </a:solidFill>
                          <a:latin typeface="微软雅黑" panose="020B0503020204020204" charset="-122"/>
                        </a:rPr>
                        <a:t>30/30</a:t>
                      </a:r>
                      <a:endParaRPr sz="830" b="0">
                        <a:solidFill>
                          <a:srgbClr val="1F2933"/>
                        </a:solidFill>
                        <a:latin typeface="微软雅黑" panose="020B0503020204020204" charset="-122"/>
                      </a:endParaRPr>
                    </a:p>
                  </a:txBody>
                  <a:tcPr marL="36576" marR="36576" marT="18288" marB="18288" anchor="ctr">
                    <a:solidFill>
                      <a:srgbClr val="FFFFFF"/>
                    </a:solidFill>
                  </a:tcPr>
                </a:tc>
              </a:tr>
              <a:tr h="220980">
                <a:tc>
                  <a:txBody>
                    <a:bodyPr wrap="square"/>
                    <a:lstStyle/>
                    <a:p>
                      <a:pPr algn="ctr"/>
                      <a:r>
                        <a:rPr sz="830" b="0">
                          <a:solidFill>
                            <a:srgbClr val="1F2933"/>
                          </a:solidFill>
                          <a:latin typeface="微软雅黑" panose="020B0503020204020204" charset="-122"/>
                        </a:rPr>
                        <a:t>SQL+</a:t>
                      </a:r>
                      <a:endParaRPr sz="83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30" b="0">
                          <a:solidFill>
                            <a:srgbClr val="1F2933"/>
                          </a:solidFill>
                          <a:latin typeface="微软雅黑" panose="020B0503020204020204" charset="-122"/>
                        </a:rPr>
                        <a:t>35.03</a:t>
                      </a:r>
                      <a:endParaRPr sz="83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30" b="0">
                          <a:solidFill>
                            <a:srgbClr val="1F2933"/>
                          </a:solidFill>
                          <a:latin typeface="微软雅黑" panose="020B0503020204020204" charset="-122"/>
                        </a:rPr>
                        <a:t>6.13</a:t>
                      </a:r>
                      <a:endParaRPr sz="83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30" b="0">
                          <a:solidFill>
                            <a:srgbClr val="1F2933"/>
                          </a:solidFill>
                          <a:latin typeface="微软雅黑" panose="020B0503020204020204" charset="-122"/>
                        </a:rPr>
                        <a:t>0.70</a:t>
                      </a:r>
                      <a:endParaRPr sz="83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30" b="0">
                          <a:solidFill>
                            <a:srgbClr val="1F2933"/>
                          </a:solidFill>
                          <a:latin typeface="微软雅黑" panose="020B0503020204020204" charset="-122"/>
                        </a:rPr>
                        <a:t>1.00</a:t>
                      </a:r>
                      <a:endParaRPr sz="83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30" b="0">
                          <a:solidFill>
                            <a:srgbClr val="1F2933"/>
                          </a:solidFill>
                          <a:latin typeface="微软雅黑" panose="020B0503020204020204" charset="-122"/>
                        </a:rPr>
                        <a:t>30/30</a:t>
                      </a:r>
                      <a:endParaRPr sz="830" b="0">
                        <a:solidFill>
                          <a:srgbClr val="1F2933"/>
                        </a:solidFill>
                        <a:latin typeface="微软雅黑" panose="020B0503020204020204" charset="-122"/>
                      </a:endParaRPr>
                    </a:p>
                  </a:txBody>
                  <a:tcPr marL="36576" marR="36576" marT="18288" marB="18288" anchor="ctr">
                    <a:solidFill>
                      <a:srgbClr val="EEF2F6"/>
                    </a:solidFill>
                  </a:tcPr>
                </a:tc>
              </a:tr>
              <a:tr h="220980">
                <a:tc>
                  <a:txBody>
                    <a:bodyPr wrap="square"/>
                    <a:lstStyle/>
                    <a:p>
                      <a:pPr algn="ctr"/>
                      <a:r>
                        <a:rPr sz="830" b="0">
                          <a:solidFill>
                            <a:srgbClr val="1F2933"/>
                          </a:solidFill>
                          <a:latin typeface="微软雅黑" panose="020B0503020204020204" charset="-122"/>
                        </a:rPr>
                        <a:t>SemQL-style proxy</a:t>
                      </a:r>
                      <a:endParaRPr sz="83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30" b="0">
                          <a:solidFill>
                            <a:srgbClr val="1F2933"/>
                          </a:solidFill>
                          <a:latin typeface="微软雅黑" panose="020B0503020204020204" charset="-122"/>
                        </a:rPr>
                        <a:t>50.57</a:t>
                      </a:r>
                      <a:endParaRPr sz="83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30" b="0">
                          <a:solidFill>
                            <a:srgbClr val="1F2933"/>
                          </a:solidFill>
                          <a:latin typeface="微软雅黑" panose="020B0503020204020204" charset="-122"/>
                        </a:rPr>
                        <a:t>10.73</a:t>
                      </a:r>
                      <a:endParaRPr sz="83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30" b="0">
                          <a:solidFill>
                            <a:srgbClr val="1F2933"/>
                          </a:solidFill>
                          <a:latin typeface="微软雅黑" panose="020B0503020204020204" charset="-122"/>
                        </a:rPr>
                        <a:t>0.90</a:t>
                      </a:r>
                      <a:endParaRPr sz="83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30" b="0">
                          <a:solidFill>
                            <a:srgbClr val="1F2933"/>
                          </a:solidFill>
                          <a:latin typeface="微软雅黑" panose="020B0503020204020204" charset="-122"/>
                        </a:rPr>
                        <a:t>1.20</a:t>
                      </a:r>
                      <a:endParaRPr sz="83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30" b="0">
                          <a:solidFill>
                            <a:srgbClr val="1F2933"/>
                          </a:solidFill>
                          <a:latin typeface="微软雅黑" panose="020B0503020204020204" charset="-122"/>
                        </a:rPr>
                        <a:t>N/A</a:t>
                      </a:r>
                      <a:endParaRPr sz="830" b="0">
                        <a:solidFill>
                          <a:srgbClr val="1F2933"/>
                        </a:solidFill>
                        <a:latin typeface="微软雅黑" panose="020B0503020204020204" charset="-122"/>
                      </a:endParaRPr>
                    </a:p>
                  </a:txBody>
                  <a:tcPr marL="36576" marR="36576" marT="18288" marB="18288" anchor="ctr">
                    <a:solidFill>
                      <a:srgbClr val="FFFFFF"/>
                    </a:solidFill>
                  </a:tcPr>
                </a:tc>
              </a:tr>
              <a:tr h="220980">
                <a:tc>
                  <a:txBody>
                    <a:bodyPr wrap="square"/>
                    <a:lstStyle/>
                    <a:p>
                      <a:pPr algn="ctr"/>
                      <a:r>
                        <a:rPr sz="830" b="0">
                          <a:solidFill>
                            <a:srgbClr val="1F2933"/>
                          </a:solidFill>
                          <a:latin typeface="微软雅黑" panose="020B0503020204020204" charset="-122"/>
                        </a:rPr>
                        <a:t>NatSQL-style proxy</a:t>
                      </a:r>
                      <a:endParaRPr sz="83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30" b="0">
                          <a:solidFill>
                            <a:srgbClr val="1F2933"/>
                          </a:solidFill>
                          <a:latin typeface="微软雅黑" panose="020B0503020204020204" charset="-122"/>
                        </a:rPr>
                        <a:t>31.50</a:t>
                      </a:r>
                      <a:endParaRPr sz="83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30" b="0">
                          <a:solidFill>
                            <a:srgbClr val="1F2933"/>
                          </a:solidFill>
                          <a:latin typeface="微软雅黑" panose="020B0503020204020204" charset="-122"/>
                        </a:rPr>
                        <a:t>5.43</a:t>
                      </a:r>
                      <a:endParaRPr sz="83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30" b="0">
                          <a:solidFill>
                            <a:srgbClr val="1F2933"/>
                          </a:solidFill>
                          <a:latin typeface="微软雅黑" panose="020B0503020204020204" charset="-122"/>
                        </a:rPr>
                        <a:t>1.37</a:t>
                      </a:r>
                      <a:endParaRPr sz="83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30" b="0">
                          <a:solidFill>
                            <a:srgbClr val="1F2933"/>
                          </a:solidFill>
                          <a:latin typeface="微软雅黑" panose="020B0503020204020204" charset="-122"/>
                        </a:rPr>
                        <a:t>1.67</a:t>
                      </a:r>
                      <a:endParaRPr sz="83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30" b="0">
                          <a:solidFill>
                            <a:srgbClr val="1F2933"/>
                          </a:solidFill>
                          <a:latin typeface="微软雅黑" panose="020B0503020204020204" charset="-122"/>
                        </a:rPr>
                        <a:t>N/A</a:t>
                      </a:r>
                      <a:endParaRPr sz="830" b="0">
                        <a:solidFill>
                          <a:srgbClr val="1F2933"/>
                        </a:solidFill>
                        <a:latin typeface="微软雅黑" panose="020B0503020204020204" charset="-122"/>
                      </a:endParaRPr>
                    </a:p>
                  </a:txBody>
                  <a:tcPr marL="36576" marR="36576" marT="18288" marB="18288" anchor="ctr">
                    <a:solidFill>
                      <a:srgbClr val="EEF2F6"/>
                    </a:solidFill>
                  </a:tcPr>
                </a:tc>
              </a:tr>
              <a:tr h="220980">
                <a:tc>
                  <a:txBody>
                    <a:bodyPr wrap="square"/>
                    <a:lstStyle/>
                    <a:p>
                      <a:pPr algn="ctr"/>
                      <a:r>
                        <a:rPr sz="830" b="0">
                          <a:solidFill>
                            <a:srgbClr val="1F2933"/>
                          </a:solidFill>
                          <a:latin typeface="微软雅黑" panose="020B0503020204020204" charset="-122"/>
                        </a:rPr>
                        <a:t>Pipe-style proxy</a:t>
                      </a:r>
                      <a:endParaRPr sz="83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30" b="0">
                          <a:solidFill>
                            <a:srgbClr val="1F2933"/>
                          </a:solidFill>
                          <a:latin typeface="微软雅黑" panose="020B0503020204020204" charset="-122"/>
                        </a:rPr>
                        <a:t>40.80</a:t>
                      </a:r>
                      <a:endParaRPr sz="83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30" b="0">
                          <a:solidFill>
                            <a:srgbClr val="1F2933"/>
                          </a:solidFill>
                          <a:latin typeface="微软雅黑" panose="020B0503020204020204" charset="-122"/>
                        </a:rPr>
                        <a:t>6.13</a:t>
                      </a:r>
                      <a:endParaRPr sz="83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30" b="0">
                          <a:solidFill>
                            <a:srgbClr val="1F2933"/>
                          </a:solidFill>
                          <a:latin typeface="微软雅黑" panose="020B0503020204020204" charset="-122"/>
                        </a:rPr>
                        <a:t>1.37</a:t>
                      </a:r>
                      <a:endParaRPr sz="83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30" b="0">
                          <a:solidFill>
                            <a:srgbClr val="1F2933"/>
                          </a:solidFill>
                          <a:latin typeface="微软雅黑" panose="020B0503020204020204" charset="-122"/>
                        </a:rPr>
                        <a:t>1.67</a:t>
                      </a:r>
                      <a:endParaRPr sz="83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30" b="0">
                          <a:solidFill>
                            <a:srgbClr val="1F2933"/>
                          </a:solidFill>
                          <a:latin typeface="微软雅黑" panose="020B0503020204020204" charset="-122"/>
                        </a:rPr>
                        <a:t>N/A</a:t>
                      </a:r>
                      <a:endParaRPr sz="830" b="0">
                        <a:solidFill>
                          <a:srgbClr val="1F2933"/>
                        </a:solidFill>
                        <a:latin typeface="微软雅黑" panose="020B0503020204020204" charset="-122"/>
                      </a:endParaRPr>
                    </a:p>
                  </a:txBody>
                  <a:tcPr marL="36576" marR="36576" marT="18288" marB="18288" anchor="ctr">
                    <a:solidFill>
                      <a:srgbClr val="FFFFFF"/>
                    </a:solidFill>
                  </a:tcPr>
                </a:tc>
              </a:tr>
            </a:tbl>
          </a:graphicData>
        </a:graphic>
      </p:graphicFrame>
      <p:sp>
        <p:nvSpPr>
          <p:cNvPr id="9" name="Rounded Rectangle 8"/>
          <p:cNvSpPr/>
          <p:nvPr/>
        </p:nvSpPr>
        <p:spPr>
          <a:xfrm>
            <a:off x="658368" y="5715000"/>
            <a:ext cx="7909560" cy="365760"/>
          </a:xfrm>
          <a:prstGeom prst="roundRect">
            <a:avLst/>
          </a:prstGeom>
          <a:solidFill>
            <a:srgbClr val="FAEBEB"/>
          </a:solidFill>
          <a:ln w="12700">
            <a:solidFill>
              <a:srgbClr val="B2262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a:solidFill>
                  <a:srgbClr val="B22626"/>
                </a:solidFill>
                <a:latin typeface="微软雅黑" panose="020B0503020204020204" charset="-122"/>
              </a:rPr>
              <a:t>结论：SQL+ 不是更短，也不是初次生成显著更准；它的价值在步骤边界清晰、结构依赖更低，便于后续定位和修复。</a:t>
            </a:r>
            <a:endParaRPr sz="900" b="1">
              <a:solidFill>
                <a:srgbClr val="B22626"/>
              </a:solidFill>
              <a:latin typeface="微软雅黑" panose="020B0503020204020204"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3192" y="1033271"/>
            <a:ext cx="8412480" cy="530352"/>
          </a:xfrm>
          <a:prstGeom prst="rect">
            <a:avLst/>
          </a:prstGeom>
          <a:noFill/>
        </p:spPr>
        <p:txBody>
          <a:bodyPr wrap="square" lIns="36576" tIns="18288" rIns="36576" bIns="18288" anchor="ctr">
            <a:spAutoFit/>
          </a:bodyPr>
          <a:lstStyle/>
          <a:p>
            <a:pPr algn="l"/>
            <a:r>
              <a:rPr sz="2000" b="1">
                <a:solidFill>
                  <a:srgbClr val="18375C"/>
                </a:solidFill>
                <a:latin typeface="微软雅黑" panose="020B0503020204020204" charset="-122"/>
              </a:rPr>
              <a:t>动机测试二：为什么使用多 Agent 与 Repair Skill</a:t>
            </a:r>
            <a:endParaRPr sz="2000" b="1">
              <a:solidFill>
                <a:srgbClr val="18375C"/>
              </a:solidFill>
              <a:latin typeface="微软雅黑" panose="020B0503020204020204" charset="-122"/>
            </a:endParaRPr>
          </a:p>
        </p:txBody>
      </p:sp>
      <p:sp>
        <p:nvSpPr>
          <p:cNvPr id="4" name="TextBox 3"/>
          <p:cNvSpPr txBox="1"/>
          <p:nvPr/>
        </p:nvSpPr>
        <p:spPr>
          <a:xfrm>
            <a:off x="502920" y="6428232"/>
            <a:ext cx="8138160" cy="201168"/>
          </a:xfrm>
          <a:prstGeom prst="rect">
            <a:avLst/>
          </a:prstGeom>
          <a:noFill/>
        </p:spPr>
        <p:txBody>
          <a:bodyPr wrap="square" lIns="36576" tIns="18288" rIns="36576" bIns="18288" anchor="ctr">
            <a:spAutoFit/>
          </a:bodyPr>
          <a:lstStyle/>
          <a:p>
            <a:pPr algn="l"/>
            <a:r>
              <a:rPr sz="800" b="0">
                <a:solidFill>
                  <a:srgbClr val="525C69"/>
                </a:solidFill>
                <a:latin typeface="微软雅黑" panose="020B0503020204020204" charset="-122"/>
              </a:rPr>
              <a:t>开题汇报 | SQL+ / Text-to-SQL / Multi-Agent | 9</a:t>
            </a:r>
            <a:endParaRPr sz="800" b="0">
              <a:solidFill>
                <a:srgbClr val="525C69"/>
              </a:solidFill>
              <a:latin typeface="微软雅黑" panose="020B0503020204020204" charset="-122"/>
            </a:endParaRPr>
          </a:p>
        </p:txBody>
      </p:sp>
      <p:sp>
        <p:nvSpPr>
          <p:cNvPr id="5" name="TextBox 4"/>
          <p:cNvSpPr txBox="1"/>
          <p:nvPr/>
        </p:nvSpPr>
        <p:spPr>
          <a:xfrm>
            <a:off x="530352" y="1664208"/>
            <a:ext cx="8138160" cy="201168"/>
          </a:xfrm>
          <a:prstGeom prst="rect">
            <a:avLst/>
          </a:prstGeom>
          <a:noFill/>
        </p:spPr>
        <p:txBody>
          <a:bodyPr wrap="square" lIns="36576" tIns="18288" rIns="36576" bIns="18288" anchor="ctr">
            <a:spAutoFit/>
          </a:bodyPr>
          <a:lstStyle/>
          <a:p>
            <a:pPr algn="ctr"/>
            <a:r>
              <a:rPr sz="920" b="0">
                <a:solidFill>
                  <a:srgbClr val="525C69"/>
                </a:solidFill>
                <a:latin typeface="微软雅黑" panose="020B0503020204020204" charset="-122"/>
              </a:rPr>
              <a:t>在失败样例上比较整体重写和 SQL+ 局部修复，再用 repairability 指标观察修复质量。</a:t>
            </a:r>
            <a:endParaRPr sz="920" b="0">
              <a:solidFill>
                <a:srgbClr val="525C69"/>
              </a:solidFill>
              <a:latin typeface="微软雅黑" panose="020B0503020204020204" charset="-122"/>
            </a:endParaRPr>
          </a:p>
        </p:txBody>
      </p:sp>
      <p:graphicFrame>
        <p:nvGraphicFramePr>
          <p:cNvPr id="6" name="Table 5"/>
          <p:cNvGraphicFramePr>
            <a:graphicFrameLocks noGrp="1"/>
          </p:cNvGraphicFramePr>
          <p:nvPr/>
        </p:nvGraphicFramePr>
        <p:xfrm>
          <a:off x="411480" y="1920240"/>
          <a:ext cx="8321040" cy="2194560"/>
        </p:xfrm>
        <a:graphic>
          <a:graphicData uri="http://schemas.openxmlformats.org/drawingml/2006/table">
            <a:tbl>
              <a:tblPr firstRow="1" bandRow="1">
                <a:tableStyleId>{5C22544A-7EE6-4342-B048-85BDC9FD1C3A}</a:tableStyleId>
              </a:tblPr>
              <a:tblGrid>
                <a:gridCol w="1783080"/>
                <a:gridCol w="411480"/>
                <a:gridCol w="713232"/>
                <a:gridCol w="658368"/>
                <a:gridCol w="658368"/>
                <a:gridCol w="4096512"/>
              </a:tblGrid>
              <a:tr h="313508">
                <a:tc>
                  <a:txBody>
                    <a:bodyPr wrap="square"/>
                    <a:lstStyle/>
                    <a:p>
                      <a:pPr algn="ctr"/>
                      <a:r>
                        <a:rPr sz="960" b="1">
                          <a:solidFill>
                            <a:srgbClr val="FFFFFF"/>
                          </a:solidFill>
                          <a:latin typeface="微软雅黑" panose="020B0503020204020204" charset="-122"/>
                        </a:rPr>
                        <a:t>方法</a:t>
                      </a:r>
                      <a:endParaRPr sz="96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960" b="1">
                          <a:solidFill>
                            <a:srgbClr val="FFFFFF"/>
                          </a:solidFill>
                          <a:latin typeface="微软雅黑" panose="020B0503020204020204" charset="-122"/>
                        </a:rPr>
                        <a:t>样例</a:t>
                      </a:r>
                      <a:endParaRPr sz="96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960" b="1">
                          <a:solidFill>
                            <a:srgbClr val="FFFFFF"/>
                          </a:solidFill>
                          <a:latin typeface="微软雅黑" panose="020B0503020204020204" charset="-122"/>
                        </a:rPr>
                        <a:t>SQL+
valid</a:t>
                      </a:r>
                      <a:endParaRPr sz="96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960" b="1">
                          <a:solidFill>
                            <a:srgbClr val="FFFFFF"/>
                          </a:solidFill>
                          <a:latin typeface="微软雅黑" panose="020B0503020204020204" charset="-122"/>
                        </a:rPr>
                        <a:t>SQL
valid</a:t>
                      </a:r>
                      <a:endParaRPr sz="96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960" b="1">
                          <a:solidFill>
                            <a:srgbClr val="FFFFFF"/>
                          </a:solidFill>
                          <a:latin typeface="微软雅黑" panose="020B0503020204020204" charset="-122"/>
                        </a:rPr>
                        <a:t>修复
成功</a:t>
                      </a:r>
                      <a:endParaRPr sz="96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960" b="1">
                          <a:solidFill>
                            <a:srgbClr val="FFFFFF"/>
                          </a:solidFill>
                          <a:latin typeface="微软雅黑" panose="020B0503020204020204" charset="-122"/>
                        </a:rPr>
                        <a:t>说明</a:t>
                      </a:r>
                      <a:endParaRPr sz="960" b="1">
                        <a:solidFill>
                          <a:srgbClr val="FFFFFF"/>
                        </a:solidFill>
                        <a:latin typeface="微软雅黑" panose="020B0503020204020204" charset="-122"/>
                      </a:endParaRPr>
                    </a:p>
                  </a:txBody>
                  <a:tcPr marL="36576" marR="36576" marT="18288" marB="18288" anchor="ctr">
                    <a:solidFill>
                      <a:srgbClr val="18375C"/>
                    </a:solidFill>
                  </a:tcPr>
                </a:tc>
              </a:tr>
              <a:tr h="313508">
                <a:tc>
                  <a:txBody>
                    <a:bodyPr wrap="square"/>
                    <a:lstStyle/>
                    <a:p>
                      <a:pPr algn="ctr"/>
                      <a:r>
                        <a:rPr sz="880" b="0">
                          <a:solidFill>
                            <a:srgbClr val="1F2933"/>
                          </a:solidFill>
                          <a:latin typeface="微软雅黑" panose="020B0503020204020204" charset="-122"/>
                        </a:rPr>
                        <a:t>SQL+ 诊断辅助 Refiner</a:t>
                      </a:r>
                      <a:endParaRPr sz="8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80" b="0">
                          <a:solidFill>
                            <a:srgbClr val="1F2933"/>
                          </a:solidFill>
                          <a:latin typeface="微软雅黑" panose="020B0503020204020204" charset="-122"/>
                        </a:rPr>
                        <a:t>13</a:t>
                      </a:r>
                      <a:endParaRPr sz="8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80" b="0">
                          <a:solidFill>
                            <a:srgbClr val="1F2933"/>
                          </a:solidFill>
                          <a:latin typeface="微软雅黑" panose="020B0503020204020204" charset="-122"/>
                        </a:rPr>
                        <a:t>13/13</a:t>
                      </a:r>
                      <a:endParaRPr sz="8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80" b="0">
                          <a:solidFill>
                            <a:srgbClr val="1F2933"/>
                          </a:solidFill>
                          <a:latin typeface="微软雅黑" panose="020B0503020204020204" charset="-122"/>
                        </a:rPr>
                        <a:t>13/13</a:t>
                      </a:r>
                      <a:endParaRPr sz="8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80" b="0">
                          <a:solidFill>
                            <a:srgbClr val="1F2933"/>
                          </a:solidFill>
                          <a:latin typeface="微软雅黑" panose="020B0503020204020204" charset="-122"/>
                        </a:rPr>
                        <a:t>13/13</a:t>
                      </a:r>
                      <a:endParaRPr sz="8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80" b="0">
                          <a:solidFill>
                            <a:srgbClr val="1F2933"/>
                          </a:solidFill>
                          <a:latin typeface="微软雅黑" panose="020B0503020204020204" charset="-122"/>
                        </a:rPr>
                        <a:t>使用 gold-derived differences，仅验证链路</a:t>
                      </a:r>
                      <a:endParaRPr sz="880" b="0">
                        <a:solidFill>
                          <a:srgbClr val="1F2933"/>
                        </a:solidFill>
                        <a:latin typeface="微软雅黑" panose="020B0503020204020204" charset="-122"/>
                      </a:endParaRPr>
                    </a:p>
                  </a:txBody>
                  <a:tcPr marL="36576" marR="36576" marT="18288" marB="18288" anchor="ctr">
                    <a:solidFill>
                      <a:srgbClr val="FFFFFF"/>
                    </a:solidFill>
                  </a:tcPr>
                </a:tc>
              </a:tr>
              <a:tr h="313508">
                <a:tc>
                  <a:txBody>
                    <a:bodyPr wrap="square"/>
                    <a:lstStyle/>
                    <a:p>
                      <a:pPr algn="ctr"/>
                      <a:r>
                        <a:rPr sz="880" b="0">
                          <a:solidFill>
                            <a:srgbClr val="1F2933"/>
                          </a:solidFill>
                          <a:latin typeface="微软雅黑" panose="020B0503020204020204" charset="-122"/>
                        </a:rPr>
                        <a:t>SQL+ 非 gold Refiner v2</a:t>
                      </a:r>
                      <a:endParaRPr sz="8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80" b="0">
                          <a:solidFill>
                            <a:srgbClr val="1F2933"/>
                          </a:solidFill>
                          <a:latin typeface="微软雅黑" panose="020B0503020204020204" charset="-122"/>
                        </a:rPr>
                        <a:t>13</a:t>
                      </a:r>
                      <a:endParaRPr sz="8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80" b="0">
                          <a:solidFill>
                            <a:srgbClr val="1F2933"/>
                          </a:solidFill>
                          <a:latin typeface="微软雅黑" panose="020B0503020204020204" charset="-122"/>
                        </a:rPr>
                        <a:t>13/13</a:t>
                      </a:r>
                      <a:endParaRPr sz="8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80" b="0">
                          <a:solidFill>
                            <a:srgbClr val="1F2933"/>
                          </a:solidFill>
                          <a:latin typeface="微软雅黑" panose="020B0503020204020204" charset="-122"/>
                        </a:rPr>
                        <a:t>12/13</a:t>
                      </a:r>
                      <a:endParaRPr sz="8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80" b="0">
                          <a:solidFill>
                            <a:srgbClr val="1F2933"/>
                          </a:solidFill>
                          <a:latin typeface="微软雅黑" panose="020B0503020204020204" charset="-122"/>
                        </a:rPr>
                        <a:t>4/13</a:t>
                      </a:r>
                      <a:endParaRPr sz="8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80" b="0">
                          <a:solidFill>
                            <a:srgbClr val="1F2933"/>
                          </a:solidFill>
                          <a:latin typeface="微软雅黑" panose="020B0503020204020204" charset="-122"/>
                        </a:rPr>
                        <a:t>只使用执行反馈与粗粒度诊断</a:t>
                      </a:r>
                      <a:endParaRPr sz="880" b="0">
                        <a:solidFill>
                          <a:srgbClr val="1F2933"/>
                        </a:solidFill>
                        <a:latin typeface="微软雅黑" panose="020B0503020204020204" charset="-122"/>
                      </a:endParaRPr>
                    </a:p>
                  </a:txBody>
                  <a:tcPr marL="36576" marR="36576" marT="18288" marB="18288" anchor="ctr">
                    <a:solidFill>
                      <a:srgbClr val="EEF2F6"/>
                    </a:solidFill>
                  </a:tcPr>
                </a:tc>
              </a:tr>
              <a:tr h="313508">
                <a:tc>
                  <a:txBody>
                    <a:bodyPr wrap="square"/>
                    <a:lstStyle/>
                    <a:p>
                      <a:pPr algn="ctr"/>
                      <a:r>
                        <a:rPr sz="880" b="0">
                          <a:solidFill>
                            <a:srgbClr val="1F2933"/>
                          </a:solidFill>
                          <a:latin typeface="微软雅黑" panose="020B0503020204020204" charset="-122"/>
                        </a:rPr>
                        <a:t>Direct SQL 非 gold Refiner</a:t>
                      </a:r>
                      <a:endParaRPr sz="8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80" b="0">
                          <a:solidFill>
                            <a:srgbClr val="1F2933"/>
                          </a:solidFill>
                          <a:latin typeface="微软雅黑" panose="020B0503020204020204" charset="-122"/>
                        </a:rPr>
                        <a:t>14</a:t>
                      </a:r>
                      <a:endParaRPr sz="8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80" b="0">
                          <a:solidFill>
                            <a:srgbClr val="1F2933"/>
                          </a:solidFill>
                          <a:latin typeface="微软雅黑" panose="020B0503020204020204" charset="-122"/>
                        </a:rPr>
                        <a:t>-</a:t>
                      </a:r>
                      <a:endParaRPr sz="8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80" b="0">
                          <a:solidFill>
                            <a:srgbClr val="1F2933"/>
                          </a:solidFill>
                          <a:latin typeface="微软雅黑" panose="020B0503020204020204" charset="-122"/>
                        </a:rPr>
                        <a:t>14/14</a:t>
                      </a:r>
                      <a:endParaRPr sz="8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80" b="0">
                          <a:solidFill>
                            <a:srgbClr val="1F2933"/>
                          </a:solidFill>
                          <a:latin typeface="微软雅黑" panose="020B0503020204020204" charset="-122"/>
                        </a:rPr>
                        <a:t>6/14</a:t>
                      </a:r>
                      <a:endParaRPr sz="8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80" b="0">
                          <a:solidFill>
                            <a:srgbClr val="1F2933"/>
                          </a:solidFill>
                          <a:latin typeface="微软雅黑" panose="020B0503020204020204" charset="-122"/>
                        </a:rPr>
                        <a:t>直接修标准 SQL</a:t>
                      </a:r>
                      <a:endParaRPr sz="880" b="0">
                        <a:solidFill>
                          <a:srgbClr val="1F2933"/>
                        </a:solidFill>
                        <a:latin typeface="微软雅黑" panose="020B0503020204020204" charset="-122"/>
                      </a:endParaRPr>
                    </a:p>
                  </a:txBody>
                  <a:tcPr marL="36576" marR="36576" marT="18288" marB="18288" anchor="ctr">
                    <a:solidFill>
                      <a:srgbClr val="FFFFFF"/>
                    </a:solidFill>
                  </a:tcPr>
                </a:tc>
              </a:tr>
              <a:tr h="313508">
                <a:tc>
                  <a:txBody>
                    <a:bodyPr wrap="square"/>
                    <a:lstStyle/>
                    <a:p>
                      <a:pPr algn="ctr"/>
                      <a:r>
                        <a:rPr sz="880" b="0">
                          <a:solidFill>
                            <a:srgbClr val="1F2933"/>
                          </a:solidFill>
                          <a:latin typeface="微软雅黑" panose="020B0503020204020204" charset="-122"/>
                        </a:rPr>
                        <a:t>Schema-Critic-Refiner</a:t>
                      </a:r>
                      <a:endParaRPr sz="8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80" b="0">
                          <a:solidFill>
                            <a:srgbClr val="1F2933"/>
                          </a:solidFill>
                          <a:latin typeface="微软雅黑" panose="020B0503020204020204" charset="-122"/>
                        </a:rPr>
                        <a:t>13</a:t>
                      </a:r>
                      <a:endParaRPr sz="8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80" b="0">
                          <a:solidFill>
                            <a:srgbClr val="1F2933"/>
                          </a:solidFill>
                          <a:latin typeface="微软雅黑" panose="020B0503020204020204" charset="-122"/>
                        </a:rPr>
                        <a:t>13/13</a:t>
                      </a:r>
                      <a:endParaRPr sz="8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80" b="0">
                          <a:solidFill>
                            <a:srgbClr val="1F2933"/>
                          </a:solidFill>
                          <a:latin typeface="微软雅黑" panose="020B0503020204020204" charset="-122"/>
                        </a:rPr>
                        <a:t>13/13</a:t>
                      </a:r>
                      <a:endParaRPr sz="8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80" b="0">
                          <a:solidFill>
                            <a:srgbClr val="1F2933"/>
                          </a:solidFill>
                          <a:latin typeface="微软雅黑" panose="020B0503020204020204" charset="-122"/>
                        </a:rPr>
                        <a:t>3/13</a:t>
                      </a:r>
                      <a:endParaRPr sz="8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80" b="0">
                          <a:solidFill>
                            <a:srgbClr val="1F2933"/>
                          </a:solidFill>
                          <a:latin typeface="微软雅黑" panose="020B0503020204020204" charset="-122"/>
                        </a:rPr>
                        <a:t>诊断未能稳定转化为修复动作</a:t>
                      </a:r>
                      <a:endParaRPr sz="880" b="0">
                        <a:solidFill>
                          <a:srgbClr val="1F2933"/>
                        </a:solidFill>
                        <a:latin typeface="微软雅黑" panose="020B0503020204020204" charset="-122"/>
                      </a:endParaRPr>
                    </a:p>
                  </a:txBody>
                  <a:tcPr marL="36576" marR="36576" marT="18288" marB="18288" anchor="ctr">
                    <a:solidFill>
                      <a:srgbClr val="EEF2F6"/>
                    </a:solidFill>
                  </a:tcPr>
                </a:tc>
              </a:tr>
              <a:tr h="313508">
                <a:tc>
                  <a:txBody>
                    <a:bodyPr wrap="square"/>
                    <a:lstStyle/>
                    <a:p>
                      <a:pPr algn="ctr"/>
                      <a:r>
                        <a:rPr sz="880" b="0">
                          <a:solidFill>
                            <a:srgbClr val="1F2933"/>
                          </a:solidFill>
                          <a:latin typeface="微软雅黑" panose="020B0503020204020204" charset="-122"/>
                        </a:rPr>
                        <a:t>Step-wise Critic-Refiner</a:t>
                      </a:r>
                      <a:endParaRPr sz="8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80" b="0">
                          <a:solidFill>
                            <a:srgbClr val="1F2933"/>
                          </a:solidFill>
                          <a:latin typeface="微软雅黑" panose="020B0503020204020204" charset="-122"/>
                        </a:rPr>
                        <a:t>13</a:t>
                      </a:r>
                      <a:endParaRPr sz="8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80" b="0">
                          <a:solidFill>
                            <a:srgbClr val="1F2933"/>
                          </a:solidFill>
                          <a:latin typeface="微软雅黑" panose="020B0503020204020204" charset="-122"/>
                        </a:rPr>
                        <a:t>13/13</a:t>
                      </a:r>
                      <a:endParaRPr sz="8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80" b="0">
                          <a:solidFill>
                            <a:srgbClr val="1F2933"/>
                          </a:solidFill>
                          <a:latin typeface="微软雅黑" panose="020B0503020204020204" charset="-122"/>
                        </a:rPr>
                        <a:t>12/13</a:t>
                      </a:r>
                      <a:endParaRPr sz="8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80" b="0">
                          <a:solidFill>
                            <a:srgbClr val="1F2933"/>
                          </a:solidFill>
                          <a:latin typeface="微软雅黑" panose="020B0503020204020204" charset="-122"/>
                        </a:rPr>
                        <a:t>3/13</a:t>
                      </a:r>
                      <a:endParaRPr sz="8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80" b="0">
                          <a:solidFill>
                            <a:srgbClr val="1F2933"/>
                          </a:solidFill>
                          <a:latin typeface="微软雅黑" panose="020B0503020204020204" charset="-122"/>
                        </a:rPr>
                        <a:t>步骤诊断更细，但单 Refiner 仍不稳定</a:t>
                      </a:r>
                      <a:endParaRPr sz="880" b="0">
                        <a:solidFill>
                          <a:srgbClr val="1F2933"/>
                        </a:solidFill>
                        <a:latin typeface="微软雅黑" panose="020B0503020204020204" charset="-122"/>
                      </a:endParaRPr>
                    </a:p>
                  </a:txBody>
                  <a:tcPr marL="36576" marR="36576" marT="18288" marB="18288" anchor="ctr">
                    <a:solidFill>
                      <a:srgbClr val="FFFFFF"/>
                    </a:solidFill>
                  </a:tcPr>
                </a:tc>
              </a:tr>
              <a:tr h="313512">
                <a:tc>
                  <a:txBody>
                    <a:bodyPr wrap="square"/>
                    <a:lstStyle/>
                    <a:p>
                      <a:pPr algn="ctr"/>
                      <a:r>
                        <a:rPr sz="880" b="0">
                          <a:solidFill>
                            <a:srgbClr val="1F2933"/>
                          </a:solidFill>
                          <a:latin typeface="微软雅黑" panose="020B0503020204020204" charset="-122"/>
                        </a:rPr>
                        <a:t>SQL+ Router + Repair Skills</a:t>
                      </a:r>
                      <a:endParaRPr sz="8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80" b="0">
                          <a:solidFill>
                            <a:srgbClr val="1F2933"/>
                          </a:solidFill>
                          <a:latin typeface="微软雅黑" panose="020B0503020204020204" charset="-122"/>
                        </a:rPr>
                        <a:t>13</a:t>
                      </a:r>
                      <a:endParaRPr sz="8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80" b="0">
                          <a:solidFill>
                            <a:srgbClr val="1F2933"/>
                          </a:solidFill>
                          <a:latin typeface="微软雅黑" panose="020B0503020204020204" charset="-122"/>
                        </a:rPr>
                        <a:t>13/13</a:t>
                      </a:r>
                      <a:endParaRPr sz="8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80" b="0">
                          <a:solidFill>
                            <a:srgbClr val="1F2933"/>
                          </a:solidFill>
                          <a:latin typeface="微软雅黑" panose="020B0503020204020204" charset="-122"/>
                        </a:rPr>
                        <a:t>13/13</a:t>
                      </a:r>
                      <a:endParaRPr sz="8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80" b="0">
                          <a:solidFill>
                            <a:srgbClr val="1F2933"/>
                          </a:solidFill>
                          <a:latin typeface="微软雅黑" panose="020B0503020204020204" charset="-122"/>
                        </a:rPr>
                        <a:t>13/13</a:t>
                      </a:r>
                      <a:endParaRPr sz="8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80" b="0">
                          <a:solidFill>
                            <a:srgbClr val="1F2933"/>
                          </a:solidFill>
                          <a:latin typeface="微软雅黑" panose="020B0503020204020204" charset="-122"/>
                        </a:rPr>
                        <a:t>Critic 路由到局部 repair skill</a:t>
                      </a:r>
                      <a:endParaRPr sz="880" b="0">
                        <a:solidFill>
                          <a:srgbClr val="1F2933"/>
                        </a:solidFill>
                        <a:latin typeface="微软雅黑" panose="020B0503020204020204" charset="-122"/>
                      </a:endParaRPr>
                    </a:p>
                  </a:txBody>
                  <a:tcPr marL="36576" marR="36576" marT="18288" marB="18288" anchor="ctr">
                    <a:solidFill>
                      <a:srgbClr val="EEF2F6"/>
                    </a:solidFill>
                  </a:tcPr>
                </a:tc>
              </a:tr>
            </a:tbl>
          </a:graphicData>
        </a:graphic>
      </p:graphicFrame>
      <p:graphicFrame>
        <p:nvGraphicFramePr>
          <p:cNvPr id="7" name="Table 6"/>
          <p:cNvGraphicFramePr>
            <a:graphicFrameLocks noGrp="1"/>
          </p:cNvGraphicFramePr>
          <p:nvPr/>
        </p:nvGraphicFramePr>
        <p:xfrm>
          <a:off x="502920" y="4480560"/>
          <a:ext cx="6409944" cy="1051560"/>
        </p:xfrm>
        <a:graphic>
          <a:graphicData uri="http://schemas.openxmlformats.org/drawingml/2006/table">
            <a:tbl>
              <a:tblPr firstRow="1" bandRow="1">
                <a:tableStyleId>{5C22544A-7EE6-4342-B048-85BDC9FD1C3A}</a:tableStyleId>
              </a:tblPr>
              <a:tblGrid>
                <a:gridCol w="1600200"/>
                <a:gridCol w="502920"/>
                <a:gridCol w="786384"/>
                <a:gridCol w="822960"/>
                <a:gridCol w="1143000"/>
                <a:gridCol w="548640"/>
                <a:gridCol w="1005840"/>
              </a:tblGrid>
              <a:tr h="210312">
                <a:tc>
                  <a:txBody>
                    <a:bodyPr wrap="square"/>
                    <a:lstStyle/>
                    <a:p>
                      <a:pPr algn="ctr"/>
                      <a:r>
                        <a:rPr sz="960" b="1">
                          <a:solidFill>
                            <a:srgbClr val="FFFFFF"/>
                          </a:solidFill>
                          <a:latin typeface="微软雅黑" panose="020B0503020204020204" charset="-122"/>
                        </a:rPr>
                        <a:t>方法</a:t>
                      </a:r>
                      <a:endParaRPr sz="96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960" b="1">
                          <a:solidFill>
                            <a:srgbClr val="FFFFFF"/>
                          </a:solidFill>
                          <a:latin typeface="微软雅黑" panose="020B0503020204020204" charset="-122"/>
                        </a:rPr>
                        <a:t>样例</a:t>
                      </a:r>
                      <a:endParaRPr sz="96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960" b="1">
                          <a:solidFill>
                            <a:srgbClr val="FFFFFF"/>
                          </a:solidFill>
                          <a:latin typeface="微软雅黑" panose="020B0503020204020204" charset="-122"/>
                        </a:rPr>
                        <a:t>修复成功</a:t>
                      </a:r>
                      <a:endParaRPr sz="96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960" b="1">
                          <a:solidFill>
                            <a:srgbClr val="FFFFFF"/>
                          </a:solidFill>
                          <a:latin typeface="微软雅黑" panose="020B0503020204020204" charset="-122"/>
                        </a:rPr>
                        <a:t>定位准确</a:t>
                      </a:r>
                      <a:endParaRPr sz="96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960" b="1">
                          <a:solidFill>
                            <a:srgbClr val="FFFFFF"/>
                          </a:solidFill>
                          <a:latin typeface="微软雅黑" panose="020B0503020204020204" charset="-122"/>
                        </a:rPr>
                        <a:t>patch minimality</a:t>
                      </a:r>
                      <a:endParaRPr sz="96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960" b="1">
                          <a:solidFill>
                            <a:srgbClr val="FFFFFF"/>
                          </a:solidFill>
                          <a:latin typeface="微软雅黑" panose="020B0503020204020204" charset="-122"/>
                        </a:rPr>
                        <a:t>轮数</a:t>
                      </a:r>
                      <a:endParaRPr sz="96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960" b="1">
                          <a:solidFill>
                            <a:srgbClr val="FFFFFF"/>
                          </a:solidFill>
                          <a:latin typeface="微软雅黑" panose="020B0503020204020204" charset="-122"/>
                        </a:rPr>
                        <a:t>repair tokens</a:t>
                      </a:r>
                      <a:endParaRPr sz="960" b="1">
                        <a:solidFill>
                          <a:srgbClr val="FFFFFF"/>
                        </a:solidFill>
                        <a:latin typeface="微软雅黑" panose="020B0503020204020204" charset="-122"/>
                      </a:endParaRPr>
                    </a:p>
                  </a:txBody>
                  <a:tcPr marL="36576" marR="36576" marT="18288" marB="18288" anchor="ctr">
                    <a:solidFill>
                      <a:srgbClr val="18375C"/>
                    </a:solidFill>
                  </a:tcPr>
                </a:tc>
              </a:tr>
              <a:tr h="210312">
                <a:tc>
                  <a:txBody>
                    <a:bodyPr wrap="square"/>
                    <a:lstStyle/>
                    <a:p>
                      <a:pPr algn="ctr"/>
                      <a:r>
                        <a:rPr sz="880" b="0">
                          <a:solidFill>
                            <a:srgbClr val="1F2933"/>
                          </a:solidFill>
                          <a:latin typeface="微软雅黑" panose="020B0503020204020204" charset="-122"/>
                        </a:rPr>
                        <a:t>Direct SQL Refiner</a:t>
                      </a:r>
                      <a:endParaRPr sz="8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80" b="0">
                          <a:solidFill>
                            <a:srgbClr val="1F2933"/>
                          </a:solidFill>
                          <a:latin typeface="微软雅黑" panose="020B0503020204020204" charset="-122"/>
                        </a:rPr>
                        <a:t>14</a:t>
                      </a:r>
                      <a:endParaRPr sz="8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80" b="0">
                          <a:solidFill>
                            <a:srgbClr val="1F2933"/>
                          </a:solidFill>
                          <a:latin typeface="微软雅黑" panose="020B0503020204020204" charset="-122"/>
                        </a:rPr>
                        <a:t>6/14</a:t>
                      </a:r>
                      <a:endParaRPr sz="8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80" b="0">
                          <a:solidFill>
                            <a:srgbClr val="1F2933"/>
                          </a:solidFill>
                          <a:latin typeface="微软雅黑" panose="020B0503020204020204" charset="-122"/>
                        </a:rPr>
                        <a:t>0.8571</a:t>
                      </a:r>
                      <a:endParaRPr sz="8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80" b="0">
                          <a:solidFill>
                            <a:srgbClr val="1F2933"/>
                          </a:solidFill>
                          <a:latin typeface="微软雅黑" panose="020B0503020204020204" charset="-122"/>
                        </a:rPr>
                        <a:t>0.8571</a:t>
                      </a:r>
                      <a:endParaRPr sz="8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80" b="0">
                          <a:solidFill>
                            <a:srgbClr val="1F2933"/>
                          </a:solidFill>
                          <a:latin typeface="微软雅黑" panose="020B0503020204020204" charset="-122"/>
                        </a:rPr>
                        <a:t>1</a:t>
                      </a:r>
                      <a:endParaRPr sz="8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80" b="0">
                          <a:solidFill>
                            <a:srgbClr val="1F2933"/>
                          </a:solidFill>
                          <a:latin typeface="微软雅黑" panose="020B0503020204020204" charset="-122"/>
                        </a:rPr>
                        <a:t>1609.36</a:t>
                      </a:r>
                      <a:endParaRPr sz="880" b="0">
                        <a:solidFill>
                          <a:srgbClr val="1F2933"/>
                        </a:solidFill>
                        <a:latin typeface="微软雅黑" panose="020B0503020204020204" charset="-122"/>
                      </a:endParaRPr>
                    </a:p>
                  </a:txBody>
                  <a:tcPr marL="36576" marR="36576" marT="18288" marB="18288" anchor="ctr">
                    <a:solidFill>
                      <a:srgbClr val="FFFFFF"/>
                    </a:solidFill>
                  </a:tcPr>
                </a:tc>
              </a:tr>
              <a:tr h="210312">
                <a:tc>
                  <a:txBody>
                    <a:bodyPr wrap="square"/>
                    <a:lstStyle/>
                    <a:p>
                      <a:pPr algn="ctr"/>
                      <a:r>
                        <a:rPr sz="880" b="0">
                          <a:solidFill>
                            <a:srgbClr val="1F2933"/>
                          </a:solidFill>
                          <a:latin typeface="微软雅黑" panose="020B0503020204020204" charset="-122"/>
                        </a:rPr>
                        <a:t>SQL+ Router Skills</a:t>
                      </a:r>
                      <a:endParaRPr sz="8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80" b="0">
                          <a:solidFill>
                            <a:srgbClr val="1F2933"/>
                          </a:solidFill>
                          <a:latin typeface="微软雅黑" panose="020B0503020204020204" charset="-122"/>
                        </a:rPr>
                        <a:t>13</a:t>
                      </a:r>
                      <a:endParaRPr sz="8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80" b="0">
                          <a:solidFill>
                            <a:srgbClr val="1F2933"/>
                          </a:solidFill>
                          <a:latin typeface="微软雅黑" panose="020B0503020204020204" charset="-122"/>
                        </a:rPr>
                        <a:t>13/13</a:t>
                      </a:r>
                      <a:endParaRPr sz="8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80" b="0">
                          <a:solidFill>
                            <a:srgbClr val="1F2933"/>
                          </a:solidFill>
                          <a:latin typeface="微软雅黑" panose="020B0503020204020204" charset="-122"/>
                        </a:rPr>
                        <a:t>0.7692</a:t>
                      </a:r>
                      <a:endParaRPr sz="8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80" b="0">
                          <a:solidFill>
                            <a:srgbClr val="1F2933"/>
                          </a:solidFill>
                          <a:latin typeface="微软雅黑" panose="020B0503020204020204" charset="-122"/>
                        </a:rPr>
                        <a:t>0.9744</a:t>
                      </a:r>
                      <a:endParaRPr sz="8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80" b="0">
                          <a:solidFill>
                            <a:srgbClr val="1F2933"/>
                          </a:solidFill>
                          <a:latin typeface="微软雅黑" panose="020B0503020204020204" charset="-122"/>
                        </a:rPr>
                        <a:t>2.2308</a:t>
                      </a:r>
                      <a:endParaRPr sz="8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80" b="0">
                          <a:solidFill>
                            <a:srgbClr val="1F2933"/>
                          </a:solidFill>
                          <a:latin typeface="微软雅黑" panose="020B0503020204020204" charset="-122"/>
                        </a:rPr>
                        <a:t>3813.92</a:t>
                      </a:r>
                      <a:endParaRPr sz="880" b="0">
                        <a:solidFill>
                          <a:srgbClr val="1F2933"/>
                        </a:solidFill>
                        <a:latin typeface="微软雅黑" panose="020B0503020204020204" charset="-122"/>
                      </a:endParaRPr>
                    </a:p>
                  </a:txBody>
                  <a:tcPr marL="36576" marR="36576" marT="18288" marB="18288" anchor="ctr">
                    <a:solidFill>
                      <a:srgbClr val="EEF2F6"/>
                    </a:solidFill>
                  </a:tcPr>
                </a:tc>
              </a:tr>
              <a:tr h="210312">
                <a:tc>
                  <a:txBody>
                    <a:bodyPr wrap="square"/>
                    <a:lstStyle/>
                    <a:p>
                      <a:pPr algn="ctr"/>
                      <a:r>
                        <a:rPr sz="880" b="0">
                          <a:solidFill>
                            <a:srgbClr val="1F2933"/>
                          </a:solidFill>
                          <a:latin typeface="微软雅黑" panose="020B0503020204020204" charset="-122"/>
                        </a:rPr>
                        <a:t>Direct SQL overlap</a:t>
                      </a:r>
                      <a:endParaRPr sz="8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80" b="0">
                          <a:solidFill>
                            <a:srgbClr val="1F2933"/>
                          </a:solidFill>
                          <a:latin typeface="微软雅黑" panose="020B0503020204020204" charset="-122"/>
                        </a:rPr>
                        <a:t>9</a:t>
                      </a:r>
                      <a:endParaRPr sz="8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80" b="0">
                          <a:solidFill>
                            <a:srgbClr val="1F2933"/>
                          </a:solidFill>
                          <a:latin typeface="微软雅黑" panose="020B0503020204020204" charset="-122"/>
                        </a:rPr>
                        <a:t>4/9</a:t>
                      </a:r>
                      <a:endParaRPr sz="8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80" b="0">
                          <a:solidFill>
                            <a:srgbClr val="1F2933"/>
                          </a:solidFill>
                          <a:latin typeface="微软雅黑" panose="020B0503020204020204" charset="-122"/>
                        </a:rPr>
                        <a:t>0.8889</a:t>
                      </a:r>
                      <a:endParaRPr sz="8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80" b="0">
                          <a:solidFill>
                            <a:srgbClr val="1F2933"/>
                          </a:solidFill>
                          <a:latin typeface="微软雅黑" panose="020B0503020204020204" charset="-122"/>
                        </a:rPr>
                        <a:t>0.8889</a:t>
                      </a:r>
                      <a:endParaRPr sz="8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80" b="0">
                          <a:solidFill>
                            <a:srgbClr val="1F2933"/>
                          </a:solidFill>
                          <a:latin typeface="微软雅黑" panose="020B0503020204020204" charset="-122"/>
                        </a:rPr>
                        <a:t>1</a:t>
                      </a:r>
                      <a:endParaRPr sz="8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80" b="0">
                          <a:solidFill>
                            <a:srgbClr val="1F2933"/>
                          </a:solidFill>
                          <a:latin typeface="微软雅黑" panose="020B0503020204020204" charset="-122"/>
                        </a:rPr>
                        <a:t>1583.22</a:t>
                      </a:r>
                      <a:endParaRPr sz="880" b="0">
                        <a:solidFill>
                          <a:srgbClr val="1F2933"/>
                        </a:solidFill>
                        <a:latin typeface="微软雅黑" panose="020B0503020204020204" charset="-122"/>
                      </a:endParaRPr>
                    </a:p>
                  </a:txBody>
                  <a:tcPr marL="36576" marR="36576" marT="18288" marB="18288" anchor="ctr">
                    <a:solidFill>
                      <a:srgbClr val="FFFFFF"/>
                    </a:solidFill>
                  </a:tcPr>
                </a:tc>
              </a:tr>
              <a:tr h="210312">
                <a:tc>
                  <a:txBody>
                    <a:bodyPr wrap="square"/>
                    <a:lstStyle/>
                    <a:p>
                      <a:pPr algn="ctr"/>
                      <a:r>
                        <a:rPr sz="880" b="0">
                          <a:solidFill>
                            <a:srgbClr val="1F2933"/>
                          </a:solidFill>
                          <a:latin typeface="微软雅黑" panose="020B0503020204020204" charset="-122"/>
                        </a:rPr>
                        <a:t>SQL+ Router overlap</a:t>
                      </a:r>
                      <a:endParaRPr sz="8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80" b="0">
                          <a:solidFill>
                            <a:srgbClr val="1F2933"/>
                          </a:solidFill>
                          <a:latin typeface="微软雅黑" panose="020B0503020204020204" charset="-122"/>
                        </a:rPr>
                        <a:t>9</a:t>
                      </a:r>
                      <a:endParaRPr sz="8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80" b="0">
                          <a:solidFill>
                            <a:srgbClr val="1F2933"/>
                          </a:solidFill>
                          <a:latin typeface="微软雅黑" panose="020B0503020204020204" charset="-122"/>
                        </a:rPr>
                        <a:t>9/9</a:t>
                      </a:r>
                      <a:endParaRPr sz="8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80" b="0">
                          <a:solidFill>
                            <a:srgbClr val="1F2933"/>
                          </a:solidFill>
                          <a:latin typeface="微软雅黑" panose="020B0503020204020204" charset="-122"/>
                        </a:rPr>
                        <a:t>0.7778</a:t>
                      </a:r>
                      <a:endParaRPr sz="8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80" b="0">
                          <a:solidFill>
                            <a:srgbClr val="1F2933"/>
                          </a:solidFill>
                          <a:latin typeface="微软雅黑" panose="020B0503020204020204" charset="-122"/>
                        </a:rPr>
                        <a:t>0.9630</a:t>
                      </a:r>
                      <a:endParaRPr sz="8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80" b="0">
                          <a:solidFill>
                            <a:srgbClr val="1F2933"/>
                          </a:solidFill>
                          <a:latin typeface="微软雅黑" panose="020B0503020204020204" charset="-122"/>
                        </a:rPr>
                        <a:t>2.3333</a:t>
                      </a:r>
                      <a:endParaRPr sz="8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80" b="0">
                          <a:solidFill>
                            <a:srgbClr val="1F2933"/>
                          </a:solidFill>
                          <a:latin typeface="微软雅黑" panose="020B0503020204020204" charset="-122"/>
                        </a:rPr>
                        <a:t>4001.78</a:t>
                      </a:r>
                      <a:endParaRPr sz="880" b="0">
                        <a:solidFill>
                          <a:srgbClr val="1F2933"/>
                        </a:solidFill>
                        <a:latin typeface="微软雅黑" panose="020B0503020204020204" charset="-122"/>
                      </a:endParaRPr>
                    </a:p>
                  </a:txBody>
                  <a:tcPr marL="36576" marR="36576" marT="18288" marB="18288" anchor="ctr">
                    <a:solidFill>
                      <a:srgbClr val="EEF2F6"/>
                    </a:solidFill>
                  </a:tcPr>
                </a:tc>
              </a:tr>
            </a:tbl>
          </a:graphicData>
        </a:graphic>
      </p:graphicFrame>
      <p:sp>
        <p:nvSpPr>
          <p:cNvPr id="8" name="Rounded Rectangle 7"/>
          <p:cNvSpPr/>
          <p:nvPr/>
        </p:nvSpPr>
        <p:spPr>
          <a:xfrm>
            <a:off x="658368" y="5760720"/>
            <a:ext cx="7909560" cy="365760"/>
          </a:xfrm>
          <a:prstGeom prst="roundRect">
            <a:avLst/>
          </a:prstGeom>
          <a:solidFill>
            <a:srgbClr val="FAEBEB"/>
          </a:solidFill>
          <a:ln w="12700">
            <a:solidFill>
              <a:srgbClr val="B2262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a:solidFill>
                  <a:srgbClr val="B22626"/>
                </a:solidFill>
                <a:latin typeface="微软雅黑" panose="020B0503020204020204" charset="-122"/>
              </a:rPr>
              <a:t>结论：多 Agent 的价值不是数量，而是把诊断、路由、局部 patch 和执行验证拆成可检查中间产物。</a:t>
            </a:r>
            <a:endParaRPr sz="900" b="1">
              <a:solidFill>
                <a:srgbClr val="B22626"/>
              </a:solidFill>
              <a:latin typeface="微软雅黑" panose="020B0503020204020204"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3192" y="1033271"/>
            <a:ext cx="8412480" cy="530352"/>
          </a:xfrm>
          <a:prstGeom prst="rect">
            <a:avLst/>
          </a:prstGeom>
          <a:noFill/>
        </p:spPr>
        <p:txBody>
          <a:bodyPr wrap="square" lIns="36576" tIns="18288" rIns="36576" bIns="18288" anchor="ctr">
            <a:spAutoFit/>
          </a:bodyPr>
          <a:lstStyle/>
          <a:p>
            <a:pPr algn="l"/>
            <a:r>
              <a:rPr sz="2000" b="1">
                <a:solidFill>
                  <a:srgbClr val="18375C"/>
                </a:solidFill>
                <a:latin typeface="微软雅黑" panose="020B0503020204020204" charset="-122"/>
              </a:rPr>
              <a:t>动机测试三：从动机到系统设计</a:t>
            </a:r>
            <a:endParaRPr sz="2000" b="1">
              <a:solidFill>
                <a:srgbClr val="18375C"/>
              </a:solidFill>
              <a:latin typeface="微软雅黑" panose="020B0503020204020204" charset="-122"/>
            </a:endParaRPr>
          </a:p>
        </p:txBody>
      </p:sp>
      <p:sp>
        <p:nvSpPr>
          <p:cNvPr id="4" name="TextBox 3"/>
          <p:cNvSpPr txBox="1"/>
          <p:nvPr/>
        </p:nvSpPr>
        <p:spPr>
          <a:xfrm>
            <a:off x="502920" y="6428232"/>
            <a:ext cx="8138160" cy="201168"/>
          </a:xfrm>
          <a:prstGeom prst="rect">
            <a:avLst/>
          </a:prstGeom>
          <a:noFill/>
        </p:spPr>
        <p:txBody>
          <a:bodyPr wrap="square" lIns="36576" tIns="18288" rIns="36576" bIns="18288" anchor="ctr">
            <a:spAutoFit/>
          </a:bodyPr>
          <a:lstStyle/>
          <a:p>
            <a:pPr algn="l"/>
            <a:r>
              <a:rPr sz="800" b="0">
                <a:solidFill>
                  <a:srgbClr val="525C69"/>
                </a:solidFill>
                <a:latin typeface="微软雅黑" panose="020B0503020204020204" charset="-122"/>
              </a:rPr>
              <a:t>开题汇报 | SQL+ / Text-to-SQL / Multi-Agent | 10</a:t>
            </a:r>
            <a:endParaRPr sz="800" b="0">
              <a:solidFill>
                <a:srgbClr val="525C69"/>
              </a:solidFill>
              <a:latin typeface="微软雅黑" panose="020B0503020204020204" charset="-122"/>
            </a:endParaRPr>
          </a:p>
        </p:txBody>
      </p:sp>
      <p:sp>
        <p:nvSpPr>
          <p:cNvPr id="5" name="TextBox 4"/>
          <p:cNvSpPr txBox="1"/>
          <p:nvPr/>
        </p:nvSpPr>
        <p:spPr>
          <a:xfrm>
            <a:off x="548640" y="1700784"/>
            <a:ext cx="8046720" cy="219456"/>
          </a:xfrm>
          <a:prstGeom prst="rect">
            <a:avLst/>
          </a:prstGeom>
          <a:noFill/>
        </p:spPr>
        <p:txBody>
          <a:bodyPr wrap="square" lIns="36576" tIns="18288" rIns="36576" bIns="18288" anchor="ctr">
            <a:spAutoFit/>
          </a:bodyPr>
          <a:lstStyle/>
          <a:p>
            <a:pPr algn="ctr"/>
            <a:r>
              <a:rPr sz="920" b="0">
                <a:solidFill>
                  <a:srgbClr val="525C69"/>
                </a:solidFill>
                <a:latin typeface="微软雅黑" panose="020B0503020204020204" charset="-122"/>
              </a:rPr>
              <a:t>前面动机测试给出的不是最终系统性能，而是设计依据：哪些地方需要 SQL+，哪些地方需要 Agent 分工。</a:t>
            </a:r>
            <a:endParaRPr sz="920" b="0">
              <a:solidFill>
                <a:srgbClr val="525C69"/>
              </a:solidFill>
              <a:latin typeface="微软雅黑" panose="020B0503020204020204" charset="-122"/>
            </a:endParaRPr>
          </a:p>
        </p:txBody>
      </p:sp>
      <p:sp>
        <p:nvSpPr>
          <p:cNvPr id="6" name="Rounded Rectangle 5"/>
          <p:cNvSpPr/>
          <p:nvPr/>
        </p:nvSpPr>
        <p:spPr>
          <a:xfrm>
            <a:off x="658368" y="2148840"/>
            <a:ext cx="2240280" cy="2240280"/>
          </a:xfrm>
          <a:prstGeom prst="roundRect">
            <a:avLst/>
          </a:prstGeom>
          <a:solidFill>
            <a:srgbClr val="F6F8FA"/>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5607" y="2304288"/>
            <a:ext cx="685800" cy="256032"/>
          </a:xfrm>
          <a:prstGeom prst="roundRect">
            <a:avLst/>
          </a:prstGeom>
          <a:solidFill>
            <a:srgbClr val="18375C"/>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820" b="1">
                <a:solidFill>
                  <a:srgbClr val="FFFFFF"/>
                </a:solidFill>
                <a:latin typeface="微软雅黑" panose="020B0503020204020204" charset="-122"/>
              </a:rPr>
              <a:t>生成</a:t>
            </a:r>
            <a:endParaRPr sz="820" b="1">
              <a:solidFill>
                <a:srgbClr val="FFFFFF"/>
              </a:solidFill>
              <a:latin typeface="微软雅黑" panose="020B0503020204020204" charset="-122"/>
            </a:endParaRPr>
          </a:p>
        </p:txBody>
      </p:sp>
      <p:sp>
        <p:nvSpPr>
          <p:cNvPr id="8" name="TextBox 7"/>
          <p:cNvSpPr txBox="1"/>
          <p:nvPr/>
        </p:nvSpPr>
        <p:spPr>
          <a:xfrm>
            <a:off x="822959" y="2724912"/>
            <a:ext cx="1911095" cy="365760"/>
          </a:xfrm>
          <a:prstGeom prst="rect">
            <a:avLst/>
          </a:prstGeom>
          <a:noFill/>
        </p:spPr>
        <p:txBody>
          <a:bodyPr wrap="square" lIns="36576" tIns="18288" rIns="36576" bIns="18288" anchor="ctr">
            <a:spAutoFit/>
          </a:bodyPr>
          <a:lstStyle/>
          <a:p>
            <a:pPr algn="ctr"/>
            <a:r>
              <a:rPr sz="1000" b="1">
                <a:solidFill>
                  <a:srgbClr val="18375C"/>
                </a:solidFill>
                <a:latin typeface="微软雅黑" panose="020B0503020204020204" charset="-122"/>
              </a:rPr>
              <a:t>观察 1：初次生成收益有限</a:t>
            </a:r>
            <a:endParaRPr sz="1000" b="1">
              <a:solidFill>
                <a:srgbClr val="18375C"/>
              </a:solidFill>
              <a:latin typeface="微软雅黑" panose="020B0503020204020204" charset="-122"/>
            </a:endParaRPr>
          </a:p>
        </p:txBody>
      </p:sp>
      <p:sp>
        <p:nvSpPr>
          <p:cNvPr id="9" name="TextBox 8"/>
          <p:cNvSpPr txBox="1"/>
          <p:nvPr/>
        </p:nvSpPr>
        <p:spPr>
          <a:xfrm>
            <a:off x="886968" y="3246120"/>
            <a:ext cx="1783080" cy="868680"/>
          </a:xfrm>
          <a:prstGeom prst="rect">
            <a:avLst/>
          </a:prstGeom>
          <a:noFill/>
        </p:spPr>
        <p:txBody>
          <a:bodyPr wrap="square" lIns="36576" tIns="18288" rIns="36576" bIns="18288" anchor="ctr">
            <a:spAutoFit/>
          </a:bodyPr>
          <a:lstStyle/>
          <a:p>
            <a:pPr algn="ctr"/>
            <a:r>
              <a:rPr sz="800" b="0">
                <a:solidFill>
                  <a:srgbClr val="1F2933"/>
                </a:solidFill>
                <a:latin typeface="微软雅黑" panose="020B0503020204020204" charset="-122"/>
              </a:rPr>
              <a:t>SQL+ prompt v2 只比 Direct SQL 略高，不能把研究重点放在“换一种格式就更准”。</a:t>
            </a:r>
            <a:endParaRPr sz="800" b="0">
              <a:solidFill>
                <a:srgbClr val="1F2933"/>
              </a:solidFill>
              <a:latin typeface="微软雅黑" panose="020B0503020204020204" charset="-122"/>
            </a:endParaRPr>
          </a:p>
        </p:txBody>
      </p:sp>
      <p:sp>
        <p:nvSpPr>
          <p:cNvPr id="10" name="Rounded Rectangle 9"/>
          <p:cNvSpPr/>
          <p:nvPr/>
        </p:nvSpPr>
        <p:spPr>
          <a:xfrm>
            <a:off x="3401568" y="2148840"/>
            <a:ext cx="2240280" cy="2240280"/>
          </a:xfrm>
          <a:prstGeom prst="roundRect">
            <a:avLst/>
          </a:prstGeom>
          <a:solidFill>
            <a:srgbClr val="F6F8FA"/>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178808" y="2304288"/>
            <a:ext cx="685800" cy="256032"/>
          </a:xfrm>
          <a:prstGeom prst="roundRect">
            <a:avLst/>
          </a:prstGeom>
          <a:solidFill>
            <a:srgbClr val="18375C"/>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820" b="1">
                <a:solidFill>
                  <a:srgbClr val="FFFFFF"/>
                </a:solidFill>
                <a:latin typeface="微软雅黑" panose="020B0503020204020204" charset="-122"/>
              </a:rPr>
              <a:t>表示</a:t>
            </a:r>
            <a:endParaRPr sz="820" b="1">
              <a:solidFill>
                <a:srgbClr val="FFFFFF"/>
              </a:solidFill>
              <a:latin typeface="微软雅黑" panose="020B0503020204020204" charset="-122"/>
            </a:endParaRPr>
          </a:p>
        </p:txBody>
      </p:sp>
      <p:sp>
        <p:nvSpPr>
          <p:cNvPr id="12" name="TextBox 11"/>
          <p:cNvSpPr txBox="1"/>
          <p:nvPr/>
        </p:nvSpPr>
        <p:spPr>
          <a:xfrm>
            <a:off x="3566160" y="2724912"/>
            <a:ext cx="1911095" cy="365760"/>
          </a:xfrm>
          <a:prstGeom prst="rect">
            <a:avLst/>
          </a:prstGeom>
          <a:noFill/>
        </p:spPr>
        <p:txBody>
          <a:bodyPr wrap="square" lIns="36576" tIns="18288" rIns="36576" bIns="18288" anchor="ctr">
            <a:spAutoFit/>
          </a:bodyPr>
          <a:lstStyle/>
          <a:p>
            <a:pPr algn="ctr"/>
            <a:r>
              <a:rPr sz="1000" b="1">
                <a:solidFill>
                  <a:srgbClr val="18375C"/>
                </a:solidFill>
                <a:latin typeface="微软雅黑" panose="020B0503020204020204" charset="-122"/>
              </a:rPr>
              <a:t>观察 2：表达依赖明显下降</a:t>
            </a:r>
            <a:endParaRPr sz="1000" b="1">
              <a:solidFill>
                <a:srgbClr val="18375C"/>
              </a:solidFill>
              <a:latin typeface="微软雅黑" panose="020B0503020204020204" charset="-122"/>
            </a:endParaRPr>
          </a:p>
        </p:txBody>
      </p:sp>
      <p:sp>
        <p:nvSpPr>
          <p:cNvPr id="13" name="TextBox 12"/>
          <p:cNvSpPr txBox="1"/>
          <p:nvPr/>
        </p:nvSpPr>
        <p:spPr>
          <a:xfrm>
            <a:off x="3630168" y="3246120"/>
            <a:ext cx="1783080" cy="868680"/>
          </a:xfrm>
          <a:prstGeom prst="rect">
            <a:avLst/>
          </a:prstGeom>
          <a:noFill/>
        </p:spPr>
        <p:txBody>
          <a:bodyPr wrap="square" lIns="36576" tIns="18288" rIns="36576" bIns="18288" anchor="ctr">
            <a:spAutoFit/>
          </a:bodyPr>
          <a:lstStyle/>
          <a:p>
            <a:pPr algn="ctr"/>
            <a:r>
              <a:rPr sz="800" b="0">
                <a:solidFill>
                  <a:srgbClr val="1F2933"/>
                </a:solidFill>
                <a:latin typeface="微软雅黑" panose="020B0503020204020204" charset="-122"/>
              </a:rPr>
              <a:t>SQL+ 的 alias dependency 和 cross-clause reference 更低，说明步骤边界更适合错误定位。</a:t>
            </a:r>
            <a:endParaRPr sz="800" b="0">
              <a:solidFill>
                <a:srgbClr val="1F2933"/>
              </a:solidFill>
              <a:latin typeface="微软雅黑" panose="020B0503020204020204" charset="-122"/>
            </a:endParaRPr>
          </a:p>
        </p:txBody>
      </p:sp>
      <p:sp>
        <p:nvSpPr>
          <p:cNvPr id="14" name="Rounded Rectangle 13"/>
          <p:cNvSpPr/>
          <p:nvPr/>
        </p:nvSpPr>
        <p:spPr>
          <a:xfrm>
            <a:off x="6144768" y="2148840"/>
            <a:ext cx="2240280" cy="2240280"/>
          </a:xfrm>
          <a:prstGeom prst="roundRect">
            <a:avLst/>
          </a:prstGeom>
          <a:solidFill>
            <a:srgbClr val="F6F8FA"/>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922007" y="2304288"/>
            <a:ext cx="685800" cy="256032"/>
          </a:xfrm>
          <a:prstGeom prst="roundRect">
            <a:avLst/>
          </a:prstGeom>
          <a:solidFill>
            <a:srgbClr val="18375C"/>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820" b="1">
                <a:solidFill>
                  <a:srgbClr val="FFFFFF"/>
                </a:solidFill>
                <a:latin typeface="微软雅黑" panose="020B0503020204020204" charset="-122"/>
              </a:rPr>
              <a:t>修复</a:t>
            </a:r>
            <a:endParaRPr sz="820" b="1">
              <a:solidFill>
                <a:srgbClr val="FFFFFF"/>
              </a:solidFill>
              <a:latin typeface="微软雅黑" panose="020B0503020204020204" charset="-122"/>
            </a:endParaRPr>
          </a:p>
        </p:txBody>
      </p:sp>
      <p:sp>
        <p:nvSpPr>
          <p:cNvPr id="16" name="TextBox 15"/>
          <p:cNvSpPr txBox="1"/>
          <p:nvPr/>
        </p:nvSpPr>
        <p:spPr>
          <a:xfrm>
            <a:off x="6309359" y="2724912"/>
            <a:ext cx="1911095" cy="365760"/>
          </a:xfrm>
          <a:prstGeom prst="rect">
            <a:avLst/>
          </a:prstGeom>
          <a:noFill/>
        </p:spPr>
        <p:txBody>
          <a:bodyPr wrap="square" lIns="36576" tIns="18288" rIns="36576" bIns="18288" anchor="ctr">
            <a:spAutoFit/>
          </a:bodyPr>
          <a:lstStyle/>
          <a:p>
            <a:pPr algn="ctr"/>
            <a:r>
              <a:rPr sz="1000" b="1">
                <a:solidFill>
                  <a:srgbClr val="18375C"/>
                </a:solidFill>
                <a:latin typeface="微软雅黑" panose="020B0503020204020204" charset="-122"/>
              </a:rPr>
              <a:t>观察 3：局部修复收益明显</a:t>
            </a:r>
            <a:endParaRPr sz="1000" b="1">
              <a:solidFill>
                <a:srgbClr val="18375C"/>
              </a:solidFill>
              <a:latin typeface="微软雅黑" panose="020B0503020204020204" charset="-122"/>
            </a:endParaRPr>
          </a:p>
        </p:txBody>
      </p:sp>
      <p:sp>
        <p:nvSpPr>
          <p:cNvPr id="17" name="TextBox 16"/>
          <p:cNvSpPr txBox="1"/>
          <p:nvPr/>
        </p:nvSpPr>
        <p:spPr>
          <a:xfrm>
            <a:off x="6373368" y="3246120"/>
            <a:ext cx="1783080" cy="868680"/>
          </a:xfrm>
          <a:prstGeom prst="rect">
            <a:avLst/>
          </a:prstGeom>
          <a:noFill/>
        </p:spPr>
        <p:txBody>
          <a:bodyPr wrap="square" lIns="36576" tIns="18288" rIns="36576" bIns="18288" anchor="ctr">
            <a:spAutoFit/>
          </a:bodyPr>
          <a:lstStyle/>
          <a:p>
            <a:pPr algn="ctr"/>
            <a:r>
              <a:rPr sz="800" b="0">
                <a:solidFill>
                  <a:srgbClr val="1F2933"/>
                </a:solidFill>
                <a:latin typeface="微软雅黑" panose="020B0503020204020204" charset="-122"/>
              </a:rPr>
              <a:t>Router + Repair Skills 在已知失败集上显著高于单 Refiner，说明修复应工具化、分治化。</a:t>
            </a:r>
            <a:endParaRPr sz="800" b="0">
              <a:solidFill>
                <a:srgbClr val="1F2933"/>
              </a:solidFill>
              <a:latin typeface="微软雅黑" panose="020B0503020204020204" charset="-122"/>
            </a:endParaRPr>
          </a:p>
        </p:txBody>
      </p:sp>
      <p:sp>
        <p:nvSpPr>
          <p:cNvPr id="18" name="Rounded Rectangle 17"/>
          <p:cNvSpPr/>
          <p:nvPr/>
        </p:nvSpPr>
        <p:spPr>
          <a:xfrm>
            <a:off x="658368" y="5349240"/>
            <a:ext cx="7909560" cy="365760"/>
          </a:xfrm>
          <a:prstGeom prst="roundRect">
            <a:avLst/>
          </a:prstGeom>
          <a:solidFill>
            <a:srgbClr val="FAEBEB"/>
          </a:solidFill>
          <a:ln w="12700">
            <a:solidFill>
              <a:srgbClr val="B2262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a:solidFill>
                  <a:srgbClr val="B22626"/>
                </a:solidFill>
                <a:latin typeface="微软雅黑" panose="020B0503020204020204" charset="-122"/>
              </a:rPr>
              <a:t>因此系统设计为：NL -&gt; SQL+ -&gt; SQL -&gt; Execution Feedback -&gt; Critic -&gt; Router -&gt; Repair Skill -&gt; Re-execute。</a:t>
            </a:r>
            <a:endParaRPr sz="900" b="1">
              <a:solidFill>
                <a:srgbClr val="B22626"/>
              </a:solidFill>
              <a:latin typeface="微软雅黑" panose="020B0503020204020204"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4970" y="1034923"/>
            <a:ext cx="8412480" cy="530352"/>
          </a:xfrm>
          <a:prstGeom prst="rect">
            <a:avLst/>
          </a:prstGeom>
          <a:noFill/>
        </p:spPr>
        <p:txBody>
          <a:bodyPr wrap="square" anchor="ctr">
            <a:spAutoFit/>
          </a:bodyPr>
          <a:lstStyle/>
          <a:p>
            <a:pPr algn="l"/>
            <a:r>
              <a:rPr sz="2400" b="1">
                <a:solidFill>
                  <a:srgbClr val="18375C"/>
                </a:solidFill>
                <a:latin typeface="微软雅黑" panose="020B0503020204020204" charset="-122"/>
              </a:rPr>
              <a:t>研究不足与本课题切入点</a:t>
            </a:r>
            <a:endParaRPr sz="2400" b="1">
              <a:solidFill>
                <a:srgbClr val="18375C"/>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667080"/>
                </a:solidFill>
                <a:latin typeface="微软雅黑" panose="020B0503020204020204" charset="-122"/>
              </a:rPr>
              <a:t>开题汇报 | SQL+ / Text-to-SQL / Multi-Agent | 11</a:t>
            </a:r>
            <a:endParaRPr sz="800" b="0">
              <a:solidFill>
                <a:srgbClr val="667080"/>
              </a:solidFill>
              <a:latin typeface="微软雅黑" panose="020B0503020204020204" charset="-122"/>
            </a:endParaRPr>
          </a:p>
        </p:txBody>
      </p:sp>
      <p:sp>
        <p:nvSpPr>
          <p:cNvPr id="4" name="Rectangle 3"/>
          <p:cNvSpPr/>
          <p:nvPr/>
        </p:nvSpPr>
        <p:spPr>
          <a:xfrm>
            <a:off x="544195" y="1916430"/>
            <a:ext cx="3429000" cy="960120"/>
          </a:xfrm>
          <a:prstGeom prst="rect">
            <a:avLst/>
          </a:prstGeom>
          <a:solidFill>
            <a:srgbClr val="F6F8FA"/>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5" name="TextBox 4"/>
          <p:cNvSpPr txBox="1"/>
          <p:nvPr/>
        </p:nvSpPr>
        <p:spPr>
          <a:xfrm>
            <a:off x="745362" y="2062734"/>
            <a:ext cx="2834640" cy="237744"/>
          </a:xfrm>
          <a:prstGeom prst="rect">
            <a:avLst/>
          </a:prstGeom>
          <a:noFill/>
        </p:spPr>
        <p:txBody>
          <a:bodyPr wrap="square" anchor="ctr">
            <a:spAutoFit/>
          </a:bodyPr>
          <a:lstStyle/>
          <a:p>
            <a:pPr algn="l"/>
            <a:r>
              <a:rPr sz="1400" b="1">
                <a:solidFill>
                  <a:srgbClr val="18375C"/>
                </a:solidFill>
                <a:latin typeface="微软雅黑" panose="020B0503020204020204" charset="-122"/>
              </a:rPr>
              <a:t>中间表示</a:t>
            </a:r>
            <a:endParaRPr sz="1400" b="1">
              <a:solidFill>
                <a:srgbClr val="18375C"/>
              </a:solidFill>
              <a:latin typeface="微软雅黑" panose="020B0503020204020204" charset="-122"/>
            </a:endParaRPr>
          </a:p>
        </p:txBody>
      </p:sp>
      <p:sp>
        <p:nvSpPr>
          <p:cNvPr id="6" name="TextBox 5"/>
          <p:cNvSpPr txBox="1"/>
          <p:nvPr/>
        </p:nvSpPr>
        <p:spPr>
          <a:xfrm>
            <a:off x="745362" y="2391918"/>
            <a:ext cx="2834640" cy="310896"/>
          </a:xfrm>
          <a:prstGeom prst="rect">
            <a:avLst/>
          </a:prstGeom>
          <a:noFill/>
        </p:spPr>
        <p:txBody>
          <a:bodyPr wrap="square" anchor="ctr">
            <a:spAutoFit/>
          </a:bodyPr>
          <a:lstStyle/>
          <a:p>
            <a:pPr algn="l"/>
            <a:r>
              <a:rPr sz="1000" b="0">
                <a:solidFill>
                  <a:srgbClr val="1F2933"/>
                </a:solidFill>
                <a:latin typeface="微软雅黑" panose="020B0503020204020204" charset="-122"/>
              </a:rPr>
              <a:t>多服务于初次生成，对执行反馈后的局部修复关注不足</a:t>
            </a:r>
            <a:endParaRPr sz="1000" b="0">
              <a:solidFill>
                <a:srgbClr val="1F2933"/>
              </a:solidFill>
              <a:latin typeface="微软雅黑" panose="020B0503020204020204" charset="-122"/>
            </a:endParaRPr>
          </a:p>
        </p:txBody>
      </p:sp>
      <p:sp>
        <p:nvSpPr>
          <p:cNvPr id="7" name="Rectangle 6"/>
          <p:cNvSpPr/>
          <p:nvPr/>
        </p:nvSpPr>
        <p:spPr>
          <a:xfrm>
            <a:off x="4613275" y="1916430"/>
            <a:ext cx="3429000" cy="960120"/>
          </a:xfrm>
          <a:prstGeom prst="rect">
            <a:avLst/>
          </a:prstGeom>
          <a:solidFill>
            <a:srgbClr val="F6F8FA"/>
          </a:solidFill>
          <a:ln>
            <a:solidFill>
              <a:srgbClr val="525C6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8" name="TextBox 7"/>
          <p:cNvSpPr txBox="1"/>
          <p:nvPr/>
        </p:nvSpPr>
        <p:spPr>
          <a:xfrm>
            <a:off x="4814443" y="2062734"/>
            <a:ext cx="2834640" cy="237744"/>
          </a:xfrm>
          <a:prstGeom prst="rect">
            <a:avLst/>
          </a:prstGeom>
          <a:noFill/>
        </p:spPr>
        <p:txBody>
          <a:bodyPr wrap="square" anchor="ctr">
            <a:spAutoFit/>
          </a:bodyPr>
          <a:lstStyle/>
          <a:p>
            <a:pPr algn="l"/>
            <a:r>
              <a:rPr sz="1400" b="1">
                <a:solidFill>
                  <a:srgbClr val="525C69"/>
                </a:solidFill>
                <a:latin typeface="微软雅黑" panose="020B0503020204020204" charset="-122"/>
              </a:rPr>
              <a:t>Agent 系统</a:t>
            </a:r>
            <a:endParaRPr sz="1400" b="1">
              <a:solidFill>
                <a:srgbClr val="525C69"/>
              </a:solidFill>
              <a:latin typeface="微软雅黑" panose="020B0503020204020204" charset="-122"/>
            </a:endParaRPr>
          </a:p>
        </p:txBody>
      </p:sp>
      <p:sp>
        <p:nvSpPr>
          <p:cNvPr id="9" name="TextBox 8"/>
          <p:cNvSpPr txBox="1"/>
          <p:nvPr/>
        </p:nvSpPr>
        <p:spPr>
          <a:xfrm>
            <a:off x="4814443" y="2391918"/>
            <a:ext cx="2834640" cy="310896"/>
          </a:xfrm>
          <a:prstGeom prst="rect">
            <a:avLst/>
          </a:prstGeom>
          <a:noFill/>
        </p:spPr>
        <p:txBody>
          <a:bodyPr wrap="square" anchor="ctr">
            <a:spAutoFit/>
          </a:bodyPr>
          <a:lstStyle/>
          <a:p>
            <a:pPr algn="l"/>
            <a:r>
              <a:rPr sz="1000" b="0">
                <a:solidFill>
                  <a:srgbClr val="1F2933"/>
                </a:solidFill>
                <a:latin typeface="微软雅黑" panose="020B0503020204020204" charset="-122"/>
              </a:rPr>
              <a:t>常用于分解、候选生成和选择，错误不一定映射到可修复步骤</a:t>
            </a:r>
            <a:endParaRPr sz="1000" b="0">
              <a:solidFill>
                <a:srgbClr val="1F2933"/>
              </a:solidFill>
              <a:latin typeface="微软雅黑" panose="020B0503020204020204" charset="-122"/>
            </a:endParaRPr>
          </a:p>
        </p:txBody>
      </p:sp>
      <p:sp>
        <p:nvSpPr>
          <p:cNvPr id="10" name="Rectangle 9"/>
          <p:cNvSpPr/>
          <p:nvPr/>
        </p:nvSpPr>
        <p:spPr>
          <a:xfrm>
            <a:off x="544195" y="3516630"/>
            <a:ext cx="3429000" cy="960120"/>
          </a:xfrm>
          <a:prstGeom prst="rect">
            <a:avLst/>
          </a:prstGeom>
          <a:solidFill>
            <a:srgbClr val="F6F8FA"/>
          </a:solidFill>
          <a:ln>
            <a:solidFill>
              <a:srgbClr val="3A4E5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11" name="TextBox 10"/>
          <p:cNvSpPr txBox="1"/>
          <p:nvPr/>
        </p:nvSpPr>
        <p:spPr>
          <a:xfrm>
            <a:off x="745362" y="3662934"/>
            <a:ext cx="2834640" cy="237744"/>
          </a:xfrm>
          <a:prstGeom prst="rect">
            <a:avLst/>
          </a:prstGeom>
          <a:noFill/>
        </p:spPr>
        <p:txBody>
          <a:bodyPr wrap="square" anchor="ctr">
            <a:spAutoFit/>
          </a:bodyPr>
          <a:lstStyle/>
          <a:p>
            <a:pPr algn="l"/>
            <a:r>
              <a:rPr sz="1400" b="1">
                <a:solidFill>
                  <a:srgbClr val="3A4E5E"/>
                </a:solidFill>
                <a:latin typeface="微软雅黑" panose="020B0503020204020204" charset="-122"/>
              </a:rPr>
              <a:t>评价指标</a:t>
            </a:r>
            <a:endParaRPr sz="1400" b="1">
              <a:solidFill>
                <a:srgbClr val="3A4E5E"/>
              </a:solidFill>
              <a:latin typeface="微软雅黑" panose="020B0503020204020204" charset="-122"/>
            </a:endParaRPr>
          </a:p>
        </p:txBody>
      </p:sp>
      <p:sp>
        <p:nvSpPr>
          <p:cNvPr id="12" name="TextBox 11"/>
          <p:cNvSpPr txBox="1"/>
          <p:nvPr/>
        </p:nvSpPr>
        <p:spPr>
          <a:xfrm>
            <a:off x="745362" y="3992118"/>
            <a:ext cx="2834640" cy="310896"/>
          </a:xfrm>
          <a:prstGeom prst="rect">
            <a:avLst/>
          </a:prstGeom>
          <a:noFill/>
        </p:spPr>
        <p:txBody>
          <a:bodyPr wrap="square" anchor="ctr">
            <a:spAutoFit/>
          </a:bodyPr>
          <a:lstStyle/>
          <a:p>
            <a:pPr algn="l"/>
            <a:r>
              <a:rPr sz="1000" b="0">
                <a:solidFill>
                  <a:srgbClr val="1F2933"/>
                </a:solidFill>
                <a:latin typeface="微软雅黑" panose="020B0503020204020204" charset="-122"/>
              </a:rPr>
              <a:t>execution accuracy 不够，需要 repairability 和成本指标</a:t>
            </a:r>
            <a:endParaRPr sz="1000" b="0">
              <a:solidFill>
                <a:srgbClr val="1F2933"/>
              </a:solidFill>
              <a:latin typeface="微软雅黑" panose="020B0503020204020204" charset="-122"/>
            </a:endParaRPr>
          </a:p>
        </p:txBody>
      </p:sp>
      <p:sp>
        <p:nvSpPr>
          <p:cNvPr id="13" name="Rectangle 12"/>
          <p:cNvSpPr/>
          <p:nvPr/>
        </p:nvSpPr>
        <p:spPr>
          <a:xfrm>
            <a:off x="4613275" y="3516630"/>
            <a:ext cx="3429000" cy="960120"/>
          </a:xfrm>
          <a:prstGeom prst="rect">
            <a:avLst/>
          </a:prstGeom>
          <a:solidFill>
            <a:srgbClr val="F6F8FA"/>
          </a:solidFill>
          <a:ln>
            <a:solidFill>
              <a:srgbClr val="B2262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14" name="TextBox 13"/>
          <p:cNvSpPr txBox="1"/>
          <p:nvPr/>
        </p:nvSpPr>
        <p:spPr>
          <a:xfrm>
            <a:off x="4814443" y="3662934"/>
            <a:ext cx="2834640" cy="237744"/>
          </a:xfrm>
          <a:prstGeom prst="rect">
            <a:avLst/>
          </a:prstGeom>
          <a:noFill/>
        </p:spPr>
        <p:txBody>
          <a:bodyPr wrap="square" anchor="ctr">
            <a:spAutoFit/>
          </a:bodyPr>
          <a:lstStyle/>
          <a:p>
            <a:pPr algn="l"/>
            <a:r>
              <a:rPr sz="1400" b="1">
                <a:solidFill>
                  <a:srgbClr val="B22626"/>
                </a:solidFill>
                <a:latin typeface="微软雅黑" panose="020B0503020204020204" charset="-122"/>
              </a:rPr>
              <a:t>真实环境</a:t>
            </a:r>
            <a:endParaRPr sz="1400" b="1">
              <a:solidFill>
                <a:srgbClr val="B22626"/>
              </a:solidFill>
              <a:latin typeface="微软雅黑" panose="020B0503020204020204" charset="-122"/>
            </a:endParaRPr>
          </a:p>
        </p:txBody>
      </p:sp>
      <p:sp>
        <p:nvSpPr>
          <p:cNvPr id="15" name="TextBox 14"/>
          <p:cNvSpPr txBox="1"/>
          <p:nvPr/>
        </p:nvSpPr>
        <p:spPr>
          <a:xfrm>
            <a:off x="4814443" y="3992118"/>
            <a:ext cx="2834640" cy="310896"/>
          </a:xfrm>
          <a:prstGeom prst="rect">
            <a:avLst/>
          </a:prstGeom>
          <a:noFill/>
        </p:spPr>
        <p:txBody>
          <a:bodyPr wrap="square" anchor="ctr">
            <a:spAutoFit/>
          </a:bodyPr>
          <a:lstStyle/>
          <a:p>
            <a:pPr algn="l"/>
            <a:r>
              <a:rPr sz="1000" b="0">
                <a:solidFill>
                  <a:srgbClr val="1F2933"/>
                </a:solidFill>
                <a:latin typeface="微软雅黑" panose="020B0503020204020204" charset="-122"/>
              </a:rPr>
              <a:t>公开 benchmark 与企业数据库方言、脏值、外部知识仍有差距</a:t>
            </a:r>
            <a:endParaRPr sz="1000" b="0">
              <a:solidFill>
                <a:srgbClr val="1F2933"/>
              </a:solidFill>
              <a:latin typeface="微软雅黑" panose="020B0503020204020204" charset="-122"/>
            </a:endParaRPr>
          </a:p>
        </p:txBody>
      </p:sp>
      <p:sp>
        <p:nvSpPr>
          <p:cNvPr id="16" name="Rectangle 15"/>
          <p:cNvSpPr/>
          <p:nvPr/>
        </p:nvSpPr>
        <p:spPr>
          <a:xfrm>
            <a:off x="804672" y="4846320"/>
            <a:ext cx="7543800" cy="530352"/>
          </a:xfrm>
          <a:prstGeom prst="rect">
            <a:avLst/>
          </a:prstGeom>
          <a:solidFill>
            <a:srgbClr val="FAEBEB"/>
          </a:solidFill>
          <a:ln>
            <a:solidFill>
              <a:srgbClr val="B2262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B22626"/>
                </a:solidFill>
                <a:latin typeface="微软雅黑" panose="020B0503020204020204" charset="-122"/>
              </a:rPr>
              <a:t>切入点：让 Critic、Router、Repair Skill 和 Executor 围绕 SQL+ 步骤工作。</a:t>
            </a:r>
            <a:endParaRPr sz="1400" b="1">
              <a:solidFill>
                <a:srgbClr val="B22626"/>
              </a:solidFill>
              <a:latin typeface="微软雅黑" panose="020B0503020204020204"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251460" y="1124521"/>
            <a:ext cx="8412480" cy="460375"/>
          </a:xfrm>
          <a:prstGeom prst="rect">
            <a:avLst/>
          </a:prstGeom>
          <a:noFill/>
        </p:spPr>
        <p:txBody>
          <a:bodyPr wrap="square" anchor="ctr">
            <a:spAutoFit/>
          </a:bodyPr>
          <a:lstStyle/>
          <a:p>
            <a:pPr algn="l"/>
            <a:r>
              <a:rPr sz="2400" b="1">
                <a:solidFill>
                  <a:srgbClr val="18375C"/>
                </a:solidFill>
                <a:latin typeface="微软雅黑" panose="020B0503020204020204" charset="-122"/>
              </a:rPr>
              <a:t>SQL+ 多智能体反馈修正框架</a:t>
            </a:r>
            <a:endParaRPr sz="2400" b="1">
              <a:solidFill>
                <a:srgbClr val="18375C"/>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667080"/>
                </a:solidFill>
                <a:latin typeface="微软雅黑" panose="020B0503020204020204" charset="-122"/>
              </a:rPr>
              <a:t>开题汇报 | SQL+ / Text-to-SQL / Multi-Agent | 12</a:t>
            </a:r>
            <a:endParaRPr sz="800" b="0">
              <a:solidFill>
                <a:srgbClr val="667080"/>
              </a:solidFill>
              <a:latin typeface="微软雅黑" panose="020B0503020204020204" charset="-122"/>
            </a:endParaRPr>
          </a:p>
        </p:txBody>
      </p:sp>
      <p:sp>
        <p:nvSpPr>
          <p:cNvPr id="20" name="Rectangle 19"/>
          <p:cNvSpPr/>
          <p:nvPr/>
        </p:nvSpPr>
        <p:spPr>
          <a:xfrm>
            <a:off x="804672" y="5596128"/>
            <a:ext cx="7543800" cy="530352"/>
          </a:xfrm>
          <a:prstGeom prst="rect">
            <a:avLst/>
          </a:prstGeom>
          <a:solidFill>
            <a:srgbClr val="FAEBEB"/>
          </a:solidFill>
          <a:ln>
            <a:solidFill>
              <a:srgbClr val="B2262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B22626"/>
                </a:solidFill>
                <a:latin typeface="微软雅黑" panose="020B0503020204020204" charset="-122"/>
              </a:rPr>
              <a:t>核心思路：不整条重写 SQL，把错误压回 SQL+ 的局部步骤中修。</a:t>
            </a:r>
            <a:endParaRPr sz="1400" b="1">
              <a:solidFill>
                <a:srgbClr val="B22626"/>
              </a:solidFill>
              <a:latin typeface="微软雅黑" panose="020B0503020204020204" charset="-122"/>
            </a:endParaRPr>
          </a:p>
        </p:txBody>
      </p:sp>
      <p:pic>
        <p:nvPicPr>
          <p:cNvPr id="21" name="图片 20"/>
          <p:cNvPicPr>
            <a:picLocks noChangeAspect="1"/>
          </p:cNvPicPr>
          <p:nvPr/>
        </p:nvPicPr>
        <p:blipFill>
          <a:blip r:embed="rId1"/>
          <a:stretch>
            <a:fillRect/>
          </a:stretch>
        </p:blipFill>
        <p:spPr>
          <a:xfrm>
            <a:off x="35560" y="1744980"/>
            <a:ext cx="9144000" cy="385127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3192" y="1033271"/>
            <a:ext cx="8412480" cy="530352"/>
          </a:xfrm>
          <a:prstGeom prst="rect">
            <a:avLst/>
          </a:prstGeom>
          <a:noFill/>
        </p:spPr>
        <p:txBody>
          <a:bodyPr wrap="square" lIns="36576" tIns="18288" rIns="36576" bIns="18288" anchor="ctr">
            <a:spAutoFit/>
          </a:bodyPr>
          <a:lstStyle/>
          <a:p>
            <a:pPr algn="l"/>
            <a:r>
              <a:rPr sz="2000" b="1">
                <a:solidFill>
                  <a:srgbClr val="18375C"/>
                </a:solidFill>
                <a:latin typeface="微软雅黑" panose="020B0503020204020204" charset="-122"/>
              </a:rPr>
              <a:t>SQL 与 SQL+ 对照：把复杂查询拆成可诊断步骤</a:t>
            </a:r>
            <a:endParaRPr sz="2000" b="1">
              <a:solidFill>
                <a:srgbClr val="18375C"/>
              </a:solidFill>
              <a:latin typeface="微软雅黑" panose="020B0503020204020204" charset="-122"/>
            </a:endParaRPr>
          </a:p>
        </p:txBody>
      </p:sp>
      <p:sp>
        <p:nvSpPr>
          <p:cNvPr id="4" name="TextBox 3"/>
          <p:cNvSpPr txBox="1"/>
          <p:nvPr/>
        </p:nvSpPr>
        <p:spPr>
          <a:xfrm>
            <a:off x="502920" y="6428232"/>
            <a:ext cx="8138160" cy="201168"/>
          </a:xfrm>
          <a:prstGeom prst="rect">
            <a:avLst/>
          </a:prstGeom>
          <a:noFill/>
        </p:spPr>
        <p:txBody>
          <a:bodyPr wrap="square" lIns="36576" tIns="18288" rIns="36576" bIns="18288" anchor="ctr">
            <a:spAutoFit/>
          </a:bodyPr>
          <a:lstStyle/>
          <a:p>
            <a:pPr algn="l"/>
            <a:r>
              <a:rPr sz="800" b="0">
                <a:solidFill>
                  <a:srgbClr val="525C69"/>
                </a:solidFill>
                <a:latin typeface="微软雅黑" panose="020B0503020204020204" charset="-122"/>
              </a:rPr>
              <a:t>开题汇报 | SQL+ / Text-to-SQL / Multi-Agent | 13</a:t>
            </a:r>
            <a:endParaRPr sz="800" b="0">
              <a:solidFill>
                <a:srgbClr val="525C69"/>
              </a:solidFill>
              <a:latin typeface="微软雅黑" panose="020B0503020204020204" charset="-122"/>
            </a:endParaRPr>
          </a:p>
        </p:txBody>
      </p:sp>
      <p:sp>
        <p:nvSpPr>
          <p:cNvPr id="5" name="Rounded Rectangle 4"/>
          <p:cNvSpPr/>
          <p:nvPr/>
        </p:nvSpPr>
        <p:spPr>
          <a:xfrm>
            <a:off x="530225" y="1802003"/>
            <a:ext cx="8001000" cy="320040"/>
          </a:xfrm>
          <a:prstGeom prst="roundRect">
            <a:avLst/>
          </a:prstGeom>
          <a:solidFill>
            <a:srgbClr val="EBF0F6"/>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30" b="1">
                <a:solidFill>
                  <a:srgbClr val="18375C"/>
                </a:solidFill>
                <a:latin typeface="微软雅黑" panose="020B0503020204020204" charset="-122"/>
              </a:rPr>
              <a:t>自然语言问题：查询已支付订单中金额最高的 10 个订单，返回订单编号和订单金额。</a:t>
            </a:r>
            <a:endParaRPr sz="930" b="1">
              <a:solidFill>
                <a:srgbClr val="18375C"/>
              </a:solidFill>
              <a:latin typeface="微软雅黑" panose="020B0503020204020204" charset="-122"/>
            </a:endParaRPr>
          </a:p>
        </p:txBody>
      </p:sp>
      <p:sp>
        <p:nvSpPr>
          <p:cNvPr id="6" name="Rounded Rectangle 5"/>
          <p:cNvSpPr/>
          <p:nvPr/>
        </p:nvSpPr>
        <p:spPr>
          <a:xfrm>
            <a:off x="511937" y="2259203"/>
            <a:ext cx="3840480" cy="274320"/>
          </a:xfrm>
          <a:prstGeom prst="roundRect">
            <a:avLst/>
          </a:prstGeom>
          <a:solidFill>
            <a:srgbClr val="18375C"/>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30" b="1">
                <a:solidFill>
                  <a:srgbClr val="FFFFFF"/>
                </a:solidFill>
                <a:latin typeface="微软雅黑" panose="020B0503020204020204" charset="-122"/>
              </a:rPr>
              <a:t>原始 SQL</a:t>
            </a:r>
            <a:endParaRPr sz="930" b="1">
              <a:solidFill>
                <a:srgbClr val="FFFFFF"/>
              </a:solidFill>
              <a:latin typeface="微软雅黑" panose="020B0503020204020204" charset="-122"/>
            </a:endParaRPr>
          </a:p>
        </p:txBody>
      </p:sp>
      <p:sp>
        <p:nvSpPr>
          <p:cNvPr id="7" name="Rounded Rectangle 6"/>
          <p:cNvSpPr/>
          <p:nvPr/>
        </p:nvSpPr>
        <p:spPr>
          <a:xfrm>
            <a:off x="511810" y="2533650"/>
            <a:ext cx="3840480" cy="1759585"/>
          </a:xfrm>
          <a:prstGeom prst="roundRect">
            <a:avLst/>
          </a:prstGeom>
          <a:solidFill>
            <a:srgbClr val="FFFFFF"/>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l"/>
            <a:r>
              <a:rPr sz="830" b="0">
                <a:solidFill>
                  <a:srgbClr val="1F2933"/>
                </a:solidFill>
                <a:latin typeface="微软雅黑" panose="020B0503020204020204" charset="-122"/>
              </a:rPr>
              <a:t>SELECT o.order_id,
       SUM(oi.quantity * oi.unit_price) AS amount
FROM orders AS o
JOIN order_items AS oi
  ON o.order_id = oi.order_id
WHERE o.status = 'paid'
GROUP BY o.order_id
ORDER BY amount DESC
LIMIT 10;</a:t>
            </a:r>
            <a:endParaRPr sz="830" b="0">
              <a:solidFill>
                <a:srgbClr val="1F2933"/>
              </a:solidFill>
              <a:latin typeface="微软雅黑" panose="020B0503020204020204" charset="-122"/>
            </a:endParaRPr>
          </a:p>
        </p:txBody>
      </p:sp>
      <p:sp>
        <p:nvSpPr>
          <p:cNvPr id="8" name="Rounded Rectangle 7"/>
          <p:cNvSpPr/>
          <p:nvPr/>
        </p:nvSpPr>
        <p:spPr>
          <a:xfrm>
            <a:off x="4599305" y="2259203"/>
            <a:ext cx="3840480" cy="274320"/>
          </a:xfrm>
          <a:prstGeom prst="roundRect">
            <a:avLst/>
          </a:prstGeom>
          <a:solidFill>
            <a:srgbClr val="18375C"/>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30" b="1">
                <a:solidFill>
                  <a:srgbClr val="FFFFFF"/>
                </a:solidFill>
                <a:latin typeface="微软雅黑" panose="020B0503020204020204" charset="-122"/>
              </a:rPr>
              <a:t>SQL+ 中间表示</a:t>
            </a:r>
            <a:endParaRPr sz="930" b="1">
              <a:solidFill>
                <a:srgbClr val="FFFFFF"/>
              </a:solidFill>
              <a:latin typeface="微软雅黑" panose="020B0503020204020204" charset="-122"/>
            </a:endParaRPr>
          </a:p>
        </p:txBody>
      </p:sp>
      <p:sp>
        <p:nvSpPr>
          <p:cNvPr id="9" name="Rounded Rectangle 8"/>
          <p:cNvSpPr/>
          <p:nvPr/>
        </p:nvSpPr>
        <p:spPr>
          <a:xfrm>
            <a:off x="4599305" y="2533650"/>
            <a:ext cx="3840480" cy="1759585"/>
          </a:xfrm>
          <a:prstGeom prst="roundRect">
            <a:avLst/>
          </a:prstGeom>
          <a:solidFill>
            <a:srgbClr val="FFFFFF"/>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l"/>
            <a:r>
              <a:rPr sz="830" b="0">
                <a:solidFill>
                  <a:srgbClr val="1F2933"/>
                </a:solidFill>
                <a:latin typeface="微软雅黑" panose="020B0503020204020204" charset="-122"/>
              </a:rPr>
              <a:t>FROM orders AS o
| JOIN order_items AS oi ON o.order_id = oi.order_id
| WHERE o.status = 'paid'
| GROUP o.order_id
| AGG o.order_id, SUM(oi.quantity * oi.unit_price) AS amount
| SELECT o.order_id, amount
| ORDER amount DESC
| LIMIT 10</a:t>
            </a:r>
            <a:endParaRPr sz="830" b="0">
              <a:solidFill>
                <a:srgbClr val="1F2933"/>
              </a:solidFill>
              <a:latin typeface="微软雅黑" panose="020B0503020204020204" charset="-122"/>
            </a:endParaRPr>
          </a:p>
        </p:txBody>
      </p:sp>
      <p:graphicFrame>
        <p:nvGraphicFramePr>
          <p:cNvPr id="10" name="Table 9"/>
          <p:cNvGraphicFramePr>
            <a:graphicFrameLocks noGrp="1"/>
          </p:cNvGraphicFramePr>
          <p:nvPr/>
        </p:nvGraphicFramePr>
        <p:xfrm>
          <a:off x="511810" y="4580890"/>
          <a:ext cx="5074920" cy="1367790"/>
        </p:xfrm>
        <a:graphic>
          <a:graphicData uri="http://schemas.openxmlformats.org/drawingml/2006/table">
            <a:tbl>
              <a:tblPr firstRow="1" bandRow="1">
                <a:tableStyleId>{5C22544A-7EE6-4342-B048-85BDC9FD1C3A}</a:tableStyleId>
              </a:tblPr>
              <a:tblGrid>
                <a:gridCol w="1188720"/>
                <a:gridCol w="3886200"/>
              </a:tblGrid>
              <a:tr h="227965">
                <a:tc>
                  <a:txBody>
                    <a:bodyPr wrap="square"/>
                    <a:lstStyle/>
                    <a:p>
                      <a:pPr algn="ctr"/>
                      <a:r>
                        <a:rPr sz="880" b="1">
                          <a:solidFill>
                            <a:srgbClr val="FFFFFF"/>
                          </a:solidFill>
                          <a:latin typeface="微软雅黑" panose="020B0503020204020204" charset="-122"/>
                        </a:rPr>
                        <a:t>SQL+ 锚点</a:t>
                      </a:r>
                      <a:endParaRPr sz="88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880" b="1">
                          <a:solidFill>
                            <a:srgbClr val="FFFFFF"/>
                          </a:solidFill>
                          <a:latin typeface="微软雅黑" panose="020B0503020204020204" charset="-122"/>
                        </a:rPr>
                        <a:t>可诊断问题</a:t>
                      </a:r>
                      <a:endParaRPr sz="880" b="1">
                        <a:solidFill>
                          <a:srgbClr val="FFFFFF"/>
                        </a:solidFill>
                        <a:latin typeface="微软雅黑" panose="020B0503020204020204" charset="-122"/>
                      </a:endParaRPr>
                    </a:p>
                  </a:txBody>
                  <a:tcPr marL="36576" marR="36576" marT="18288" marB="18288" anchor="ctr">
                    <a:solidFill>
                      <a:srgbClr val="18375C"/>
                    </a:solidFill>
                  </a:tcPr>
                </a:tc>
              </a:tr>
              <a:tr h="227965">
                <a:tc>
                  <a:txBody>
                    <a:bodyPr wrap="square"/>
                    <a:lstStyle/>
                    <a:p>
                      <a:pPr algn="ctr"/>
                      <a:r>
                        <a:rPr sz="800" b="0">
                          <a:solidFill>
                            <a:srgbClr val="1F2933"/>
                          </a:solidFill>
                          <a:latin typeface="微软雅黑" panose="020B0503020204020204" charset="-122"/>
                        </a:rPr>
                        <a:t>WHERE</a:t>
                      </a:r>
                      <a:endParaRPr sz="8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00" b="0">
                          <a:solidFill>
                            <a:srgbClr val="1F2933"/>
                          </a:solidFill>
                          <a:latin typeface="微软雅黑" panose="020B0503020204020204" charset="-122"/>
                        </a:rPr>
                        <a:t>状态值 'paid' 是否正确，是否漏过滤</a:t>
                      </a:r>
                      <a:endParaRPr sz="800" b="0">
                        <a:solidFill>
                          <a:srgbClr val="1F2933"/>
                        </a:solidFill>
                        <a:latin typeface="微软雅黑" panose="020B0503020204020204" charset="-122"/>
                      </a:endParaRPr>
                    </a:p>
                  </a:txBody>
                  <a:tcPr marL="36576" marR="36576" marT="18288" marB="18288" anchor="ctr">
                    <a:solidFill>
                      <a:srgbClr val="FFFFFF"/>
                    </a:solidFill>
                  </a:tcPr>
                </a:tc>
              </a:tr>
              <a:tr h="227965">
                <a:tc>
                  <a:txBody>
                    <a:bodyPr wrap="square"/>
                    <a:lstStyle/>
                    <a:p>
                      <a:pPr algn="ctr"/>
                      <a:r>
                        <a:rPr sz="800" b="0">
                          <a:solidFill>
                            <a:srgbClr val="1F2933"/>
                          </a:solidFill>
                          <a:latin typeface="微软雅黑" panose="020B0503020204020204" charset="-122"/>
                        </a:rPr>
                        <a:t>JOIN</a:t>
                      </a:r>
                      <a:endParaRPr sz="80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00" b="0">
                          <a:solidFill>
                            <a:srgbClr val="1F2933"/>
                          </a:solidFill>
                          <a:latin typeface="微软雅黑" panose="020B0503020204020204" charset="-122"/>
                        </a:rPr>
                        <a:t>orders 与 order_items 连接键是否正确</a:t>
                      </a:r>
                      <a:endParaRPr sz="800" b="0">
                        <a:solidFill>
                          <a:srgbClr val="1F2933"/>
                        </a:solidFill>
                        <a:latin typeface="微软雅黑" panose="020B0503020204020204" charset="-122"/>
                      </a:endParaRPr>
                    </a:p>
                  </a:txBody>
                  <a:tcPr marL="36576" marR="36576" marT="18288" marB="18288" anchor="ctr">
                    <a:solidFill>
                      <a:srgbClr val="EEF2F6"/>
                    </a:solidFill>
                  </a:tcPr>
                </a:tc>
              </a:tr>
              <a:tr h="227965">
                <a:tc>
                  <a:txBody>
                    <a:bodyPr wrap="square"/>
                    <a:lstStyle/>
                    <a:p>
                      <a:pPr algn="ctr"/>
                      <a:r>
                        <a:rPr sz="800" b="0">
                          <a:solidFill>
                            <a:srgbClr val="1F2933"/>
                          </a:solidFill>
                          <a:latin typeface="微软雅黑" panose="020B0503020204020204" charset="-122"/>
                        </a:rPr>
                        <a:t>GROUP / AGG</a:t>
                      </a:r>
                      <a:endParaRPr sz="8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00" b="0">
                          <a:solidFill>
                            <a:srgbClr val="1F2933"/>
                          </a:solidFill>
                          <a:latin typeface="微软雅黑" panose="020B0503020204020204" charset="-122"/>
                        </a:rPr>
                        <a:t>聚合维度与金额口径是否正确</a:t>
                      </a:r>
                      <a:endParaRPr sz="800" b="0">
                        <a:solidFill>
                          <a:srgbClr val="1F2933"/>
                        </a:solidFill>
                        <a:latin typeface="微软雅黑" panose="020B0503020204020204" charset="-122"/>
                      </a:endParaRPr>
                    </a:p>
                  </a:txBody>
                  <a:tcPr marL="36576" marR="36576" marT="18288" marB="18288" anchor="ctr">
                    <a:solidFill>
                      <a:srgbClr val="FFFFFF"/>
                    </a:solidFill>
                  </a:tcPr>
                </a:tc>
              </a:tr>
              <a:tr h="227965">
                <a:tc>
                  <a:txBody>
                    <a:bodyPr wrap="square"/>
                    <a:lstStyle/>
                    <a:p>
                      <a:pPr algn="ctr"/>
                      <a:r>
                        <a:rPr sz="800" b="0">
                          <a:solidFill>
                            <a:srgbClr val="1F2933"/>
                          </a:solidFill>
                          <a:latin typeface="微软雅黑" panose="020B0503020204020204" charset="-122"/>
                        </a:rPr>
                        <a:t>SELECT</a:t>
                      </a:r>
                      <a:endParaRPr sz="80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00" b="0">
                          <a:solidFill>
                            <a:srgbClr val="1F2933"/>
                          </a:solidFill>
                          <a:latin typeface="微软雅黑" panose="020B0503020204020204" charset="-122"/>
                        </a:rPr>
                        <a:t>最终输出列是否只保留问题要求的列</a:t>
                      </a:r>
                      <a:endParaRPr sz="800" b="0">
                        <a:solidFill>
                          <a:srgbClr val="1F2933"/>
                        </a:solidFill>
                        <a:latin typeface="微软雅黑" panose="020B0503020204020204" charset="-122"/>
                      </a:endParaRPr>
                    </a:p>
                  </a:txBody>
                  <a:tcPr marL="36576" marR="36576" marT="18288" marB="18288" anchor="ctr">
                    <a:solidFill>
                      <a:srgbClr val="EEF2F6"/>
                    </a:solidFill>
                  </a:tcPr>
                </a:tc>
              </a:tr>
              <a:tr h="227965">
                <a:tc>
                  <a:txBody>
                    <a:bodyPr wrap="square"/>
                    <a:lstStyle/>
                    <a:p>
                      <a:pPr algn="ctr"/>
                      <a:r>
                        <a:rPr sz="800" b="0">
                          <a:solidFill>
                            <a:srgbClr val="1F2933"/>
                          </a:solidFill>
                          <a:latin typeface="微软雅黑" panose="020B0503020204020204" charset="-122"/>
                        </a:rPr>
                        <a:t>ORDER / LIMIT</a:t>
                      </a:r>
                      <a:endParaRPr sz="8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00" b="0">
                          <a:solidFill>
                            <a:srgbClr val="1F2933"/>
                          </a:solidFill>
                          <a:latin typeface="微软雅黑" panose="020B0503020204020204" charset="-122"/>
                        </a:rPr>
                        <a:t>top-k 排序字段、方向和数量是否正确</a:t>
                      </a:r>
                      <a:endParaRPr sz="800" b="0">
                        <a:solidFill>
                          <a:srgbClr val="1F2933"/>
                        </a:solidFill>
                        <a:latin typeface="微软雅黑" panose="020B0503020204020204" charset="-122"/>
                      </a:endParaRPr>
                    </a:p>
                  </a:txBody>
                  <a:tcPr marL="36576" marR="36576" marT="18288" marB="18288" anchor="ctr">
                    <a:solidFill>
                      <a:srgbClr val="FFFFFF"/>
                    </a:solidFill>
                  </a:tcPr>
                </a:tc>
              </a:tr>
            </a:tbl>
          </a:graphicData>
        </a:graphic>
      </p:graphicFrame>
      <p:sp>
        <p:nvSpPr>
          <p:cNvPr id="11" name="Rounded Rectangle 10"/>
          <p:cNvSpPr/>
          <p:nvPr/>
        </p:nvSpPr>
        <p:spPr>
          <a:xfrm>
            <a:off x="5788025" y="4617720"/>
            <a:ext cx="2697480" cy="1063625"/>
          </a:xfrm>
          <a:prstGeom prst="roundRect">
            <a:avLst/>
          </a:prstGeom>
          <a:solidFill>
            <a:srgbClr val="FAEBEB"/>
          </a:solidFill>
          <a:ln w="12700">
            <a:solidFill>
              <a:srgbClr val="B2262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40" b="1">
                <a:solidFill>
                  <a:srgbClr val="B22626"/>
                </a:solidFill>
                <a:latin typeface="微软雅黑" panose="020B0503020204020204" charset="-122"/>
              </a:rPr>
              <a:t>重点：SQL+ 不是替代 SQL，而是把错误压到 WHERE、JOIN、AGG、SELECT、ORDER 等局部步骤上。</a:t>
            </a:r>
            <a:endParaRPr sz="940" b="1">
              <a:solidFill>
                <a:srgbClr val="B22626"/>
              </a:solidFill>
              <a:latin typeface="微软雅黑" panose="020B0503020204020204" charset="-122"/>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11480" y="1052703"/>
            <a:ext cx="8412480" cy="530352"/>
          </a:xfrm>
          <a:prstGeom prst="rect">
            <a:avLst/>
          </a:prstGeom>
          <a:noFill/>
        </p:spPr>
        <p:txBody>
          <a:bodyPr wrap="square" anchor="ctr">
            <a:spAutoFit/>
          </a:bodyPr>
          <a:lstStyle/>
          <a:p>
            <a:pPr algn="l"/>
            <a:r>
              <a:rPr sz="2400" b="1">
                <a:solidFill>
                  <a:srgbClr val="18375C"/>
                </a:solidFill>
                <a:latin typeface="微软雅黑" panose="020B0503020204020204" charset="-122"/>
              </a:rPr>
              <a:t>系统架构设计：可观察的多智能体分工</a:t>
            </a:r>
            <a:endParaRPr sz="2400" b="1">
              <a:solidFill>
                <a:srgbClr val="18375C"/>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667080"/>
                </a:solidFill>
                <a:latin typeface="微软雅黑" panose="020B0503020204020204" charset="-122"/>
              </a:rPr>
              <a:t>开题汇报 | SQL+ / Text-to-SQL / Multi-Agent | 14</a:t>
            </a:r>
            <a:endParaRPr sz="800" b="0">
              <a:solidFill>
                <a:srgbClr val="667080"/>
              </a:solidFill>
              <a:latin typeface="微软雅黑" panose="020B0503020204020204" charset="-122"/>
            </a:endParaRPr>
          </a:p>
        </p:txBody>
      </p:sp>
      <p:graphicFrame>
        <p:nvGraphicFramePr>
          <p:cNvPr id="4" name="Table 3"/>
          <p:cNvGraphicFramePr>
            <a:graphicFrameLocks noGrp="1"/>
          </p:cNvGraphicFramePr>
          <p:nvPr/>
        </p:nvGraphicFramePr>
        <p:xfrm>
          <a:off x="411480" y="1885950"/>
          <a:ext cx="8321040" cy="4004945"/>
        </p:xfrm>
        <a:graphic>
          <a:graphicData uri="http://schemas.openxmlformats.org/drawingml/2006/table">
            <a:tbl>
              <a:tblPr firstRow="1" bandRow="1">
                <a:tableStyleId>{5C22544A-7EE6-4342-B048-85BDC9FD1C3A}</a:tableStyleId>
              </a:tblPr>
              <a:tblGrid>
                <a:gridCol w="1766570"/>
                <a:gridCol w="2393950"/>
                <a:gridCol w="2080260"/>
                <a:gridCol w="2080260"/>
              </a:tblGrid>
              <a:tr h="408305">
                <a:tc>
                  <a:txBody>
                    <a:bodyPr/>
                    <a:lstStyle/>
                    <a:p>
                      <a:pPr algn="ctr"/>
                      <a:r>
                        <a:rPr sz="1400" b="1">
                          <a:solidFill>
                            <a:srgbClr val="FFFFFF"/>
                          </a:solidFill>
                          <a:latin typeface="微软雅黑" panose="020B0503020204020204" charset="-122"/>
                        </a:rPr>
                        <a:t>模块</a:t>
                      </a:r>
                      <a:endParaRPr sz="1400" b="1">
                        <a:solidFill>
                          <a:srgbClr val="FFFFFF"/>
                        </a:solidFill>
                        <a:latin typeface="微软雅黑" panose="020B0503020204020204" charset="-122"/>
                      </a:endParaRPr>
                    </a:p>
                  </a:txBody>
                  <a:tcPr marL="36576" marR="36576">
                    <a:solidFill>
                      <a:srgbClr val="18375C"/>
                    </a:solidFill>
                  </a:tcPr>
                </a:tc>
                <a:tc>
                  <a:txBody>
                    <a:bodyPr/>
                    <a:lstStyle/>
                    <a:p>
                      <a:pPr algn="ctr"/>
                      <a:r>
                        <a:rPr sz="1400" b="1">
                          <a:solidFill>
                            <a:srgbClr val="FFFFFF"/>
                          </a:solidFill>
                          <a:latin typeface="微软雅黑" panose="020B0503020204020204" charset="-122"/>
                        </a:rPr>
                        <a:t>输入</a:t>
                      </a:r>
                      <a:endParaRPr sz="1400" b="1">
                        <a:solidFill>
                          <a:srgbClr val="FFFFFF"/>
                        </a:solidFill>
                        <a:latin typeface="微软雅黑" panose="020B0503020204020204" charset="-122"/>
                      </a:endParaRPr>
                    </a:p>
                  </a:txBody>
                  <a:tcPr marL="36576" marR="36576">
                    <a:solidFill>
                      <a:srgbClr val="18375C"/>
                    </a:solidFill>
                  </a:tcPr>
                </a:tc>
                <a:tc>
                  <a:txBody>
                    <a:bodyPr/>
                    <a:lstStyle/>
                    <a:p>
                      <a:pPr algn="ctr"/>
                      <a:r>
                        <a:rPr sz="1400" b="1">
                          <a:solidFill>
                            <a:srgbClr val="FFFFFF"/>
                          </a:solidFill>
                          <a:latin typeface="微软雅黑" panose="020B0503020204020204" charset="-122"/>
                        </a:rPr>
                        <a:t>输出</a:t>
                      </a:r>
                      <a:endParaRPr sz="1400" b="1">
                        <a:solidFill>
                          <a:srgbClr val="FFFFFF"/>
                        </a:solidFill>
                        <a:latin typeface="微软雅黑" panose="020B0503020204020204" charset="-122"/>
                      </a:endParaRPr>
                    </a:p>
                  </a:txBody>
                  <a:tcPr marL="36576" marR="36576">
                    <a:solidFill>
                      <a:srgbClr val="18375C"/>
                    </a:solidFill>
                  </a:tcPr>
                </a:tc>
                <a:tc>
                  <a:txBody>
                    <a:bodyPr/>
                    <a:lstStyle/>
                    <a:p>
                      <a:pPr algn="ctr"/>
                      <a:r>
                        <a:rPr sz="1400" b="1">
                          <a:solidFill>
                            <a:srgbClr val="FFFFFF"/>
                          </a:solidFill>
                          <a:latin typeface="微软雅黑" panose="020B0503020204020204" charset="-122"/>
                        </a:rPr>
                        <a:t>评价方式</a:t>
                      </a:r>
                      <a:endParaRPr sz="1400" b="1">
                        <a:solidFill>
                          <a:srgbClr val="FFFFFF"/>
                        </a:solidFill>
                        <a:latin typeface="微软雅黑" panose="020B0503020204020204" charset="-122"/>
                      </a:endParaRPr>
                    </a:p>
                  </a:txBody>
                  <a:tcPr marL="36576" marR="36576">
                    <a:solidFill>
                      <a:srgbClr val="18375C"/>
                    </a:solidFill>
                  </a:tcPr>
                </a:tc>
              </a:tr>
              <a:tr h="598805">
                <a:tc>
                  <a:txBody>
                    <a:bodyPr/>
                    <a:lstStyle/>
                    <a:p>
                      <a:pPr algn="ctr"/>
                      <a:r>
                        <a:rPr sz="1200" b="0">
                          <a:solidFill>
                            <a:srgbClr val="1F2933"/>
                          </a:solidFill>
                          <a:latin typeface="微软雅黑" panose="020B0503020204020204" charset="-122"/>
                        </a:rPr>
                        <a:t>Schema Agent</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问题、schema、值域样例</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相关表列、join path、候选值</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schema/value/join accuracy</a:t>
                      </a:r>
                      <a:endParaRPr sz="1200" b="0">
                        <a:solidFill>
                          <a:srgbClr val="1F2933"/>
                        </a:solidFill>
                        <a:latin typeface="微软雅黑" panose="020B0503020204020204" charset="-122"/>
                      </a:endParaRPr>
                    </a:p>
                  </a:txBody>
                  <a:tcPr marL="36576" marR="36576">
                    <a:solidFill>
                      <a:srgbClr val="FFFFFF"/>
                    </a:solidFill>
                  </a:tcPr>
                </a:tc>
              </a:tr>
              <a:tr h="600075">
                <a:tc>
                  <a:txBody>
                    <a:bodyPr/>
                    <a:lstStyle/>
                    <a:p>
                      <a:pPr algn="ctr"/>
                      <a:r>
                        <a:rPr sz="1200" b="0">
                          <a:solidFill>
                            <a:srgbClr val="1F2933"/>
                          </a:solidFill>
                          <a:latin typeface="微软雅黑" panose="020B0503020204020204" charset="-122"/>
                        </a:rPr>
                        <a:t>SQL+ Generator</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问题、schema 上下文</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初始 SQL+</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SQL+ valid, exec match</a:t>
                      </a:r>
                      <a:endParaRPr sz="1200" b="0">
                        <a:solidFill>
                          <a:srgbClr val="1F2933"/>
                        </a:solidFill>
                        <a:latin typeface="微软雅黑" panose="020B0503020204020204" charset="-122"/>
                      </a:endParaRPr>
                    </a:p>
                  </a:txBody>
                  <a:tcPr marL="36576" marR="36576">
                    <a:solidFill>
                      <a:srgbClr val="F6F8FA"/>
                    </a:solidFill>
                  </a:tcPr>
                </a:tc>
              </a:tr>
              <a:tr h="598805">
                <a:tc>
                  <a:txBody>
                    <a:bodyPr/>
                    <a:lstStyle/>
                    <a:p>
                      <a:pPr algn="ctr"/>
                      <a:r>
                        <a:rPr sz="1200" b="0">
                          <a:solidFill>
                            <a:srgbClr val="1F2933"/>
                          </a:solidFill>
                          <a:latin typeface="微软雅黑" panose="020B0503020204020204" charset="-122"/>
                        </a:rPr>
                        <a:t>Critic Agent</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SQL+、执行反馈、结果摘要</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错误类型、可疑步骤、证据</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localization accuracy</a:t>
                      </a:r>
                      <a:endParaRPr sz="1200" b="0">
                        <a:solidFill>
                          <a:srgbClr val="1F2933"/>
                        </a:solidFill>
                        <a:latin typeface="微软雅黑" panose="020B0503020204020204" charset="-122"/>
                      </a:endParaRPr>
                    </a:p>
                  </a:txBody>
                  <a:tcPr marL="36576" marR="36576">
                    <a:solidFill>
                      <a:srgbClr val="FFFFFF"/>
                    </a:solidFill>
                  </a:tcPr>
                </a:tc>
              </a:tr>
              <a:tr h="600075">
                <a:tc>
                  <a:txBody>
                    <a:bodyPr/>
                    <a:lstStyle/>
                    <a:p>
                      <a:pPr algn="ctr"/>
                      <a:r>
                        <a:rPr sz="1200" b="0">
                          <a:solidFill>
                            <a:srgbClr val="1F2933"/>
                          </a:solidFill>
                          <a:latin typeface="微软雅黑" panose="020B0503020204020204" charset="-122"/>
                        </a:rPr>
                        <a:t>Skill Router</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Critic 输出、SQL+ 结构</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repair skill 路由</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router accuracy</a:t>
                      </a:r>
                      <a:endParaRPr sz="1200" b="0">
                        <a:solidFill>
                          <a:srgbClr val="1F2933"/>
                        </a:solidFill>
                        <a:latin typeface="微软雅黑" panose="020B0503020204020204" charset="-122"/>
                      </a:endParaRPr>
                    </a:p>
                  </a:txBody>
                  <a:tcPr marL="36576" marR="36576">
                    <a:solidFill>
                      <a:srgbClr val="F6F8FA"/>
                    </a:solidFill>
                  </a:tcPr>
                </a:tc>
              </a:tr>
              <a:tr h="598805">
                <a:tc>
                  <a:txBody>
                    <a:bodyPr/>
                    <a:lstStyle/>
                    <a:p>
                      <a:pPr algn="ctr"/>
                      <a:r>
                        <a:rPr sz="1200" b="0">
                          <a:solidFill>
                            <a:srgbClr val="1F2933"/>
                          </a:solidFill>
                          <a:latin typeface="微软雅黑" panose="020B0503020204020204" charset="-122"/>
                        </a:rPr>
                        <a:t>Repair Skill</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SQL+ 局部步骤、反馈</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候选 patch</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patch minimality</a:t>
                      </a:r>
                      <a:endParaRPr sz="1200" b="0">
                        <a:solidFill>
                          <a:srgbClr val="1F2933"/>
                        </a:solidFill>
                        <a:latin typeface="微软雅黑" panose="020B0503020204020204" charset="-122"/>
                      </a:endParaRPr>
                    </a:p>
                  </a:txBody>
                  <a:tcPr marL="36576" marR="36576">
                    <a:solidFill>
                      <a:srgbClr val="FFFFFF"/>
                    </a:solidFill>
                  </a:tcPr>
                </a:tc>
              </a:tr>
              <a:tr h="600075">
                <a:tc>
                  <a:txBody>
                    <a:bodyPr/>
                    <a:lstStyle/>
                    <a:p>
                      <a:pPr algn="ctr"/>
                      <a:r>
                        <a:rPr sz="1200" b="0">
                          <a:solidFill>
                            <a:srgbClr val="1F2933"/>
                          </a:solidFill>
                          <a:latin typeface="微软雅黑" panose="020B0503020204020204" charset="-122"/>
                        </a:rPr>
                        <a:t>Executor</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候选 SQL</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执行结果、错误、最终选择</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repair success, latency</a:t>
                      </a:r>
                      <a:endParaRPr sz="1200" b="0">
                        <a:solidFill>
                          <a:srgbClr val="1F2933"/>
                        </a:solidFill>
                        <a:latin typeface="微软雅黑" panose="020B0503020204020204" charset="-122"/>
                      </a:endParaRPr>
                    </a:p>
                  </a:txBody>
                  <a:tcPr marL="36576" marR="36576">
                    <a:solidFill>
                      <a:srgbClr val="F6F8FA"/>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3192" y="1033271"/>
            <a:ext cx="8412480" cy="530352"/>
          </a:xfrm>
          <a:prstGeom prst="rect">
            <a:avLst/>
          </a:prstGeom>
          <a:noFill/>
        </p:spPr>
        <p:txBody>
          <a:bodyPr wrap="square" lIns="36576" tIns="18288" rIns="36576" bIns="18288" anchor="ctr">
            <a:spAutoFit/>
          </a:bodyPr>
          <a:lstStyle/>
          <a:p>
            <a:pPr algn="l"/>
            <a:r>
              <a:rPr sz="2000" b="1">
                <a:solidFill>
                  <a:srgbClr val="18375C"/>
                </a:solidFill>
                <a:latin typeface="微软雅黑" panose="020B0503020204020204" charset="-122"/>
              </a:rPr>
              <a:t>可行性测试：实验分层与验证路径</a:t>
            </a:r>
            <a:endParaRPr sz="2000" b="1">
              <a:solidFill>
                <a:srgbClr val="18375C"/>
              </a:solidFill>
              <a:latin typeface="微软雅黑" panose="020B0503020204020204" charset="-122"/>
            </a:endParaRPr>
          </a:p>
        </p:txBody>
      </p:sp>
      <p:sp>
        <p:nvSpPr>
          <p:cNvPr id="4" name="TextBox 3"/>
          <p:cNvSpPr txBox="1"/>
          <p:nvPr/>
        </p:nvSpPr>
        <p:spPr>
          <a:xfrm>
            <a:off x="502920" y="6428232"/>
            <a:ext cx="8138160" cy="201168"/>
          </a:xfrm>
          <a:prstGeom prst="rect">
            <a:avLst/>
          </a:prstGeom>
          <a:noFill/>
        </p:spPr>
        <p:txBody>
          <a:bodyPr wrap="square" lIns="36576" tIns="18288" rIns="36576" bIns="18288" anchor="ctr">
            <a:spAutoFit/>
          </a:bodyPr>
          <a:lstStyle/>
          <a:p>
            <a:pPr algn="l"/>
            <a:r>
              <a:rPr sz="800" b="0">
                <a:solidFill>
                  <a:srgbClr val="525C69"/>
                </a:solidFill>
                <a:latin typeface="微软雅黑" panose="020B0503020204020204" charset="-122"/>
              </a:rPr>
              <a:t>开题汇报 | SQL+ / Text-to-SQL / Multi-Agent | 15</a:t>
            </a:r>
            <a:endParaRPr sz="800" b="0">
              <a:solidFill>
                <a:srgbClr val="525C69"/>
              </a:solidFill>
              <a:latin typeface="微软雅黑" panose="020B0503020204020204" charset="-122"/>
            </a:endParaRPr>
          </a:p>
        </p:txBody>
      </p:sp>
      <p:graphicFrame>
        <p:nvGraphicFramePr>
          <p:cNvPr id="5" name="Table 4"/>
          <p:cNvGraphicFramePr>
            <a:graphicFrameLocks noGrp="1"/>
          </p:cNvGraphicFramePr>
          <p:nvPr/>
        </p:nvGraphicFramePr>
        <p:xfrm>
          <a:off x="502920" y="1874519"/>
          <a:ext cx="8183880" cy="3429000"/>
        </p:xfrm>
        <a:graphic>
          <a:graphicData uri="http://schemas.openxmlformats.org/drawingml/2006/table">
            <a:tbl>
              <a:tblPr firstRow="1" bandRow="1">
                <a:tableStyleId>{5C22544A-7EE6-4342-B048-85BDC9FD1C3A}</a:tableStyleId>
              </a:tblPr>
              <a:tblGrid>
                <a:gridCol w="1234440"/>
                <a:gridCol w="3703320"/>
                <a:gridCol w="3246120"/>
              </a:tblGrid>
              <a:tr h="685800">
                <a:tc>
                  <a:txBody>
                    <a:bodyPr wrap="square"/>
                    <a:lstStyle/>
                    <a:p>
                      <a:pPr algn="ctr"/>
                      <a:r>
                        <a:rPr sz="1060" b="1">
                          <a:solidFill>
                            <a:srgbClr val="FFFFFF"/>
                          </a:solidFill>
                          <a:latin typeface="微软雅黑" panose="020B0503020204020204" charset="-122"/>
                        </a:rPr>
                        <a:t>层次</a:t>
                      </a:r>
                      <a:endParaRPr sz="106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1060" b="1">
                          <a:solidFill>
                            <a:srgbClr val="FFFFFF"/>
                          </a:solidFill>
                          <a:latin typeface="微软雅黑" panose="020B0503020204020204" charset="-122"/>
                        </a:rPr>
                        <a:t>实验过程</a:t>
                      </a:r>
                      <a:endParaRPr sz="106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1060" b="1">
                          <a:solidFill>
                            <a:srgbClr val="FFFFFF"/>
                          </a:solidFill>
                          <a:latin typeface="微软雅黑" panose="020B0503020204020204" charset="-122"/>
                        </a:rPr>
                        <a:t>验证目标</a:t>
                      </a:r>
                      <a:endParaRPr sz="1060" b="1">
                        <a:solidFill>
                          <a:srgbClr val="FFFFFF"/>
                        </a:solidFill>
                        <a:latin typeface="微软雅黑" panose="020B0503020204020204" charset="-122"/>
                      </a:endParaRPr>
                    </a:p>
                  </a:txBody>
                  <a:tcPr marL="36576" marR="36576" marT="18288" marB="18288" anchor="ctr">
                    <a:solidFill>
                      <a:srgbClr val="18375C"/>
                    </a:solidFill>
                  </a:tcPr>
                </a:tc>
              </a:tr>
              <a:tr h="685800">
                <a:tc>
                  <a:txBody>
                    <a:bodyPr wrap="square"/>
                    <a:lstStyle/>
                    <a:p>
                      <a:pPr algn="ctr"/>
                      <a:r>
                        <a:rPr sz="980" b="0">
                          <a:solidFill>
                            <a:srgbClr val="1F2933"/>
                          </a:solidFill>
                          <a:latin typeface="微软雅黑" panose="020B0503020204020204" charset="-122"/>
                        </a:rPr>
                        <a:t>A 转换可行性</a:t>
                      </a:r>
                      <a:endParaRPr sz="9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80" b="0">
                          <a:solidFill>
                            <a:srgbClr val="1F2933"/>
                          </a:solidFill>
                          <a:latin typeface="微软雅黑" panose="020B0503020204020204" charset="-122"/>
                        </a:rPr>
                        <a:t>人工 SQL+ -&gt; SQL -&gt; SQLite 执行</a:t>
                      </a:r>
                      <a:endParaRPr sz="9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80" b="0">
                          <a:solidFill>
                            <a:srgbClr val="1F2933"/>
                          </a:solidFill>
                          <a:latin typeface="微软雅黑" panose="020B0503020204020204" charset="-122"/>
                        </a:rPr>
                        <a:t>SQL+ 是否能稳定转换为可执行 SQL</a:t>
                      </a:r>
                      <a:endParaRPr sz="980" b="0">
                        <a:solidFill>
                          <a:srgbClr val="1F2933"/>
                        </a:solidFill>
                        <a:latin typeface="微软雅黑" panose="020B0503020204020204" charset="-122"/>
                      </a:endParaRPr>
                    </a:p>
                  </a:txBody>
                  <a:tcPr marL="36576" marR="36576" marT="18288" marB="18288" anchor="ctr">
                    <a:solidFill>
                      <a:srgbClr val="FFFFFF"/>
                    </a:solidFill>
                  </a:tcPr>
                </a:tc>
              </a:tr>
              <a:tr h="685800">
                <a:tc>
                  <a:txBody>
                    <a:bodyPr wrap="square"/>
                    <a:lstStyle/>
                    <a:p>
                      <a:pPr algn="ctr"/>
                      <a:r>
                        <a:rPr sz="980" b="0">
                          <a:solidFill>
                            <a:srgbClr val="1F2933"/>
                          </a:solidFill>
                          <a:latin typeface="微软雅黑" panose="020B0503020204020204" charset="-122"/>
                        </a:rPr>
                        <a:t>B 生成可行性</a:t>
                      </a:r>
                      <a:endParaRPr sz="9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980" b="0">
                          <a:solidFill>
                            <a:srgbClr val="1F2933"/>
                          </a:solidFill>
                          <a:latin typeface="微软雅黑" panose="020B0503020204020204" charset="-122"/>
                        </a:rPr>
                        <a:t>自然语言 -&gt; SQL+ / SQL，对比执行结果</a:t>
                      </a:r>
                      <a:endParaRPr sz="9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980" b="0">
                          <a:solidFill>
                            <a:srgbClr val="1F2933"/>
                          </a:solidFill>
                          <a:latin typeface="微软雅黑" panose="020B0503020204020204" charset="-122"/>
                        </a:rPr>
                        <a:t>SQL+ 作为生成目标是否可行</a:t>
                      </a:r>
                      <a:endParaRPr sz="980" b="0">
                        <a:solidFill>
                          <a:srgbClr val="1F2933"/>
                        </a:solidFill>
                        <a:latin typeface="微软雅黑" panose="020B0503020204020204" charset="-122"/>
                      </a:endParaRPr>
                    </a:p>
                  </a:txBody>
                  <a:tcPr marL="36576" marR="36576" marT="18288" marB="18288" anchor="ctr">
                    <a:solidFill>
                      <a:srgbClr val="EEF2F6"/>
                    </a:solidFill>
                  </a:tcPr>
                </a:tc>
              </a:tr>
              <a:tr h="685800">
                <a:tc>
                  <a:txBody>
                    <a:bodyPr wrap="square"/>
                    <a:lstStyle/>
                    <a:p>
                      <a:pPr algn="ctr"/>
                      <a:r>
                        <a:rPr sz="980" b="0">
                          <a:solidFill>
                            <a:srgbClr val="1F2933"/>
                          </a:solidFill>
                          <a:latin typeface="微软雅黑" panose="020B0503020204020204" charset="-122"/>
                        </a:rPr>
                        <a:t>C 修复可行性</a:t>
                      </a:r>
                      <a:endParaRPr sz="9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80" b="0">
                          <a:solidFill>
                            <a:srgbClr val="1F2933"/>
                          </a:solidFill>
                          <a:latin typeface="微软雅黑" panose="020B0503020204020204" charset="-122"/>
                        </a:rPr>
                        <a:t>失败输出 -&gt; Critic -&gt; Router -&gt; Repair Skill -&gt; Executor</a:t>
                      </a:r>
                      <a:endParaRPr sz="9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80" b="0">
                          <a:solidFill>
                            <a:srgbClr val="1F2933"/>
                          </a:solidFill>
                          <a:latin typeface="微软雅黑" panose="020B0503020204020204" charset="-122"/>
                        </a:rPr>
                        <a:t>SQL+ 层局部修复是否有效</a:t>
                      </a:r>
                      <a:endParaRPr sz="980" b="0">
                        <a:solidFill>
                          <a:srgbClr val="1F2933"/>
                        </a:solidFill>
                        <a:latin typeface="微软雅黑" panose="020B0503020204020204" charset="-122"/>
                      </a:endParaRPr>
                    </a:p>
                  </a:txBody>
                  <a:tcPr marL="36576" marR="36576" marT="18288" marB="18288" anchor="ctr">
                    <a:solidFill>
                      <a:srgbClr val="FFFFFF"/>
                    </a:solidFill>
                  </a:tcPr>
                </a:tc>
              </a:tr>
              <a:tr h="685800">
                <a:tc>
                  <a:txBody>
                    <a:bodyPr wrap="square"/>
                    <a:lstStyle/>
                    <a:p>
                      <a:pPr algn="ctr"/>
                      <a:r>
                        <a:rPr sz="980" b="0">
                          <a:solidFill>
                            <a:srgbClr val="1F2933"/>
                          </a:solidFill>
                          <a:latin typeface="微软雅黑" panose="020B0503020204020204" charset="-122"/>
                        </a:rPr>
                        <a:t>D 公开子集迁移</a:t>
                      </a:r>
                      <a:endParaRPr sz="9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980" b="0">
                          <a:solidFill>
                            <a:srgbClr val="1F2933"/>
                          </a:solidFill>
                          <a:latin typeface="微软雅黑" panose="020B0503020204020204" charset="-122"/>
                        </a:rPr>
                        <a:t>Spider concert_singer 小子集端到端运行</a:t>
                      </a:r>
                      <a:endParaRPr sz="9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980" b="0">
                          <a:solidFill>
                            <a:srgbClr val="1F2933"/>
                          </a:solidFill>
                          <a:latin typeface="微软雅黑" panose="020B0503020204020204" charset="-122"/>
                        </a:rPr>
                        <a:t>方法是否能离开自建数据集</a:t>
                      </a:r>
                      <a:endParaRPr sz="980" b="0">
                        <a:solidFill>
                          <a:srgbClr val="1F2933"/>
                        </a:solidFill>
                        <a:latin typeface="微软雅黑" panose="020B0503020204020204" charset="-122"/>
                      </a:endParaRPr>
                    </a:p>
                  </a:txBody>
                  <a:tcPr marL="36576" marR="36576" marT="18288" marB="18288" anchor="ctr">
                    <a:solidFill>
                      <a:srgbClr val="EEF2F6"/>
                    </a:solidFill>
                  </a:tcPr>
                </a:tc>
              </a:tr>
            </a:tbl>
          </a:graphicData>
        </a:graphic>
      </p:graphicFrame>
      <p:sp>
        <p:nvSpPr>
          <p:cNvPr id="6" name="Rounded Rectangle 5"/>
          <p:cNvSpPr/>
          <p:nvPr/>
        </p:nvSpPr>
        <p:spPr>
          <a:xfrm>
            <a:off x="658368" y="5779008"/>
            <a:ext cx="7909560" cy="365760"/>
          </a:xfrm>
          <a:prstGeom prst="roundRect">
            <a:avLst/>
          </a:prstGeom>
          <a:solidFill>
            <a:srgbClr val="FAEBEB"/>
          </a:solidFill>
          <a:ln w="12700">
            <a:solidFill>
              <a:srgbClr val="B2262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a:solidFill>
                  <a:srgbClr val="B22626"/>
                </a:solidFill>
                <a:latin typeface="微软雅黑" panose="020B0503020204020204" charset="-122"/>
              </a:rPr>
              <a:t>可行性测试不是完整 benchmark，而是证明系统链路可运行、可比较、可继续扩展。</a:t>
            </a:r>
            <a:endParaRPr sz="900" b="1">
              <a:solidFill>
                <a:srgbClr val="B22626"/>
              </a:solidFill>
              <a:latin typeface="微软雅黑" panose="020B0503020204020204" charset="-122"/>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3192" y="1033271"/>
            <a:ext cx="8412480" cy="530352"/>
          </a:xfrm>
          <a:prstGeom prst="rect">
            <a:avLst/>
          </a:prstGeom>
          <a:noFill/>
        </p:spPr>
        <p:txBody>
          <a:bodyPr wrap="square" lIns="36576" tIns="18288" rIns="36576" bIns="18288" anchor="ctr">
            <a:spAutoFit/>
          </a:bodyPr>
          <a:lstStyle/>
          <a:p>
            <a:pPr algn="l"/>
            <a:r>
              <a:rPr sz="2000" b="1">
                <a:solidFill>
                  <a:srgbClr val="18375C"/>
                </a:solidFill>
                <a:latin typeface="微软雅黑" panose="020B0503020204020204" charset="-122"/>
              </a:rPr>
              <a:t>可行性测试总览：数据、流程与指标</a:t>
            </a:r>
            <a:endParaRPr sz="2000" b="1">
              <a:solidFill>
                <a:srgbClr val="18375C"/>
              </a:solidFill>
              <a:latin typeface="微软雅黑" panose="020B0503020204020204" charset="-122"/>
            </a:endParaRPr>
          </a:p>
        </p:txBody>
      </p:sp>
      <p:sp>
        <p:nvSpPr>
          <p:cNvPr id="4" name="TextBox 3"/>
          <p:cNvSpPr txBox="1"/>
          <p:nvPr/>
        </p:nvSpPr>
        <p:spPr>
          <a:xfrm>
            <a:off x="502920" y="6428232"/>
            <a:ext cx="8138160" cy="201168"/>
          </a:xfrm>
          <a:prstGeom prst="rect">
            <a:avLst/>
          </a:prstGeom>
          <a:noFill/>
        </p:spPr>
        <p:txBody>
          <a:bodyPr wrap="square" lIns="36576" tIns="18288" rIns="36576" bIns="18288" anchor="ctr">
            <a:spAutoFit/>
          </a:bodyPr>
          <a:lstStyle/>
          <a:p>
            <a:pPr algn="l"/>
            <a:r>
              <a:rPr sz="800" b="0">
                <a:solidFill>
                  <a:srgbClr val="525C69"/>
                </a:solidFill>
                <a:latin typeface="微软雅黑" panose="020B0503020204020204" charset="-122"/>
              </a:rPr>
              <a:t>开题汇报 | SQL+ / Text-to-SQL / Multi-Agent | 16</a:t>
            </a:r>
            <a:endParaRPr sz="800" b="0">
              <a:solidFill>
                <a:srgbClr val="525C69"/>
              </a:solidFill>
              <a:latin typeface="微软雅黑" panose="020B0503020204020204" charset="-122"/>
            </a:endParaRPr>
          </a:p>
        </p:txBody>
      </p:sp>
      <p:graphicFrame>
        <p:nvGraphicFramePr>
          <p:cNvPr id="5" name="Table 4"/>
          <p:cNvGraphicFramePr>
            <a:graphicFrameLocks noGrp="1"/>
          </p:cNvGraphicFramePr>
          <p:nvPr/>
        </p:nvGraphicFramePr>
        <p:xfrm>
          <a:off x="502920" y="1874519"/>
          <a:ext cx="8183880" cy="3429000"/>
        </p:xfrm>
        <a:graphic>
          <a:graphicData uri="http://schemas.openxmlformats.org/drawingml/2006/table">
            <a:tbl>
              <a:tblPr firstRow="1" bandRow="1">
                <a:tableStyleId>{5C22544A-7EE6-4342-B048-85BDC9FD1C3A}</a:tableStyleId>
              </a:tblPr>
              <a:tblGrid>
                <a:gridCol w="1234440"/>
                <a:gridCol w="4251960"/>
                <a:gridCol w="2697480"/>
              </a:tblGrid>
              <a:tr h="685800">
                <a:tc>
                  <a:txBody>
                    <a:bodyPr wrap="square"/>
                    <a:lstStyle/>
                    <a:p>
                      <a:pPr algn="ctr"/>
                      <a:r>
                        <a:rPr sz="1000" b="1">
                          <a:solidFill>
                            <a:srgbClr val="FFFFFF"/>
                          </a:solidFill>
                          <a:latin typeface="微软雅黑" panose="020B0503020204020204" charset="-122"/>
                        </a:rPr>
                        <a:t>项目</a:t>
                      </a:r>
                      <a:endParaRPr sz="100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1000" b="1">
                          <a:solidFill>
                            <a:srgbClr val="FFFFFF"/>
                          </a:solidFill>
                          <a:latin typeface="微软雅黑" panose="020B0503020204020204" charset="-122"/>
                        </a:rPr>
                        <a:t>配置</a:t>
                      </a:r>
                      <a:endParaRPr sz="100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1000" b="1">
                          <a:solidFill>
                            <a:srgbClr val="FFFFFF"/>
                          </a:solidFill>
                          <a:latin typeface="微软雅黑" panose="020B0503020204020204" charset="-122"/>
                        </a:rPr>
                        <a:t>用途</a:t>
                      </a:r>
                      <a:endParaRPr sz="1000" b="1">
                        <a:solidFill>
                          <a:srgbClr val="FFFFFF"/>
                        </a:solidFill>
                        <a:latin typeface="微软雅黑" panose="020B0503020204020204" charset="-122"/>
                      </a:endParaRPr>
                    </a:p>
                  </a:txBody>
                  <a:tcPr marL="36576" marR="36576" marT="18288" marB="18288" anchor="ctr">
                    <a:solidFill>
                      <a:srgbClr val="18375C"/>
                    </a:solidFill>
                  </a:tcPr>
                </a:tc>
              </a:tr>
              <a:tr h="685800">
                <a:tc>
                  <a:txBody>
                    <a:bodyPr wrap="square"/>
                    <a:lstStyle/>
                    <a:p>
                      <a:pPr algn="ctr"/>
                      <a:r>
                        <a:rPr sz="870" b="0">
                          <a:solidFill>
                            <a:srgbClr val="1F2933"/>
                          </a:solidFill>
                          <a:latin typeface="微软雅黑" panose="020B0503020204020204" charset="-122"/>
                        </a:rPr>
                        <a:t>自建订单数据</a:t>
                      </a:r>
                      <a:endParaRPr sz="87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70" b="0">
                          <a:solidFill>
                            <a:srgbClr val="1F2933"/>
                          </a:solidFill>
                          <a:latin typeface="微软雅黑" panose="020B0503020204020204" charset="-122"/>
                        </a:rPr>
                        <a:t>4 张表、30 条自然语言问题、30 条 SQL+ gold、13 条已知失败样例</a:t>
                      </a:r>
                      <a:endParaRPr sz="87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70" b="0">
                          <a:solidFill>
                            <a:srgbClr val="1F2933"/>
                          </a:solidFill>
                          <a:latin typeface="微软雅黑" panose="020B0503020204020204" charset="-122"/>
                        </a:rPr>
                        <a:t>转换、生成、修复主实验</a:t>
                      </a:r>
                      <a:endParaRPr sz="870" b="0">
                        <a:solidFill>
                          <a:srgbClr val="1F2933"/>
                        </a:solidFill>
                        <a:latin typeface="微软雅黑" panose="020B0503020204020204" charset="-122"/>
                      </a:endParaRPr>
                    </a:p>
                  </a:txBody>
                  <a:tcPr marL="36576" marR="36576" marT="18288" marB="18288" anchor="ctr">
                    <a:solidFill>
                      <a:srgbClr val="FFFFFF"/>
                    </a:solidFill>
                  </a:tcPr>
                </a:tc>
              </a:tr>
              <a:tr h="685800">
                <a:tc>
                  <a:txBody>
                    <a:bodyPr wrap="square"/>
                    <a:lstStyle/>
                    <a:p>
                      <a:pPr algn="ctr"/>
                      <a:r>
                        <a:rPr sz="870" b="0">
                          <a:solidFill>
                            <a:srgbClr val="1F2933"/>
                          </a:solidFill>
                          <a:latin typeface="微软雅黑" panose="020B0503020204020204" charset="-122"/>
                        </a:rPr>
                        <a:t>Spider 小子集</a:t>
                      </a:r>
                      <a:endParaRPr sz="87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70" b="0">
                          <a:solidFill>
                            <a:srgbClr val="1F2933"/>
                          </a:solidFill>
                          <a:latin typeface="微软雅黑" panose="020B0503020204020204" charset="-122"/>
                        </a:rPr>
                        <a:t>concert_singer 20 条；gold SQL 仅用于离线评价</a:t>
                      </a:r>
                      <a:endParaRPr sz="87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70" b="0">
                          <a:solidFill>
                            <a:srgbClr val="1F2933"/>
                          </a:solidFill>
                          <a:latin typeface="微软雅黑" panose="020B0503020204020204" charset="-122"/>
                        </a:rPr>
                        <a:t>公开数据集迁移 smoke test</a:t>
                      </a:r>
                      <a:endParaRPr sz="870" b="0">
                        <a:solidFill>
                          <a:srgbClr val="1F2933"/>
                        </a:solidFill>
                        <a:latin typeface="微软雅黑" panose="020B0503020204020204" charset="-122"/>
                      </a:endParaRPr>
                    </a:p>
                  </a:txBody>
                  <a:tcPr marL="36576" marR="36576" marT="18288" marB="18288" anchor="ctr">
                    <a:solidFill>
                      <a:srgbClr val="EEF2F6"/>
                    </a:solidFill>
                  </a:tcPr>
                </a:tc>
              </a:tr>
              <a:tr h="685800">
                <a:tc>
                  <a:txBody>
                    <a:bodyPr wrap="square"/>
                    <a:lstStyle/>
                    <a:p>
                      <a:pPr algn="ctr"/>
                      <a:r>
                        <a:rPr sz="870" b="0">
                          <a:solidFill>
                            <a:srgbClr val="1F2933"/>
                          </a:solidFill>
                          <a:latin typeface="微软雅黑" panose="020B0503020204020204" charset="-122"/>
                        </a:rPr>
                        <a:t>模型与工具</a:t>
                      </a:r>
                      <a:endParaRPr sz="87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70" b="0">
                          <a:solidFill>
                            <a:srgbClr val="1F2933"/>
                          </a:solidFill>
                          <a:latin typeface="微软雅黑" panose="020B0503020204020204" charset="-122"/>
                        </a:rPr>
                        <a:t>gpt-5-mini；SQL+ parser/translator；SQLite Executor；Skill Router</a:t>
                      </a:r>
                      <a:endParaRPr sz="87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70" b="0">
                          <a:solidFill>
                            <a:srgbClr val="1F2933"/>
                          </a:solidFill>
                          <a:latin typeface="微软雅黑" panose="020B0503020204020204" charset="-122"/>
                        </a:rPr>
                        <a:t>保证端到端闭环可复现</a:t>
                      </a:r>
                      <a:endParaRPr sz="870" b="0">
                        <a:solidFill>
                          <a:srgbClr val="1F2933"/>
                        </a:solidFill>
                        <a:latin typeface="微软雅黑" panose="020B0503020204020204" charset="-122"/>
                      </a:endParaRPr>
                    </a:p>
                  </a:txBody>
                  <a:tcPr marL="36576" marR="36576" marT="18288" marB="18288" anchor="ctr">
                    <a:solidFill>
                      <a:srgbClr val="FFFFFF"/>
                    </a:solidFill>
                  </a:tcPr>
                </a:tc>
              </a:tr>
              <a:tr h="685800">
                <a:tc>
                  <a:txBody>
                    <a:bodyPr wrap="square"/>
                    <a:lstStyle/>
                    <a:p>
                      <a:pPr algn="ctr"/>
                      <a:r>
                        <a:rPr sz="870" b="0">
                          <a:solidFill>
                            <a:srgbClr val="1F2933"/>
                          </a:solidFill>
                          <a:latin typeface="微软雅黑" panose="020B0503020204020204" charset="-122"/>
                        </a:rPr>
                        <a:t>指标</a:t>
                      </a:r>
                      <a:endParaRPr sz="87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70" b="0">
                          <a:solidFill>
                            <a:srgbClr val="1F2933"/>
                          </a:solidFill>
                          <a:latin typeface="微软雅黑" panose="020B0503020204020204" charset="-122"/>
                        </a:rPr>
                        <a:t>valid rate、SQL executable、execution match、repair success、token、latency</a:t>
                      </a:r>
                      <a:endParaRPr sz="87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70" b="0">
                          <a:solidFill>
                            <a:srgbClr val="1F2933"/>
                          </a:solidFill>
                          <a:latin typeface="微软雅黑" panose="020B0503020204020204" charset="-122"/>
                        </a:rPr>
                        <a:t>准确率、成本和可修复性同时观察</a:t>
                      </a:r>
                      <a:endParaRPr sz="870" b="0">
                        <a:solidFill>
                          <a:srgbClr val="1F2933"/>
                        </a:solidFill>
                        <a:latin typeface="微软雅黑" panose="020B0503020204020204" charset="-122"/>
                      </a:endParaRPr>
                    </a:p>
                  </a:txBody>
                  <a:tcPr marL="36576" marR="36576" marT="18288" marB="18288" anchor="ctr">
                    <a:solidFill>
                      <a:srgbClr val="EEF2F6"/>
                    </a:solidFill>
                  </a:tcPr>
                </a:tc>
              </a:tr>
            </a:tbl>
          </a:graphicData>
        </a:graphic>
      </p:graphicFrame>
      <p:sp>
        <p:nvSpPr>
          <p:cNvPr id="6" name="Rounded Rectangle 5"/>
          <p:cNvSpPr/>
          <p:nvPr/>
        </p:nvSpPr>
        <p:spPr>
          <a:xfrm>
            <a:off x="658368" y="5779008"/>
            <a:ext cx="7909560" cy="365760"/>
          </a:xfrm>
          <a:prstGeom prst="roundRect">
            <a:avLst/>
          </a:prstGeom>
          <a:solidFill>
            <a:srgbClr val="FAEBEB"/>
          </a:solidFill>
          <a:ln w="12700">
            <a:solidFill>
              <a:srgbClr val="B2262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a:solidFill>
                  <a:srgbClr val="B22626"/>
                </a:solidFill>
                <a:latin typeface="微软雅黑" panose="020B0503020204020204" charset="-122"/>
              </a:rPr>
              <a:t>gold SQL 只用于离线评价，不进入生成、Critic、Router 或 Repair Skill。</a:t>
            </a:r>
            <a:endParaRPr sz="900" b="1">
              <a:solidFill>
                <a:srgbClr val="B22626"/>
              </a:solidFill>
              <a:latin typeface="微软雅黑" panose="020B0503020204020204" charset="-122"/>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3192" y="1033271"/>
            <a:ext cx="8412480" cy="530352"/>
          </a:xfrm>
          <a:prstGeom prst="rect">
            <a:avLst/>
          </a:prstGeom>
          <a:noFill/>
        </p:spPr>
        <p:txBody>
          <a:bodyPr wrap="square" lIns="36576" tIns="18288" rIns="36576" bIns="18288" anchor="ctr">
            <a:spAutoFit/>
          </a:bodyPr>
          <a:lstStyle/>
          <a:p>
            <a:pPr algn="l"/>
            <a:r>
              <a:rPr sz="2000" b="1">
                <a:solidFill>
                  <a:srgbClr val="18375C"/>
                </a:solidFill>
                <a:latin typeface="微软雅黑" panose="020B0503020204020204" charset="-122"/>
              </a:rPr>
              <a:t>可行性测试一：SQL+ 转换链路是否稳定</a:t>
            </a:r>
            <a:endParaRPr sz="2000" b="1">
              <a:solidFill>
                <a:srgbClr val="18375C"/>
              </a:solidFill>
              <a:latin typeface="微软雅黑" panose="020B0503020204020204" charset="-122"/>
            </a:endParaRPr>
          </a:p>
        </p:txBody>
      </p:sp>
      <p:sp>
        <p:nvSpPr>
          <p:cNvPr id="4" name="TextBox 3"/>
          <p:cNvSpPr txBox="1"/>
          <p:nvPr/>
        </p:nvSpPr>
        <p:spPr>
          <a:xfrm>
            <a:off x="502920" y="6428232"/>
            <a:ext cx="8138160" cy="201168"/>
          </a:xfrm>
          <a:prstGeom prst="rect">
            <a:avLst/>
          </a:prstGeom>
          <a:noFill/>
        </p:spPr>
        <p:txBody>
          <a:bodyPr wrap="square" lIns="36576" tIns="18288" rIns="36576" bIns="18288" anchor="ctr">
            <a:spAutoFit/>
          </a:bodyPr>
          <a:lstStyle/>
          <a:p>
            <a:pPr algn="l"/>
            <a:r>
              <a:rPr sz="800" b="0">
                <a:solidFill>
                  <a:srgbClr val="525C69"/>
                </a:solidFill>
                <a:latin typeface="微软雅黑" panose="020B0503020204020204" charset="-122"/>
              </a:rPr>
              <a:t>开题汇报 | SQL+ / Text-to-SQL / Multi-Agent | 17</a:t>
            </a:r>
            <a:endParaRPr sz="800" b="0">
              <a:solidFill>
                <a:srgbClr val="525C69"/>
              </a:solidFill>
              <a:latin typeface="微软雅黑" panose="020B0503020204020204" charset="-122"/>
            </a:endParaRPr>
          </a:p>
        </p:txBody>
      </p:sp>
      <p:graphicFrame>
        <p:nvGraphicFramePr>
          <p:cNvPr id="5" name="Table 4"/>
          <p:cNvGraphicFramePr>
            <a:graphicFrameLocks noGrp="1"/>
          </p:cNvGraphicFramePr>
          <p:nvPr/>
        </p:nvGraphicFramePr>
        <p:xfrm>
          <a:off x="685800" y="1874519"/>
          <a:ext cx="7726680" cy="3154680"/>
        </p:xfrm>
        <a:graphic>
          <a:graphicData uri="http://schemas.openxmlformats.org/drawingml/2006/table">
            <a:tbl>
              <a:tblPr firstRow="1" bandRow="1">
                <a:tableStyleId>{5C22544A-7EE6-4342-B048-85BDC9FD1C3A}</a:tableStyleId>
              </a:tblPr>
              <a:tblGrid>
                <a:gridCol w="1143000"/>
                <a:gridCol w="6583680"/>
              </a:tblGrid>
              <a:tr h="630936">
                <a:tc>
                  <a:txBody>
                    <a:bodyPr wrap="square"/>
                    <a:lstStyle/>
                    <a:p>
                      <a:pPr algn="ctr"/>
                      <a:r>
                        <a:rPr sz="1090" b="1">
                          <a:solidFill>
                            <a:srgbClr val="FFFFFF"/>
                          </a:solidFill>
                          <a:latin typeface="微软雅黑" panose="020B0503020204020204" charset="-122"/>
                        </a:rPr>
                        <a:t>环节</a:t>
                      </a:r>
                      <a:endParaRPr sz="109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1090" b="1">
                          <a:solidFill>
                            <a:srgbClr val="FFFFFF"/>
                          </a:solidFill>
                          <a:latin typeface="微软雅黑" panose="020B0503020204020204" charset="-122"/>
                        </a:rPr>
                        <a:t>内容</a:t>
                      </a:r>
                      <a:endParaRPr sz="1090" b="1">
                        <a:solidFill>
                          <a:srgbClr val="FFFFFF"/>
                        </a:solidFill>
                        <a:latin typeface="微软雅黑" panose="020B0503020204020204" charset="-122"/>
                      </a:endParaRPr>
                    </a:p>
                  </a:txBody>
                  <a:tcPr marL="36576" marR="36576" marT="18288" marB="18288" anchor="ctr">
                    <a:solidFill>
                      <a:srgbClr val="18375C"/>
                    </a:solidFill>
                  </a:tcPr>
                </a:tc>
              </a:tr>
              <a:tr h="630936">
                <a:tc>
                  <a:txBody>
                    <a:bodyPr wrap="square"/>
                    <a:lstStyle/>
                    <a:p>
                      <a:pPr algn="ctr"/>
                      <a:r>
                        <a:rPr sz="1010" b="0">
                          <a:solidFill>
                            <a:srgbClr val="1F2933"/>
                          </a:solidFill>
                          <a:latin typeface="微软雅黑" panose="020B0503020204020204" charset="-122"/>
                        </a:rPr>
                        <a:t>目的</a:t>
                      </a:r>
                      <a:endParaRPr sz="101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1010" b="0">
                          <a:solidFill>
                            <a:srgbClr val="1F2933"/>
                          </a:solidFill>
                          <a:latin typeface="微软雅黑" panose="020B0503020204020204" charset="-122"/>
                        </a:rPr>
                        <a:t>验证 SQL+ 不是概念，而是可以解析、转换、执行的中间表示</a:t>
                      </a:r>
                      <a:endParaRPr sz="1010" b="0">
                        <a:solidFill>
                          <a:srgbClr val="1F2933"/>
                        </a:solidFill>
                        <a:latin typeface="微软雅黑" panose="020B0503020204020204" charset="-122"/>
                      </a:endParaRPr>
                    </a:p>
                  </a:txBody>
                  <a:tcPr marL="36576" marR="36576" marT="18288" marB="18288" anchor="ctr">
                    <a:solidFill>
                      <a:srgbClr val="FFFFFF"/>
                    </a:solidFill>
                  </a:tcPr>
                </a:tc>
              </a:tr>
              <a:tr h="630936">
                <a:tc>
                  <a:txBody>
                    <a:bodyPr wrap="square"/>
                    <a:lstStyle/>
                    <a:p>
                      <a:pPr algn="ctr"/>
                      <a:r>
                        <a:rPr sz="1010" b="0">
                          <a:solidFill>
                            <a:srgbClr val="1F2933"/>
                          </a:solidFill>
                          <a:latin typeface="微软雅黑" panose="020B0503020204020204" charset="-122"/>
                        </a:rPr>
                        <a:t>过程</a:t>
                      </a:r>
                      <a:endParaRPr sz="101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1010" b="0">
                          <a:solidFill>
                            <a:srgbClr val="1F2933"/>
                          </a:solidFill>
                          <a:latin typeface="微软雅黑" panose="020B0503020204020204" charset="-122"/>
                        </a:rPr>
                        <a:t>30 条自建订单分析 SQL+ -&gt; SQL+ parser -&gt; SQL translator -&gt; SQLite executor</a:t>
                      </a:r>
                      <a:endParaRPr sz="1010" b="0">
                        <a:solidFill>
                          <a:srgbClr val="1F2933"/>
                        </a:solidFill>
                        <a:latin typeface="微软雅黑" panose="020B0503020204020204" charset="-122"/>
                      </a:endParaRPr>
                    </a:p>
                  </a:txBody>
                  <a:tcPr marL="36576" marR="36576" marT="18288" marB="18288" anchor="ctr">
                    <a:solidFill>
                      <a:srgbClr val="EEF2F6"/>
                    </a:solidFill>
                  </a:tcPr>
                </a:tc>
              </a:tr>
              <a:tr h="630936">
                <a:tc>
                  <a:txBody>
                    <a:bodyPr wrap="square"/>
                    <a:lstStyle/>
                    <a:p>
                      <a:pPr algn="ctr"/>
                      <a:r>
                        <a:rPr sz="1010" b="0">
                          <a:solidFill>
                            <a:srgbClr val="1F2933"/>
                          </a:solidFill>
                          <a:latin typeface="微软雅黑" panose="020B0503020204020204" charset="-122"/>
                        </a:rPr>
                        <a:t>结果</a:t>
                      </a:r>
                      <a:endParaRPr sz="101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1010" b="0">
                          <a:solidFill>
                            <a:srgbClr val="1F2933"/>
                          </a:solidFill>
                          <a:latin typeface="微软雅黑" panose="020B0503020204020204" charset="-122"/>
                        </a:rPr>
                        <a:t>SQL+ valid 30/30；SQL executable 30/30；execution match 30/30</a:t>
                      </a:r>
                      <a:endParaRPr sz="1010" b="0">
                        <a:solidFill>
                          <a:srgbClr val="1F2933"/>
                        </a:solidFill>
                        <a:latin typeface="微软雅黑" panose="020B0503020204020204" charset="-122"/>
                      </a:endParaRPr>
                    </a:p>
                  </a:txBody>
                  <a:tcPr marL="36576" marR="36576" marT="18288" marB="18288" anchor="ctr">
                    <a:solidFill>
                      <a:srgbClr val="FFFFFF"/>
                    </a:solidFill>
                  </a:tcPr>
                </a:tc>
              </a:tr>
              <a:tr h="630936">
                <a:tc>
                  <a:txBody>
                    <a:bodyPr wrap="square"/>
                    <a:lstStyle/>
                    <a:p>
                      <a:pPr algn="ctr"/>
                      <a:r>
                        <a:rPr sz="1010" b="0">
                          <a:solidFill>
                            <a:srgbClr val="1F2933"/>
                          </a:solidFill>
                          <a:latin typeface="微软雅黑" panose="020B0503020204020204" charset="-122"/>
                        </a:rPr>
                        <a:t>结论</a:t>
                      </a:r>
                      <a:endParaRPr sz="101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1010" b="0">
                          <a:solidFill>
                            <a:srgbClr val="1F2933"/>
                          </a:solidFill>
                          <a:latin typeface="微软雅黑" panose="020B0503020204020204" charset="-122"/>
                        </a:rPr>
                        <a:t>当前 SQL+ 子集覆盖常见 WHERE/JOIN/GROUP/AGG/ORDER/LIMIT 查询，可作为后续生成与修复的中间层</a:t>
                      </a:r>
                      <a:endParaRPr sz="1010" b="0">
                        <a:solidFill>
                          <a:srgbClr val="1F2933"/>
                        </a:solidFill>
                        <a:latin typeface="微软雅黑" panose="020B0503020204020204" charset="-122"/>
                      </a:endParaRPr>
                    </a:p>
                  </a:txBody>
                  <a:tcPr marL="36576" marR="36576" marT="18288" marB="18288" anchor="ctr">
                    <a:solidFill>
                      <a:srgbClr val="EEF2F6"/>
                    </a:solidFill>
                  </a:tcPr>
                </a:tc>
              </a:tr>
            </a:tbl>
          </a:graphicData>
        </a:graphic>
      </p:graphicFrame>
      <p:sp>
        <p:nvSpPr>
          <p:cNvPr id="6" name="Rounded Rectangle 5"/>
          <p:cNvSpPr/>
          <p:nvPr/>
        </p:nvSpPr>
        <p:spPr>
          <a:xfrm>
            <a:off x="658368" y="5559552"/>
            <a:ext cx="7909560" cy="365760"/>
          </a:xfrm>
          <a:prstGeom prst="roundRect">
            <a:avLst/>
          </a:prstGeom>
          <a:solidFill>
            <a:srgbClr val="FAEBEB"/>
          </a:solidFill>
          <a:ln w="12700">
            <a:solidFill>
              <a:srgbClr val="B2262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a:solidFill>
                  <a:srgbClr val="B22626"/>
                </a:solidFill>
                <a:latin typeface="微软雅黑" panose="020B0503020204020204" charset="-122"/>
              </a:rPr>
              <a:t>注意：这是转换链路验证，不是模型端到端生成准确率。</a:t>
            </a:r>
            <a:endParaRPr sz="900" b="1">
              <a:solidFill>
                <a:srgbClr val="B22626"/>
              </a:solidFill>
              <a:latin typeface="微软雅黑" panose="020B0503020204020204" charset="-122"/>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3192" y="1033271"/>
            <a:ext cx="8412480" cy="530352"/>
          </a:xfrm>
          <a:prstGeom prst="rect">
            <a:avLst/>
          </a:prstGeom>
          <a:noFill/>
        </p:spPr>
        <p:txBody>
          <a:bodyPr wrap="square" lIns="36576" tIns="18288" rIns="36576" bIns="18288" anchor="ctr">
            <a:spAutoFit/>
          </a:bodyPr>
          <a:lstStyle/>
          <a:p>
            <a:pPr algn="l"/>
            <a:r>
              <a:rPr sz="2000" b="1">
                <a:solidFill>
                  <a:srgbClr val="18375C"/>
                </a:solidFill>
                <a:latin typeface="微软雅黑" panose="020B0503020204020204" charset="-122"/>
              </a:rPr>
              <a:t>可行性测试二：SQL+ 层修复是否有效</a:t>
            </a:r>
            <a:endParaRPr sz="2000" b="1">
              <a:solidFill>
                <a:srgbClr val="18375C"/>
              </a:solidFill>
              <a:latin typeface="微软雅黑" panose="020B0503020204020204" charset="-122"/>
            </a:endParaRPr>
          </a:p>
        </p:txBody>
      </p:sp>
      <p:sp>
        <p:nvSpPr>
          <p:cNvPr id="4" name="TextBox 3"/>
          <p:cNvSpPr txBox="1"/>
          <p:nvPr/>
        </p:nvSpPr>
        <p:spPr>
          <a:xfrm>
            <a:off x="502920" y="6428232"/>
            <a:ext cx="8138160" cy="201168"/>
          </a:xfrm>
          <a:prstGeom prst="rect">
            <a:avLst/>
          </a:prstGeom>
          <a:noFill/>
        </p:spPr>
        <p:txBody>
          <a:bodyPr wrap="square" lIns="36576" tIns="18288" rIns="36576" bIns="18288" anchor="ctr">
            <a:spAutoFit/>
          </a:bodyPr>
          <a:lstStyle/>
          <a:p>
            <a:pPr algn="l"/>
            <a:r>
              <a:rPr sz="800" b="0">
                <a:solidFill>
                  <a:srgbClr val="525C69"/>
                </a:solidFill>
                <a:latin typeface="微软雅黑" panose="020B0503020204020204" charset="-122"/>
              </a:rPr>
              <a:t>开题汇报 | SQL+ / Text-to-SQL / Multi-Agent | 18</a:t>
            </a:r>
            <a:endParaRPr sz="800" b="0">
              <a:solidFill>
                <a:srgbClr val="525C69"/>
              </a:solidFill>
              <a:latin typeface="微软雅黑" panose="020B0503020204020204" charset="-122"/>
            </a:endParaRPr>
          </a:p>
        </p:txBody>
      </p:sp>
      <p:graphicFrame>
        <p:nvGraphicFramePr>
          <p:cNvPr id="5" name="Table 4"/>
          <p:cNvGraphicFramePr>
            <a:graphicFrameLocks noGrp="1"/>
          </p:cNvGraphicFramePr>
          <p:nvPr/>
        </p:nvGraphicFramePr>
        <p:xfrm>
          <a:off x="502920" y="1828800"/>
          <a:ext cx="8183880" cy="3794760"/>
        </p:xfrm>
        <a:graphic>
          <a:graphicData uri="http://schemas.openxmlformats.org/drawingml/2006/table">
            <a:tbl>
              <a:tblPr firstRow="1" bandRow="1">
                <a:tableStyleId>{5C22544A-7EE6-4342-B048-85BDC9FD1C3A}</a:tableStyleId>
              </a:tblPr>
              <a:tblGrid>
                <a:gridCol w="1234440"/>
                <a:gridCol w="6949440"/>
              </a:tblGrid>
              <a:tr h="632460">
                <a:tc>
                  <a:txBody>
                    <a:bodyPr wrap="square"/>
                    <a:lstStyle/>
                    <a:p>
                      <a:pPr algn="ctr"/>
                      <a:r>
                        <a:rPr sz="1000" b="1">
                          <a:solidFill>
                            <a:srgbClr val="FFFFFF"/>
                          </a:solidFill>
                          <a:latin typeface="微软雅黑" panose="020B0503020204020204" charset="-122"/>
                        </a:rPr>
                        <a:t>项目</a:t>
                      </a:r>
                      <a:endParaRPr sz="100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1000" b="1">
                          <a:solidFill>
                            <a:srgbClr val="FFFFFF"/>
                          </a:solidFill>
                          <a:latin typeface="微软雅黑" panose="020B0503020204020204" charset="-122"/>
                        </a:rPr>
                        <a:t>说明</a:t>
                      </a:r>
                      <a:endParaRPr sz="1000" b="1">
                        <a:solidFill>
                          <a:srgbClr val="FFFFFF"/>
                        </a:solidFill>
                        <a:latin typeface="微软雅黑" panose="020B0503020204020204" charset="-122"/>
                      </a:endParaRPr>
                    </a:p>
                  </a:txBody>
                  <a:tcPr marL="36576" marR="36576" marT="18288" marB="18288" anchor="ctr">
                    <a:solidFill>
                      <a:srgbClr val="18375C"/>
                    </a:solidFill>
                  </a:tcPr>
                </a:tc>
              </a:tr>
              <a:tr h="632460">
                <a:tc>
                  <a:txBody>
                    <a:bodyPr wrap="square"/>
                    <a:lstStyle/>
                    <a:p>
                      <a:pPr algn="ctr"/>
                      <a:r>
                        <a:rPr sz="920" b="0">
                          <a:solidFill>
                            <a:srgbClr val="1F2933"/>
                          </a:solidFill>
                          <a:latin typeface="微软雅黑" panose="020B0503020204020204" charset="-122"/>
                        </a:rPr>
                        <a:t>实验配置</a:t>
                      </a:r>
                      <a:endParaRPr sz="92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20" b="0">
                          <a:solidFill>
                            <a:srgbClr val="1F2933"/>
                          </a:solidFill>
                          <a:latin typeface="微软雅黑" panose="020B0503020204020204" charset="-122"/>
                        </a:rPr>
                        <a:t>13 条 SQL+ prompt v2 已知失败样例；Direct SQL 失败样例作对照；SQLite 执行验证</a:t>
                      </a:r>
                      <a:endParaRPr sz="920" b="0">
                        <a:solidFill>
                          <a:srgbClr val="1F2933"/>
                        </a:solidFill>
                        <a:latin typeface="微软雅黑" panose="020B0503020204020204" charset="-122"/>
                      </a:endParaRPr>
                    </a:p>
                  </a:txBody>
                  <a:tcPr marL="36576" marR="36576" marT="18288" marB="18288" anchor="ctr">
                    <a:solidFill>
                      <a:srgbClr val="FFFFFF"/>
                    </a:solidFill>
                  </a:tcPr>
                </a:tc>
              </a:tr>
              <a:tr h="632460">
                <a:tc>
                  <a:txBody>
                    <a:bodyPr wrap="square"/>
                    <a:lstStyle/>
                    <a:p>
                      <a:pPr algn="ctr"/>
                      <a:r>
                        <a:rPr sz="920" b="0">
                          <a:solidFill>
                            <a:srgbClr val="1F2933"/>
                          </a:solidFill>
                          <a:latin typeface="微软雅黑" panose="020B0503020204020204" charset="-122"/>
                        </a:rPr>
                        <a:t>对比方法</a:t>
                      </a:r>
                      <a:endParaRPr sz="92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920" b="0">
                          <a:solidFill>
                            <a:srgbClr val="1F2933"/>
                          </a:solidFill>
                          <a:latin typeface="微软雅黑" panose="020B0503020204020204" charset="-122"/>
                        </a:rPr>
                        <a:t>Direct SQL Refiner、SQL+ 单 Refiner、SQL+ Critic Router Skills</a:t>
                      </a:r>
                      <a:endParaRPr sz="920" b="0">
                        <a:solidFill>
                          <a:srgbClr val="1F2933"/>
                        </a:solidFill>
                        <a:latin typeface="微软雅黑" panose="020B0503020204020204" charset="-122"/>
                      </a:endParaRPr>
                    </a:p>
                  </a:txBody>
                  <a:tcPr marL="36576" marR="36576" marT="18288" marB="18288" anchor="ctr">
                    <a:solidFill>
                      <a:srgbClr val="EEF2F6"/>
                    </a:solidFill>
                  </a:tcPr>
                </a:tc>
              </a:tr>
              <a:tr h="632460">
                <a:tc>
                  <a:txBody>
                    <a:bodyPr wrap="square"/>
                    <a:lstStyle/>
                    <a:p>
                      <a:pPr algn="ctr"/>
                      <a:r>
                        <a:rPr sz="920" b="0">
                          <a:solidFill>
                            <a:srgbClr val="1F2933"/>
                          </a:solidFill>
                          <a:latin typeface="微软雅黑" panose="020B0503020204020204" charset="-122"/>
                        </a:rPr>
                        <a:t>关键结果</a:t>
                      </a:r>
                      <a:endParaRPr sz="92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20" b="0">
                          <a:solidFill>
                            <a:srgbClr val="1F2933"/>
                          </a:solidFill>
                          <a:latin typeface="微软雅黑" panose="020B0503020204020204" charset="-122"/>
                        </a:rPr>
                        <a:t>Direct Refiner 6/14；SQL+ 非 gold Refiner 4/13；SQL+ Router Skills 13/13</a:t>
                      </a:r>
                      <a:endParaRPr sz="920" b="0">
                        <a:solidFill>
                          <a:srgbClr val="1F2933"/>
                        </a:solidFill>
                        <a:latin typeface="微软雅黑" panose="020B0503020204020204" charset="-122"/>
                      </a:endParaRPr>
                    </a:p>
                  </a:txBody>
                  <a:tcPr marL="36576" marR="36576" marT="18288" marB="18288" anchor="ctr">
                    <a:solidFill>
                      <a:srgbClr val="FFFFFF"/>
                    </a:solidFill>
                  </a:tcPr>
                </a:tc>
              </a:tr>
              <a:tr h="632460">
                <a:tc>
                  <a:txBody>
                    <a:bodyPr wrap="square"/>
                    <a:lstStyle/>
                    <a:p>
                      <a:pPr algn="ctr"/>
                      <a:r>
                        <a:rPr sz="920" b="0">
                          <a:solidFill>
                            <a:srgbClr val="1F2933"/>
                          </a:solidFill>
                          <a:latin typeface="微软雅黑" panose="020B0503020204020204" charset="-122"/>
                        </a:rPr>
                        <a:t>补充指标</a:t>
                      </a:r>
                      <a:endParaRPr sz="92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920" b="0">
                          <a:solidFill>
                            <a:srgbClr val="1F2933"/>
                          </a:solidFill>
                          <a:latin typeface="微软雅黑" panose="020B0503020204020204" charset="-122"/>
                        </a:rPr>
                        <a:t>SQL+ Router patch minimality 0.9744；平均 repair tokens 更高，说明准确率收益伴随成本</a:t>
                      </a:r>
                      <a:endParaRPr sz="920" b="0">
                        <a:solidFill>
                          <a:srgbClr val="1F2933"/>
                        </a:solidFill>
                        <a:latin typeface="微软雅黑" panose="020B0503020204020204" charset="-122"/>
                      </a:endParaRPr>
                    </a:p>
                  </a:txBody>
                  <a:tcPr marL="36576" marR="36576" marT="18288" marB="18288" anchor="ctr">
                    <a:solidFill>
                      <a:srgbClr val="EEF2F6"/>
                    </a:solidFill>
                  </a:tcPr>
                </a:tc>
              </a:tr>
              <a:tr h="632460">
                <a:tc>
                  <a:txBody>
                    <a:bodyPr wrap="square"/>
                    <a:lstStyle/>
                    <a:p>
                      <a:pPr algn="ctr"/>
                      <a:r>
                        <a:rPr sz="920" b="0">
                          <a:solidFill>
                            <a:srgbClr val="1F2933"/>
                          </a:solidFill>
                          <a:latin typeface="微软雅黑" panose="020B0503020204020204" charset="-122"/>
                        </a:rPr>
                        <a:t>结论</a:t>
                      </a:r>
                      <a:endParaRPr sz="92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20" b="0">
                          <a:solidFill>
                            <a:srgbClr val="1F2933"/>
                          </a:solidFill>
                          <a:latin typeface="微软雅黑" panose="020B0503020204020204" charset="-122"/>
                        </a:rPr>
                        <a:t>SQL+ 修复收益来自“错误类型路由 + 局部 repair skill + 执行验证”，不是来自单一大 prompt</a:t>
                      </a:r>
                      <a:endParaRPr sz="920" b="0">
                        <a:solidFill>
                          <a:srgbClr val="1F2933"/>
                        </a:solidFill>
                        <a:latin typeface="微软雅黑" panose="020B0503020204020204" charset="-122"/>
                      </a:endParaRPr>
                    </a:p>
                  </a:txBody>
                  <a:tcPr marL="36576" marR="36576" marT="18288" marB="18288" anchor="ctr">
                    <a:solidFill>
                      <a:srgbClr val="FFFFFF"/>
                    </a:solidFill>
                  </a:tcPr>
                </a:tc>
              </a:tr>
            </a:tbl>
          </a:graphicData>
        </a:graphic>
      </p:graphicFrame>
      <p:sp>
        <p:nvSpPr>
          <p:cNvPr id="6" name="Rounded Rectangle 5"/>
          <p:cNvSpPr/>
          <p:nvPr/>
        </p:nvSpPr>
        <p:spPr>
          <a:xfrm>
            <a:off x="658368" y="5797296"/>
            <a:ext cx="7909560" cy="365760"/>
          </a:xfrm>
          <a:prstGeom prst="roundRect">
            <a:avLst/>
          </a:prstGeom>
          <a:solidFill>
            <a:srgbClr val="FAEBEB"/>
          </a:solidFill>
          <a:ln w="12700">
            <a:solidFill>
              <a:srgbClr val="B2262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a:solidFill>
                  <a:srgbClr val="B22626"/>
                </a:solidFill>
                <a:latin typeface="微软雅黑" panose="020B0503020204020204" charset="-122"/>
              </a:rPr>
              <a:t>结论要谨慎：SQL+ 修复成功率更好，但 Critic token 成本更高，后续需优化轻量诊断。</a:t>
            </a:r>
            <a:endParaRPr sz="900" b="1">
              <a:solidFill>
                <a:srgbClr val="B22626"/>
              </a:solidFill>
              <a:latin typeface="微软雅黑" panose="020B0503020204020204" charset="-122"/>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3192" y="1033271"/>
            <a:ext cx="8412480" cy="530352"/>
          </a:xfrm>
          <a:prstGeom prst="rect">
            <a:avLst/>
          </a:prstGeom>
          <a:noFill/>
        </p:spPr>
        <p:txBody>
          <a:bodyPr wrap="square" lIns="36576" tIns="18288" rIns="36576" bIns="18288" anchor="ctr">
            <a:spAutoFit/>
          </a:bodyPr>
          <a:lstStyle/>
          <a:p>
            <a:pPr algn="l"/>
            <a:r>
              <a:rPr sz="2000" b="1">
                <a:solidFill>
                  <a:srgbClr val="18375C"/>
                </a:solidFill>
                <a:latin typeface="微软雅黑" panose="020B0503020204020204" charset="-122"/>
              </a:rPr>
              <a:t>可行性测试三：Repair Skill 分治结果</a:t>
            </a:r>
            <a:endParaRPr sz="2000" b="1">
              <a:solidFill>
                <a:srgbClr val="18375C"/>
              </a:solidFill>
              <a:latin typeface="微软雅黑" panose="020B0503020204020204" charset="-122"/>
            </a:endParaRPr>
          </a:p>
        </p:txBody>
      </p:sp>
      <p:sp>
        <p:nvSpPr>
          <p:cNvPr id="4" name="TextBox 3"/>
          <p:cNvSpPr txBox="1"/>
          <p:nvPr/>
        </p:nvSpPr>
        <p:spPr>
          <a:xfrm>
            <a:off x="502920" y="6428232"/>
            <a:ext cx="8138160" cy="201168"/>
          </a:xfrm>
          <a:prstGeom prst="rect">
            <a:avLst/>
          </a:prstGeom>
          <a:noFill/>
        </p:spPr>
        <p:txBody>
          <a:bodyPr wrap="square" lIns="36576" tIns="18288" rIns="36576" bIns="18288" anchor="ctr">
            <a:spAutoFit/>
          </a:bodyPr>
          <a:lstStyle/>
          <a:p>
            <a:pPr algn="l"/>
            <a:r>
              <a:rPr sz="800" b="0">
                <a:solidFill>
                  <a:srgbClr val="525C69"/>
                </a:solidFill>
                <a:latin typeface="微软雅黑" panose="020B0503020204020204" charset="-122"/>
              </a:rPr>
              <a:t>开题汇报 | SQL+ / Text-to-SQL / Multi-Agent | 19</a:t>
            </a:r>
            <a:endParaRPr sz="800" b="0">
              <a:solidFill>
                <a:srgbClr val="525C69"/>
              </a:solidFill>
              <a:latin typeface="微软雅黑" panose="020B0503020204020204" charset="-122"/>
            </a:endParaRPr>
          </a:p>
        </p:txBody>
      </p:sp>
      <p:graphicFrame>
        <p:nvGraphicFramePr>
          <p:cNvPr id="5" name="Table 4"/>
          <p:cNvGraphicFramePr>
            <a:graphicFrameLocks noGrp="1"/>
          </p:cNvGraphicFramePr>
          <p:nvPr/>
        </p:nvGraphicFramePr>
        <p:xfrm>
          <a:off x="438912" y="1783080"/>
          <a:ext cx="8321040" cy="3977639"/>
        </p:xfrm>
        <a:graphic>
          <a:graphicData uri="http://schemas.openxmlformats.org/drawingml/2006/table">
            <a:tbl>
              <a:tblPr firstRow="1" bandRow="1">
                <a:tableStyleId>{5C22544A-7EE6-4342-B048-85BDC9FD1C3A}</a:tableStyleId>
              </a:tblPr>
              <a:tblGrid>
                <a:gridCol w="1325880"/>
                <a:gridCol w="2514600"/>
                <a:gridCol w="822960"/>
                <a:gridCol w="3657600"/>
              </a:tblGrid>
              <a:tr h="662939">
                <a:tc>
                  <a:txBody>
                    <a:bodyPr wrap="square"/>
                    <a:lstStyle/>
                    <a:p>
                      <a:pPr algn="ctr"/>
                      <a:r>
                        <a:rPr sz="980" b="1">
                          <a:solidFill>
                            <a:srgbClr val="FFFFFF"/>
                          </a:solidFill>
                          <a:latin typeface="微软雅黑" panose="020B0503020204020204" charset="-122"/>
                        </a:rPr>
                        <a:t>Skill</a:t>
                      </a:r>
                      <a:endParaRPr sz="98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980" b="1">
                          <a:solidFill>
                            <a:srgbClr val="FFFFFF"/>
                          </a:solidFill>
                          <a:latin typeface="微软雅黑" panose="020B0503020204020204" charset="-122"/>
                        </a:rPr>
                        <a:t>处理错误</a:t>
                      </a:r>
                      <a:endParaRPr sz="98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980" b="1">
                          <a:solidFill>
                            <a:srgbClr val="FFFFFF"/>
                          </a:solidFill>
                          <a:latin typeface="微软雅黑" panose="020B0503020204020204" charset="-122"/>
                        </a:rPr>
                        <a:t>结果</a:t>
                      </a:r>
                      <a:endParaRPr sz="98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980" b="1">
                          <a:solidFill>
                            <a:srgbClr val="FFFFFF"/>
                          </a:solidFill>
                          <a:latin typeface="微软雅黑" panose="020B0503020204020204" charset="-122"/>
                        </a:rPr>
                        <a:t>说明</a:t>
                      </a:r>
                      <a:endParaRPr sz="980" b="1">
                        <a:solidFill>
                          <a:srgbClr val="FFFFFF"/>
                        </a:solidFill>
                        <a:latin typeface="微软雅黑" panose="020B0503020204020204" charset="-122"/>
                      </a:endParaRPr>
                    </a:p>
                  </a:txBody>
                  <a:tcPr marL="36576" marR="36576" marT="18288" marB="18288" anchor="ctr">
                    <a:solidFill>
                      <a:srgbClr val="18375C"/>
                    </a:solidFill>
                  </a:tcPr>
                </a:tc>
              </a:tr>
              <a:tr h="662939">
                <a:tc>
                  <a:txBody>
                    <a:bodyPr wrap="square"/>
                    <a:lstStyle/>
                    <a:p>
                      <a:pPr algn="ctr"/>
                      <a:r>
                        <a:rPr sz="900" b="0">
                          <a:solidFill>
                            <a:srgbClr val="1F2933"/>
                          </a:solidFill>
                          <a:latin typeface="微软雅黑" panose="020B0503020204020204" charset="-122"/>
                        </a:rPr>
                        <a:t>value-linking</a:t>
                      </a:r>
                      <a:endParaRPr sz="9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00" b="0">
                          <a:solidFill>
                            <a:srgbClr val="1F2933"/>
                          </a:solidFill>
                          <a:latin typeface="微软雅黑" panose="020B0503020204020204" charset="-122"/>
                        </a:rPr>
                        <a:t>字段值或日期边界错误</a:t>
                      </a:r>
                      <a:endParaRPr sz="9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00" b="0">
                          <a:solidFill>
                            <a:srgbClr val="1F2933"/>
                          </a:solidFill>
                          <a:latin typeface="微软雅黑" panose="020B0503020204020204" charset="-122"/>
                        </a:rPr>
                        <a:t>3/3</a:t>
                      </a:r>
                      <a:endParaRPr sz="9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00" b="0">
                          <a:solidFill>
                            <a:srgbClr val="1F2933"/>
                          </a:solidFill>
                          <a:latin typeface="微软雅黑" panose="020B0503020204020204" charset="-122"/>
                        </a:rPr>
                        <a:t>通过 value lookup 与候选执行验证修复</a:t>
                      </a:r>
                      <a:endParaRPr sz="900" b="0">
                        <a:solidFill>
                          <a:srgbClr val="1F2933"/>
                        </a:solidFill>
                        <a:latin typeface="微软雅黑" panose="020B0503020204020204" charset="-122"/>
                      </a:endParaRPr>
                    </a:p>
                  </a:txBody>
                  <a:tcPr marL="36576" marR="36576" marT="18288" marB="18288" anchor="ctr">
                    <a:solidFill>
                      <a:srgbClr val="FFFFFF"/>
                    </a:solidFill>
                  </a:tcPr>
                </a:tc>
              </a:tr>
              <a:tr h="662939">
                <a:tc>
                  <a:txBody>
                    <a:bodyPr wrap="square"/>
                    <a:lstStyle/>
                    <a:p>
                      <a:pPr algn="ctr"/>
                      <a:r>
                        <a:rPr sz="900" b="0">
                          <a:solidFill>
                            <a:srgbClr val="1F2933"/>
                          </a:solidFill>
                          <a:latin typeface="微软雅黑" panose="020B0503020204020204" charset="-122"/>
                        </a:rPr>
                        <a:t>ORDER / LIMIT</a:t>
                      </a:r>
                      <a:endParaRPr sz="90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900" b="0">
                          <a:solidFill>
                            <a:srgbClr val="1F2933"/>
                          </a:solidFill>
                          <a:latin typeface="微软雅黑" panose="020B0503020204020204" charset="-122"/>
                        </a:rPr>
                        <a:t>排序字段、方向、top-k 数量错误</a:t>
                      </a:r>
                      <a:endParaRPr sz="90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900" b="0">
                          <a:solidFill>
                            <a:srgbClr val="1F2933"/>
                          </a:solidFill>
                          <a:latin typeface="微软雅黑" panose="020B0503020204020204" charset="-122"/>
                        </a:rPr>
                        <a:t>3/3</a:t>
                      </a:r>
                      <a:endParaRPr sz="90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900" b="0">
                          <a:solidFill>
                            <a:srgbClr val="1F2933"/>
                          </a:solidFill>
                          <a:latin typeface="微软雅黑" panose="020B0503020204020204" charset="-122"/>
                        </a:rPr>
                        <a:t>局部改 ORDER/LIMIT，不影响其它步骤</a:t>
                      </a:r>
                      <a:endParaRPr sz="900" b="0">
                        <a:solidFill>
                          <a:srgbClr val="1F2933"/>
                        </a:solidFill>
                        <a:latin typeface="微软雅黑" panose="020B0503020204020204" charset="-122"/>
                      </a:endParaRPr>
                    </a:p>
                  </a:txBody>
                  <a:tcPr marL="36576" marR="36576" marT="18288" marB="18288" anchor="ctr">
                    <a:solidFill>
                      <a:srgbClr val="EEF2F6"/>
                    </a:solidFill>
                  </a:tcPr>
                </a:tc>
              </a:tr>
              <a:tr h="662939">
                <a:tc>
                  <a:txBody>
                    <a:bodyPr wrap="square"/>
                    <a:lstStyle/>
                    <a:p>
                      <a:pPr algn="ctr"/>
                      <a:r>
                        <a:rPr sz="900" b="0">
                          <a:solidFill>
                            <a:srgbClr val="1F2933"/>
                          </a:solidFill>
                          <a:latin typeface="微软雅黑" panose="020B0503020204020204" charset="-122"/>
                        </a:rPr>
                        <a:t>aggregation</a:t>
                      </a:r>
                      <a:endParaRPr sz="9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00" b="0">
                          <a:solidFill>
                            <a:srgbClr val="1F2933"/>
                          </a:solidFill>
                          <a:latin typeface="微软雅黑" panose="020B0503020204020204" charset="-122"/>
                        </a:rPr>
                        <a:t>GROUP/AGG 口径、别名、HAVING/ORDER 引用</a:t>
                      </a:r>
                      <a:endParaRPr sz="9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00" b="0">
                          <a:solidFill>
                            <a:srgbClr val="1F2933"/>
                          </a:solidFill>
                          <a:latin typeface="微软雅黑" panose="020B0503020204020204" charset="-122"/>
                        </a:rPr>
                        <a:t>3/3</a:t>
                      </a:r>
                      <a:endParaRPr sz="9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00" b="0">
                          <a:solidFill>
                            <a:srgbClr val="1F2933"/>
                          </a:solidFill>
                          <a:latin typeface="微软雅黑" panose="020B0503020204020204" charset="-122"/>
                        </a:rPr>
                        <a:t>补聚合维度和排序辅助列</a:t>
                      </a:r>
                      <a:endParaRPr sz="900" b="0">
                        <a:solidFill>
                          <a:srgbClr val="1F2933"/>
                        </a:solidFill>
                        <a:latin typeface="微软雅黑" panose="020B0503020204020204" charset="-122"/>
                      </a:endParaRPr>
                    </a:p>
                  </a:txBody>
                  <a:tcPr marL="36576" marR="36576" marT="18288" marB="18288" anchor="ctr">
                    <a:solidFill>
                      <a:srgbClr val="FFFFFF"/>
                    </a:solidFill>
                  </a:tcPr>
                </a:tc>
              </a:tr>
              <a:tr h="662939">
                <a:tc>
                  <a:txBody>
                    <a:bodyPr wrap="square"/>
                    <a:lstStyle/>
                    <a:p>
                      <a:pPr algn="ctr"/>
                      <a:r>
                        <a:rPr sz="900" b="0">
                          <a:solidFill>
                            <a:srgbClr val="1F2933"/>
                          </a:solidFill>
                          <a:latin typeface="微软雅黑" panose="020B0503020204020204" charset="-122"/>
                        </a:rPr>
                        <a:t>join</a:t>
                      </a:r>
                      <a:endParaRPr sz="90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900" b="0">
                          <a:solidFill>
                            <a:srgbClr val="1F2933"/>
                          </a:solidFill>
                          <a:latin typeface="微软雅黑" panose="020B0503020204020204" charset="-122"/>
                        </a:rPr>
                        <a:t>连接路径、冗余 join、缺少过滤</a:t>
                      </a:r>
                      <a:endParaRPr sz="90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900" b="0">
                          <a:solidFill>
                            <a:srgbClr val="1F2933"/>
                          </a:solidFill>
                          <a:latin typeface="微软雅黑" panose="020B0503020204020204" charset="-122"/>
                        </a:rPr>
                        <a:t>3/3</a:t>
                      </a:r>
                      <a:endParaRPr sz="90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900" b="0">
                          <a:solidFill>
                            <a:srgbClr val="1F2933"/>
                          </a:solidFill>
                          <a:latin typeface="微软雅黑" panose="020B0503020204020204" charset="-122"/>
                        </a:rPr>
                        <a:t>规范连接方向并修复关联投影</a:t>
                      </a:r>
                      <a:endParaRPr sz="900" b="0">
                        <a:solidFill>
                          <a:srgbClr val="1F2933"/>
                        </a:solidFill>
                        <a:latin typeface="微软雅黑" panose="020B0503020204020204" charset="-122"/>
                      </a:endParaRPr>
                    </a:p>
                  </a:txBody>
                  <a:tcPr marL="36576" marR="36576" marT="18288" marB="18288" anchor="ctr">
                    <a:solidFill>
                      <a:srgbClr val="EEF2F6"/>
                    </a:solidFill>
                  </a:tcPr>
                </a:tc>
              </a:tr>
              <a:tr h="662944">
                <a:tc>
                  <a:txBody>
                    <a:bodyPr wrap="square"/>
                    <a:lstStyle/>
                    <a:p>
                      <a:pPr algn="ctr"/>
                      <a:r>
                        <a:rPr sz="900" b="0">
                          <a:solidFill>
                            <a:srgbClr val="1F2933"/>
                          </a:solidFill>
                          <a:latin typeface="微软雅黑" panose="020B0503020204020204" charset="-122"/>
                        </a:rPr>
                        <a:t>projection</a:t>
                      </a:r>
                      <a:endParaRPr sz="9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00" b="0">
                          <a:solidFill>
                            <a:srgbClr val="1F2933"/>
                          </a:solidFill>
                          <a:latin typeface="微软雅黑" panose="020B0503020204020204" charset="-122"/>
                        </a:rPr>
                        <a:t>输出列多余或缺失</a:t>
                      </a:r>
                      <a:endParaRPr sz="9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00" b="0">
                          <a:solidFill>
                            <a:srgbClr val="1F2933"/>
                          </a:solidFill>
                          <a:latin typeface="微软雅黑" panose="020B0503020204020204" charset="-122"/>
                        </a:rPr>
                        <a:t>1/1</a:t>
                      </a:r>
                      <a:endParaRPr sz="9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00" b="0">
                          <a:solidFill>
                            <a:srgbClr val="1F2933"/>
                          </a:solidFill>
                          <a:latin typeface="微软雅黑" panose="020B0503020204020204" charset="-122"/>
                        </a:rPr>
                        <a:t>保留问题要求列，删除无关 id</a:t>
                      </a:r>
                      <a:endParaRPr sz="900" b="0">
                        <a:solidFill>
                          <a:srgbClr val="1F2933"/>
                        </a:solidFill>
                        <a:latin typeface="微软雅黑" panose="020B0503020204020204" charset="-122"/>
                      </a:endParaRPr>
                    </a:p>
                  </a:txBody>
                  <a:tcPr marL="36576" marR="36576" marT="18288" marB="18288" anchor="ctr">
                    <a:solidFill>
                      <a:srgbClr val="FFFFFF"/>
                    </a:solidFill>
                  </a:tcPr>
                </a:tc>
              </a:tr>
            </a:tbl>
          </a:graphicData>
        </a:graphic>
      </p:graphicFrame>
      <p:sp>
        <p:nvSpPr>
          <p:cNvPr id="6" name="Rounded Rectangle 5"/>
          <p:cNvSpPr/>
          <p:nvPr/>
        </p:nvSpPr>
        <p:spPr>
          <a:xfrm>
            <a:off x="658368" y="5870448"/>
            <a:ext cx="7909560" cy="365760"/>
          </a:xfrm>
          <a:prstGeom prst="roundRect">
            <a:avLst/>
          </a:prstGeom>
          <a:solidFill>
            <a:srgbClr val="FAEBEB"/>
          </a:solidFill>
          <a:ln w="12700">
            <a:solidFill>
              <a:srgbClr val="B2262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a:solidFill>
                  <a:srgbClr val="B22626"/>
                </a:solidFill>
                <a:latin typeface="微软雅黑" panose="020B0503020204020204" charset="-122"/>
              </a:rPr>
              <a:t>分治实验说明：不同错误类型需要不同局部修复策略，Router 的作用是选择正确技能。</a:t>
            </a:r>
            <a:endParaRPr sz="900" b="1">
              <a:solidFill>
                <a:srgbClr val="B22626"/>
              </a:solidFill>
              <a:latin typeface="微软雅黑" panose="020B0503020204020204" charset="-122"/>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3192" y="1033271"/>
            <a:ext cx="8412480" cy="530352"/>
          </a:xfrm>
          <a:prstGeom prst="rect">
            <a:avLst/>
          </a:prstGeom>
          <a:noFill/>
        </p:spPr>
        <p:txBody>
          <a:bodyPr wrap="square" lIns="36576" tIns="18288" rIns="36576" bIns="18288" anchor="ctr">
            <a:spAutoFit/>
          </a:bodyPr>
          <a:lstStyle/>
          <a:p>
            <a:pPr algn="l"/>
            <a:r>
              <a:rPr sz="2000" b="1">
                <a:solidFill>
                  <a:srgbClr val="18375C"/>
                </a:solidFill>
                <a:latin typeface="微软雅黑" panose="020B0503020204020204" charset="-122"/>
              </a:rPr>
              <a:t>可行性测试四：Spider 小子集端到端验证</a:t>
            </a:r>
            <a:endParaRPr sz="2000" b="1">
              <a:solidFill>
                <a:srgbClr val="18375C"/>
              </a:solidFill>
              <a:latin typeface="微软雅黑" panose="020B0503020204020204" charset="-122"/>
            </a:endParaRPr>
          </a:p>
        </p:txBody>
      </p:sp>
      <p:sp>
        <p:nvSpPr>
          <p:cNvPr id="4" name="TextBox 3"/>
          <p:cNvSpPr txBox="1"/>
          <p:nvPr/>
        </p:nvSpPr>
        <p:spPr>
          <a:xfrm>
            <a:off x="502920" y="6428232"/>
            <a:ext cx="8138160" cy="201168"/>
          </a:xfrm>
          <a:prstGeom prst="rect">
            <a:avLst/>
          </a:prstGeom>
          <a:noFill/>
        </p:spPr>
        <p:txBody>
          <a:bodyPr wrap="square" lIns="36576" tIns="18288" rIns="36576" bIns="18288" anchor="ctr">
            <a:spAutoFit/>
          </a:bodyPr>
          <a:lstStyle/>
          <a:p>
            <a:pPr algn="l"/>
            <a:r>
              <a:rPr sz="800" b="0">
                <a:solidFill>
                  <a:srgbClr val="525C69"/>
                </a:solidFill>
                <a:latin typeface="微软雅黑" panose="020B0503020204020204" charset="-122"/>
              </a:rPr>
              <a:t>开题汇报 | SQL+ / Text-to-SQL / Multi-Agent | 20</a:t>
            </a:r>
            <a:endParaRPr sz="800" b="0">
              <a:solidFill>
                <a:srgbClr val="525C69"/>
              </a:solidFill>
              <a:latin typeface="微软雅黑" panose="020B0503020204020204" charset="-122"/>
            </a:endParaRPr>
          </a:p>
        </p:txBody>
      </p:sp>
      <p:graphicFrame>
        <p:nvGraphicFramePr>
          <p:cNvPr id="5" name="Table 4"/>
          <p:cNvGraphicFramePr>
            <a:graphicFrameLocks noGrp="1"/>
          </p:cNvGraphicFramePr>
          <p:nvPr/>
        </p:nvGraphicFramePr>
        <p:xfrm>
          <a:off x="502920" y="1810512"/>
          <a:ext cx="8183880" cy="3840480"/>
        </p:xfrm>
        <a:graphic>
          <a:graphicData uri="http://schemas.openxmlformats.org/drawingml/2006/table">
            <a:tbl>
              <a:tblPr firstRow="1" bandRow="1">
                <a:tableStyleId>{5C22544A-7EE6-4342-B048-85BDC9FD1C3A}</a:tableStyleId>
              </a:tblPr>
              <a:tblGrid>
                <a:gridCol w="1234440"/>
                <a:gridCol w="3759835"/>
                <a:gridCol w="583565"/>
                <a:gridCol w="2606040"/>
              </a:tblGrid>
              <a:tr h="768096">
                <a:tc>
                  <a:txBody>
                    <a:bodyPr wrap="square"/>
                    <a:lstStyle/>
                    <a:p>
                      <a:pPr algn="ctr"/>
                      <a:r>
                        <a:rPr sz="860" b="1">
                          <a:solidFill>
                            <a:srgbClr val="FFFFFF"/>
                          </a:solidFill>
                          <a:latin typeface="微软雅黑" panose="020B0503020204020204" charset="-122"/>
                        </a:rPr>
                        <a:t>测试</a:t>
                      </a:r>
                      <a:endParaRPr sz="86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860" b="1">
                          <a:solidFill>
                            <a:srgbClr val="FFFFFF"/>
                          </a:solidFill>
                          <a:latin typeface="微软雅黑" panose="020B0503020204020204" charset="-122"/>
                        </a:rPr>
                        <a:t>过程</a:t>
                      </a:r>
                      <a:endParaRPr sz="86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860" b="1">
                          <a:solidFill>
                            <a:srgbClr val="FFFFFF"/>
                          </a:solidFill>
                          <a:latin typeface="微软雅黑" panose="020B0503020204020204" charset="-122"/>
                        </a:rPr>
                        <a:t>结果</a:t>
                      </a:r>
                      <a:endParaRPr sz="86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860" b="1">
                          <a:solidFill>
                            <a:srgbClr val="FFFFFF"/>
                          </a:solidFill>
                          <a:latin typeface="微软雅黑" panose="020B0503020204020204" charset="-122"/>
                        </a:rPr>
                        <a:t>解释</a:t>
                      </a:r>
                      <a:endParaRPr sz="860" b="1">
                        <a:solidFill>
                          <a:srgbClr val="FFFFFF"/>
                        </a:solidFill>
                        <a:latin typeface="微软雅黑" panose="020B0503020204020204" charset="-122"/>
                      </a:endParaRPr>
                    </a:p>
                  </a:txBody>
                  <a:tcPr marL="36576" marR="36576" marT="18288" marB="18288" anchor="ctr">
                    <a:solidFill>
                      <a:srgbClr val="18375C"/>
                    </a:solidFill>
                  </a:tcPr>
                </a:tc>
              </a:tr>
              <a:tr h="768096">
                <a:tc>
                  <a:txBody>
                    <a:bodyPr wrap="square"/>
                    <a:lstStyle/>
                    <a:p>
                      <a:pPr algn="ctr"/>
                      <a:r>
                        <a:rPr sz="780" b="0">
                          <a:solidFill>
                            <a:srgbClr val="1F2933"/>
                          </a:solidFill>
                          <a:latin typeface="微软雅黑" panose="020B0503020204020204" charset="-122"/>
                        </a:rPr>
                        <a:t>Conversion smoke</a:t>
                      </a:r>
                      <a:endParaRPr sz="7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780" b="0">
                          <a:solidFill>
                            <a:srgbClr val="1F2933"/>
                          </a:solidFill>
                          <a:latin typeface="微软雅黑" panose="020B0503020204020204" charset="-122"/>
                        </a:rPr>
                        <a:t>Spider gold SQL -&gt; SQL+ -&gt; SQL -&gt; SQLite</a:t>
                      </a:r>
                      <a:endParaRPr sz="7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780" b="0">
                          <a:solidFill>
                            <a:srgbClr val="1F2933"/>
                          </a:solidFill>
                          <a:latin typeface="微软雅黑" panose="020B0503020204020204" charset="-122"/>
                        </a:rPr>
                        <a:t>20/20</a:t>
                      </a:r>
                      <a:endParaRPr sz="7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780" b="0">
                          <a:solidFill>
                            <a:srgbClr val="1F2933"/>
                          </a:solidFill>
                          <a:latin typeface="微软雅黑" panose="020B0503020204020204" charset="-122"/>
                        </a:rPr>
                        <a:t>验证 SQL+ 转换器可迁移，不代表端到端生成</a:t>
                      </a:r>
                      <a:endParaRPr sz="780" b="0">
                        <a:solidFill>
                          <a:srgbClr val="1F2933"/>
                        </a:solidFill>
                        <a:latin typeface="微软雅黑" panose="020B0503020204020204" charset="-122"/>
                      </a:endParaRPr>
                    </a:p>
                  </a:txBody>
                  <a:tcPr marL="36576" marR="36576" marT="18288" marB="18288" anchor="ctr">
                    <a:solidFill>
                      <a:srgbClr val="FFFFFF"/>
                    </a:solidFill>
                  </a:tcPr>
                </a:tc>
              </a:tr>
              <a:tr h="768096">
                <a:tc>
                  <a:txBody>
                    <a:bodyPr wrap="square"/>
                    <a:lstStyle/>
                    <a:p>
                      <a:pPr algn="ctr"/>
                      <a:r>
                        <a:rPr sz="780" b="0">
                          <a:solidFill>
                            <a:srgbClr val="1F2933"/>
                          </a:solidFill>
                          <a:latin typeface="微软雅黑" panose="020B0503020204020204" charset="-122"/>
                        </a:rPr>
                        <a:t>Fresh e2e</a:t>
                      </a:r>
                      <a:endParaRPr sz="7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780" b="0">
                          <a:solidFill>
                            <a:srgbClr val="1F2933"/>
                          </a:solidFill>
                          <a:latin typeface="微软雅黑" panose="020B0503020204020204" charset="-122"/>
                        </a:rPr>
                        <a:t>question + schema -&gt; SQL+ Generator -&gt; Translator -&gt; Executor</a:t>
                      </a:r>
                      <a:endParaRPr sz="7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780" b="0">
                          <a:solidFill>
                            <a:srgbClr val="1F2933"/>
                          </a:solidFill>
                          <a:latin typeface="微软雅黑" panose="020B0503020204020204" charset="-122"/>
                        </a:rPr>
                        <a:t>19/20</a:t>
                      </a:r>
                      <a:endParaRPr sz="7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780" b="0">
                          <a:solidFill>
                            <a:srgbClr val="1F2933"/>
                          </a:solidFill>
                          <a:latin typeface="微软雅黑" panose="020B0503020204020204" charset="-122"/>
                        </a:rPr>
                        <a:t>真实端到端输入，不使用 gold SQL 生成</a:t>
                      </a:r>
                      <a:endParaRPr sz="780" b="0">
                        <a:solidFill>
                          <a:srgbClr val="1F2933"/>
                        </a:solidFill>
                        <a:latin typeface="微软雅黑" panose="020B0503020204020204" charset="-122"/>
                      </a:endParaRPr>
                    </a:p>
                  </a:txBody>
                  <a:tcPr marL="36576" marR="36576" marT="18288" marB="18288" anchor="ctr">
                    <a:solidFill>
                      <a:srgbClr val="EEF2F6"/>
                    </a:solidFill>
                  </a:tcPr>
                </a:tc>
              </a:tr>
              <a:tr h="768096">
                <a:tc>
                  <a:txBody>
                    <a:bodyPr wrap="square"/>
                    <a:lstStyle/>
                    <a:p>
                      <a:pPr algn="ctr"/>
                      <a:r>
                        <a:rPr sz="780" b="0">
                          <a:solidFill>
                            <a:srgbClr val="1F2933"/>
                          </a:solidFill>
                          <a:latin typeface="微软雅黑" panose="020B0503020204020204" charset="-122"/>
                        </a:rPr>
                        <a:t>Router repair</a:t>
                      </a:r>
                      <a:endParaRPr sz="7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780" b="0">
                          <a:solidFill>
                            <a:srgbClr val="1F2933"/>
                          </a:solidFill>
                          <a:latin typeface="微软雅黑" panose="020B0503020204020204" charset="-122"/>
                        </a:rPr>
                        <a:t>同一次 fresh 输出 -&gt; Skill Router -&gt; semantic repair skill -&gt; re-executor</a:t>
                      </a:r>
                      <a:endParaRPr sz="7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780" b="0">
                          <a:solidFill>
                            <a:srgbClr val="1F2933"/>
                          </a:solidFill>
                          <a:latin typeface="微软雅黑" panose="020B0503020204020204" charset="-122"/>
                        </a:rPr>
                        <a:t>20/20</a:t>
                      </a:r>
                      <a:endParaRPr sz="7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780" b="0">
                          <a:solidFill>
                            <a:srgbClr val="1F2933"/>
                          </a:solidFill>
                          <a:latin typeface="微软雅黑" panose="020B0503020204020204" charset="-122"/>
                        </a:rPr>
                        <a:t>验证 SQL+ 局部修复闭环在小子集可行</a:t>
                      </a:r>
                      <a:endParaRPr sz="780" b="0">
                        <a:solidFill>
                          <a:srgbClr val="1F2933"/>
                        </a:solidFill>
                        <a:latin typeface="微软雅黑" panose="020B0503020204020204" charset="-122"/>
                      </a:endParaRPr>
                    </a:p>
                  </a:txBody>
                  <a:tcPr marL="36576" marR="36576" marT="18288" marB="18288" anchor="ctr">
                    <a:solidFill>
                      <a:srgbClr val="FFFFFF"/>
                    </a:solidFill>
                  </a:tcPr>
                </a:tc>
              </a:tr>
              <a:tr h="768096">
                <a:tc>
                  <a:txBody>
                    <a:bodyPr wrap="square"/>
                    <a:lstStyle/>
                    <a:p>
                      <a:pPr algn="ctr"/>
                      <a:r>
                        <a:rPr sz="780" b="0">
                          <a:solidFill>
                            <a:srgbClr val="1F2933"/>
                          </a:solidFill>
                          <a:latin typeface="微软雅黑" panose="020B0503020204020204" charset="-122"/>
                        </a:rPr>
                        <a:t>边界</a:t>
                      </a:r>
                      <a:endParaRPr sz="7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780" b="0">
                          <a:solidFill>
                            <a:srgbClr val="1F2933"/>
                          </a:solidFill>
                          <a:latin typeface="微软雅黑" panose="020B0503020204020204" charset="-122"/>
                        </a:rPr>
                        <a:t>仅 concert_singer 20 条；本地目前只有 1 个 Spider SQLite 数据库</a:t>
                      </a:r>
                      <a:endParaRPr sz="7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780" b="0">
                          <a:solidFill>
                            <a:srgbClr val="1F2933"/>
                          </a:solidFill>
                          <a:latin typeface="微软雅黑" panose="020B0503020204020204" charset="-122"/>
                        </a:rPr>
                        <a:t>非完整 Spider</a:t>
                      </a:r>
                      <a:endParaRPr sz="7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780" b="0">
                          <a:solidFill>
                            <a:srgbClr val="1F2933"/>
                          </a:solidFill>
                          <a:latin typeface="微软雅黑" panose="020B0503020204020204" charset="-122"/>
                        </a:rPr>
                        <a:t>后续需扩展多库、多难度、多 SQL 结构</a:t>
                      </a:r>
                      <a:endParaRPr sz="780" b="0">
                        <a:solidFill>
                          <a:srgbClr val="1F2933"/>
                        </a:solidFill>
                        <a:latin typeface="微软雅黑" panose="020B0503020204020204" charset="-122"/>
                      </a:endParaRPr>
                    </a:p>
                  </a:txBody>
                  <a:tcPr marL="36576" marR="36576" marT="18288" marB="18288" anchor="ctr">
                    <a:solidFill>
                      <a:srgbClr val="EEF2F6"/>
                    </a:solidFill>
                  </a:tcPr>
                </a:tc>
              </a:tr>
            </a:tbl>
          </a:graphicData>
        </a:graphic>
      </p:graphicFrame>
      <p:sp>
        <p:nvSpPr>
          <p:cNvPr id="6" name="Rounded Rectangle 5"/>
          <p:cNvSpPr/>
          <p:nvPr/>
        </p:nvSpPr>
        <p:spPr>
          <a:xfrm>
            <a:off x="658368" y="5797296"/>
            <a:ext cx="7909560" cy="365760"/>
          </a:xfrm>
          <a:prstGeom prst="roundRect">
            <a:avLst/>
          </a:prstGeom>
          <a:solidFill>
            <a:srgbClr val="FAEBEB"/>
          </a:solidFill>
          <a:ln w="12700">
            <a:solidFill>
              <a:srgbClr val="B2262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a:solidFill>
                  <a:srgbClr val="B22626"/>
                </a:solidFill>
                <a:latin typeface="微软雅黑" panose="020B0503020204020204" charset="-122"/>
              </a:rPr>
              <a:t>结论：公开小子集证明链路可迁移；不能写成完整 Spider benchmark 成绩。</a:t>
            </a:r>
            <a:endParaRPr sz="900" b="1">
              <a:solidFill>
                <a:srgbClr val="B22626"/>
              </a:solidFill>
              <a:latin typeface="微软雅黑" panose="020B0503020204020204"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11480" y="1052703"/>
            <a:ext cx="8412480" cy="530352"/>
          </a:xfrm>
          <a:prstGeom prst="rect">
            <a:avLst/>
          </a:prstGeom>
          <a:noFill/>
        </p:spPr>
        <p:txBody>
          <a:bodyPr wrap="square" anchor="ctr">
            <a:spAutoFit/>
          </a:bodyPr>
          <a:lstStyle/>
          <a:p>
            <a:pPr algn="l"/>
            <a:r>
              <a:rPr sz="2400" b="1">
                <a:solidFill>
                  <a:srgbClr val="18375C"/>
                </a:solidFill>
                <a:latin typeface="微软雅黑" panose="020B0503020204020204" charset="-122"/>
              </a:rPr>
              <a:t>前期可行性分析小结</a:t>
            </a:r>
            <a:endParaRPr sz="2400" b="1">
              <a:solidFill>
                <a:srgbClr val="18375C"/>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667080"/>
                </a:solidFill>
                <a:latin typeface="微软雅黑" panose="020B0503020204020204" charset="-122"/>
              </a:rPr>
              <a:t>开题汇报 | SQL+ / Text-to-SQL / Multi-Agent | 21</a:t>
            </a:r>
            <a:endParaRPr sz="800" b="0">
              <a:solidFill>
                <a:srgbClr val="667080"/>
              </a:solidFill>
              <a:latin typeface="微软雅黑" panose="020B0503020204020204" charset="-122"/>
            </a:endParaRPr>
          </a:p>
        </p:txBody>
      </p:sp>
      <p:sp>
        <p:nvSpPr>
          <p:cNvPr id="4" name="Rectangle 3"/>
          <p:cNvSpPr/>
          <p:nvPr>
            <p:custDataLst>
              <p:tags r:id="rId1"/>
            </p:custDataLst>
          </p:nvPr>
        </p:nvSpPr>
        <p:spPr>
          <a:xfrm>
            <a:off x="467360" y="1988820"/>
            <a:ext cx="2331720" cy="1143000"/>
          </a:xfrm>
          <a:prstGeom prst="rect">
            <a:avLst/>
          </a:prstGeom>
          <a:solidFill>
            <a:srgbClr val="F6F8FA"/>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5" name="TextBox 4"/>
          <p:cNvSpPr txBox="1"/>
          <p:nvPr>
            <p:custDataLst>
              <p:tags r:id="rId2"/>
            </p:custDataLst>
          </p:nvPr>
        </p:nvSpPr>
        <p:spPr>
          <a:xfrm>
            <a:off x="631952" y="2153412"/>
            <a:ext cx="1920240" cy="256032"/>
          </a:xfrm>
          <a:prstGeom prst="rect">
            <a:avLst/>
          </a:prstGeom>
          <a:noFill/>
        </p:spPr>
        <p:txBody>
          <a:bodyPr wrap="square" anchor="ctr">
            <a:spAutoFit/>
          </a:bodyPr>
          <a:lstStyle/>
          <a:p>
            <a:pPr algn="l"/>
            <a:r>
              <a:rPr sz="1200" b="1">
                <a:solidFill>
                  <a:srgbClr val="18375C"/>
                </a:solidFill>
                <a:latin typeface="微软雅黑" panose="020B0503020204020204" charset="-122"/>
              </a:rPr>
              <a:t>表达可行</a:t>
            </a:r>
            <a:endParaRPr sz="1200" b="1">
              <a:solidFill>
                <a:srgbClr val="18375C"/>
              </a:solidFill>
              <a:latin typeface="微软雅黑" panose="020B0503020204020204" charset="-122"/>
            </a:endParaRPr>
          </a:p>
        </p:txBody>
      </p:sp>
      <p:sp>
        <p:nvSpPr>
          <p:cNvPr id="6" name="TextBox 5"/>
          <p:cNvSpPr txBox="1"/>
          <p:nvPr>
            <p:custDataLst>
              <p:tags r:id="rId3"/>
            </p:custDataLst>
          </p:nvPr>
        </p:nvSpPr>
        <p:spPr>
          <a:xfrm>
            <a:off x="631952" y="2519172"/>
            <a:ext cx="1920240" cy="384048"/>
          </a:xfrm>
          <a:prstGeom prst="rect">
            <a:avLst/>
          </a:prstGeom>
          <a:noFill/>
        </p:spPr>
        <p:txBody>
          <a:bodyPr wrap="square" anchor="ctr">
            <a:spAutoFit/>
          </a:bodyPr>
          <a:lstStyle/>
          <a:p>
            <a:pPr algn="ctr"/>
            <a:r>
              <a:rPr sz="1000" b="0">
                <a:solidFill>
                  <a:srgbClr val="1F2933"/>
                </a:solidFill>
                <a:latin typeface="微软雅黑" panose="020B0503020204020204" charset="-122"/>
              </a:rPr>
              <a:t>SQL+ -&gt; SQL
30/30 执行一致</a:t>
            </a:r>
            <a:endParaRPr sz="1000" b="0">
              <a:solidFill>
                <a:srgbClr val="1F2933"/>
              </a:solidFill>
              <a:latin typeface="微软雅黑" panose="020B0503020204020204" charset="-122"/>
            </a:endParaRPr>
          </a:p>
        </p:txBody>
      </p:sp>
      <p:sp>
        <p:nvSpPr>
          <p:cNvPr id="7" name="Rectangle 6"/>
          <p:cNvSpPr/>
          <p:nvPr>
            <p:custDataLst>
              <p:tags r:id="rId4"/>
            </p:custDataLst>
          </p:nvPr>
        </p:nvSpPr>
        <p:spPr>
          <a:xfrm>
            <a:off x="3210560" y="1988820"/>
            <a:ext cx="2331720" cy="1143000"/>
          </a:xfrm>
          <a:prstGeom prst="rect">
            <a:avLst/>
          </a:prstGeom>
          <a:solidFill>
            <a:srgbClr val="F6F8FA"/>
          </a:solidFill>
          <a:ln>
            <a:solidFill>
              <a:srgbClr val="525C6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8" name="TextBox 7"/>
          <p:cNvSpPr txBox="1"/>
          <p:nvPr>
            <p:custDataLst>
              <p:tags r:id="rId5"/>
            </p:custDataLst>
          </p:nvPr>
        </p:nvSpPr>
        <p:spPr>
          <a:xfrm>
            <a:off x="3375152" y="2153412"/>
            <a:ext cx="1920240" cy="256032"/>
          </a:xfrm>
          <a:prstGeom prst="rect">
            <a:avLst/>
          </a:prstGeom>
          <a:noFill/>
        </p:spPr>
        <p:txBody>
          <a:bodyPr wrap="square" anchor="ctr">
            <a:spAutoFit/>
          </a:bodyPr>
          <a:lstStyle/>
          <a:p>
            <a:pPr algn="l"/>
            <a:r>
              <a:rPr sz="1200" b="1">
                <a:solidFill>
                  <a:srgbClr val="525C69"/>
                </a:solidFill>
                <a:latin typeface="微软雅黑" panose="020B0503020204020204" charset="-122"/>
              </a:rPr>
              <a:t>生成有潜力</a:t>
            </a:r>
            <a:endParaRPr sz="1200" b="1">
              <a:solidFill>
                <a:srgbClr val="525C69"/>
              </a:solidFill>
              <a:latin typeface="微软雅黑" panose="020B0503020204020204" charset="-122"/>
            </a:endParaRPr>
          </a:p>
        </p:txBody>
      </p:sp>
      <p:sp>
        <p:nvSpPr>
          <p:cNvPr id="9" name="TextBox 8"/>
          <p:cNvSpPr txBox="1"/>
          <p:nvPr>
            <p:custDataLst>
              <p:tags r:id="rId6"/>
            </p:custDataLst>
          </p:nvPr>
        </p:nvSpPr>
        <p:spPr>
          <a:xfrm>
            <a:off x="3375152" y="2519172"/>
            <a:ext cx="1920240" cy="384048"/>
          </a:xfrm>
          <a:prstGeom prst="rect">
            <a:avLst/>
          </a:prstGeom>
          <a:noFill/>
        </p:spPr>
        <p:txBody>
          <a:bodyPr wrap="square" anchor="ctr">
            <a:spAutoFit/>
          </a:bodyPr>
          <a:lstStyle/>
          <a:p>
            <a:pPr algn="ctr"/>
            <a:r>
              <a:rPr sz="1000" b="0">
                <a:solidFill>
                  <a:srgbClr val="1F2933"/>
                </a:solidFill>
                <a:latin typeface="微软雅黑" panose="020B0503020204020204" charset="-122"/>
              </a:rPr>
              <a:t>SQL+ v2 17/30
Direct SQL 16/30</a:t>
            </a:r>
            <a:endParaRPr sz="1000" b="0">
              <a:solidFill>
                <a:srgbClr val="1F2933"/>
              </a:solidFill>
              <a:latin typeface="微软雅黑" panose="020B0503020204020204" charset="-122"/>
            </a:endParaRPr>
          </a:p>
        </p:txBody>
      </p:sp>
      <p:sp>
        <p:nvSpPr>
          <p:cNvPr id="10" name="Rectangle 9"/>
          <p:cNvSpPr/>
          <p:nvPr>
            <p:custDataLst>
              <p:tags r:id="rId7"/>
            </p:custDataLst>
          </p:nvPr>
        </p:nvSpPr>
        <p:spPr>
          <a:xfrm>
            <a:off x="5953760" y="1988820"/>
            <a:ext cx="2331720" cy="1143000"/>
          </a:xfrm>
          <a:prstGeom prst="rect">
            <a:avLst/>
          </a:prstGeom>
          <a:solidFill>
            <a:srgbClr val="F6F8FA"/>
          </a:solidFill>
          <a:ln>
            <a:solidFill>
              <a:srgbClr val="3A4E5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11" name="TextBox 10"/>
          <p:cNvSpPr txBox="1"/>
          <p:nvPr>
            <p:custDataLst>
              <p:tags r:id="rId8"/>
            </p:custDataLst>
          </p:nvPr>
        </p:nvSpPr>
        <p:spPr>
          <a:xfrm>
            <a:off x="6118352" y="2153412"/>
            <a:ext cx="1920240" cy="256032"/>
          </a:xfrm>
          <a:prstGeom prst="rect">
            <a:avLst/>
          </a:prstGeom>
          <a:noFill/>
        </p:spPr>
        <p:txBody>
          <a:bodyPr wrap="square" anchor="ctr">
            <a:spAutoFit/>
          </a:bodyPr>
          <a:lstStyle/>
          <a:p>
            <a:pPr algn="l"/>
            <a:r>
              <a:rPr sz="1200" b="1">
                <a:solidFill>
                  <a:srgbClr val="3A4E5E"/>
                </a:solidFill>
                <a:latin typeface="微软雅黑" panose="020B0503020204020204" charset="-122"/>
              </a:rPr>
              <a:t>修复更关键</a:t>
            </a:r>
            <a:endParaRPr sz="1200" b="1">
              <a:solidFill>
                <a:srgbClr val="3A4E5E"/>
              </a:solidFill>
              <a:latin typeface="微软雅黑" panose="020B0503020204020204" charset="-122"/>
            </a:endParaRPr>
          </a:p>
        </p:txBody>
      </p:sp>
      <p:sp>
        <p:nvSpPr>
          <p:cNvPr id="12" name="TextBox 11"/>
          <p:cNvSpPr txBox="1"/>
          <p:nvPr>
            <p:custDataLst>
              <p:tags r:id="rId9"/>
            </p:custDataLst>
          </p:nvPr>
        </p:nvSpPr>
        <p:spPr>
          <a:xfrm>
            <a:off x="6118352" y="2519172"/>
            <a:ext cx="1920240" cy="384048"/>
          </a:xfrm>
          <a:prstGeom prst="rect">
            <a:avLst/>
          </a:prstGeom>
          <a:noFill/>
        </p:spPr>
        <p:txBody>
          <a:bodyPr wrap="square" anchor="ctr">
            <a:spAutoFit/>
          </a:bodyPr>
          <a:lstStyle/>
          <a:p>
            <a:pPr algn="ctr"/>
            <a:r>
              <a:rPr sz="1000" b="0">
                <a:solidFill>
                  <a:srgbClr val="1F2933"/>
                </a:solidFill>
                <a:latin typeface="微软雅黑" panose="020B0503020204020204" charset="-122"/>
              </a:rPr>
              <a:t>单 Refiner 不稳
Router Skills 13/13</a:t>
            </a:r>
            <a:endParaRPr sz="1000" b="0">
              <a:solidFill>
                <a:srgbClr val="1F2933"/>
              </a:solidFill>
              <a:latin typeface="微软雅黑" panose="020B0503020204020204" charset="-122"/>
            </a:endParaRPr>
          </a:p>
        </p:txBody>
      </p:sp>
      <p:sp>
        <p:nvSpPr>
          <p:cNvPr id="13" name="Rectangle 12"/>
          <p:cNvSpPr/>
          <p:nvPr>
            <p:custDataLst>
              <p:tags r:id="rId10"/>
            </p:custDataLst>
          </p:nvPr>
        </p:nvSpPr>
        <p:spPr>
          <a:xfrm>
            <a:off x="467360" y="3634740"/>
            <a:ext cx="2331720" cy="1143000"/>
          </a:xfrm>
          <a:prstGeom prst="rect">
            <a:avLst/>
          </a:prstGeom>
          <a:solidFill>
            <a:srgbClr val="F6F8FA"/>
          </a:solidFill>
          <a:ln>
            <a:solidFill>
              <a:srgbClr val="B2262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14" name="TextBox 13"/>
          <p:cNvSpPr txBox="1"/>
          <p:nvPr>
            <p:custDataLst>
              <p:tags r:id="rId11"/>
            </p:custDataLst>
          </p:nvPr>
        </p:nvSpPr>
        <p:spPr>
          <a:xfrm>
            <a:off x="631952" y="3799332"/>
            <a:ext cx="1920240" cy="256032"/>
          </a:xfrm>
          <a:prstGeom prst="rect">
            <a:avLst/>
          </a:prstGeom>
          <a:noFill/>
        </p:spPr>
        <p:txBody>
          <a:bodyPr wrap="square" anchor="ctr">
            <a:spAutoFit/>
          </a:bodyPr>
          <a:lstStyle/>
          <a:p>
            <a:pPr algn="l"/>
            <a:r>
              <a:rPr sz="1200" b="1">
                <a:solidFill>
                  <a:srgbClr val="B22626"/>
                </a:solidFill>
                <a:latin typeface="微软雅黑" panose="020B0503020204020204" charset="-122"/>
              </a:rPr>
              <a:t>成本需补齐</a:t>
            </a:r>
            <a:endParaRPr sz="1200" b="1">
              <a:solidFill>
                <a:srgbClr val="B22626"/>
              </a:solidFill>
              <a:latin typeface="微软雅黑" panose="020B0503020204020204" charset="-122"/>
            </a:endParaRPr>
          </a:p>
        </p:txBody>
      </p:sp>
      <p:sp>
        <p:nvSpPr>
          <p:cNvPr id="15" name="TextBox 14"/>
          <p:cNvSpPr txBox="1"/>
          <p:nvPr>
            <p:custDataLst>
              <p:tags r:id="rId12"/>
            </p:custDataLst>
          </p:nvPr>
        </p:nvSpPr>
        <p:spPr>
          <a:xfrm>
            <a:off x="631952" y="4165092"/>
            <a:ext cx="1920240" cy="384048"/>
          </a:xfrm>
          <a:prstGeom prst="rect">
            <a:avLst/>
          </a:prstGeom>
          <a:noFill/>
        </p:spPr>
        <p:txBody>
          <a:bodyPr wrap="square" anchor="ctr">
            <a:spAutoFit/>
          </a:bodyPr>
          <a:lstStyle/>
          <a:p>
            <a:pPr algn="ctr"/>
            <a:r>
              <a:rPr sz="1000" b="0">
                <a:solidFill>
                  <a:srgbClr val="1F2933"/>
                </a:solidFill>
                <a:latin typeface="微软雅黑" panose="020B0503020204020204" charset="-122"/>
              </a:rPr>
              <a:t>SQL+ token 更高
latency 需重跑</a:t>
            </a:r>
            <a:endParaRPr sz="1000" b="0">
              <a:solidFill>
                <a:srgbClr val="1F2933"/>
              </a:solidFill>
              <a:latin typeface="微软雅黑" panose="020B0503020204020204" charset="-122"/>
            </a:endParaRPr>
          </a:p>
        </p:txBody>
      </p:sp>
      <p:sp>
        <p:nvSpPr>
          <p:cNvPr id="16" name="Rectangle 15"/>
          <p:cNvSpPr/>
          <p:nvPr>
            <p:custDataLst>
              <p:tags r:id="rId13"/>
            </p:custDataLst>
          </p:nvPr>
        </p:nvSpPr>
        <p:spPr>
          <a:xfrm>
            <a:off x="3210560" y="3634740"/>
            <a:ext cx="2331720" cy="1143000"/>
          </a:xfrm>
          <a:prstGeom prst="rect">
            <a:avLst/>
          </a:prstGeom>
          <a:solidFill>
            <a:srgbClr val="F6F8FA"/>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17" name="TextBox 16"/>
          <p:cNvSpPr txBox="1"/>
          <p:nvPr>
            <p:custDataLst>
              <p:tags r:id="rId14"/>
            </p:custDataLst>
          </p:nvPr>
        </p:nvSpPr>
        <p:spPr>
          <a:xfrm>
            <a:off x="3375152" y="3799332"/>
            <a:ext cx="1920240" cy="256032"/>
          </a:xfrm>
          <a:prstGeom prst="rect">
            <a:avLst/>
          </a:prstGeom>
          <a:noFill/>
        </p:spPr>
        <p:txBody>
          <a:bodyPr wrap="square" anchor="ctr">
            <a:spAutoFit/>
          </a:bodyPr>
          <a:lstStyle/>
          <a:p>
            <a:pPr algn="l"/>
            <a:r>
              <a:rPr sz="1200" b="1">
                <a:solidFill>
                  <a:srgbClr val="18375C"/>
                </a:solidFill>
                <a:latin typeface="微软雅黑" panose="020B0503020204020204" charset="-122"/>
              </a:rPr>
              <a:t>公开子集已跑通</a:t>
            </a:r>
            <a:endParaRPr sz="1200" b="1">
              <a:solidFill>
                <a:srgbClr val="18375C"/>
              </a:solidFill>
              <a:latin typeface="微软雅黑" panose="020B0503020204020204" charset="-122"/>
            </a:endParaRPr>
          </a:p>
        </p:txBody>
      </p:sp>
      <p:sp>
        <p:nvSpPr>
          <p:cNvPr id="18" name="TextBox 17"/>
          <p:cNvSpPr txBox="1"/>
          <p:nvPr>
            <p:custDataLst>
              <p:tags r:id="rId15"/>
            </p:custDataLst>
          </p:nvPr>
        </p:nvSpPr>
        <p:spPr>
          <a:xfrm>
            <a:off x="3375152" y="4165092"/>
            <a:ext cx="1920240" cy="384048"/>
          </a:xfrm>
          <a:prstGeom prst="rect">
            <a:avLst/>
          </a:prstGeom>
          <a:noFill/>
        </p:spPr>
        <p:txBody>
          <a:bodyPr wrap="square" anchor="ctr">
            <a:spAutoFit/>
          </a:bodyPr>
          <a:lstStyle/>
          <a:p>
            <a:pPr algn="ctr"/>
            <a:r>
              <a:rPr sz="1000" b="0">
                <a:solidFill>
                  <a:srgbClr val="1F2933"/>
                </a:solidFill>
                <a:latin typeface="微软雅黑" panose="020B0503020204020204" charset="-122"/>
              </a:rPr>
              <a:t>Spider 20 条
fresh 19/20 -&gt; 20/20</a:t>
            </a:r>
            <a:endParaRPr sz="1000" b="0">
              <a:solidFill>
                <a:srgbClr val="1F2933"/>
              </a:solidFill>
              <a:latin typeface="微软雅黑" panose="020B0503020204020204" charset="-122"/>
            </a:endParaRPr>
          </a:p>
        </p:txBody>
      </p:sp>
      <p:sp>
        <p:nvSpPr>
          <p:cNvPr id="19" name="Rectangle 18"/>
          <p:cNvSpPr/>
          <p:nvPr>
            <p:custDataLst>
              <p:tags r:id="rId16"/>
            </p:custDataLst>
          </p:nvPr>
        </p:nvSpPr>
        <p:spPr>
          <a:xfrm>
            <a:off x="5953760" y="3634740"/>
            <a:ext cx="2331720" cy="1143000"/>
          </a:xfrm>
          <a:prstGeom prst="rect">
            <a:avLst/>
          </a:prstGeom>
          <a:solidFill>
            <a:srgbClr val="F6F8FA"/>
          </a:solidFill>
          <a:ln>
            <a:solidFill>
              <a:srgbClr val="525C6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20" name="TextBox 19"/>
          <p:cNvSpPr txBox="1"/>
          <p:nvPr>
            <p:custDataLst>
              <p:tags r:id="rId17"/>
            </p:custDataLst>
          </p:nvPr>
        </p:nvSpPr>
        <p:spPr>
          <a:xfrm>
            <a:off x="6118352" y="3799332"/>
            <a:ext cx="1920240" cy="256032"/>
          </a:xfrm>
          <a:prstGeom prst="rect">
            <a:avLst/>
          </a:prstGeom>
          <a:noFill/>
        </p:spPr>
        <p:txBody>
          <a:bodyPr wrap="square" anchor="ctr">
            <a:spAutoFit/>
          </a:bodyPr>
          <a:lstStyle/>
          <a:p>
            <a:pPr algn="l"/>
            <a:r>
              <a:rPr sz="1200" b="1">
                <a:solidFill>
                  <a:srgbClr val="525C69"/>
                </a:solidFill>
                <a:latin typeface="微软雅黑" panose="020B0503020204020204" charset="-122"/>
              </a:rPr>
              <a:t>不能过度外推</a:t>
            </a:r>
            <a:endParaRPr sz="1200" b="1">
              <a:solidFill>
                <a:srgbClr val="525C69"/>
              </a:solidFill>
              <a:latin typeface="微软雅黑" panose="020B0503020204020204" charset="-122"/>
            </a:endParaRPr>
          </a:p>
        </p:txBody>
      </p:sp>
      <p:sp>
        <p:nvSpPr>
          <p:cNvPr id="21" name="TextBox 20"/>
          <p:cNvSpPr txBox="1"/>
          <p:nvPr>
            <p:custDataLst>
              <p:tags r:id="rId18"/>
            </p:custDataLst>
          </p:nvPr>
        </p:nvSpPr>
        <p:spPr>
          <a:xfrm>
            <a:off x="6118352" y="4165092"/>
            <a:ext cx="1920240" cy="384048"/>
          </a:xfrm>
          <a:prstGeom prst="rect">
            <a:avLst/>
          </a:prstGeom>
          <a:noFill/>
        </p:spPr>
        <p:txBody>
          <a:bodyPr wrap="square" anchor="ctr">
            <a:spAutoFit/>
          </a:bodyPr>
          <a:lstStyle/>
          <a:p>
            <a:pPr algn="ctr"/>
            <a:r>
              <a:rPr sz="1000" b="0">
                <a:solidFill>
                  <a:srgbClr val="1F2933"/>
                </a:solidFill>
                <a:latin typeface="微软雅黑" panose="020B0503020204020204" charset="-122"/>
              </a:rPr>
              <a:t>小样例
非完整 benchmark</a:t>
            </a:r>
            <a:endParaRPr sz="1000" b="0">
              <a:solidFill>
                <a:srgbClr val="1F2933"/>
              </a:solidFill>
              <a:latin typeface="微软雅黑" panose="020B0503020204020204" charset="-122"/>
            </a:endParaRPr>
          </a:p>
        </p:txBody>
      </p:sp>
      <p:sp>
        <p:nvSpPr>
          <p:cNvPr id="22" name="Rectangle 21"/>
          <p:cNvSpPr/>
          <p:nvPr/>
        </p:nvSpPr>
        <p:spPr>
          <a:xfrm>
            <a:off x="804672" y="5175504"/>
            <a:ext cx="7543800" cy="530352"/>
          </a:xfrm>
          <a:prstGeom prst="rect">
            <a:avLst/>
          </a:prstGeom>
          <a:solidFill>
            <a:srgbClr val="FAEBEB"/>
          </a:solidFill>
          <a:ln>
            <a:solidFill>
              <a:srgbClr val="B2262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B22626"/>
                </a:solidFill>
                <a:latin typeface="微软雅黑" panose="020B0503020204020204" charset="-122"/>
              </a:rPr>
              <a:t>当前结果支撑开题可行性，但还不足以支撑泛化结论。</a:t>
            </a:r>
            <a:endParaRPr sz="1400" b="1">
              <a:solidFill>
                <a:srgbClr val="B22626"/>
              </a:solidFill>
              <a:latin typeface="微软雅黑" panose="020B0503020204020204" charset="-122"/>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11480" y="1044448"/>
            <a:ext cx="8412480" cy="530352"/>
          </a:xfrm>
          <a:prstGeom prst="rect">
            <a:avLst/>
          </a:prstGeom>
          <a:noFill/>
        </p:spPr>
        <p:txBody>
          <a:bodyPr wrap="square" anchor="ctr">
            <a:spAutoFit/>
          </a:bodyPr>
          <a:lstStyle/>
          <a:p>
            <a:pPr algn="l"/>
            <a:r>
              <a:rPr sz="2400" b="1">
                <a:solidFill>
                  <a:srgbClr val="18375C"/>
                </a:solidFill>
                <a:latin typeface="微软雅黑" panose="020B0503020204020204" charset="-122"/>
              </a:rPr>
              <a:t>后续实验设计与评价指标</a:t>
            </a:r>
            <a:endParaRPr sz="2400" b="1">
              <a:solidFill>
                <a:srgbClr val="18375C"/>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667080"/>
                </a:solidFill>
                <a:latin typeface="微软雅黑" panose="020B0503020204020204" charset="-122"/>
              </a:rPr>
              <a:t>开题汇报 | SQL+ / Text-to-SQL / Multi-Agent | 22</a:t>
            </a:r>
            <a:endParaRPr sz="800" b="0">
              <a:solidFill>
                <a:srgbClr val="667080"/>
              </a:solidFill>
              <a:latin typeface="微软雅黑" panose="020B0503020204020204" charset="-122"/>
            </a:endParaRPr>
          </a:p>
        </p:txBody>
      </p:sp>
      <p:graphicFrame>
        <p:nvGraphicFramePr>
          <p:cNvPr id="4" name="Table 3"/>
          <p:cNvGraphicFramePr>
            <a:graphicFrameLocks noGrp="1"/>
          </p:cNvGraphicFramePr>
          <p:nvPr/>
        </p:nvGraphicFramePr>
        <p:xfrm>
          <a:off x="411480" y="1844675"/>
          <a:ext cx="8321040" cy="3474720"/>
        </p:xfrm>
        <a:graphic>
          <a:graphicData uri="http://schemas.openxmlformats.org/drawingml/2006/table">
            <a:tbl>
              <a:tblPr firstRow="1" bandRow="1">
                <a:tableStyleId>{5C22544A-7EE6-4342-B048-85BDC9FD1C3A}</a:tableStyleId>
              </a:tblPr>
              <a:tblGrid>
                <a:gridCol w="2773680"/>
                <a:gridCol w="2773680"/>
                <a:gridCol w="2773680"/>
              </a:tblGrid>
              <a:tr h="579120">
                <a:tc>
                  <a:txBody>
                    <a:bodyPr/>
                    <a:lstStyle/>
                    <a:p>
                      <a:pPr algn="ctr"/>
                      <a:r>
                        <a:rPr sz="1400" b="1">
                          <a:solidFill>
                            <a:srgbClr val="FFFFFF"/>
                          </a:solidFill>
                          <a:latin typeface="微软雅黑" panose="020B0503020204020204" charset="-122"/>
                        </a:rPr>
                        <a:t>实验组</a:t>
                      </a:r>
                      <a:endParaRPr sz="1400" b="1">
                        <a:solidFill>
                          <a:srgbClr val="FFFFFF"/>
                        </a:solidFill>
                        <a:latin typeface="微软雅黑" panose="020B0503020204020204" charset="-122"/>
                      </a:endParaRPr>
                    </a:p>
                  </a:txBody>
                  <a:tcPr marL="36576" marR="36576">
                    <a:solidFill>
                      <a:srgbClr val="18375C"/>
                    </a:solidFill>
                  </a:tcPr>
                </a:tc>
                <a:tc>
                  <a:txBody>
                    <a:bodyPr/>
                    <a:lstStyle/>
                    <a:p>
                      <a:pPr algn="ctr"/>
                      <a:r>
                        <a:rPr sz="1400" b="1">
                          <a:solidFill>
                            <a:srgbClr val="FFFFFF"/>
                          </a:solidFill>
                          <a:latin typeface="微软雅黑" panose="020B0503020204020204" charset="-122"/>
                        </a:rPr>
                        <a:t>目的</a:t>
                      </a:r>
                      <a:endParaRPr sz="1400" b="1">
                        <a:solidFill>
                          <a:srgbClr val="FFFFFF"/>
                        </a:solidFill>
                        <a:latin typeface="微软雅黑" panose="020B0503020204020204" charset="-122"/>
                      </a:endParaRPr>
                    </a:p>
                  </a:txBody>
                  <a:tcPr marL="36576" marR="36576">
                    <a:solidFill>
                      <a:srgbClr val="18375C"/>
                    </a:solidFill>
                  </a:tcPr>
                </a:tc>
                <a:tc>
                  <a:txBody>
                    <a:bodyPr/>
                    <a:lstStyle/>
                    <a:p>
                      <a:pPr algn="ctr"/>
                      <a:r>
                        <a:rPr sz="1400" b="1">
                          <a:solidFill>
                            <a:srgbClr val="FFFFFF"/>
                          </a:solidFill>
                          <a:latin typeface="微软雅黑" panose="020B0503020204020204" charset="-122"/>
                        </a:rPr>
                        <a:t>主要指标</a:t>
                      </a:r>
                      <a:endParaRPr sz="1400" b="1">
                        <a:solidFill>
                          <a:srgbClr val="FFFFFF"/>
                        </a:solidFill>
                        <a:latin typeface="微软雅黑" panose="020B0503020204020204" charset="-122"/>
                      </a:endParaRPr>
                    </a:p>
                  </a:txBody>
                  <a:tcPr marL="36576" marR="36576">
                    <a:solidFill>
                      <a:srgbClr val="18375C"/>
                    </a:solidFill>
                  </a:tcPr>
                </a:tc>
              </a:tr>
              <a:tr h="579120">
                <a:tc>
                  <a:txBody>
                    <a:bodyPr/>
                    <a:lstStyle/>
                    <a:p>
                      <a:pPr algn="ctr"/>
                      <a:r>
                        <a:rPr sz="1200" b="0">
                          <a:solidFill>
                            <a:srgbClr val="1F2933"/>
                          </a:solidFill>
                          <a:latin typeface="微软雅黑" panose="020B0503020204020204" charset="-122"/>
                        </a:rPr>
                        <a:t>Direct SQL / NL2SQL+</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比较直接生成和 SQL+ 生成</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execution accuracy、valid rate、token、latency</a:t>
                      </a:r>
                      <a:endParaRPr sz="1200" b="0">
                        <a:solidFill>
                          <a:srgbClr val="1F2933"/>
                        </a:solidFill>
                        <a:latin typeface="微软雅黑" panose="020B0503020204020204" charset="-122"/>
                      </a:endParaRPr>
                    </a:p>
                  </a:txBody>
                  <a:tcPr marL="36576" marR="36576">
                    <a:solidFill>
                      <a:srgbClr val="FFFFFF"/>
                    </a:solidFill>
                  </a:tcPr>
                </a:tc>
              </a:tr>
              <a:tr h="579120">
                <a:tc>
                  <a:txBody>
                    <a:bodyPr/>
                    <a:lstStyle/>
                    <a:p>
                      <a:pPr algn="ctr"/>
                      <a:r>
                        <a:rPr sz="1200" b="0">
                          <a:solidFill>
                            <a:srgbClr val="1F2933"/>
                          </a:solidFill>
                          <a:latin typeface="微软雅黑" panose="020B0503020204020204" charset="-122"/>
                        </a:rPr>
                        <a:t>SemQL/NatSQL/Pipe-style proxy</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比较中间表示形态</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复杂度、转换、生成成本</a:t>
                      </a:r>
                      <a:endParaRPr sz="1200" b="0">
                        <a:solidFill>
                          <a:srgbClr val="1F2933"/>
                        </a:solidFill>
                        <a:latin typeface="微软雅黑" panose="020B0503020204020204" charset="-122"/>
                      </a:endParaRPr>
                    </a:p>
                  </a:txBody>
                  <a:tcPr marL="36576" marR="36576">
                    <a:solidFill>
                      <a:srgbClr val="F6F8FA"/>
                    </a:solidFill>
                  </a:tcPr>
                </a:tc>
              </a:tr>
              <a:tr h="579120">
                <a:tc>
                  <a:txBody>
                    <a:bodyPr/>
                    <a:lstStyle/>
                    <a:p>
                      <a:pPr algn="ctr"/>
                      <a:r>
                        <a:rPr sz="1200" b="0">
                          <a:solidFill>
                            <a:srgbClr val="1F2933"/>
                          </a:solidFill>
                          <a:latin typeface="微软雅黑" panose="020B0503020204020204" charset="-122"/>
                        </a:rPr>
                        <a:t>whole-query rewrite / single refiner / Router skills</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比较修复策略</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repair success、repair rounds、patch minimality</a:t>
                      </a:r>
                      <a:endParaRPr sz="1200" b="0">
                        <a:solidFill>
                          <a:srgbClr val="1F2933"/>
                        </a:solidFill>
                        <a:latin typeface="微软雅黑" panose="020B0503020204020204" charset="-122"/>
                      </a:endParaRPr>
                    </a:p>
                  </a:txBody>
                  <a:tcPr marL="36576" marR="36576">
                    <a:solidFill>
                      <a:srgbClr val="FFFFFF"/>
                    </a:solidFill>
                  </a:tcPr>
                </a:tc>
              </a:tr>
              <a:tr h="579120">
                <a:tc>
                  <a:txBody>
                    <a:bodyPr/>
                    <a:lstStyle/>
                    <a:p>
                      <a:pPr algn="ctr"/>
                      <a:r>
                        <a:rPr sz="1200" b="0">
                          <a:solidFill>
                            <a:srgbClr val="1F2933"/>
                          </a:solidFill>
                          <a:latin typeface="微软雅黑" panose="020B0503020204020204" charset="-122"/>
                        </a:rPr>
                        <a:t>消融实验</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去掉 Critic、Router、skill、executor</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性能下降幅度、错误类型变化</a:t>
                      </a:r>
                      <a:endParaRPr sz="1200" b="0">
                        <a:solidFill>
                          <a:srgbClr val="1F2933"/>
                        </a:solidFill>
                        <a:latin typeface="微软雅黑" panose="020B0503020204020204" charset="-122"/>
                      </a:endParaRPr>
                    </a:p>
                  </a:txBody>
                  <a:tcPr marL="36576" marR="36576">
                    <a:solidFill>
                      <a:srgbClr val="F6F8FA"/>
                    </a:solidFill>
                  </a:tcPr>
                </a:tc>
              </a:tr>
              <a:tr h="579120">
                <a:tc>
                  <a:txBody>
                    <a:bodyPr/>
                    <a:lstStyle/>
                    <a:p>
                      <a:pPr algn="ctr"/>
                      <a:r>
                        <a:rPr sz="1200" b="0">
                          <a:solidFill>
                            <a:srgbClr val="1F2933"/>
                          </a:solidFill>
                          <a:latin typeface="微软雅黑" panose="020B0503020204020204" charset="-122"/>
                        </a:rPr>
                        <a:t>Spider/BIRD/达梦子集</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验证迁移和方言适配</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exec match、方言错误、泛化失败类型</a:t>
                      </a:r>
                      <a:endParaRPr sz="1200" b="0">
                        <a:solidFill>
                          <a:srgbClr val="1F2933"/>
                        </a:solidFill>
                        <a:latin typeface="微软雅黑" panose="020B0503020204020204" charset="-122"/>
                      </a:endParaRPr>
                    </a:p>
                  </a:txBody>
                  <a:tcPr marL="36576" marR="36576">
                    <a:solidFill>
                      <a:srgbClr val="FFFFFF"/>
                    </a:solidFill>
                  </a:tcPr>
                </a:tc>
              </a:tr>
            </a:tbl>
          </a:graphicData>
        </a:graphic>
      </p:graphicFrame>
      <p:sp>
        <p:nvSpPr>
          <p:cNvPr id="5" name="Rectangle 4"/>
          <p:cNvSpPr/>
          <p:nvPr/>
        </p:nvSpPr>
        <p:spPr>
          <a:xfrm>
            <a:off x="685800" y="5589270"/>
            <a:ext cx="2423160" cy="658368"/>
          </a:xfrm>
          <a:prstGeom prst="rect">
            <a:avLst/>
          </a:prstGeom>
          <a:solidFill>
            <a:srgbClr val="EBF0F6"/>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1F2933"/>
                </a:solidFill>
                <a:latin typeface="微软雅黑" panose="020B0503020204020204" charset="-122"/>
              </a:rPr>
              <a:t>结果质量
execution accuracy / valid rate</a:t>
            </a:r>
            <a:endParaRPr sz="1000" b="1">
              <a:solidFill>
                <a:srgbClr val="1F2933"/>
              </a:solidFill>
              <a:latin typeface="微软雅黑" panose="020B0503020204020204" charset="-122"/>
            </a:endParaRPr>
          </a:p>
        </p:txBody>
      </p:sp>
      <p:sp>
        <p:nvSpPr>
          <p:cNvPr id="6" name="Rectangle 5"/>
          <p:cNvSpPr/>
          <p:nvPr/>
        </p:nvSpPr>
        <p:spPr>
          <a:xfrm>
            <a:off x="3310128" y="5589270"/>
            <a:ext cx="2423160" cy="658368"/>
          </a:xfrm>
          <a:prstGeom prst="rect">
            <a:avLst/>
          </a:prstGeom>
          <a:solidFill>
            <a:srgbClr val="EBF0F6"/>
          </a:solidFill>
          <a:ln>
            <a:solidFill>
              <a:srgbClr val="3A4E5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1F2933"/>
                </a:solidFill>
                <a:latin typeface="微软雅黑" panose="020B0503020204020204" charset="-122"/>
              </a:rPr>
              <a:t>修复能力
localization / router / patch</a:t>
            </a:r>
            <a:endParaRPr sz="1000" b="1">
              <a:solidFill>
                <a:srgbClr val="1F2933"/>
              </a:solidFill>
              <a:latin typeface="微软雅黑" panose="020B0503020204020204" charset="-122"/>
            </a:endParaRPr>
          </a:p>
        </p:txBody>
      </p:sp>
      <p:sp>
        <p:nvSpPr>
          <p:cNvPr id="7" name="Rectangle 6"/>
          <p:cNvSpPr/>
          <p:nvPr/>
        </p:nvSpPr>
        <p:spPr>
          <a:xfrm>
            <a:off x="5934456" y="5589270"/>
            <a:ext cx="2423160" cy="658368"/>
          </a:xfrm>
          <a:prstGeom prst="rect">
            <a:avLst/>
          </a:prstGeom>
          <a:solidFill>
            <a:srgbClr val="F1F3F5"/>
          </a:solidFill>
          <a:ln>
            <a:solidFill>
              <a:srgbClr val="525C6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1F2933"/>
                </a:solidFill>
                <a:latin typeface="微软雅黑" panose="020B0503020204020204" charset="-122"/>
              </a:rPr>
              <a:t>成本效率
token / latency / rounds</a:t>
            </a:r>
            <a:endParaRPr sz="1000" b="1">
              <a:solidFill>
                <a:srgbClr val="1F2933"/>
              </a:solidFill>
              <a:latin typeface="微软雅黑" panose="020B0503020204020204" charset="-122"/>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11480" y="998093"/>
            <a:ext cx="8412480" cy="530352"/>
          </a:xfrm>
          <a:prstGeom prst="rect">
            <a:avLst/>
          </a:prstGeom>
          <a:noFill/>
        </p:spPr>
        <p:txBody>
          <a:bodyPr wrap="square" anchor="ctr">
            <a:spAutoFit/>
          </a:bodyPr>
          <a:lstStyle/>
          <a:p>
            <a:pPr algn="l"/>
            <a:r>
              <a:rPr sz="2400" b="1">
                <a:solidFill>
                  <a:srgbClr val="18375C"/>
                </a:solidFill>
                <a:latin typeface="微软雅黑" panose="020B0503020204020204" charset="-122"/>
              </a:rPr>
              <a:t>当前不足、风险控制与进度安排</a:t>
            </a:r>
            <a:endParaRPr sz="2400" b="1">
              <a:solidFill>
                <a:srgbClr val="18375C"/>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667080"/>
                </a:solidFill>
                <a:latin typeface="微软雅黑" panose="020B0503020204020204" charset="-122"/>
              </a:rPr>
              <a:t>开题汇报 | SQL+ / Text-to-SQL / Multi-Agent | 23</a:t>
            </a:r>
            <a:endParaRPr sz="800" b="0">
              <a:solidFill>
                <a:srgbClr val="667080"/>
              </a:solidFill>
              <a:latin typeface="微软雅黑" panose="020B0503020204020204" charset="-122"/>
            </a:endParaRPr>
          </a:p>
        </p:txBody>
      </p:sp>
      <p:graphicFrame>
        <p:nvGraphicFramePr>
          <p:cNvPr id="4" name="Table 3"/>
          <p:cNvGraphicFramePr>
            <a:graphicFrameLocks noGrp="1"/>
          </p:cNvGraphicFramePr>
          <p:nvPr/>
        </p:nvGraphicFramePr>
        <p:xfrm>
          <a:off x="411480" y="1988820"/>
          <a:ext cx="8321040" cy="1987550"/>
        </p:xfrm>
        <a:graphic>
          <a:graphicData uri="http://schemas.openxmlformats.org/drawingml/2006/table">
            <a:tbl>
              <a:tblPr firstRow="1" bandRow="1">
                <a:tableStyleId>{5C22544A-7EE6-4342-B048-85BDC9FD1C3A}</a:tableStyleId>
              </a:tblPr>
              <a:tblGrid>
                <a:gridCol w="1935480"/>
                <a:gridCol w="3385820"/>
                <a:gridCol w="2999740"/>
              </a:tblGrid>
              <a:tr h="397510">
                <a:tc>
                  <a:txBody>
                    <a:bodyPr/>
                    <a:lstStyle/>
                    <a:p>
                      <a:pPr algn="ctr"/>
                      <a:r>
                        <a:rPr sz="1400" b="1">
                          <a:solidFill>
                            <a:srgbClr val="FFFFFF"/>
                          </a:solidFill>
                          <a:latin typeface="微软雅黑" panose="020B0503020204020204" charset="-122"/>
                        </a:rPr>
                        <a:t>风险</a:t>
                      </a:r>
                      <a:endParaRPr sz="1400" b="1">
                        <a:solidFill>
                          <a:srgbClr val="FFFFFF"/>
                        </a:solidFill>
                        <a:latin typeface="微软雅黑" panose="020B0503020204020204" charset="-122"/>
                      </a:endParaRPr>
                    </a:p>
                  </a:txBody>
                  <a:tcPr marL="36576" marR="36576">
                    <a:solidFill>
                      <a:srgbClr val="18375C"/>
                    </a:solidFill>
                  </a:tcPr>
                </a:tc>
                <a:tc>
                  <a:txBody>
                    <a:bodyPr/>
                    <a:lstStyle/>
                    <a:p>
                      <a:pPr algn="ctr"/>
                      <a:r>
                        <a:rPr sz="1400" b="1">
                          <a:solidFill>
                            <a:srgbClr val="FFFFFF"/>
                          </a:solidFill>
                          <a:latin typeface="微软雅黑" panose="020B0503020204020204" charset="-122"/>
                        </a:rPr>
                        <a:t>当前情况</a:t>
                      </a:r>
                      <a:endParaRPr sz="1400" b="1">
                        <a:solidFill>
                          <a:srgbClr val="FFFFFF"/>
                        </a:solidFill>
                        <a:latin typeface="微软雅黑" panose="020B0503020204020204" charset="-122"/>
                      </a:endParaRPr>
                    </a:p>
                  </a:txBody>
                  <a:tcPr marL="36576" marR="36576">
                    <a:solidFill>
                      <a:srgbClr val="18375C"/>
                    </a:solidFill>
                  </a:tcPr>
                </a:tc>
                <a:tc>
                  <a:txBody>
                    <a:bodyPr/>
                    <a:lstStyle/>
                    <a:p>
                      <a:pPr algn="ctr"/>
                      <a:r>
                        <a:rPr sz="1400" b="1">
                          <a:solidFill>
                            <a:srgbClr val="FFFFFF"/>
                          </a:solidFill>
                          <a:latin typeface="微软雅黑" panose="020B0503020204020204" charset="-122"/>
                        </a:rPr>
                        <a:t>控制方式</a:t>
                      </a:r>
                      <a:endParaRPr sz="1400" b="1">
                        <a:solidFill>
                          <a:srgbClr val="FFFFFF"/>
                        </a:solidFill>
                        <a:latin typeface="微软雅黑" panose="020B0503020204020204" charset="-122"/>
                      </a:endParaRPr>
                    </a:p>
                  </a:txBody>
                  <a:tcPr marL="36576" marR="36576">
                    <a:solidFill>
                      <a:srgbClr val="18375C"/>
                    </a:solidFill>
                  </a:tcPr>
                </a:tc>
              </a:tr>
              <a:tr h="397510">
                <a:tc>
                  <a:txBody>
                    <a:bodyPr/>
                    <a:lstStyle/>
                    <a:p>
                      <a:pPr algn="ctr"/>
                      <a:r>
                        <a:rPr sz="1200" b="0">
                          <a:solidFill>
                            <a:srgbClr val="1F2933"/>
                          </a:solidFill>
                          <a:latin typeface="微软雅黑" panose="020B0503020204020204" charset="-122"/>
                        </a:rPr>
                        <a:t>样本规模小</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known-failure set 和 Spider 子集都较小</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扩展失败集、Spider 多库和 BIRD 子集</a:t>
                      </a:r>
                      <a:endParaRPr sz="1200" b="0">
                        <a:solidFill>
                          <a:srgbClr val="1F2933"/>
                        </a:solidFill>
                        <a:latin typeface="微软雅黑" panose="020B0503020204020204" charset="-122"/>
                      </a:endParaRPr>
                    </a:p>
                  </a:txBody>
                  <a:tcPr marL="36576" marR="36576">
                    <a:solidFill>
                      <a:srgbClr val="FFFFFF"/>
                    </a:solidFill>
                  </a:tcPr>
                </a:tc>
              </a:tr>
              <a:tr h="397510">
                <a:tc>
                  <a:txBody>
                    <a:bodyPr/>
                    <a:lstStyle/>
                    <a:p>
                      <a:pPr algn="ctr"/>
                      <a:r>
                        <a:rPr sz="1200" b="0">
                          <a:solidFill>
                            <a:srgbClr val="1F2933"/>
                          </a:solidFill>
                          <a:latin typeface="微软雅黑" panose="020B0503020204020204" charset="-122"/>
                        </a:rPr>
                        <a:t>结果被误读</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conversion smoke 来自 gold SQL</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PPT 和论文中始终标注边界</a:t>
                      </a:r>
                      <a:endParaRPr sz="1200" b="0">
                        <a:solidFill>
                          <a:srgbClr val="1F2933"/>
                        </a:solidFill>
                        <a:latin typeface="微软雅黑" panose="020B0503020204020204" charset="-122"/>
                      </a:endParaRPr>
                    </a:p>
                  </a:txBody>
                  <a:tcPr marL="36576" marR="36576">
                    <a:solidFill>
                      <a:srgbClr val="F6F8FA"/>
                    </a:solidFill>
                  </a:tcPr>
                </a:tc>
              </a:tr>
              <a:tr h="397510">
                <a:tc>
                  <a:txBody>
                    <a:bodyPr/>
                    <a:lstStyle/>
                    <a:p>
                      <a:pPr algn="ctr"/>
                      <a:r>
                        <a:rPr sz="1200" b="0">
                          <a:solidFill>
                            <a:srgbClr val="1F2933"/>
                          </a:solidFill>
                          <a:latin typeface="微软雅黑" panose="020B0503020204020204" charset="-122"/>
                        </a:rPr>
                        <a:t>SQL+ 成本较高</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token 和 latency 未必占优</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补齐成本实验，用 repairability 解释收益</a:t>
                      </a:r>
                      <a:endParaRPr sz="1200" b="0">
                        <a:solidFill>
                          <a:srgbClr val="1F2933"/>
                        </a:solidFill>
                        <a:latin typeface="微软雅黑" panose="020B0503020204020204" charset="-122"/>
                      </a:endParaRPr>
                    </a:p>
                  </a:txBody>
                  <a:tcPr marL="36576" marR="36576">
                    <a:solidFill>
                      <a:srgbClr val="FFFFFF"/>
                    </a:solidFill>
                  </a:tcPr>
                </a:tc>
              </a:tr>
              <a:tr h="397510">
                <a:tc>
                  <a:txBody>
                    <a:bodyPr/>
                    <a:lstStyle/>
                    <a:p>
                      <a:pPr algn="ctr"/>
                      <a:r>
                        <a:rPr sz="1200" b="0">
                          <a:solidFill>
                            <a:srgbClr val="1F2933"/>
                          </a:solidFill>
                          <a:latin typeface="微软雅黑" panose="020B0503020204020204" charset="-122"/>
                        </a:rPr>
                        <a:t>方言适配不足</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当前主要是 SQLite</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补达梦日期、分页、类型转换和函数规则</a:t>
                      </a:r>
                      <a:endParaRPr sz="1200" b="0">
                        <a:solidFill>
                          <a:srgbClr val="1F2933"/>
                        </a:solidFill>
                        <a:latin typeface="微软雅黑" panose="020B0503020204020204" charset="-122"/>
                      </a:endParaRPr>
                    </a:p>
                  </a:txBody>
                  <a:tcPr marL="36576" marR="36576">
                    <a:solidFill>
                      <a:srgbClr val="F6F8FA"/>
                    </a:solidFill>
                  </a:tcPr>
                </a:tc>
              </a:tr>
            </a:tbl>
          </a:graphicData>
        </a:graphic>
      </p:graphicFrame>
      <p:sp>
        <p:nvSpPr>
          <p:cNvPr id="5" name="Rectangle 4"/>
          <p:cNvSpPr/>
          <p:nvPr/>
        </p:nvSpPr>
        <p:spPr>
          <a:xfrm>
            <a:off x="685800" y="4436745"/>
            <a:ext cx="1600200" cy="438912"/>
          </a:xfrm>
          <a:prstGeom prst="rect">
            <a:avLst/>
          </a:prstGeom>
          <a:solidFill>
            <a:srgbClr val="18375C"/>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FFFFFF"/>
                </a:solidFill>
                <a:latin typeface="微软雅黑" panose="020B0503020204020204" charset="-122"/>
              </a:rPr>
              <a:t>07-08</a:t>
            </a:r>
            <a:endParaRPr sz="1100" b="1">
              <a:solidFill>
                <a:srgbClr val="FFFFFF"/>
              </a:solidFill>
              <a:latin typeface="微软雅黑" panose="020B0503020204020204" charset="-122"/>
            </a:endParaRPr>
          </a:p>
        </p:txBody>
      </p:sp>
      <p:sp>
        <p:nvSpPr>
          <p:cNvPr id="6" name="Rectangle 5"/>
          <p:cNvSpPr/>
          <p:nvPr/>
        </p:nvSpPr>
        <p:spPr>
          <a:xfrm>
            <a:off x="685800" y="4921377"/>
            <a:ext cx="1600200" cy="731520"/>
          </a:xfrm>
          <a:prstGeom prst="rect">
            <a:avLst/>
          </a:prstGeom>
          <a:solidFill>
            <a:srgbClr val="F6F8FA"/>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F2933"/>
                </a:solidFill>
                <a:latin typeface="微软雅黑" panose="020B0503020204020204" charset="-122"/>
              </a:rPr>
              <a:t>统一生成入口
扩充失败集</a:t>
            </a:r>
            <a:endParaRPr sz="900" b="1">
              <a:solidFill>
                <a:srgbClr val="1F2933"/>
              </a:solidFill>
              <a:latin typeface="微软雅黑" panose="020B0503020204020204" charset="-122"/>
            </a:endParaRPr>
          </a:p>
        </p:txBody>
      </p:sp>
      <p:sp>
        <p:nvSpPr>
          <p:cNvPr id="7" name="Rectangle 6"/>
          <p:cNvSpPr/>
          <p:nvPr/>
        </p:nvSpPr>
        <p:spPr>
          <a:xfrm>
            <a:off x="2697480" y="4436745"/>
            <a:ext cx="1600200" cy="438912"/>
          </a:xfrm>
          <a:prstGeom prst="rect">
            <a:avLst/>
          </a:prstGeom>
          <a:solidFill>
            <a:srgbClr val="18375C"/>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FFFFFF"/>
                </a:solidFill>
                <a:latin typeface="微软雅黑" panose="020B0503020204020204" charset="-122"/>
              </a:rPr>
              <a:t>09-10</a:t>
            </a:r>
            <a:endParaRPr sz="1100" b="1">
              <a:solidFill>
                <a:srgbClr val="FFFFFF"/>
              </a:solidFill>
              <a:latin typeface="微软雅黑" panose="020B0503020204020204" charset="-122"/>
            </a:endParaRPr>
          </a:p>
        </p:txBody>
      </p:sp>
      <p:sp>
        <p:nvSpPr>
          <p:cNvPr id="8" name="Rectangle 7"/>
          <p:cNvSpPr/>
          <p:nvPr/>
        </p:nvSpPr>
        <p:spPr>
          <a:xfrm>
            <a:off x="2697480" y="4921377"/>
            <a:ext cx="1600200" cy="731520"/>
          </a:xfrm>
          <a:prstGeom prst="rect">
            <a:avLst/>
          </a:prstGeom>
          <a:solidFill>
            <a:srgbClr val="F6F8FA"/>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F2933"/>
                </a:solidFill>
                <a:latin typeface="微软雅黑" panose="020B0503020204020204" charset="-122"/>
              </a:rPr>
              <a:t>消融实验
公开子集</a:t>
            </a:r>
            <a:endParaRPr sz="900" b="1">
              <a:solidFill>
                <a:srgbClr val="1F2933"/>
              </a:solidFill>
              <a:latin typeface="微软雅黑" panose="020B0503020204020204" charset="-122"/>
            </a:endParaRPr>
          </a:p>
        </p:txBody>
      </p:sp>
      <p:sp>
        <p:nvSpPr>
          <p:cNvPr id="9" name="Rectangle 8"/>
          <p:cNvSpPr/>
          <p:nvPr/>
        </p:nvSpPr>
        <p:spPr>
          <a:xfrm>
            <a:off x="4709160" y="4436745"/>
            <a:ext cx="1600200" cy="438912"/>
          </a:xfrm>
          <a:prstGeom prst="rect">
            <a:avLst/>
          </a:prstGeom>
          <a:solidFill>
            <a:srgbClr val="18375C"/>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FFFFFF"/>
                </a:solidFill>
                <a:latin typeface="微软雅黑" panose="020B0503020204020204" charset="-122"/>
              </a:rPr>
              <a:t>11-12</a:t>
            </a:r>
            <a:endParaRPr sz="1100" b="1">
              <a:solidFill>
                <a:srgbClr val="FFFFFF"/>
              </a:solidFill>
              <a:latin typeface="微软雅黑" panose="020B0503020204020204" charset="-122"/>
            </a:endParaRPr>
          </a:p>
        </p:txBody>
      </p:sp>
      <p:sp>
        <p:nvSpPr>
          <p:cNvPr id="10" name="Rectangle 9"/>
          <p:cNvSpPr/>
          <p:nvPr/>
        </p:nvSpPr>
        <p:spPr>
          <a:xfrm>
            <a:off x="4709160" y="4921377"/>
            <a:ext cx="1600200" cy="731520"/>
          </a:xfrm>
          <a:prstGeom prst="rect">
            <a:avLst/>
          </a:prstGeom>
          <a:solidFill>
            <a:srgbClr val="F6F8FA"/>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F2933"/>
                </a:solidFill>
                <a:latin typeface="微软雅黑" panose="020B0503020204020204" charset="-122"/>
              </a:rPr>
              <a:t>达梦适配
论文初稿</a:t>
            </a:r>
            <a:endParaRPr sz="900" b="1">
              <a:solidFill>
                <a:srgbClr val="1F2933"/>
              </a:solidFill>
              <a:latin typeface="微软雅黑" panose="020B0503020204020204" charset="-122"/>
            </a:endParaRPr>
          </a:p>
        </p:txBody>
      </p:sp>
      <p:sp>
        <p:nvSpPr>
          <p:cNvPr id="11" name="Rectangle 10"/>
          <p:cNvSpPr/>
          <p:nvPr/>
        </p:nvSpPr>
        <p:spPr>
          <a:xfrm>
            <a:off x="6720840" y="4436745"/>
            <a:ext cx="1600200" cy="438912"/>
          </a:xfrm>
          <a:prstGeom prst="rect">
            <a:avLst/>
          </a:prstGeom>
          <a:solidFill>
            <a:srgbClr val="18375C"/>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FFFFFF"/>
                </a:solidFill>
                <a:latin typeface="微软雅黑" panose="020B0503020204020204" charset="-122"/>
              </a:rPr>
              <a:t>后续</a:t>
            </a:r>
            <a:endParaRPr sz="1100" b="1">
              <a:solidFill>
                <a:srgbClr val="FFFFFF"/>
              </a:solidFill>
              <a:latin typeface="微软雅黑" panose="020B0503020204020204" charset="-122"/>
            </a:endParaRPr>
          </a:p>
        </p:txBody>
      </p:sp>
      <p:sp>
        <p:nvSpPr>
          <p:cNvPr id="12" name="Rectangle 11"/>
          <p:cNvSpPr/>
          <p:nvPr/>
        </p:nvSpPr>
        <p:spPr>
          <a:xfrm>
            <a:off x="6720840" y="4921377"/>
            <a:ext cx="1600200" cy="731520"/>
          </a:xfrm>
          <a:prstGeom prst="rect">
            <a:avLst/>
          </a:prstGeom>
          <a:solidFill>
            <a:srgbClr val="F6F8FA"/>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F2933"/>
                </a:solidFill>
                <a:latin typeface="微软雅黑" panose="020B0503020204020204" charset="-122"/>
              </a:rPr>
              <a:t>复现实验
答辩材料</a:t>
            </a:r>
            <a:endParaRPr sz="900" b="1">
              <a:solidFill>
                <a:srgbClr val="1F2933"/>
              </a:solidFill>
              <a:latin typeface="微软雅黑" panose="020B0503020204020204" charset="-122"/>
            </a:endParaRPr>
          </a:p>
        </p:txBody>
      </p:sp>
      <p:sp>
        <p:nvSpPr>
          <p:cNvPr id="13" name="Rectangle 12"/>
          <p:cNvSpPr/>
          <p:nvPr/>
        </p:nvSpPr>
        <p:spPr>
          <a:xfrm>
            <a:off x="804672" y="5715000"/>
            <a:ext cx="7543800" cy="530352"/>
          </a:xfrm>
          <a:prstGeom prst="rect">
            <a:avLst/>
          </a:prstGeom>
          <a:solidFill>
            <a:srgbClr val="FAEBEB"/>
          </a:solidFill>
          <a:ln>
            <a:solidFill>
              <a:srgbClr val="B2262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B22626"/>
                </a:solidFill>
                <a:latin typeface="微软雅黑" panose="020B0503020204020204" charset="-122"/>
              </a:rPr>
              <a:t>后续重点：扩大评测范围，压实泛化边界。</a:t>
            </a:r>
            <a:endParaRPr sz="1400" b="1">
              <a:solidFill>
                <a:srgbClr val="B22626"/>
              </a:solidFill>
              <a:latin typeface="微软雅黑" panose="020B0503020204020204" charset="-122"/>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11480" y="1041908"/>
            <a:ext cx="8412480" cy="530352"/>
          </a:xfrm>
          <a:prstGeom prst="rect">
            <a:avLst/>
          </a:prstGeom>
          <a:noFill/>
        </p:spPr>
        <p:txBody>
          <a:bodyPr wrap="square" anchor="ctr">
            <a:spAutoFit/>
          </a:bodyPr>
          <a:lstStyle/>
          <a:p>
            <a:pPr algn="l"/>
            <a:r>
              <a:rPr sz="2400" b="1">
                <a:solidFill>
                  <a:srgbClr val="18375C"/>
                </a:solidFill>
                <a:latin typeface="微软雅黑" panose="020B0503020204020204" charset="-122"/>
              </a:rPr>
              <a:t>预期创新点与总结</a:t>
            </a:r>
            <a:endParaRPr sz="2400" b="1">
              <a:solidFill>
                <a:srgbClr val="18375C"/>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667080"/>
                </a:solidFill>
                <a:latin typeface="微软雅黑" panose="020B0503020204020204" charset="-122"/>
              </a:rPr>
              <a:t>开题汇报 | SQL+ / Text-to-SQL / Multi-Agent | 24</a:t>
            </a:r>
            <a:endParaRPr sz="800" b="0">
              <a:solidFill>
                <a:srgbClr val="667080"/>
              </a:solidFill>
              <a:latin typeface="微软雅黑" panose="020B0503020204020204" charset="-122"/>
            </a:endParaRPr>
          </a:p>
        </p:txBody>
      </p:sp>
      <p:sp>
        <p:nvSpPr>
          <p:cNvPr id="4" name="Rectangle 3"/>
          <p:cNvSpPr/>
          <p:nvPr>
            <p:custDataLst>
              <p:tags r:id="rId1"/>
            </p:custDataLst>
          </p:nvPr>
        </p:nvSpPr>
        <p:spPr>
          <a:xfrm>
            <a:off x="685800" y="1947545"/>
            <a:ext cx="3429000" cy="896112"/>
          </a:xfrm>
          <a:prstGeom prst="rect">
            <a:avLst/>
          </a:prstGeom>
          <a:solidFill>
            <a:srgbClr val="F6F8FA"/>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5" name="TextBox 4"/>
          <p:cNvSpPr txBox="1"/>
          <p:nvPr>
            <p:custDataLst>
              <p:tags r:id="rId2"/>
            </p:custDataLst>
          </p:nvPr>
        </p:nvSpPr>
        <p:spPr>
          <a:xfrm>
            <a:off x="868680" y="2075561"/>
            <a:ext cx="2834640" cy="237744"/>
          </a:xfrm>
          <a:prstGeom prst="rect">
            <a:avLst/>
          </a:prstGeom>
          <a:noFill/>
        </p:spPr>
        <p:txBody>
          <a:bodyPr wrap="square" anchor="ctr">
            <a:spAutoFit/>
          </a:bodyPr>
          <a:lstStyle/>
          <a:p>
            <a:pPr algn="l"/>
            <a:r>
              <a:rPr sz="1300" b="1">
                <a:solidFill>
                  <a:srgbClr val="18375C"/>
                </a:solidFill>
                <a:latin typeface="微软雅黑" panose="020B0503020204020204" charset="-122"/>
              </a:rPr>
              <a:t>SQL+ 中间表示</a:t>
            </a:r>
            <a:endParaRPr sz="1300" b="1">
              <a:solidFill>
                <a:srgbClr val="18375C"/>
              </a:solidFill>
              <a:latin typeface="微软雅黑" panose="020B0503020204020204" charset="-122"/>
            </a:endParaRPr>
          </a:p>
        </p:txBody>
      </p:sp>
      <p:sp>
        <p:nvSpPr>
          <p:cNvPr id="6" name="TextBox 5"/>
          <p:cNvSpPr txBox="1"/>
          <p:nvPr>
            <p:custDataLst>
              <p:tags r:id="rId3"/>
            </p:custDataLst>
          </p:nvPr>
        </p:nvSpPr>
        <p:spPr>
          <a:xfrm>
            <a:off x="868680" y="2386457"/>
            <a:ext cx="2834640" cy="292608"/>
          </a:xfrm>
          <a:prstGeom prst="rect">
            <a:avLst/>
          </a:prstGeom>
          <a:noFill/>
        </p:spPr>
        <p:txBody>
          <a:bodyPr wrap="square" anchor="ctr">
            <a:spAutoFit/>
          </a:bodyPr>
          <a:lstStyle/>
          <a:p>
            <a:pPr algn="l"/>
            <a:r>
              <a:rPr sz="900" b="0">
                <a:solidFill>
                  <a:srgbClr val="1F2933"/>
                </a:solidFill>
                <a:latin typeface="微软雅黑" panose="020B0503020204020204" charset="-122"/>
              </a:rPr>
              <a:t>面向生成、转换、诊断和局部修复共同设计。</a:t>
            </a:r>
            <a:endParaRPr sz="900" b="0">
              <a:solidFill>
                <a:srgbClr val="1F2933"/>
              </a:solidFill>
              <a:latin typeface="微软雅黑" panose="020B0503020204020204" charset="-122"/>
            </a:endParaRPr>
          </a:p>
        </p:txBody>
      </p:sp>
      <p:sp>
        <p:nvSpPr>
          <p:cNvPr id="7" name="Rectangle 6"/>
          <p:cNvSpPr/>
          <p:nvPr>
            <p:custDataLst>
              <p:tags r:id="rId4"/>
            </p:custDataLst>
          </p:nvPr>
        </p:nvSpPr>
        <p:spPr>
          <a:xfrm>
            <a:off x="4663440" y="1947545"/>
            <a:ext cx="3429000" cy="896112"/>
          </a:xfrm>
          <a:prstGeom prst="rect">
            <a:avLst/>
          </a:prstGeom>
          <a:solidFill>
            <a:srgbClr val="F6F8FA"/>
          </a:solidFill>
          <a:ln>
            <a:solidFill>
              <a:srgbClr val="525C6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8" name="TextBox 7"/>
          <p:cNvSpPr txBox="1"/>
          <p:nvPr>
            <p:custDataLst>
              <p:tags r:id="rId5"/>
            </p:custDataLst>
          </p:nvPr>
        </p:nvSpPr>
        <p:spPr>
          <a:xfrm>
            <a:off x="4846320" y="2075561"/>
            <a:ext cx="2834640" cy="237744"/>
          </a:xfrm>
          <a:prstGeom prst="rect">
            <a:avLst/>
          </a:prstGeom>
          <a:noFill/>
        </p:spPr>
        <p:txBody>
          <a:bodyPr wrap="square" anchor="ctr">
            <a:spAutoFit/>
          </a:bodyPr>
          <a:lstStyle/>
          <a:p>
            <a:pPr algn="l"/>
            <a:r>
              <a:rPr sz="1300" b="1">
                <a:solidFill>
                  <a:srgbClr val="525C69"/>
                </a:solidFill>
                <a:latin typeface="微软雅黑" panose="020B0503020204020204" charset="-122"/>
              </a:rPr>
              <a:t>多智能体反馈修正框架</a:t>
            </a:r>
            <a:endParaRPr sz="1300" b="1">
              <a:solidFill>
                <a:srgbClr val="525C69"/>
              </a:solidFill>
              <a:latin typeface="微软雅黑" panose="020B0503020204020204" charset="-122"/>
            </a:endParaRPr>
          </a:p>
        </p:txBody>
      </p:sp>
      <p:sp>
        <p:nvSpPr>
          <p:cNvPr id="9" name="TextBox 8"/>
          <p:cNvSpPr txBox="1"/>
          <p:nvPr>
            <p:custDataLst>
              <p:tags r:id="rId6"/>
            </p:custDataLst>
          </p:nvPr>
        </p:nvSpPr>
        <p:spPr>
          <a:xfrm>
            <a:off x="4846320" y="2386457"/>
            <a:ext cx="2834640" cy="292608"/>
          </a:xfrm>
          <a:prstGeom prst="rect">
            <a:avLst/>
          </a:prstGeom>
          <a:noFill/>
        </p:spPr>
        <p:txBody>
          <a:bodyPr wrap="square" anchor="ctr">
            <a:spAutoFit/>
          </a:bodyPr>
          <a:lstStyle/>
          <a:p>
            <a:pPr algn="l"/>
            <a:r>
              <a:rPr sz="900" b="0">
                <a:solidFill>
                  <a:srgbClr val="1F2933"/>
                </a:solidFill>
                <a:latin typeface="微软雅黑" panose="020B0503020204020204" charset="-122"/>
              </a:rPr>
              <a:t>Critic、Router、Repair Skill 和 Executor 形成闭环。</a:t>
            </a:r>
            <a:endParaRPr sz="900" b="0">
              <a:solidFill>
                <a:srgbClr val="1F2933"/>
              </a:solidFill>
              <a:latin typeface="微软雅黑" panose="020B0503020204020204" charset="-122"/>
            </a:endParaRPr>
          </a:p>
        </p:txBody>
      </p:sp>
      <p:sp>
        <p:nvSpPr>
          <p:cNvPr id="10" name="Rectangle 9"/>
          <p:cNvSpPr/>
          <p:nvPr>
            <p:custDataLst>
              <p:tags r:id="rId7"/>
            </p:custDataLst>
          </p:nvPr>
        </p:nvSpPr>
        <p:spPr>
          <a:xfrm>
            <a:off x="685800" y="3364865"/>
            <a:ext cx="3429000" cy="896112"/>
          </a:xfrm>
          <a:prstGeom prst="rect">
            <a:avLst/>
          </a:prstGeom>
          <a:solidFill>
            <a:srgbClr val="F6F8FA"/>
          </a:solidFill>
          <a:ln>
            <a:solidFill>
              <a:srgbClr val="3A4E5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11" name="TextBox 10"/>
          <p:cNvSpPr txBox="1"/>
          <p:nvPr>
            <p:custDataLst>
              <p:tags r:id="rId8"/>
            </p:custDataLst>
          </p:nvPr>
        </p:nvSpPr>
        <p:spPr>
          <a:xfrm>
            <a:off x="868680" y="3492881"/>
            <a:ext cx="2834640" cy="237744"/>
          </a:xfrm>
          <a:prstGeom prst="rect">
            <a:avLst/>
          </a:prstGeom>
          <a:noFill/>
        </p:spPr>
        <p:txBody>
          <a:bodyPr wrap="square" anchor="ctr">
            <a:spAutoFit/>
          </a:bodyPr>
          <a:lstStyle/>
          <a:p>
            <a:pPr algn="l"/>
            <a:r>
              <a:rPr sz="1300" b="1">
                <a:solidFill>
                  <a:srgbClr val="3A4E5E"/>
                </a:solidFill>
                <a:latin typeface="微软雅黑" panose="020B0503020204020204" charset="-122"/>
              </a:rPr>
              <a:t>repairability 评价视角</a:t>
            </a:r>
            <a:endParaRPr sz="1300" b="1">
              <a:solidFill>
                <a:srgbClr val="3A4E5E"/>
              </a:solidFill>
              <a:latin typeface="微软雅黑" panose="020B0503020204020204" charset="-122"/>
            </a:endParaRPr>
          </a:p>
        </p:txBody>
      </p:sp>
      <p:sp>
        <p:nvSpPr>
          <p:cNvPr id="12" name="TextBox 11"/>
          <p:cNvSpPr txBox="1"/>
          <p:nvPr>
            <p:custDataLst>
              <p:tags r:id="rId9"/>
            </p:custDataLst>
          </p:nvPr>
        </p:nvSpPr>
        <p:spPr>
          <a:xfrm>
            <a:off x="868680" y="3803777"/>
            <a:ext cx="2834640" cy="292608"/>
          </a:xfrm>
          <a:prstGeom prst="rect">
            <a:avLst/>
          </a:prstGeom>
          <a:noFill/>
        </p:spPr>
        <p:txBody>
          <a:bodyPr wrap="square" anchor="ctr">
            <a:spAutoFit/>
          </a:bodyPr>
          <a:lstStyle/>
          <a:p>
            <a:pPr algn="l"/>
            <a:r>
              <a:rPr sz="900" b="0">
                <a:solidFill>
                  <a:srgbClr val="1F2933"/>
                </a:solidFill>
                <a:latin typeface="微软雅黑" panose="020B0503020204020204" charset="-122"/>
              </a:rPr>
              <a:t>不只看最终准确率，还看定位、路由、patch 范围和成本。</a:t>
            </a:r>
            <a:endParaRPr sz="900" b="0">
              <a:solidFill>
                <a:srgbClr val="1F2933"/>
              </a:solidFill>
              <a:latin typeface="微软雅黑" panose="020B0503020204020204" charset="-122"/>
            </a:endParaRPr>
          </a:p>
        </p:txBody>
      </p:sp>
      <p:sp>
        <p:nvSpPr>
          <p:cNvPr id="13" name="Rectangle 12"/>
          <p:cNvSpPr/>
          <p:nvPr>
            <p:custDataLst>
              <p:tags r:id="rId10"/>
            </p:custDataLst>
          </p:nvPr>
        </p:nvSpPr>
        <p:spPr>
          <a:xfrm>
            <a:off x="4663440" y="3364865"/>
            <a:ext cx="3429000" cy="896112"/>
          </a:xfrm>
          <a:prstGeom prst="rect">
            <a:avLst/>
          </a:prstGeom>
          <a:solidFill>
            <a:srgbClr val="F6F8FA"/>
          </a:solidFill>
          <a:ln>
            <a:solidFill>
              <a:srgbClr val="B2262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14" name="TextBox 13"/>
          <p:cNvSpPr txBox="1"/>
          <p:nvPr>
            <p:custDataLst>
              <p:tags r:id="rId11"/>
            </p:custDataLst>
          </p:nvPr>
        </p:nvSpPr>
        <p:spPr>
          <a:xfrm>
            <a:off x="4846320" y="3492881"/>
            <a:ext cx="2834640" cy="237744"/>
          </a:xfrm>
          <a:prstGeom prst="rect">
            <a:avLst/>
          </a:prstGeom>
          <a:noFill/>
        </p:spPr>
        <p:txBody>
          <a:bodyPr wrap="square" anchor="ctr">
            <a:spAutoFit/>
          </a:bodyPr>
          <a:lstStyle/>
          <a:p>
            <a:pPr algn="l"/>
            <a:r>
              <a:rPr sz="1300" b="1">
                <a:solidFill>
                  <a:srgbClr val="B22626"/>
                </a:solidFill>
                <a:latin typeface="微软雅黑" panose="020B0503020204020204" charset="-122"/>
              </a:rPr>
              <a:t>可复现实验体系</a:t>
            </a:r>
            <a:endParaRPr sz="1300" b="1">
              <a:solidFill>
                <a:srgbClr val="B22626"/>
              </a:solidFill>
              <a:latin typeface="微软雅黑" panose="020B0503020204020204" charset="-122"/>
            </a:endParaRPr>
          </a:p>
        </p:txBody>
      </p:sp>
      <p:sp>
        <p:nvSpPr>
          <p:cNvPr id="15" name="TextBox 14"/>
          <p:cNvSpPr txBox="1"/>
          <p:nvPr>
            <p:custDataLst>
              <p:tags r:id="rId12"/>
            </p:custDataLst>
          </p:nvPr>
        </p:nvSpPr>
        <p:spPr>
          <a:xfrm>
            <a:off x="4846320" y="3803777"/>
            <a:ext cx="2834640" cy="292608"/>
          </a:xfrm>
          <a:prstGeom prst="rect">
            <a:avLst/>
          </a:prstGeom>
          <a:noFill/>
        </p:spPr>
        <p:txBody>
          <a:bodyPr wrap="square" anchor="ctr">
            <a:spAutoFit/>
          </a:bodyPr>
          <a:lstStyle/>
          <a:p>
            <a:pPr algn="l"/>
            <a:r>
              <a:rPr sz="900" b="0">
                <a:solidFill>
                  <a:srgbClr val="1F2933"/>
                </a:solidFill>
                <a:latin typeface="微软雅黑" panose="020B0503020204020204" charset="-122"/>
              </a:rPr>
              <a:t>脚本、日志、开题材料和后续公开子集评测同步推进。</a:t>
            </a:r>
            <a:endParaRPr sz="900" b="0">
              <a:solidFill>
                <a:srgbClr val="1F2933"/>
              </a:solidFill>
              <a:latin typeface="微软雅黑" panose="020B0503020204020204" charset="-122"/>
            </a:endParaRPr>
          </a:p>
        </p:txBody>
      </p:sp>
      <p:sp>
        <p:nvSpPr>
          <p:cNvPr id="16" name="Rectangle 15"/>
          <p:cNvSpPr/>
          <p:nvPr/>
        </p:nvSpPr>
        <p:spPr>
          <a:xfrm>
            <a:off x="804672" y="4645152"/>
            <a:ext cx="7543800" cy="530352"/>
          </a:xfrm>
          <a:prstGeom prst="rect">
            <a:avLst/>
          </a:prstGeom>
          <a:solidFill>
            <a:srgbClr val="FAEBEB"/>
          </a:solidFill>
          <a:ln>
            <a:solidFill>
              <a:srgbClr val="B2262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B22626"/>
                </a:solidFill>
                <a:latin typeface="微软雅黑" panose="020B0503020204020204" charset="-122"/>
              </a:rPr>
              <a:t>总结：SQL+ 的价值在于把查询计划拆成可检查、可路由、可局部修复的步骤。</a:t>
            </a:r>
            <a:endParaRPr sz="1400" b="1">
              <a:solidFill>
                <a:srgbClr val="B22626"/>
              </a:solidFill>
              <a:latin typeface="微软雅黑" panose="020B0503020204020204" charset="-122"/>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11480" y="980313"/>
            <a:ext cx="8412480" cy="530352"/>
          </a:xfrm>
          <a:prstGeom prst="rect">
            <a:avLst/>
          </a:prstGeom>
          <a:noFill/>
        </p:spPr>
        <p:txBody>
          <a:bodyPr wrap="square" anchor="ctr">
            <a:spAutoFit/>
          </a:bodyPr>
          <a:lstStyle/>
          <a:p>
            <a:pPr algn="l"/>
            <a:r>
              <a:rPr sz="2400" b="1">
                <a:solidFill>
                  <a:srgbClr val="18375C"/>
                </a:solidFill>
                <a:latin typeface="微软雅黑" panose="020B0503020204020204" charset="-122"/>
              </a:rPr>
              <a:t>主要参考文献</a:t>
            </a:r>
            <a:endParaRPr sz="2400" b="1">
              <a:solidFill>
                <a:srgbClr val="18375C"/>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667080"/>
                </a:solidFill>
                <a:latin typeface="微软雅黑" panose="020B0503020204020204" charset="-122"/>
              </a:rPr>
              <a:t>开题汇报 | SQL+ / Text-to-SQL / Multi-Agent | 25</a:t>
            </a:r>
            <a:endParaRPr sz="800" b="0">
              <a:solidFill>
                <a:srgbClr val="667080"/>
              </a:solidFill>
              <a:latin typeface="微软雅黑" panose="020B0503020204020204" charset="-122"/>
            </a:endParaRPr>
          </a:p>
        </p:txBody>
      </p:sp>
      <p:sp>
        <p:nvSpPr>
          <p:cNvPr id="4" name="TextBox 3"/>
          <p:cNvSpPr txBox="1"/>
          <p:nvPr/>
        </p:nvSpPr>
        <p:spPr>
          <a:xfrm>
            <a:off x="411353" y="1916430"/>
            <a:ext cx="8001000" cy="4983480"/>
          </a:xfrm>
          <a:prstGeom prst="rect">
            <a:avLst/>
          </a:prstGeom>
          <a:noFill/>
        </p:spPr>
        <p:txBody>
          <a:bodyPr wrap="square">
            <a:spAutoFit/>
          </a:bodyPr>
          <a:lstStyle/>
          <a:p>
            <a:pPr>
              <a:spcAft>
                <a:spcPts val="600"/>
              </a:spcAft>
              <a:defRPr sz="900">
                <a:solidFill>
                  <a:srgbClr val="1F2933"/>
                </a:solidFill>
                <a:latin typeface="微软雅黑" panose="020B0503020204020204" charset="-122"/>
              </a:defRPr>
            </a:pPr>
            <a:r>
              <a:t>Yu et al. 2018. Spider: A Large-Scale Human-Labeled Dataset for Complex and Cross-Domain Text-to-SQL.</a:t>
            </a:r>
          </a:p>
          <a:p>
            <a:pPr>
              <a:spcAft>
                <a:spcPts val="600"/>
              </a:spcAft>
              <a:defRPr sz="900">
                <a:solidFill>
                  <a:srgbClr val="1F2933"/>
                </a:solidFill>
                <a:latin typeface="微软雅黑" panose="020B0503020204020204" charset="-122"/>
              </a:defRPr>
            </a:pPr>
            <a:r>
              <a:t>Guo et al. 2019. IRNet: A General Purpose Text-to-SQL Parser with SemQL.</a:t>
            </a:r>
          </a:p>
          <a:p>
            <a:pPr>
              <a:spcAft>
                <a:spcPts val="600"/>
              </a:spcAft>
              <a:defRPr sz="900">
                <a:solidFill>
                  <a:srgbClr val="1F2933"/>
                </a:solidFill>
                <a:latin typeface="微软雅黑" panose="020B0503020204020204" charset="-122"/>
              </a:defRPr>
            </a:pPr>
            <a:r>
              <a:t>Wang et al. 2020. RAT-SQL: Relation-Aware Schema Encoding and Linking.</a:t>
            </a:r>
          </a:p>
          <a:p>
            <a:pPr>
              <a:spcAft>
                <a:spcPts val="600"/>
              </a:spcAft>
              <a:defRPr sz="900">
                <a:solidFill>
                  <a:srgbClr val="1F2933"/>
                </a:solidFill>
                <a:latin typeface="微软雅黑" panose="020B0503020204020204" charset="-122"/>
              </a:defRPr>
            </a:pPr>
            <a:r>
              <a:t>Gan et al. 2021. NatSQL: A Simplified SQL Intermediate Representation.</a:t>
            </a:r>
          </a:p>
          <a:p>
            <a:pPr>
              <a:spcAft>
                <a:spcPts val="600"/>
              </a:spcAft>
              <a:defRPr sz="900">
                <a:solidFill>
                  <a:srgbClr val="1F2933"/>
                </a:solidFill>
                <a:latin typeface="微软雅黑" panose="020B0503020204020204" charset="-122"/>
              </a:defRPr>
            </a:pPr>
            <a:r>
              <a:t>Scholak et al. 2021. PICARD: Parsing Incrementally for Constrained Auto-Regressive Decoding.</a:t>
            </a:r>
          </a:p>
          <a:p>
            <a:pPr>
              <a:spcAft>
                <a:spcPts val="600"/>
              </a:spcAft>
              <a:defRPr sz="900">
                <a:solidFill>
                  <a:srgbClr val="1F2933"/>
                </a:solidFill>
                <a:latin typeface="微软雅黑" panose="020B0503020204020204" charset="-122"/>
              </a:defRPr>
            </a:pPr>
            <a:r>
              <a:t>Li et al. 2023. BIRD: A Big Bench for Large-Scale Database Grounded Text-to-SQLs.</a:t>
            </a:r>
          </a:p>
          <a:p>
            <a:pPr>
              <a:spcAft>
                <a:spcPts val="600"/>
              </a:spcAft>
              <a:defRPr sz="900">
                <a:solidFill>
                  <a:srgbClr val="1F2933"/>
                </a:solidFill>
                <a:latin typeface="微软雅黑" panose="020B0503020204020204" charset="-122"/>
              </a:defRPr>
            </a:pPr>
            <a:r>
              <a:t>Pourreza and Rafiei. 2023. DIN-SQL: Decomposed In-Context Learning of Text-to-SQL.</a:t>
            </a:r>
          </a:p>
          <a:p>
            <a:pPr>
              <a:spcAft>
                <a:spcPts val="600"/>
              </a:spcAft>
              <a:defRPr sz="900">
                <a:solidFill>
                  <a:srgbClr val="1F2933"/>
                </a:solidFill>
                <a:latin typeface="微软雅黑" panose="020B0503020204020204" charset="-122"/>
              </a:defRPr>
            </a:pPr>
            <a:r>
              <a:t>Ni et al. 2023. LEVER: Learning to Verify Language-to-Code Generation.</a:t>
            </a:r>
          </a:p>
          <a:p>
            <a:pPr>
              <a:spcAft>
                <a:spcPts val="600"/>
              </a:spcAft>
              <a:defRPr sz="900">
                <a:solidFill>
                  <a:srgbClr val="1F2933"/>
                </a:solidFill>
                <a:latin typeface="微软雅黑" panose="020B0503020204020204" charset="-122"/>
              </a:defRPr>
            </a:pPr>
            <a:r>
              <a:t>Shute et al. 2024. SQL Has Problems. We Can Fix Them: Pipe Syntax in SQL.</a:t>
            </a:r>
          </a:p>
          <a:p>
            <a:pPr>
              <a:spcAft>
                <a:spcPts val="600"/>
              </a:spcAft>
              <a:defRPr sz="900">
                <a:solidFill>
                  <a:srgbClr val="1F2933"/>
                </a:solidFill>
                <a:latin typeface="微软雅黑" panose="020B0503020204020204" charset="-122"/>
              </a:defRPr>
            </a:pPr>
            <a:r>
              <a:t>Talaei et al. 2024. CHESS: Contextual Harnessing for Efficient SQL Synthesis.</a:t>
            </a:r>
          </a:p>
          <a:p>
            <a:pPr>
              <a:spcAft>
                <a:spcPts val="600"/>
              </a:spcAft>
              <a:defRPr sz="900">
                <a:solidFill>
                  <a:srgbClr val="1F2933"/>
                </a:solidFill>
                <a:latin typeface="微软雅黑" panose="020B0503020204020204" charset="-122"/>
              </a:defRPr>
            </a:pPr>
            <a:r>
              <a:t>Pourreza et al. 2024. CHASE-SQL: Multi-Path Reasoning and Preference Optimized Candidate Selection.</a:t>
            </a:r>
          </a:p>
          <a:p>
            <a:pPr>
              <a:spcAft>
                <a:spcPts val="600"/>
              </a:spcAft>
              <a:defRPr sz="900">
                <a:solidFill>
                  <a:srgbClr val="1F2933"/>
                </a:solidFill>
                <a:latin typeface="微软雅黑" panose="020B0503020204020204" charset="-122"/>
              </a:defRPr>
            </a:pPr>
            <a:r>
              <a:t>Lei et al. 2025. Spider 2.0: Evaluating Language Models on Enterprise Text-to-SQL Workflows.</a:t>
            </a:r>
          </a:p>
          <a:p>
            <a:pPr>
              <a:spcAft>
                <a:spcPts val="600"/>
              </a:spcAft>
              <a:defRPr sz="900">
                <a:solidFill>
                  <a:srgbClr val="1F2933"/>
                </a:solidFill>
                <a:latin typeface="微软雅黑" panose="020B0503020204020204" charset="-122"/>
              </a:defRPr>
            </a:pPr>
            <a:r>
              <a:t>Wang et al. 2025. MAC-SQL: A Multi-Agent Collaborative Framework for Text-to-SQL.</a:t>
            </a:r>
          </a:p>
          <a:p>
            <a:pPr>
              <a:spcAft>
                <a:spcPts val="600"/>
              </a:spcAft>
              <a:defRPr sz="900">
                <a:solidFill>
                  <a:srgbClr val="1F2933"/>
                </a:solidFill>
                <a:latin typeface="微软雅黑" panose="020B0503020204020204" charset="-122"/>
              </a:defRPr>
            </a:pPr>
            <a:r>
              <a:t>Li et al. 2025. SQL-Factory: A Multi-Agent Framework for High-Quality and Large-Scale SQL Generation.</a:t>
            </a:r>
          </a:p>
        </p:txBody>
      </p:sp>
    </p:spTree>
  </p:cSld>
  <p:clrMapOvr>
    <a:masterClrMapping/>
  </p:clrMapOvr>
</p:sld>
</file>

<file path=ppt/tags/tag1.xml><?xml version="1.0" encoding="utf-8"?>
<p:tagLst xmlns:p="http://schemas.openxmlformats.org/presentationml/2006/main">
  <p:tag name="KSO_WM_DIAGRAM_VIRTUALLY_FRAME" val="{&quot;height&quot;:327.9499212598425,&quot;left&quot;:41.35,&quot;top&quot;:92.16,&quot;width&quot;:617.45}"/>
</p:tagLst>
</file>

<file path=ppt/tags/tag2.xml><?xml version="1.0" encoding="utf-8"?>
<p:tagLst xmlns:p="http://schemas.openxmlformats.org/presentationml/2006/main">
  <p:tag name="KSO_WM_DIAGRAM_VIRTUALLY_FRAME" val="{&quot;height&quot;:327.9499212598425,&quot;left&quot;:41.35,&quot;top&quot;:92.16,&quot;width&quot;:617.45}"/>
</p:tagLst>
</file>

<file path=ppt/tags/tag3.xml><?xml version="1.0" encoding="utf-8"?>
<p:tagLst xmlns:p="http://schemas.openxmlformats.org/presentationml/2006/main">
  <p:tag name="KSO_WM_DIAGRAM_VIRTUALLY_FRAME" val="{&quot;height&quot;:327.9499212598425,&quot;left&quot;:41.35,&quot;top&quot;:92.16,&quot;width&quot;:617.45}"/>
</p:tagLst>
</file>

<file path=ppt/tags/tag4.xml><?xml version="1.0" encoding="utf-8"?>
<p:tagLst xmlns:p="http://schemas.openxmlformats.org/presentationml/2006/main">
  <p:tag name="KSO_WM_DIAGRAM_VIRTUALLY_FRAME" val="{&quot;height&quot;:327.9499212598425,&quot;left&quot;:41.35,&quot;top&quot;:92.16,&quot;width&quot;:617.45}"/>
</p:tagLst>
</file>

<file path=ppt/tags/tag5.xml><?xml version="1.0" encoding="utf-8"?>
<p:tagLst xmlns:p="http://schemas.openxmlformats.org/presentationml/2006/main">
  <p:tag name="KSO_WM_DIAGRAM_VIRTUALLY_FRAME" val="{&quot;height&quot;:327.9499212598425,&quot;left&quot;:41.35,&quot;top&quot;:92.16,&quot;width&quot;:617.45}"/>
</p:tagLst>
</file>

<file path=ppt/tags/tag6.xml><?xml version="1.0" encoding="utf-8"?>
<p:tagLst xmlns:p="http://schemas.openxmlformats.org/presentationml/2006/main">
  <p:tag name="KSO_WM_DIAGRAM_VIRTUALLY_FRAME" val="{&quot;height&quot;:327.9499212598425,&quot;left&quot;:41.35,&quot;top&quot;:92.16,&quot;width&quot;:617.45}"/>
</p:tagLst>
</file>

<file path=ppt/tags/tag7.xml><?xml version="1.0" encoding="utf-8"?>
<p:tagLst xmlns:p="http://schemas.openxmlformats.org/presentationml/2006/main">
  <p:tag name="KSO_WM_DIAGRAM_VIRTUALLY_FRAME" val="{&quot;height&quot;:327.9499212598425,&quot;left&quot;:41.35,&quot;top&quot;:92.16,&quot;width&quot;:617.45}"/>
</p:tagLst>
</file>

<file path=ppt/tags/tag8.xml><?xml version="1.0" encoding="utf-8"?>
<p:tagLst xmlns:p="http://schemas.openxmlformats.org/presentationml/2006/main">
  <p:tag name="KSO_WM_DIAGRAM_VIRTUALLY_FRAME" val="{&quot;height&quot;:327.9499212598425,&quot;left&quot;:41.35,&quot;top&quot;:92.16,&quot;width&quot;:617.45}"/>
</p:tagLst>
</file>

<file path=ppt/tags/tag9.xml><?xml version="1.0" encoding="utf-8"?>
<p:tagLst xmlns:p="http://schemas.openxmlformats.org/presentationml/2006/main">
  <p:tag name="KSO_WM_DIAGRAM_VIRTUALLY_FRAME" val="{&quot;height&quot;:327.9499212598425,&quot;left&quot;:41.35,&quot;top&quot;:92.16,&quot;width&quot;:617.45}"/>
</p:tagLst>
</file>

<file path=ppt/tags/tag10.xml><?xml version="1.0" encoding="utf-8"?>
<p:tagLst xmlns:p="http://schemas.openxmlformats.org/presentationml/2006/main">
  <p:tag name="KSO_WM_DIAGRAM_VIRTUALLY_FRAME" val="{&quot;height&quot;:327.9499212598425,&quot;left&quot;:41.35,&quot;top&quot;:92.16,&quot;width&quot;:617.45}"/>
</p:tagLst>
</file>

<file path=ppt/tags/tag11.xml><?xml version="1.0" encoding="utf-8"?>
<p:tagLst xmlns:p="http://schemas.openxmlformats.org/presentationml/2006/main">
  <p:tag name="KSO_WM_DIAGRAM_VIRTUALLY_FRAME" val="{&quot;height&quot;:327.9499212598425,&quot;left&quot;:41.35,&quot;top&quot;:92.16,&quot;width&quot;:617.45}"/>
</p:tagLst>
</file>

<file path=ppt/tags/tag12.xml><?xml version="1.0" encoding="utf-8"?>
<p:tagLst xmlns:p="http://schemas.openxmlformats.org/presentationml/2006/main">
  <p:tag name="KSO_WM_DIAGRAM_VIRTUALLY_FRAME" val="{&quot;height&quot;:327.9499212598425,&quot;left&quot;:41.35,&quot;top&quot;:92.16,&quot;width&quot;:617.45}"/>
</p:tagLst>
</file>

<file path=ppt/tags/tag13.xml><?xml version="1.0" encoding="utf-8"?>
<p:tagLst xmlns:p="http://schemas.openxmlformats.org/presentationml/2006/main">
  <p:tag name="KSO_WM_DIAGRAM_VIRTUALLY_FRAME" val="{&quot;height&quot;:327.9499212598425,&quot;left&quot;:41.35,&quot;top&quot;:92.16,&quot;width&quot;:617.45}"/>
</p:tagLst>
</file>

<file path=ppt/tags/tag14.xml><?xml version="1.0" encoding="utf-8"?>
<p:tagLst xmlns:p="http://schemas.openxmlformats.org/presentationml/2006/main">
  <p:tag name="KSO_WM_DIAGRAM_VIRTUALLY_FRAME" val="{&quot;height&quot;:327.9499212598425,&quot;left&quot;:41.35,&quot;top&quot;:92.16,&quot;width&quot;:617.45}"/>
</p:tagLst>
</file>

<file path=ppt/tags/tag15.xml><?xml version="1.0" encoding="utf-8"?>
<p:tagLst xmlns:p="http://schemas.openxmlformats.org/presentationml/2006/main">
  <p:tag name="KSO_WM_DIAGRAM_VIRTUALLY_FRAME" val="{&quot;height&quot;:327.9499212598425,&quot;left&quot;:41.35,&quot;top&quot;:92.16,&quot;width&quot;:617.45}"/>
</p:tagLst>
</file>

<file path=ppt/tags/tag16.xml><?xml version="1.0" encoding="utf-8"?>
<p:tagLst xmlns:p="http://schemas.openxmlformats.org/presentationml/2006/main">
  <p:tag name="KSO_WM_DIAGRAM_VIRTUALLY_FRAME" val="{&quot;height&quot;:327.9499212598425,&quot;left&quot;:41.35,&quot;top&quot;:92.16,&quot;width&quot;:617.45}"/>
</p:tagLst>
</file>

<file path=ppt/tags/tag17.xml><?xml version="1.0" encoding="utf-8"?>
<p:tagLst xmlns:p="http://schemas.openxmlformats.org/presentationml/2006/main">
  <p:tag name="KSO_WM_DIAGRAM_VIRTUALLY_FRAME" val="{&quot;height&quot;:327.9499212598425,&quot;left&quot;:41.35,&quot;top&quot;:92.16,&quot;width&quot;:617.45}"/>
</p:tagLst>
</file>

<file path=ppt/tags/tag18.xml><?xml version="1.0" encoding="utf-8"?>
<p:tagLst xmlns:p="http://schemas.openxmlformats.org/presentationml/2006/main">
  <p:tag name="KSO_WM_DIAGRAM_VIRTUALLY_FRAME" val="{&quot;height&quot;:327.9499212598425,&quot;left&quot;:41.35,&quot;top&quot;:92.16,&quot;width&quot;:617.45}"/>
</p:tagLst>
</file>

<file path=ppt/tags/tag19.xml><?xml version="1.0" encoding="utf-8"?>
<p:tagLst xmlns:p="http://schemas.openxmlformats.org/presentationml/2006/main">
  <p:tag name="KSO_WM_DIAGRAM_VIRTUALLY_FRAME" val="{&quot;height&quot;:327.9499212598425,&quot;left&quot;:41.35,&quot;top&quot;:92.16,&quot;width&quot;:617.45}"/>
</p:tagLst>
</file>

<file path=ppt/tags/tag20.xml><?xml version="1.0" encoding="utf-8"?>
<p:tagLst xmlns:p="http://schemas.openxmlformats.org/presentationml/2006/main">
  <p:tag name="KSO_WM_DIAGRAM_VIRTUALLY_FRAME" val="{&quot;height&quot;:327.9499212598425,&quot;left&quot;:41.35,&quot;top&quot;:92.16,&quot;width&quot;:617.45}"/>
</p:tagLst>
</file>

<file path=ppt/tags/tag21.xml><?xml version="1.0" encoding="utf-8"?>
<p:tagLst xmlns:p="http://schemas.openxmlformats.org/presentationml/2006/main">
  <p:tag name="KSO_WM_DIAGRAM_VIRTUALLY_FRAME" val="{&quot;height&quot;:327.9499212598425,&quot;left&quot;:41.35,&quot;top&quot;:92.16,&quot;width&quot;:617.45}"/>
</p:tagLst>
</file>

<file path=ppt/tags/tag22.xml><?xml version="1.0" encoding="utf-8"?>
<p:tagLst xmlns:p="http://schemas.openxmlformats.org/presentationml/2006/main">
  <p:tag name="KSO_WM_DIAGRAM_VIRTUALLY_FRAME" val="{&quot;height&quot;:327.9499212598425,&quot;left&quot;:41.35,&quot;top&quot;:92.16,&quot;width&quot;:617.45}"/>
</p:tagLst>
</file>

<file path=ppt/tags/tag23.xml><?xml version="1.0" encoding="utf-8"?>
<p:tagLst xmlns:p="http://schemas.openxmlformats.org/presentationml/2006/main">
  <p:tag name="KSO_WM_DIAGRAM_VIRTUALLY_FRAME" val="{&quot;height&quot;:327.9499212598425,&quot;left&quot;:41.35,&quot;top&quot;:92.16,&quot;width&quot;:617.45}"/>
</p:tagLst>
</file>

<file path=ppt/tags/tag24.xml><?xml version="1.0" encoding="utf-8"?>
<p:tagLst xmlns:p="http://schemas.openxmlformats.org/presentationml/2006/main">
  <p:tag name="KSO_WM_DIAGRAM_VIRTUALLY_FRAME" val="{&quot;height&quot;:327.9499212598425,&quot;left&quot;:41.35,&quot;top&quot;:92.16,&quot;width&quot;:617.45}"/>
</p:tagLst>
</file>

<file path=ppt/tags/tag25.xml><?xml version="1.0" encoding="utf-8"?>
<p:tagLst xmlns:p="http://schemas.openxmlformats.org/presentationml/2006/main">
  <p:tag name="KSO_WM_DIAGRAM_VIRTUALLY_FRAME" val="{&quot;height&quot;:267.84000000000003,&quot;left&quot;:39.6,&quot;top&quot;:156.95999999999998,&quot;width&quot;:637.9199212598426}"/>
</p:tagLst>
</file>

<file path=ppt/tags/tag26.xml><?xml version="1.0" encoding="utf-8"?>
<p:tagLst xmlns:p="http://schemas.openxmlformats.org/presentationml/2006/main">
  <p:tag name="KSO_WM_DIAGRAM_VIRTUALLY_FRAME" val="{&quot;height&quot;:267.84000000000003,&quot;left&quot;:39.6,&quot;top&quot;:156.95999999999998,&quot;width&quot;:637.9199212598426}"/>
</p:tagLst>
</file>

<file path=ppt/tags/tag27.xml><?xml version="1.0" encoding="utf-8"?>
<p:tagLst xmlns:p="http://schemas.openxmlformats.org/presentationml/2006/main">
  <p:tag name="KSO_WM_DIAGRAM_VIRTUALLY_FRAME" val="{&quot;height&quot;:267.84000000000003,&quot;left&quot;:39.6,&quot;top&quot;:156.95999999999998,&quot;width&quot;:637.9199212598426}"/>
</p:tagLst>
</file>

<file path=ppt/tags/tag28.xml><?xml version="1.0" encoding="utf-8"?>
<p:tagLst xmlns:p="http://schemas.openxmlformats.org/presentationml/2006/main">
  <p:tag name="KSO_WM_DIAGRAM_VIRTUALLY_FRAME" val="{&quot;height&quot;:267.84000000000003,&quot;left&quot;:39.6,&quot;top&quot;:156.95999999999998,&quot;width&quot;:637.9199212598426}"/>
</p:tagLst>
</file>

<file path=ppt/tags/tag29.xml><?xml version="1.0" encoding="utf-8"?>
<p:tagLst xmlns:p="http://schemas.openxmlformats.org/presentationml/2006/main">
  <p:tag name="KSO_WM_DIAGRAM_VIRTUALLY_FRAME" val="{&quot;height&quot;:267.84000000000003,&quot;left&quot;:39.6,&quot;top&quot;:156.95999999999998,&quot;width&quot;:637.9199212598426}"/>
</p:tagLst>
</file>

<file path=ppt/tags/tag30.xml><?xml version="1.0" encoding="utf-8"?>
<p:tagLst xmlns:p="http://schemas.openxmlformats.org/presentationml/2006/main">
  <p:tag name="KSO_WM_DIAGRAM_VIRTUALLY_FRAME" val="{&quot;height&quot;:267.84000000000003,&quot;left&quot;:39.6,&quot;top&quot;:156.95999999999998,&quot;width&quot;:637.9199212598426}"/>
</p:tagLst>
</file>

<file path=ppt/tags/tag31.xml><?xml version="1.0" encoding="utf-8"?>
<p:tagLst xmlns:p="http://schemas.openxmlformats.org/presentationml/2006/main">
  <p:tag name="KSO_WM_DIAGRAM_VIRTUALLY_FRAME" val="{&quot;height&quot;:267.84000000000003,&quot;left&quot;:39.6,&quot;top&quot;:156.95999999999998,&quot;width&quot;:637.9199212598426}"/>
</p:tagLst>
</file>

<file path=ppt/tags/tag32.xml><?xml version="1.0" encoding="utf-8"?>
<p:tagLst xmlns:p="http://schemas.openxmlformats.org/presentationml/2006/main">
  <p:tag name="KSO_WM_DIAGRAM_VIRTUALLY_FRAME" val="{&quot;height&quot;:267.84000000000003,&quot;left&quot;:39.6,&quot;top&quot;:156.95999999999998,&quot;width&quot;:637.9199212598426}"/>
</p:tagLst>
</file>

<file path=ppt/tags/tag33.xml><?xml version="1.0" encoding="utf-8"?>
<p:tagLst xmlns:p="http://schemas.openxmlformats.org/presentationml/2006/main">
  <p:tag name="KSO_WM_DIAGRAM_VIRTUALLY_FRAME" val="{&quot;height&quot;:267.84000000000003,&quot;left&quot;:39.6,&quot;top&quot;:156.95999999999998,&quot;width&quot;:637.9199212598426}"/>
</p:tagLst>
</file>

<file path=ppt/tags/tag34.xml><?xml version="1.0" encoding="utf-8"?>
<p:tagLst xmlns:p="http://schemas.openxmlformats.org/presentationml/2006/main">
  <p:tag name="KSO_WM_DIAGRAM_VIRTUALLY_FRAME" val="{&quot;height&quot;:267.84000000000003,&quot;left&quot;:39.6,&quot;top&quot;:156.95999999999998,&quot;width&quot;:637.9199212598426}"/>
</p:tagLst>
</file>

<file path=ppt/tags/tag35.xml><?xml version="1.0" encoding="utf-8"?>
<p:tagLst xmlns:p="http://schemas.openxmlformats.org/presentationml/2006/main">
  <p:tag name="KSO_WM_DIAGRAM_VIRTUALLY_FRAME" val="{&quot;height&quot;:267.84000000000003,&quot;left&quot;:39.6,&quot;top&quot;:156.95999999999998,&quot;width&quot;:637.9199212598426}"/>
</p:tagLst>
</file>

<file path=ppt/tags/tag36.xml><?xml version="1.0" encoding="utf-8"?>
<p:tagLst xmlns:p="http://schemas.openxmlformats.org/presentationml/2006/main">
  <p:tag name="KSO_WM_DIAGRAM_VIRTUALLY_FRAME" val="{&quot;height&quot;:267.84000000000003,&quot;left&quot;:39.6,&quot;top&quot;:156.95999999999998,&quot;width&quot;:637.9199212598426}"/>
</p:tagLst>
</file>

<file path=ppt/tags/tag37.xml><?xml version="1.0" encoding="utf-8"?>
<p:tagLst xmlns:p="http://schemas.openxmlformats.org/presentationml/2006/main">
  <p:tag name="KSO_WM_DIAGRAM_VIRTUALLY_FRAME" val="{&quot;height&quot;:267.84000000000003,&quot;left&quot;:39.6,&quot;top&quot;:156.95999999999998,&quot;width&quot;:637.9199212598426}"/>
</p:tagLst>
</file>

<file path=ppt/tags/tag38.xml><?xml version="1.0" encoding="utf-8"?>
<p:tagLst xmlns:p="http://schemas.openxmlformats.org/presentationml/2006/main">
  <p:tag name="KSO_WM_DIAGRAM_VIRTUALLY_FRAME" val="{&quot;height&quot;:267.84000000000003,&quot;left&quot;:39.6,&quot;top&quot;:156.95999999999998,&quot;width&quot;:637.9199212598426}"/>
</p:tagLst>
</file>

<file path=ppt/tags/tag39.xml><?xml version="1.0" encoding="utf-8"?>
<p:tagLst xmlns:p="http://schemas.openxmlformats.org/presentationml/2006/main">
  <p:tag name="KSO_WM_DIAGRAM_VIRTUALLY_FRAME" val="{&quot;height&quot;:267.84000000000003,&quot;left&quot;:39.6,&quot;top&quot;:156.95999999999998,&quot;width&quot;:637.9199212598426}"/>
</p:tagLst>
</file>

<file path=ppt/tags/tag40.xml><?xml version="1.0" encoding="utf-8"?>
<p:tagLst xmlns:p="http://schemas.openxmlformats.org/presentationml/2006/main">
  <p:tag name="KSO_WM_DIAGRAM_VIRTUALLY_FRAME" val="{&quot;height&quot;:267.84000000000003,&quot;left&quot;:39.6,&quot;top&quot;:156.95999999999998,&quot;width&quot;:637.9199212598426}"/>
</p:tagLst>
</file>

<file path=ppt/tags/tag41.xml><?xml version="1.0" encoding="utf-8"?>
<p:tagLst xmlns:p="http://schemas.openxmlformats.org/presentationml/2006/main">
  <p:tag name="KSO_WM_DIAGRAM_VIRTUALLY_FRAME" val="{&quot;height&quot;:267.84000000000003,&quot;left&quot;:39.6,&quot;top&quot;:156.95999999999998,&quot;width&quot;:637.9199212598426}"/>
</p:tagLst>
</file>

<file path=ppt/tags/tag42.xml><?xml version="1.0" encoding="utf-8"?>
<p:tagLst xmlns:p="http://schemas.openxmlformats.org/presentationml/2006/main">
  <p:tag name="KSO_WM_DIAGRAM_VIRTUALLY_FRAME" val="{&quot;height&quot;:267.84000000000003,&quot;left&quot;:39.6,&quot;top&quot;:156.95999999999998,&quot;width&quot;:637.9199212598426}"/>
</p:tagLst>
</file>

<file path=ppt/tags/tag43.xml><?xml version="1.0" encoding="utf-8"?>
<p:tagLst xmlns:p="http://schemas.openxmlformats.org/presentationml/2006/main">
  <p:tag name="KSO_WM_DIAGRAM_VIRTUALLY_FRAME" val="{&quot;height&quot;:267.84000000000003,&quot;left&quot;:39.6,&quot;top&quot;:156.95999999999998,&quot;width&quot;:637.9199212598426}"/>
</p:tagLst>
</file>

<file path=ppt/tags/tag44.xml><?xml version="1.0" encoding="utf-8"?>
<p:tagLst xmlns:p="http://schemas.openxmlformats.org/presentationml/2006/main">
  <p:tag name="KSO_WM_DIAGRAM_VIRTUALLY_FRAME" val="{&quot;height&quot;:267.84000000000003,&quot;left&quot;:39.6,&quot;top&quot;:156.95999999999998,&quot;width&quot;:637.9199212598426}"/>
</p:tagLst>
</file>

<file path=ppt/tags/tag45.xml><?xml version="1.0" encoding="utf-8"?>
<p:tagLst xmlns:p="http://schemas.openxmlformats.org/presentationml/2006/main">
  <p:tag name="KSO_WM_DIAGRAM_VIRTUALLY_FRAME" val="{&quot;height&quot;:279,&quot;left&quot;:36.8,&quot;top&quot;:97.2,&quot;width&quot;:625.6}"/>
</p:tagLst>
</file>

<file path=ppt/tags/tag46.xml><?xml version="1.0" encoding="utf-8"?>
<p:tagLst xmlns:p="http://schemas.openxmlformats.org/presentationml/2006/main">
  <p:tag name="KSO_WM_DIAGRAM_VIRTUALLY_FRAME" val="{&quot;height&quot;:279,&quot;left&quot;:36.8,&quot;top&quot;:97.2,&quot;width&quot;:625.6}"/>
</p:tagLst>
</file>

<file path=ppt/tags/tag47.xml><?xml version="1.0" encoding="utf-8"?>
<p:tagLst xmlns:p="http://schemas.openxmlformats.org/presentationml/2006/main">
  <p:tag name="KSO_WM_DIAGRAM_VIRTUALLY_FRAME" val="{&quot;height&quot;:279,&quot;left&quot;:36.8,&quot;top&quot;:97.2,&quot;width&quot;:625.6}"/>
</p:tagLst>
</file>

<file path=ppt/tags/tag48.xml><?xml version="1.0" encoding="utf-8"?>
<p:tagLst xmlns:p="http://schemas.openxmlformats.org/presentationml/2006/main">
  <p:tag name="KSO_WM_DIAGRAM_VIRTUALLY_FRAME" val="{&quot;height&quot;:279,&quot;left&quot;:36.8,&quot;top&quot;:97.2,&quot;width&quot;:625.6}"/>
</p:tagLst>
</file>

<file path=ppt/tags/tag49.xml><?xml version="1.0" encoding="utf-8"?>
<p:tagLst xmlns:p="http://schemas.openxmlformats.org/presentationml/2006/main">
  <p:tag name="KSO_WM_DIAGRAM_VIRTUALLY_FRAME" val="{&quot;height&quot;:279,&quot;left&quot;:36.8,&quot;top&quot;:97.2,&quot;width&quot;:625.6}"/>
</p:tagLst>
</file>

<file path=ppt/tags/tag50.xml><?xml version="1.0" encoding="utf-8"?>
<p:tagLst xmlns:p="http://schemas.openxmlformats.org/presentationml/2006/main">
  <p:tag name="KSO_WM_DIAGRAM_VIRTUALLY_FRAME" val="{&quot;height&quot;:279,&quot;left&quot;:36.8,&quot;top&quot;:97.2,&quot;width&quot;:625.6}"/>
</p:tagLst>
</file>

<file path=ppt/tags/tag51.xml><?xml version="1.0" encoding="utf-8"?>
<p:tagLst xmlns:p="http://schemas.openxmlformats.org/presentationml/2006/main">
  <p:tag name="KSO_WM_DIAGRAM_VIRTUALLY_FRAME" val="{&quot;height&quot;:279,&quot;left&quot;:36.8,&quot;top&quot;:97.2,&quot;width&quot;:625.6}"/>
</p:tagLst>
</file>

<file path=ppt/tags/tag52.xml><?xml version="1.0" encoding="utf-8"?>
<p:tagLst xmlns:p="http://schemas.openxmlformats.org/presentationml/2006/main">
  <p:tag name="KSO_WM_DIAGRAM_VIRTUALLY_FRAME" val="{&quot;height&quot;:279,&quot;left&quot;:36.8,&quot;top&quot;:97.2,&quot;width&quot;:625.6}"/>
</p:tagLst>
</file>

<file path=ppt/tags/tag53.xml><?xml version="1.0" encoding="utf-8"?>
<p:tagLst xmlns:p="http://schemas.openxmlformats.org/presentationml/2006/main">
  <p:tag name="KSO_WM_DIAGRAM_VIRTUALLY_FRAME" val="{&quot;height&quot;:279,&quot;left&quot;:36.8,&quot;top&quot;:97.2,&quot;width&quot;:625.6}"/>
</p:tagLst>
</file>

<file path=ppt/tags/tag54.xml><?xml version="1.0" encoding="utf-8"?>
<p:tagLst xmlns:p="http://schemas.openxmlformats.org/presentationml/2006/main">
  <p:tag name="KSO_WM_DIAGRAM_VIRTUALLY_FRAME" val="{&quot;height&quot;:279,&quot;left&quot;:36.8,&quot;top&quot;:97.2,&quot;width&quot;:625.6}"/>
</p:tagLst>
</file>

<file path=ppt/tags/tag55.xml><?xml version="1.0" encoding="utf-8"?>
<p:tagLst xmlns:p="http://schemas.openxmlformats.org/presentationml/2006/main">
  <p:tag name="KSO_WM_DIAGRAM_VIRTUALLY_FRAME" val="{&quot;height&quot;:279,&quot;left&quot;:36.8,&quot;top&quot;:97.2,&quot;width&quot;:625.6}"/>
</p:tagLst>
</file>

<file path=ppt/tags/tag56.xml><?xml version="1.0" encoding="utf-8"?>
<p:tagLst xmlns:p="http://schemas.openxmlformats.org/presentationml/2006/main">
  <p:tag name="KSO_WM_DIAGRAM_VIRTUALLY_FRAME" val="{&quot;height&quot;:279,&quot;left&quot;:36.8,&quot;top&quot;:97.2,&quot;width&quot;:625.6}"/>
</p:tagLst>
</file>

<file path=ppt/tags/tag57.xml><?xml version="1.0" encoding="utf-8"?>
<p:tagLst xmlns:p="http://schemas.openxmlformats.org/presentationml/2006/main">
  <p:tag name="KSO_WM_DIAGRAM_VIRTUALLY_FRAME" val="{&quot;height&quot;:279,&quot;left&quot;:36.8,&quot;top&quot;:97.2,&quot;width&quot;:625.6}"/>
</p:tagLst>
</file>

<file path=ppt/tags/tag58.xml><?xml version="1.0" encoding="utf-8"?>
<p:tagLst xmlns:p="http://schemas.openxmlformats.org/presentationml/2006/main">
  <p:tag name="KSO_WM_DIAGRAM_VIRTUALLY_FRAME" val="{&quot;height&quot;:279,&quot;left&quot;:36.8,&quot;top&quot;:97.2,&quot;width&quot;:625.6}"/>
</p:tagLst>
</file>

<file path=ppt/tags/tag59.xml><?xml version="1.0" encoding="utf-8"?>
<p:tagLst xmlns:p="http://schemas.openxmlformats.org/presentationml/2006/main">
  <p:tag name="KSO_WM_DIAGRAM_VIRTUALLY_FRAME" val="{&quot;height&quot;:279,&quot;left&quot;:36.8,&quot;top&quot;:97.2,&quot;width&quot;:625.6}"/>
</p:tagLst>
</file>

<file path=ppt/tags/tag60.xml><?xml version="1.0" encoding="utf-8"?>
<p:tagLst xmlns:p="http://schemas.openxmlformats.org/presentationml/2006/main">
  <p:tag name="KSO_WM_DIAGRAM_VIRTUALLY_FRAME" val="{&quot;height&quot;:279,&quot;left&quot;:36.8,&quot;top&quot;:97.2,&quot;width&quot;:625.6}"/>
</p:tagLst>
</file>

<file path=ppt/tags/tag61.xml><?xml version="1.0" encoding="utf-8"?>
<p:tagLst xmlns:p="http://schemas.openxmlformats.org/presentationml/2006/main">
  <p:tag name="KSO_WM_DIAGRAM_VIRTUALLY_FRAME" val="{&quot;height&quot;:279,&quot;left&quot;:36.8,&quot;top&quot;:97.2,&quot;width&quot;:625.6}"/>
</p:tagLst>
</file>

<file path=ppt/tags/tag62.xml><?xml version="1.0" encoding="utf-8"?>
<p:tagLst xmlns:p="http://schemas.openxmlformats.org/presentationml/2006/main">
  <p:tag name="KSO_WM_DIAGRAM_VIRTUALLY_FRAME" val="{&quot;height&quot;:279,&quot;left&quot;:36.8,&quot;top&quot;:97.2,&quot;width&quot;:625.6}"/>
</p:tagLst>
</file>

<file path=ppt/tags/tag63.xml><?xml version="1.0" encoding="utf-8"?>
<p:tagLst xmlns:p="http://schemas.openxmlformats.org/presentationml/2006/main">
  <p:tag name="KSO_WM_DIAGRAM_VIRTUALLY_FRAME" val="{&quot;height&quot;:245.51,&quot;left&quot;:54,&quot;top&quot;:90,&quot;width&quot;:583.2}"/>
</p:tagLst>
</file>

<file path=ppt/tags/tag64.xml><?xml version="1.0" encoding="utf-8"?>
<p:tagLst xmlns:p="http://schemas.openxmlformats.org/presentationml/2006/main">
  <p:tag name="KSO_WM_DIAGRAM_VIRTUALLY_FRAME" val="{&quot;height&quot;:245.51,&quot;left&quot;:54,&quot;top&quot;:90,&quot;width&quot;:583.2}"/>
</p:tagLst>
</file>

<file path=ppt/tags/tag65.xml><?xml version="1.0" encoding="utf-8"?>
<p:tagLst xmlns:p="http://schemas.openxmlformats.org/presentationml/2006/main">
  <p:tag name="KSO_WM_DIAGRAM_VIRTUALLY_FRAME" val="{&quot;height&quot;:245.51,&quot;left&quot;:54,&quot;top&quot;:90,&quot;width&quot;:583.2}"/>
</p:tagLst>
</file>

<file path=ppt/tags/tag66.xml><?xml version="1.0" encoding="utf-8"?>
<p:tagLst xmlns:p="http://schemas.openxmlformats.org/presentationml/2006/main">
  <p:tag name="KSO_WM_DIAGRAM_VIRTUALLY_FRAME" val="{&quot;height&quot;:245.51,&quot;left&quot;:54,&quot;top&quot;:90,&quot;width&quot;:583.2}"/>
</p:tagLst>
</file>

<file path=ppt/tags/tag67.xml><?xml version="1.0" encoding="utf-8"?>
<p:tagLst xmlns:p="http://schemas.openxmlformats.org/presentationml/2006/main">
  <p:tag name="KSO_WM_DIAGRAM_VIRTUALLY_FRAME" val="{&quot;height&quot;:245.51,&quot;left&quot;:54,&quot;top&quot;:90,&quot;width&quot;:583.2}"/>
</p:tagLst>
</file>

<file path=ppt/tags/tag68.xml><?xml version="1.0" encoding="utf-8"?>
<p:tagLst xmlns:p="http://schemas.openxmlformats.org/presentationml/2006/main">
  <p:tag name="KSO_WM_DIAGRAM_VIRTUALLY_FRAME" val="{&quot;height&quot;:245.51,&quot;left&quot;:54,&quot;top&quot;:90,&quot;width&quot;:583.2}"/>
</p:tagLst>
</file>

<file path=ppt/tags/tag69.xml><?xml version="1.0" encoding="utf-8"?>
<p:tagLst xmlns:p="http://schemas.openxmlformats.org/presentationml/2006/main">
  <p:tag name="KSO_WM_DIAGRAM_VIRTUALLY_FRAME" val="{&quot;height&quot;:245.51,&quot;left&quot;:54,&quot;top&quot;:90,&quot;width&quot;:583.2}"/>
</p:tagLst>
</file>

<file path=ppt/tags/tag70.xml><?xml version="1.0" encoding="utf-8"?>
<p:tagLst xmlns:p="http://schemas.openxmlformats.org/presentationml/2006/main">
  <p:tag name="KSO_WM_DIAGRAM_VIRTUALLY_FRAME" val="{&quot;height&quot;:245.51,&quot;left&quot;:54,&quot;top&quot;:90,&quot;width&quot;:583.2}"/>
</p:tagLst>
</file>

<file path=ppt/tags/tag71.xml><?xml version="1.0" encoding="utf-8"?>
<p:tagLst xmlns:p="http://schemas.openxmlformats.org/presentationml/2006/main">
  <p:tag name="KSO_WM_DIAGRAM_VIRTUALLY_FRAME" val="{&quot;height&quot;:245.51,&quot;left&quot;:54,&quot;top&quot;:90,&quot;width&quot;:583.2}"/>
</p:tagLst>
</file>

<file path=ppt/tags/tag72.xml><?xml version="1.0" encoding="utf-8"?>
<p:tagLst xmlns:p="http://schemas.openxmlformats.org/presentationml/2006/main">
  <p:tag name="KSO_WM_DIAGRAM_VIRTUALLY_FRAME" val="{&quot;height&quot;:245.51,&quot;left&quot;:54,&quot;top&quot;:90,&quot;width&quot;:583.2}"/>
</p:tagLst>
</file>

<file path=ppt/tags/tag73.xml><?xml version="1.0" encoding="utf-8"?>
<p:tagLst xmlns:p="http://schemas.openxmlformats.org/presentationml/2006/main">
  <p:tag name="KSO_WM_DIAGRAM_VIRTUALLY_FRAME" val="{&quot;height&quot;:245.51,&quot;left&quot;:54,&quot;top&quot;:90,&quot;width&quot;:583.2}"/>
</p:tagLst>
</file>

<file path=ppt/tags/tag74.xml><?xml version="1.0" encoding="utf-8"?>
<p:tagLst xmlns:p="http://schemas.openxmlformats.org/presentationml/2006/main">
  <p:tag name="KSO_WM_DIAGRAM_VIRTUALLY_FRAME" val="{&quot;height&quot;:245.51,&quot;left&quot;:54,&quot;top&quot;:90,&quot;width&quot;:583.2}"/>
</p:tagLst>
</file>

<file path=ppt/theme/theme1.xml><?xml version="1.0" encoding="utf-8"?>
<a:theme xmlns:a="http://schemas.openxmlformats.org/drawingml/2006/main" name="1_自定义设计方案">
  <a:themeElements>
    <a:clrScheme name="1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自定义设计方案">
      <a:majorFont>
        <a:latin typeface="Lucida Sans"/>
        <a:ea typeface="黑体"/>
        <a:cs typeface=""/>
      </a:majorFont>
      <a:minorFont>
        <a:latin typeface="Berlin Sans FB"/>
        <a:ea typeface="黑体"/>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noFill/>
        <a:ln>
          <a:noFill/>
        </a:ln>
        <a:effectLst>
          <a:outerShdw dist="107763" dir="2700000" algn="ctr" rotWithShape="0">
            <a:schemeClr val="bg2">
              <a:alpha val="50000"/>
            </a:schemeClr>
          </a:outerShdw>
        </a:effectLst>
      </a:spPr>
      <a:bodyPr vert="horz" wrap="none" lIns="91440" tIns="45720" rIns="91440" bIns="45720" numCol="1" anchor="t" anchorCtr="0" compatLnSpc="1">
        <a:spAutoFit/>
      </a:bodyPr>
      <a:lstStyle>
        <a:defPPr marL="276225" marR="0" indent="-276225" algn="l" defTabSz="914400" rtl="0" eaLnBrk="1" fontAlgn="base" latinLnBrk="0" hangingPunct="1">
          <a:lnSpc>
            <a:spcPct val="110000"/>
          </a:lnSpc>
          <a:spcBef>
            <a:spcPct val="20000"/>
          </a:spcBef>
          <a:spcAft>
            <a:spcPct val="0"/>
          </a:spcAft>
          <a:buClr>
            <a:srgbClr val="3366FF"/>
          </a:buClr>
          <a:buSzPct val="75000"/>
          <a:buFont typeface="Wingdings" panose="05000000000000000000" pitchFamily="2" charset="2"/>
          <a:buNone/>
          <a:defRPr kumimoji="1" lang="zh-CN" altLang="en-US" sz="2000" b="0" i="0" u="none" strike="noStrike" cap="none" normalizeH="0" baseline="0" smtClean="0">
            <a:ln>
              <a:noFill/>
            </a:ln>
            <a:solidFill>
              <a:srgbClr val="FF3300"/>
            </a:solidFill>
            <a:effectLst/>
            <a:latin typeface="Arial" panose="020B0604020202020204" pitchFamily="34" charset="0"/>
            <a:ea typeface="黑体" panose="02010609060101010101" pitchFamily="49" charset="-122"/>
          </a:defRPr>
        </a:defPPr>
      </a:lstStyle>
    </a:spDef>
    <a:lnDef>
      <a:spPr bwMode="auto">
        <a:xfrm>
          <a:off x="0" y="0"/>
          <a:ext cx="1" cy="1"/>
        </a:xfrm>
        <a:custGeom>
          <a:avLst/>
          <a:gdLst/>
          <a:ahLst/>
          <a:cxnLst/>
          <a:rect l="0" t="0" r="0" b="0"/>
          <a:pathLst/>
        </a:custGeom>
        <a:noFill/>
        <a:ln>
          <a:noFill/>
        </a:ln>
        <a:effectLst>
          <a:outerShdw dist="107763" dir="2700000" algn="ctr" rotWithShape="0">
            <a:schemeClr val="bg2">
              <a:alpha val="50000"/>
            </a:schemeClr>
          </a:outerShdw>
        </a:effectLst>
      </a:spPr>
      <a:bodyPr vert="horz" wrap="none" lIns="91440" tIns="45720" rIns="91440" bIns="45720" numCol="1" anchor="t" anchorCtr="0" compatLnSpc="1">
        <a:spAutoFit/>
      </a:bodyPr>
      <a:lstStyle>
        <a:defPPr marL="276225" marR="0" indent="-276225" algn="l" defTabSz="914400" rtl="0" eaLnBrk="1" fontAlgn="base" latinLnBrk="0" hangingPunct="1">
          <a:lnSpc>
            <a:spcPct val="110000"/>
          </a:lnSpc>
          <a:spcBef>
            <a:spcPct val="20000"/>
          </a:spcBef>
          <a:spcAft>
            <a:spcPct val="0"/>
          </a:spcAft>
          <a:buClr>
            <a:srgbClr val="3366FF"/>
          </a:buClr>
          <a:buSzPct val="75000"/>
          <a:buFont typeface="Wingdings" panose="05000000000000000000" pitchFamily="2" charset="2"/>
          <a:buNone/>
          <a:defRPr kumimoji="1" lang="zh-CN" altLang="en-US" sz="2000" b="0" i="0" u="none" strike="noStrike" cap="none" normalizeH="0" baseline="0" smtClean="0">
            <a:ln>
              <a:noFill/>
            </a:ln>
            <a:solidFill>
              <a:srgbClr val="FF3300"/>
            </a:solidFill>
            <a:effectLst/>
            <a:latin typeface="Arial" panose="020B0604020202020204" pitchFamily="34" charset="0"/>
            <a:ea typeface="黑体" panose="02010609060101010101" pitchFamily="49" charset="-122"/>
          </a:defRPr>
        </a:defPPr>
      </a:lstStyle>
    </a:lnDef>
  </a:objectDefaults>
  <a:extraClrSchemeLst>
    <a:extraClrScheme>
      <a:clrScheme name="1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自定义设计方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自定义设计方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自定义设计方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自定义设计方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自定义设计方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自定义设计方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自定义设计方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自定义设计方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自定义设计方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自定义设计方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自定义设计方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11170</Words>
  <Application>WPS 演示</Application>
  <PresentationFormat>全屏显示(4:3)</PresentationFormat>
  <Paragraphs>1153</Paragraphs>
  <Slides>25</Slides>
  <Notes>39</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25</vt:i4>
      </vt:variant>
    </vt:vector>
  </HeadingPairs>
  <TitlesOfParts>
    <vt:vector size="40" baseType="lpstr">
      <vt:lpstr>Arial</vt:lpstr>
      <vt:lpstr>宋体</vt:lpstr>
      <vt:lpstr>Wingdings</vt:lpstr>
      <vt:lpstr>黑体</vt:lpstr>
      <vt:lpstr>Tahoma</vt:lpstr>
      <vt:lpstr>Lucida Sans</vt:lpstr>
      <vt:lpstr>Comic Sans MS</vt:lpstr>
      <vt:lpstr>楷体_GB2312</vt:lpstr>
      <vt:lpstr>新宋体</vt:lpstr>
      <vt:lpstr>Times</vt:lpstr>
      <vt:lpstr>Times New Roman</vt:lpstr>
      <vt:lpstr>微软雅黑</vt:lpstr>
      <vt:lpstr>Arial Unicode MS</vt:lpstr>
      <vt:lpstr>Berlin Sans FB</vt:lpstr>
      <vt:lpstr>1_自定义设计方案</vt:lpstr>
      <vt:lpstr>面向 SQL+ 简化查询表达的多智能体自然语言数据库查询生成与反馈修正方法研究</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WNLO</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热烈欢迎各位领导莅临指导</dc:title>
  <dc:creator>Yans</dc:creator>
  <cp:lastModifiedBy>艾筠舜</cp:lastModifiedBy>
  <cp:revision>1567</cp:revision>
  <dcterms:created xsi:type="dcterms:W3CDTF">2026-06-27T07:19:00Z</dcterms:created>
  <dcterms:modified xsi:type="dcterms:W3CDTF">2026-07-01T15:44:58Z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2052-12.1.0.26895</vt:lpwstr>
  </property>
  <property fmtid="{D5CDD505-2E9C-101B-9397-08002B2CF9AE}" pid="3" name="ICV">
    <vt:lpwstr>D8EFAD67513A43E4928970E0C1008FEF_12</vt:lpwstr>
  </property>
</Properties>
</file>