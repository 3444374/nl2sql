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32"/>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7"/>
  </p:sldIdLst>
  <p:sldSz cx="9144000" cy="6858000" type="screen4x3"/>
  <p:notesSz cx="7099300" cy="10234295"/>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2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CCFF99"/>
    <a:srgbClr val="66FF99"/>
    <a:srgbClr val="D9E7FB"/>
    <a:srgbClr val="0033CC"/>
    <a:srgbClr val="004A82"/>
    <a:srgbClr val="9C4A09"/>
    <a:srgbClr val="BF8C61"/>
    <a:srgbClr val="ED7D31"/>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99" autoAdjust="0"/>
    <p:restoredTop sz="71429" autoAdjust="0"/>
  </p:normalViewPr>
  <p:slideViewPr>
    <p:cSldViewPr showGuides="1">
      <p:cViewPr varScale="1">
        <p:scale>
          <a:sx n="66" d="100"/>
          <a:sy n="66" d="100"/>
        </p:scale>
        <p:origin x="1752" y="32"/>
      </p:cViewPr>
      <p:guideLst>
        <p:guide orient="horz" pos="2127"/>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4" Type="http://schemas.openxmlformats.org/officeDocument/2006/relationships/notesMaster" Target="notesMasters/notesMaster1.xml"/><Relationship Id="rId7" Type="http://schemas.openxmlformats.org/officeDocument/2006/relationships/slide" Target="slides/slide25.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6323"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6324"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6325"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51542B31-73EC-40E4-BA2E-3718341A1938}" type="slidenum">
              <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6" name="Rectangle 4"/>
          <p:cNvSpPr>
            <a:spLocks noGrp="1" noRot="1" noChangeAspect="1" noTextEdit="1"/>
          </p:cNvSpPr>
          <p:nvPr>
            <p:ph type="sldImg" idx="2"/>
          </p:nvPr>
        </p:nvSpPr>
        <p:spPr>
          <a:xfrm>
            <a:off x="990600" y="768350"/>
            <a:ext cx="5118100" cy="3836988"/>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989180F7-3713-4556-8363-0F6EEBB166EB}" type="slidenum">
              <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050" name="图片 8"/>
          <p:cNvPicPr>
            <a:picLocks noChangeAspect="1"/>
          </p:cNvPicPr>
          <p:nvPr userDrawn="1"/>
        </p:nvPicPr>
        <p:blipFill>
          <a:blip r:embed="rId2"/>
          <a:stretch>
            <a:fillRect/>
          </a:stretch>
        </p:blipFill>
        <p:spPr>
          <a:xfrm>
            <a:off x="1588" y="9525"/>
            <a:ext cx="9144000" cy="6845300"/>
          </a:xfrm>
          <a:prstGeom prst="rect">
            <a:avLst/>
          </a:prstGeom>
          <a:noFill/>
          <a:ln w="9525">
            <a:noFill/>
          </a:ln>
        </p:spPr>
      </p:pic>
      <p:sp>
        <p:nvSpPr>
          <p:cNvPr id="2" name="Rectangle 23"/>
          <p:cNvSpPr>
            <a:spLocks noChangeArrowheads="1"/>
          </p:cNvSpPr>
          <p:nvPr/>
        </p:nvSpPr>
        <p:spPr bwMode="auto">
          <a:xfrm flipV="1">
            <a:off x="315913" y="3589338"/>
            <a:ext cx="8693150" cy="55563"/>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9pPr>
          </a:lstStyle>
          <a:p>
            <a:pPr marL="0" marR="0" lvl="0" indent="0"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a:pPr>
            <a:endParaRPr kumimoji="1" lang="zh-CN" altLang="en-US" sz="2000" b="0" i="0" u="none" strike="noStrike" kern="1200" cap="none" spc="0" normalizeH="0" baseline="0" noProof="0">
              <a:ln>
                <a:noFill/>
              </a:ln>
              <a:solidFill>
                <a:srgbClr val="FF3300"/>
              </a:solidFill>
              <a:effectLst/>
              <a:uLnTx/>
              <a:uFillTx/>
              <a:latin typeface="Arial" panose="020B0604020202090204" pitchFamily="34" charset="0"/>
              <a:ea typeface="黑体" panose="02010609060101010101" pitchFamily="49" charset="-122"/>
              <a:cs typeface="+mn-cs"/>
            </a:endParaRPr>
          </a:p>
        </p:txBody>
      </p:sp>
      <p:sp>
        <p:nvSpPr>
          <p:cNvPr id="13619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1">
                <a:solidFill>
                  <a:srgbClr val="0000CC"/>
                </a:solidFill>
                <a:latin typeface="Times" charset="0"/>
              </a:defRPr>
            </a:lvl1pPr>
          </a:lstStyle>
          <a:p>
            <a:pPr lvl="0"/>
            <a:r>
              <a:rPr lang="zh-CN" altLang="en-US" noProof="0"/>
              <a:t>单击此处编辑母版副标题样式</a:t>
            </a:r>
            <a:endParaRPr lang="zh-CN" altLang="en-US" noProof="0"/>
          </a:p>
        </p:txBody>
      </p:sp>
      <p:sp>
        <p:nvSpPr>
          <p:cNvPr id="10" name="标题 9"/>
          <p:cNvSpPr>
            <a:spLocks noGrp="1"/>
          </p:cNvSpPr>
          <p:nvPr>
            <p:ph type="title"/>
          </p:nvPr>
        </p:nvSpPr>
        <p:spPr>
          <a:xfrm>
            <a:off x="485775" y="908720"/>
            <a:ext cx="8229600" cy="863600"/>
          </a:xfrm>
        </p:spPr>
        <p:txBody>
          <a:bodyPr/>
          <a:lstStyle/>
          <a:p>
            <a:r>
              <a:rPr lang="zh-CN" altLang="en-US" dirty="0"/>
              <a:t>单击此处编辑母版标题样式</a:t>
            </a:r>
            <a:endParaRPr lang="zh-CN" altLang="en-US" dirty="0"/>
          </a:p>
        </p:txBody>
      </p:sp>
      <p:sp>
        <p:nvSpPr>
          <p:cNvPr id="11" name="日期占位符 1"/>
          <p:cNvSpPr>
            <a:spLocks noGrp="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2" name="页脚占位符 2"/>
          <p:cNvSpPr>
            <a:spLocks noGrp="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3" name="灯片编号占位符 8"/>
          <p:cNvSpPr>
            <a:spLocks noGrp="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0"/>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image" Target="../media/image1.jpeg"/><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
          <p:cNvPicPr>
            <a:picLocks noChangeAspect="1"/>
          </p:cNvPicPr>
          <p:nvPr userDrawn="1"/>
        </p:nvPicPr>
        <p:blipFill>
          <a:blip r:embed="rId4"/>
          <a:stretch>
            <a:fillRect/>
          </a:stretch>
        </p:blipFill>
        <p:spPr>
          <a:xfrm>
            <a:off x="0" y="6350"/>
            <a:ext cx="9144000" cy="6845300"/>
          </a:xfrm>
          <a:prstGeom prst="rect">
            <a:avLst/>
          </a:prstGeom>
          <a:noFill/>
          <a:ln w="9525">
            <a:noFill/>
          </a:ln>
        </p:spPr>
      </p:pic>
      <p:sp>
        <p:nvSpPr>
          <p:cNvPr id="135170" name="Rectangle 2"/>
          <p:cNvSpPr>
            <a:spLocks noGrp="1" noChangeArrowheads="1"/>
          </p:cNvSpPr>
          <p:nvPr>
            <p:ph type="title"/>
          </p:nvPr>
        </p:nvSpPr>
        <p:spPr bwMode="auto">
          <a:xfrm>
            <a:off x="457200" y="836613"/>
            <a:ext cx="8229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模板</a:t>
            </a:r>
            <a:r>
              <a:rPr lang="en-US" altLang="zh-CN" dirty="0"/>
              <a:t>Chapter</a:t>
            </a:r>
            <a:endParaRPr lang="en-US" altLang="zh-CN" dirty="0"/>
          </a:p>
        </p:txBody>
      </p:sp>
      <p:sp>
        <p:nvSpPr>
          <p:cNvPr id="1028" name="Rectangle 3"/>
          <p:cNvSpPr>
            <a:spLocks noGrp="1"/>
          </p:cNvSpPr>
          <p:nvPr>
            <p:ph type="body" idx="1"/>
          </p:nvPr>
        </p:nvSpPr>
        <p:spPr>
          <a:xfrm>
            <a:off x="457200" y="1916113"/>
            <a:ext cx="8229600" cy="4525962"/>
          </a:xfrm>
          <a:prstGeom prst="rect">
            <a:avLst/>
          </a:prstGeom>
          <a:noFill/>
          <a:ln w="9525">
            <a:noFill/>
          </a:ln>
        </p:spPr>
        <p:txBody>
          <a:bodyPr/>
          <a:lstStyle/>
          <a:p>
            <a:pPr lvl="0"/>
            <a:r>
              <a:rPr lang="zh-CN" altLang="en-US" dirty="0"/>
              <a:t>第一级</a:t>
            </a:r>
            <a:r>
              <a:rPr lang="en-US" altLang="zh-CN" dirty="0"/>
              <a:t>abcd</a:t>
            </a:r>
            <a:endParaRPr lang="en-US" altLang="zh-CN" dirty="0"/>
          </a:p>
          <a:p>
            <a:pPr lvl="1"/>
            <a:r>
              <a:rPr lang="zh-CN" altLang="en-US" dirty="0"/>
              <a:t>第二级</a:t>
            </a:r>
            <a:r>
              <a:rPr lang="en-US" altLang="zh-CN" dirty="0"/>
              <a:t>adb</a:t>
            </a:r>
            <a:endParaRPr lang="en-US" altLang="zh-CN" dirty="0"/>
          </a:p>
          <a:p>
            <a:pPr lvl="2"/>
            <a:r>
              <a:rPr lang="zh-CN" altLang="en-US" dirty="0"/>
              <a:t>第三级</a:t>
            </a:r>
            <a:r>
              <a:rPr lang="en-US" altLang="zh-CN" dirty="0"/>
              <a:t>kljaskf</a:t>
            </a:r>
            <a:endParaRPr lang="en-US" altLang="zh-CN" dirty="0"/>
          </a:p>
          <a:p>
            <a:pPr lvl="3"/>
            <a:r>
              <a:rPr lang="zh-CN" altLang="en-US" dirty="0"/>
              <a:t>第四级</a:t>
            </a:r>
            <a:endParaRPr lang="zh-CN" altLang="en-US" dirty="0"/>
          </a:p>
          <a:p>
            <a:pPr lvl="4"/>
            <a:r>
              <a:rPr lang="zh-CN" altLang="en-US" dirty="0"/>
              <a:t>第五级</a:t>
            </a:r>
            <a:endParaRPr lang="zh-CN" altLang="en-US" dirty="0"/>
          </a:p>
        </p:txBody>
      </p:sp>
      <p:sp>
        <p:nvSpPr>
          <p:cNvPr id="13517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spcBef>
                <a:spcPct val="0"/>
              </a:spcBef>
              <a:buClrTx/>
              <a:buSzTx/>
              <a:buFontTx/>
              <a:buNone/>
              <a:defRPr kumimoji="0" sz="1400">
                <a:solidFill>
                  <a:schemeClr val="tx1"/>
                </a:solidFill>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35173"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lnSpc>
                <a:spcPct val="100000"/>
              </a:lnSpc>
              <a:spcBef>
                <a:spcPct val="0"/>
              </a:spcBef>
              <a:buClrTx/>
              <a:buSzTx/>
              <a:buFontTx/>
              <a:buNone/>
              <a:defRPr kumimoji="0" sz="1400">
                <a:solidFill>
                  <a:schemeClr val="tx1"/>
                </a:solidFill>
                <a:ea typeface="宋体"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35174"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spcBef>
                <a:spcPct val="0"/>
              </a:spcBef>
              <a:buClrTx/>
              <a:buSzTx/>
              <a:buFontTx/>
              <a:buNone/>
              <a:defRPr kumimoji="0" sz="1400">
                <a:solidFill>
                  <a:schemeClr val="tx1"/>
                </a:solidFill>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032" name="Rectangle 17"/>
          <p:cNvSpPr>
            <a:spLocks noChangeArrowheads="1"/>
          </p:cNvSpPr>
          <p:nvPr/>
        </p:nvSpPr>
        <p:spPr bwMode="gray">
          <a:xfrm>
            <a:off x="442913" y="166846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rtl="0" eaLnBrk="0" fontAlgn="base" hangingPunct="0">
        <a:spcBef>
          <a:spcPct val="0"/>
        </a:spcBef>
        <a:spcAft>
          <a:spcPct val="0"/>
        </a:spcAft>
        <a:defRPr kumimoji="1" sz="3600" b="0" kern="1200">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2pPr>
      <a:lvl3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3pPr>
      <a:lvl4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4pPr>
      <a:lvl5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5pPr>
      <a:lvl6pPr marL="4572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6pPr>
      <a:lvl7pPr marL="9144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7pPr>
      <a:lvl8pPr marL="13716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8pPr>
      <a:lvl9pPr marL="18288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SzPct val="75000"/>
        <a:buFont typeface="Wingdings" panose="05000000000000000000" pitchFamily="2" charset="2"/>
        <a:buChar char="ª"/>
        <a:defRPr kumimoji="1" sz="36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33"/>
        </a:buClr>
        <a:buSzPct val="80000"/>
        <a:buFont typeface="Wingdings" panose="05000000000000000000" pitchFamily="2" charset="2"/>
        <a:buChar char="Ø"/>
        <a:defRPr sz="2800" kern="1200">
          <a:solidFill>
            <a:schemeClr val="tx1"/>
          </a:solidFill>
          <a:latin typeface="Arial" panose="020B0604020202090204" pitchFamily="34" charset="0"/>
          <a:ea typeface="+mn-ea"/>
          <a:cs typeface="+mn-cs"/>
        </a:defRPr>
      </a:lvl2pPr>
      <a:lvl3pPr marL="1143000" indent="-228600" algn="l" rtl="0" eaLnBrk="0" fontAlgn="base" hangingPunct="0">
        <a:spcBef>
          <a:spcPct val="20000"/>
        </a:spcBef>
        <a:spcAft>
          <a:spcPct val="0"/>
        </a:spcAft>
        <a:buClr>
          <a:srgbClr val="FF0000"/>
        </a:buClr>
        <a:buChar char="•"/>
        <a:defRPr sz="2400" b="1" kern="1200">
          <a:solidFill>
            <a:schemeClr val="tx1"/>
          </a:solidFill>
          <a:latin typeface="Comic Sans MS" panose="030F0902030302020204" pitchFamily="66" charset="0"/>
          <a:ea typeface="楷体_GB2312" pitchFamily="49"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90204" pitchFamily="34" charset="0"/>
          <a:ea typeface="宋体"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90204" pitchFamily="34" charset="0"/>
          <a:ea typeface="宋体" pitchFamily="2"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nchor="ctr"/>
          <a:lstStyle/>
          <a:p>
            <a:pPr algn="ctr"/>
            <a:r>
              <a:rPr sz="1700" b="0">
                <a:solidFill>
                  <a:srgbClr val="1F2933"/>
                </a:solidFill>
                <a:latin typeface="Microsoft YaHei"/>
              </a:rPr>
              <a:t>研究方向：Text-to-SQL / SQL+ 中间表示 / 多智能体 / 执行反馈修正
汇报人：待填写    导师：待填写    时间：待填写</a:t>
            </a:r>
          </a:p>
        </p:txBody>
      </p:sp>
      <p:sp>
        <p:nvSpPr>
          <p:cNvPr id="3" name="Title 2"/>
          <p:cNvSpPr>
            <a:spLocks noGrp="1"/>
          </p:cNvSpPr>
          <p:nvPr>
            <p:ph type="title"/>
          </p:nvPr>
        </p:nvSpPr>
        <p:spPr/>
        <p:txBody>
          <a:bodyPr wrap="square" anchor="ctr"/>
          <a:lstStyle/>
          <a:p>
            <a:pPr algn="ctr"/>
            <a:r>
              <a:rPr sz="2700" b="1">
                <a:solidFill>
                  <a:srgbClr val="18375C"/>
                </a:solidFill>
                <a:latin typeface="Microsoft YaHei"/>
              </a:rPr>
              <a:t>面向 SQL+ 简化查询表达的多智能体自然语言数据库查询生成与反馈修正方法研究</a:t>
            </a:r>
          </a:p>
        </p:txBody>
      </p:sp>
      <p:sp>
        <p:nvSpPr>
          <p:cNvPr id="4" name="TextBox 3"/>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汇报结构</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2</a:t>
            </a:r>
          </a:p>
        </p:txBody>
      </p:sp>
      <p:sp>
        <p:nvSpPr>
          <p:cNvPr id="4" name="Rectangle 3"/>
          <p:cNvSpPr/>
          <p:nvPr/>
        </p:nvSpPr>
        <p:spPr>
          <a:xfrm>
            <a:off x="594360" y="1170432"/>
            <a:ext cx="2286000" cy="1371600"/>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5" name="TextBox 4"/>
          <p:cNvSpPr txBox="1"/>
          <p:nvPr/>
        </p:nvSpPr>
        <p:spPr>
          <a:xfrm>
            <a:off x="740664" y="1298448"/>
            <a:ext cx="384048" cy="310896"/>
          </a:xfrm>
          <a:prstGeom prst="rect">
            <a:avLst/>
          </a:prstGeom>
          <a:noFill/>
        </p:spPr>
        <p:txBody>
          <a:bodyPr wrap="square" anchor="ctr">
            <a:spAutoFit/>
          </a:bodyPr>
          <a:lstStyle/>
          <a:p>
            <a:pPr algn="ctr"/>
            <a:r>
              <a:rPr sz="1800" b="1">
                <a:solidFill>
                  <a:srgbClr val="18375C"/>
                </a:solidFill>
                <a:latin typeface="Microsoft YaHei"/>
              </a:rPr>
              <a:t>1</a:t>
            </a:r>
          </a:p>
        </p:txBody>
      </p:sp>
      <p:sp>
        <p:nvSpPr>
          <p:cNvPr id="6" name="TextBox 5"/>
          <p:cNvSpPr txBox="1"/>
          <p:nvPr/>
        </p:nvSpPr>
        <p:spPr>
          <a:xfrm>
            <a:off x="1179576" y="1335024"/>
            <a:ext cx="1508760" cy="274320"/>
          </a:xfrm>
          <a:prstGeom prst="rect">
            <a:avLst/>
          </a:prstGeom>
          <a:noFill/>
        </p:spPr>
        <p:txBody>
          <a:bodyPr wrap="square" anchor="ctr">
            <a:spAutoFit/>
          </a:bodyPr>
          <a:lstStyle/>
          <a:p>
            <a:pPr algn="l"/>
            <a:r>
              <a:rPr sz="1400" b="1">
                <a:solidFill>
                  <a:srgbClr val="18375C"/>
                </a:solidFill>
                <a:latin typeface="Microsoft YaHei"/>
              </a:rPr>
              <a:t>背景与问题</a:t>
            </a:r>
          </a:p>
        </p:txBody>
      </p:sp>
      <p:sp>
        <p:nvSpPr>
          <p:cNvPr id="7" name="TextBox 6"/>
          <p:cNvSpPr txBox="1"/>
          <p:nvPr/>
        </p:nvSpPr>
        <p:spPr>
          <a:xfrm>
            <a:off x="795528" y="1792224"/>
            <a:ext cx="1874519" cy="475488"/>
          </a:xfrm>
          <a:prstGeom prst="rect">
            <a:avLst/>
          </a:prstGeom>
          <a:noFill/>
        </p:spPr>
        <p:txBody>
          <a:bodyPr wrap="square" anchor="ctr">
            <a:spAutoFit/>
          </a:bodyPr>
          <a:lstStyle/>
          <a:p>
            <a:pPr algn="l"/>
            <a:r>
              <a:rPr sz="1000" b="0">
                <a:solidFill>
                  <a:srgbClr val="1F2933"/>
                </a:solidFill>
                <a:latin typeface="Microsoft YaHei"/>
              </a:rPr>
              <a:t>自然语言数据库查询为什么仍不稳定</a:t>
            </a:r>
          </a:p>
        </p:txBody>
      </p:sp>
      <p:sp>
        <p:nvSpPr>
          <p:cNvPr id="8" name="Rectangle 7"/>
          <p:cNvSpPr/>
          <p:nvPr/>
        </p:nvSpPr>
        <p:spPr>
          <a:xfrm>
            <a:off x="3337560" y="1170432"/>
            <a:ext cx="2286000" cy="1371600"/>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9" name="TextBox 8"/>
          <p:cNvSpPr txBox="1"/>
          <p:nvPr/>
        </p:nvSpPr>
        <p:spPr>
          <a:xfrm>
            <a:off x="3483864" y="1298448"/>
            <a:ext cx="384048" cy="310896"/>
          </a:xfrm>
          <a:prstGeom prst="rect">
            <a:avLst/>
          </a:prstGeom>
          <a:noFill/>
        </p:spPr>
        <p:txBody>
          <a:bodyPr wrap="square" anchor="ctr">
            <a:spAutoFit/>
          </a:bodyPr>
          <a:lstStyle/>
          <a:p>
            <a:pPr algn="ctr"/>
            <a:r>
              <a:rPr sz="1800" b="1">
                <a:solidFill>
                  <a:srgbClr val="525C69"/>
                </a:solidFill>
                <a:latin typeface="Microsoft YaHei"/>
              </a:rPr>
              <a:t>2</a:t>
            </a:r>
          </a:p>
        </p:txBody>
      </p:sp>
      <p:sp>
        <p:nvSpPr>
          <p:cNvPr id="10" name="TextBox 9"/>
          <p:cNvSpPr txBox="1"/>
          <p:nvPr/>
        </p:nvSpPr>
        <p:spPr>
          <a:xfrm>
            <a:off x="3922776" y="1335024"/>
            <a:ext cx="1508760" cy="274320"/>
          </a:xfrm>
          <a:prstGeom prst="rect">
            <a:avLst/>
          </a:prstGeom>
          <a:noFill/>
        </p:spPr>
        <p:txBody>
          <a:bodyPr wrap="square" anchor="ctr">
            <a:spAutoFit/>
          </a:bodyPr>
          <a:lstStyle/>
          <a:p>
            <a:pPr algn="l"/>
            <a:r>
              <a:rPr sz="1400" b="1">
                <a:solidFill>
                  <a:srgbClr val="525C69"/>
                </a:solidFill>
                <a:latin typeface="Microsoft YaHei"/>
              </a:rPr>
              <a:t>研究发展</a:t>
            </a:r>
          </a:p>
        </p:txBody>
      </p:sp>
      <p:sp>
        <p:nvSpPr>
          <p:cNvPr id="11" name="TextBox 10"/>
          <p:cNvSpPr txBox="1"/>
          <p:nvPr/>
        </p:nvSpPr>
        <p:spPr>
          <a:xfrm>
            <a:off x="3538728" y="1792224"/>
            <a:ext cx="1874519" cy="475488"/>
          </a:xfrm>
          <a:prstGeom prst="rect">
            <a:avLst/>
          </a:prstGeom>
          <a:noFill/>
        </p:spPr>
        <p:txBody>
          <a:bodyPr wrap="square" anchor="ctr">
            <a:spAutoFit/>
          </a:bodyPr>
          <a:lstStyle/>
          <a:p>
            <a:pPr algn="l"/>
            <a:r>
              <a:rPr sz="1000" b="0">
                <a:solidFill>
                  <a:srgbClr val="1F2933"/>
                </a:solidFill>
                <a:latin typeface="Microsoft YaHei"/>
              </a:rPr>
              <a:t>Text-to-SQL、IR、Agentic NL2SQL 的演进</a:t>
            </a:r>
          </a:p>
        </p:txBody>
      </p:sp>
      <p:sp>
        <p:nvSpPr>
          <p:cNvPr id="12" name="Rectangle 11"/>
          <p:cNvSpPr/>
          <p:nvPr/>
        </p:nvSpPr>
        <p:spPr>
          <a:xfrm>
            <a:off x="6080760" y="1170432"/>
            <a:ext cx="2286000" cy="1371600"/>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13" name="TextBox 12"/>
          <p:cNvSpPr txBox="1"/>
          <p:nvPr/>
        </p:nvSpPr>
        <p:spPr>
          <a:xfrm>
            <a:off x="6227064" y="1298448"/>
            <a:ext cx="384048" cy="310896"/>
          </a:xfrm>
          <a:prstGeom prst="rect">
            <a:avLst/>
          </a:prstGeom>
          <a:noFill/>
        </p:spPr>
        <p:txBody>
          <a:bodyPr wrap="square" anchor="ctr">
            <a:spAutoFit/>
          </a:bodyPr>
          <a:lstStyle/>
          <a:p>
            <a:pPr algn="ctr"/>
            <a:r>
              <a:rPr sz="1800" b="1">
                <a:solidFill>
                  <a:srgbClr val="3A4E5E"/>
                </a:solidFill>
                <a:latin typeface="Microsoft YaHei"/>
              </a:rPr>
              <a:t>3</a:t>
            </a:r>
          </a:p>
        </p:txBody>
      </p:sp>
      <p:sp>
        <p:nvSpPr>
          <p:cNvPr id="14" name="TextBox 13"/>
          <p:cNvSpPr txBox="1"/>
          <p:nvPr/>
        </p:nvSpPr>
        <p:spPr>
          <a:xfrm>
            <a:off x="6665976" y="1335024"/>
            <a:ext cx="1508760" cy="274320"/>
          </a:xfrm>
          <a:prstGeom prst="rect">
            <a:avLst/>
          </a:prstGeom>
          <a:noFill/>
        </p:spPr>
        <p:txBody>
          <a:bodyPr wrap="square" anchor="ctr">
            <a:spAutoFit/>
          </a:bodyPr>
          <a:lstStyle/>
          <a:p>
            <a:pPr algn="l"/>
            <a:r>
              <a:rPr sz="1400" b="1">
                <a:solidFill>
                  <a:srgbClr val="3A4E5E"/>
                </a:solidFill>
                <a:latin typeface="Microsoft YaHei"/>
              </a:rPr>
              <a:t>动机测试</a:t>
            </a:r>
          </a:p>
        </p:txBody>
      </p:sp>
      <p:sp>
        <p:nvSpPr>
          <p:cNvPr id="15" name="TextBox 14"/>
          <p:cNvSpPr txBox="1"/>
          <p:nvPr/>
        </p:nvSpPr>
        <p:spPr>
          <a:xfrm>
            <a:off x="6281928" y="1792224"/>
            <a:ext cx="1874519" cy="475488"/>
          </a:xfrm>
          <a:prstGeom prst="rect">
            <a:avLst/>
          </a:prstGeom>
          <a:noFill/>
        </p:spPr>
        <p:txBody>
          <a:bodyPr wrap="square" anchor="ctr">
            <a:spAutoFit/>
          </a:bodyPr>
          <a:lstStyle/>
          <a:p>
            <a:pPr algn="l"/>
            <a:r>
              <a:rPr sz="1000" b="0">
                <a:solidFill>
                  <a:srgbClr val="1F2933"/>
                </a:solidFill>
                <a:latin typeface="Microsoft YaHei"/>
              </a:rPr>
              <a:t>按实验设置、方法、结果和分析说明为什么这样设计</a:t>
            </a:r>
          </a:p>
        </p:txBody>
      </p:sp>
      <p:sp>
        <p:nvSpPr>
          <p:cNvPr id="16" name="Rectangle 15"/>
          <p:cNvSpPr/>
          <p:nvPr/>
        </p:nvSpPr>
        <p:spPr>
          <a:xfrm>
            <a:off x="594360" y="3136391"/>
            <a:ext cx="2286000" cy="1371600"/>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17" name="TextBox 16"/>
          <p:cNvSpPr txBox="1"/>
          <p:nvPr/>
        </p:nvSpPr>
        <p:spPr>
          <a:xfrm>
            <a:off x="740664" y="3264408"/>
            <a:ext cx="384048" cy="310896"/>
          </a:xfrm>
          <a:prstGeom prst="rect">
            <a:avLst/>
          </a:prstGeom>
          <a:noFill/>
        </p:spPr>
        <p:txBody>
          <a:bodyPr wrap="square" anchor="ctr">
            <a:spAutoFit/>
          </a:bodyPr>
          <a:lstStyle/>
          <a:p>
            <a:pPr algn="ctr"/>
            <a:r>
              <a:rPr sz="1800" b="1">
                <a:solidFill>
                  <a:srgbClr val="B22626"/>
                </a:solidFill>
                <a:latin typeface="Microsoft YaHei"/>
              </a:rPr>
              <a:t>4</a:t>
            </a:r>
          </a:p>
        </p:txBody>
      </p:sp>
      <p:sp>
        <p:nvSpPr>
          <p:cNvPr id="18" name="TextBox 17"/>
          <p:cNvSpPr txBox="1"/>
          <p:nvPr/>
        </p:nvSpPr>
        <p:spPr>
          <a:xfrm>
            <a:off x="1179576" y="3300984"/>
            <a:ext cx="1508760" cy="274320"/>
          </a:xfrm>
          <a:prstGeom prst="rect">
            <a:avLst/>
          </a:prstGeom>
          <a:noFill/>
        </p:spPr>
        <p:txBody>
          <a:bodyPr wrap="square" anchor="ctr">
            <a:spAutoFit/>
          </a:bodyPr>
          <a:lstStyle/>
          <a:p>
            <a:pPr algn="l"/>
            <a:r>
              <a:rPr sz="1400" b="1">
                <a:solidFill>
                  <a:srgbClr val="B22626"/>
                </a:solidFill>
                <a:latin typeface="Microsoft YaHei"/>
              </a:rPr>
              <a:t>系统设计</a:t>
            </a:r>
          </a:p>
        </p:txBody>
      </p:sp>
      <p:sp>
        <p:nvSpPr>
          <p:cNvPr id="19" name="TextBox 18"/>
          <p:cNvSpPr txBox="1"/>
          <p:nvPr/>
        </p:nvSpPr>
        <p:spPr>
          <a:xfrm>
            <a:off x="795528" y="3758183"/>
            <a:ext cx="1874519" cy="475488"/>
          </a:xfrm>
          <a:prstGeom prst="rect">
            <a:avLst/>
          </a:prstGeom>
          <a:noFill/>
        </p:spPr>
        <p:txBody>
          <a:bodyPr wrap="square" anchor="ctr">
            <a:spAutoFit/>
          </a:bodyPr>
          <a:lstStyle/>
          <a:p>
            <a:pPr algn="l"/>
            <a:r>
              <a:rPr sz="1000" b="0">
                <a:solidFill>
                  <a:srgbClr val="1F2933"/>
                </a:solidFill>
                <a:latin typeface="Microsoft YaHei"/>
              </a:rPr>
              <a:t>SQL+ 中间表示与多智能体反馈闭环</a:t>
            </a:r>
          </a:p>
        </p:txBody>
      </p:sp>
      <p:sp>
        <p:nvSpPr>
          <p:cNvPr id="20" name="Rectangle 19"/>
          <p:cNvSpPr/>
          <p:nvPr/>
        </p:nvSpPr>
        <p:spPr>
          <a:xfrm>
            <a:off x="3337560" y="3136391"/>
            <a:ext cx="2286000" cy="13716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21" name="TextBox 20"/>
          <p:cNvSpPr txBox="1"/>
          <p:nvPr/>
        </p:nvSpPr>
        <p:spPr>
          <a:xfrm>
            <a:off x="3483864" y="3264408"/>
            <a:ext cx="384048" cy="310896"/>
          </a:xfrm>
          <a:prstGeom prst="rect">
            <a:avLst/>
          </a:prstGeom>
          <a:noFill/>
        </p:spPr>
        <p:txBody>
          <a:bodyPr wrap="square" anchor="ctr">
            <a:spAutoFit/>
          </a:bodyPr>
          <a:lstStyle/>
          <a:p>
            <a:pPr algn="ctr"/>
            <a:r>
              <a:rPr sz="1800" b="1">
                <a:solidFill>
                  <a:srgbClr val="18375C"/>
                </a:solidFill>
                <a:latin typeface="Microsoft YaHei"/>
              </a:rPr>
              <a:t>5</a:t>
            </a:r>
          </a:p>
        </p:txBody>
      </p:sp>
      <p:sp>
        <p:nvSpPr>
          <p:cNvPr id="22" name="TextBox 21"/>
          <p:cNvSpPr txBox="1"/>
          <p:nvPr/>
        </p:nvSpPr>
        <p:spPr>
          <a:xfrm>
            <a:off x="3922776" y="3300984"/>
            <a:ext cx="1508760" cy="274320"/>
          </a:xfrm>
          <a:prstGeom prst="rect">
            <a:avLst/>
          </a:prstGeom>
          <a:noFill/>
        </p:spPr>
        <p:txBody>
          <a:bodyPr wrap="square" anchor="ctr">
            <a:spAutoFit/>
          </a:bodyPr>
          <a:lstStyle/>
          <a:p>
            <a:pPr algn="l"/>
            <a:r>
              <a:rPr sz="1400" b="1">
                <a:solidFill>
                  <a:srgbClr val="18375C"/>
                </a:solidFill>
                <a:latin typeface="Microsoft YaHei"/>
              </a:rPr>
              <a:t>可行性与初期验证</a:t>
            </a:r>
          </a:p>
        </p:txBody>
      </p:sp>
      <p:sp>
        <p:nvSpPr>
          <p:cNvPr id="23" name="TextBox 22"/>
          <p:cNvSpPr txBox="1"/>
          <p:nvPr/>
        </p:nvSpPr>
        <p:spPr>
          <a:xfrm>
            <a:off x="3538728" y="3758183"/>
            <a:ext cx="1874519" cy="475488"/>
          </a:xfrm>
          <a:prstGeom prst="rect">
            <a:avLst/>
          </a:prstGeom>
          <a:noFill/>
        </p:spPr>
        <p:txBody>
          <a:bodyPr wrap="square" anchor="ctr">
            <a:spAutoFit/>
          </a:bodyPr>
          <a:lstStyle/>
          <a:p>
            <a:pPr algn="l"/>
            <a:r>
              <a:rPr sz="1000" b="0">
                <a:solidFill>
                  <a:srgbClr val="1F2933"/>
                </a:solidFill>
                <a:latin typeface="Microsoft YaHei"/>
              </a:rPr>
              <a:t>转换、修复、repair skill 和 Spider 小子集</a:t>
            </a:r>
          </a:p>
        </p:txBody>
      </p:sp>
      <p:sp>
        <p:nvSpPr>
          <p:cNvPr id="24" name="Rectangle 23"/>
          <p:cNvSpPr/>
          <p:nvPr/>
        </p:nvSpPr>
        <p:spPr>
          <a:xfrm>
            <a:off x="6080760" y="3136391"/>
            <a:ext cx="2286000" cy="13716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25" name="TextBox 24"/>
          <p:cNvSpPr txBox="1"/>
          <p:nvPr/>
        </p:nvSpPr>
        <p:spPr>
          <a:xfrm>
            <a:off x="6227064" y="3264408"/>
            <a:ext cx="384048" cy="310896"/>
          </a:xfrm>
          <a:prstGeom prst="rect">
            <a:avLst/>
          </a:prstGeom>
          <a:noFill/>
        </p:spPr>
        <p:txBody>
          <a:bodyPr wrap="square" anchor="ctr">
            <a:spAutoFit/>
          </a:bodyPr>
          <a:lstStyle/>
          <a:p>
            <a:pPr algn="ctr"/>
            <a:r>
              <a:rPr sz="1800" b="1">
                <a:solidFill>
                  <a:srgbClr val="525C69"/>
                </a:solidFill>
                <a:latin typeface="Microsoft YaHei"/>
              </a:rPr>
              <a:t>6</a:t>
            </a:r>
          </a:p>
        </p:txBody>
      </p:sp>
      <p:sp>
        <p:nvSpPr>
          <p:cNvPr id="26" name="TextBox 25"/>
          <p:cNvSpPr txBox="1"/>
          <p:nvPr/>
        </p:nvSpPr>
        <p:spPr>
          <a:xfrm>
            <a:off x="6665976" y="3300984"/>
            <a:ext cx="1508760" cy="274320"/>
          </a:xfrm>
          <a:prstGeom prst="rect">
            <a:avLst/>
          </a:prstGeom>
          <a:noFill/>
        </p:spPr>
        <p:txBody>
          <a:bodyPr wrap="square" anchor="ctr">
            <a:spAutoFit/>
          </a:bodyPr>
          <a:lstStyle/>
          <a:p>
            <a:pPr algn="l"/>
            <a:r>
              <a:rPr sz="1400" b="1">
                <a:solidFill>
                  <a:srgbClr val="525C69"/>
                </a:solidFill>
                <a:latin typeface="Microsoft YaHei"/>
              </a:rPr>
              <a:t>后续计划</a:t>
            </a:r>
          </a:p>
        </p:txBody>
      </p:sp>
      <p:sp>
        <p:nvSpPr>
          <p:cNvPr id="27" name="TextBox 26"/>
          <p:cNvSpPr txBox="1"/>
          <p:nvPr/>
        </p:nvSpPr>
        <p:spPr>
          <a:xfrm>
            <a:off x="6281928" y="3758183"/>
            <a:ext cx="1874519" cy="475488"/>
          </a:xfrm>
          <a:prstGeom prst="rect">
            <a:avLst/>
          </a:prstGeom>
          <a:noFill/>
        </p:spPr>
        <p:txBody>
          <a:bodyPr wrap="square" anchor="ctr">
            <a:spAutoFit/>
          </a:bodyPr>
          <a:lstStyle/>
          <a:p>
            <a:pPr algn="l"/>
            <a:r>
              <a:rPr sz="1000" b="0">
                <a:solidFill>
                  <a:srgbClr val="1F2933"/>
                </a:solidFill>
                <a:latin typeface="Microsoft YaHei"/>
              </a:rPr>
              <a:t>多组对比、消融、公开子集和达梦适配</a:t>
            </a:r>
          </a:p>
        </p:txBody>
      </p:sp>
      <p:sp>
        <p:nvSpPr>
          <p:cNvPr id="28" name="Rectangle 27"/>
          <p:cNvSpPr/>
          <p:nvPr/>
        </p:nvSpPr>
        <p:spPr>
          <a:xfrm>
            <a:off x="658368" y="5806440"/>
            <a:ext cx="7909560" cy="43891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B22626"/>
                </a:solidFill>
                <a:latin typeface="Microsoft YaHei"/>
              </a:rPr>
              <a:t>动机测试单独成段，先把实验怎么做、结果是什么、说明什么讲清楚。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背景与问题：自然语言查询需要可修复</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3</a:t>
            </a:r>
          </a:p>
        </p:txBody>
      </p:sp>
      <p:sp>
        <p:nvSpPr>
          <p:cNvPr id="4" name="Rectangle 3"/>
          <p:cNvSpPr/>
          <p:nvPr/>
        </p:nvSpPr>
        <p:spPr>
          <a:xfrm>
            <a:off x="594360" y="1097280"/>
            <a:ext cx="2103120" cy="804672"/>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2933"/>
                </a:solidFill>
                <a:latin typeface="Microsoft YaHei"/>
              </a:rPr>
              <a:t>业务人员
自然语言问题</a:t>
            </a:r>
          </a:p>
        </p:txBody>
      </p:sp>
      <p:sp>
        <p:nvSpPr>
          <p:cNvPr id="5" name="TextBox 4"/>
          <p:cNvSpPr txBox="1"/>
          <p:nvPr/>
        </p:nvSpPr>
        <p:spPr>
          <a:xfrm>
            <a:off x="2788920" y="1325880"/>
            <a:ext cx="310896" cy="237744"/>
          </a:xfrm>
          <a:prstGeom prst="rect">
            <a:avLst/>
          </a:prstGeom>
          <a:noFill/>
        </p:spPr>
        <p:txBody>
          <a:bodyPr wrap="square" anchor="ctr">
            <a:spAutoFit/>
          </a:bodyPr>
          <a:lstStyle/>
          <a:p>
            <a:pPr algn="ctr"/>
            <a:r>
              <a:rPr sz="1600" b="1">
                <a:solidFill>
                  <a:srgbClr val="667080"/>
                </a:solidFill>
                <a:latin typeface="Microsoft YaHei"/>
              </a:rPr>
              <a:t>→</a:t>
            </a:r>
          </a:p>
        </p:txBody>
      </p:sp>
      <p:sp>
        <p:nvSpPr>
          <p:cNvPr id="6" name="Rectangle 5"/>
          <p:cNvSpPr/>
          <p:nvPr/>
        </p:nvSpPr>
        <p:spPr>
          <a:xfrm>
            <a:off x="3154680" y="1097280"/>
            <a:ext cx="2103120" cy="804672"/>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2933"/>
                </a:solidFill>
                <a:latin typeface="Microsoft YaHei"/>
              </a:rPr>
              <a:t>LLM / Agent
生成 SQL</a:t>
            </a:r>
          </a:p>
        </p:txBody>
      </p:sp>
      <p:sp>
        <p:nvSpPr>
          <p:cNvPr id="7" name="TextBox 6"/>
          <p:cNvSpPr txBox="1"/>
          <p:nvPr/>
        </p:nvSpPr>
        <p:spPr>
          <a:xfrm>
            <a:off x="5358384" y="1325880"/>
            <a:ext cx="310896" cy="237744"/>
          </a:xfrm>
          <a:prstGeom prst="rect">
            <a:avLst/>
          </a:prstGeom>
          <a:noFill/>
        </p:spPr>
        <p:txBody>
          <a:bodyPr wrap="square" anchor="ctr">
            <a:spAutoFit/>
          </a:bodyPr>
          <a:lstStyle/>
          <a:p>
            <a:pPr algn="ctr"/>
            <a:r>
              <a:rPr sz="1600" b="1">
                <a:solidFill>
                  <a:srgbClr val="667080"/>
                </a:solidFill>
                <a:latin typeface="Microsoft YaHei"/>
              </a:rPr>
              <a:t>→</a:t>
            </a:r>
          </a:p>
        </p:txBody>
      </p:sp>
      <p:sp>
        <p:nvSpPr>
          <p:cNvPr id="8" name="Rectangle 7"/>
          <p:cNvSpPr/>
          <p:nvPr/>
        </p:nvSpPr>
        <p:spPr>
          <a:xfrm>
            <a:off x="5715000" y="1097280"/>
            <a:ext cx="2377440" cy="804672"/>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F2933"/>
                </a:solidFill>
                <a:latin typeface="Microsoft YaHei"/>
              </a:rPr>
              <a:t>数据库执行
结果或错误反馈</a:t>
            </a:r>
          </a:p>
        </p:txBody>
      </p:sp>
      <p:graphicFrame>
        <p:nvGraphicFramePr>
          <p:cNvPr id="9" name="Table 8"/>
          <p:cNvGraphicFramePr>
            <a:graphicFrameLocks noGrp="1"/>
          </p:cNvGraphicFramePr>
          <p:nvPr/>
        </p:nvGraphicFramePr>
        <p:xfrm>
          <a:off x="411480" y="2331720"/>
          <a:ext cx="8321040" cy="2880360"/>
        </p:xfrm>
        <a:graphic>
          <a:graphicData uri="http://schemas.openxmlformats.org/drawingml/2006/table">
            <a:tbl>
              <a:tblPr firstRow="1" bandRow="1">
                <a:tableStyleId>{5C22544A-7EE6-4342-B048-85BDC9FD1C3A}</a:tableStyleId>
              </a:tblPr>
              <a:tblGrid>
                <a:gridCol w="2773680"/>
                <a:gridCol w="2773680"/>
                <a:gridCol w="2773680"/>
              </a:tblGrid>
              <a:tr h="576072">
                <a:tc>
                  <a:txBody>
                    <a:bodyPr/>
                    <a:lstStyle/>
                    <a:p>
                      <a:pPr algn="ctr"/>
                      <a:r>
                        <a:rPr sz="900" b="1">
                          <a:solidFill>
                            <a:srgbClr val="FFFFFF"/>
                          </a:solidFill>
                          <a:latin typeface="Microsoft YaHei"/>
                        </a:rPr>
                        <a:t>错误层级</a:t>
                      </a:r>
                    </a:p>
                  </a:txBody>
                  <a:tcPr marL="36576" marR="36576">
                    <a:solidFill>
                      <a:srgbClr val="18375C"/>
                    </a:solidFill>
                  </a:tcPr>
                </a:tc>
                <a:tc>
                  <a:txBody>
                    <a:bodyPr/>
                    <a:lstStyle/>
                    <a:p>
                      <a:pPr algn="ctr"/>
                      <a:r>
                        <a:rPr sz="900" b="1">
                          <a:solidFill>
                            <a:srgbClr val="FFFFFF"/>
                          </a:solidFill>
                          <a:latin typeface="Microsoft YaHei"/>
                        </a:rPr>
                        <a:t>常见表现</a:t>
                      </a:r>
                    </a:p>
                  </a:txBody>
                  <a:tcPr marL="36576" marR="36576">
                    <a:solidFill>
                      <a:srgbClr val="18375C"/>
                    </a:solidFill>
                  </a:tcPr>
                </a:tc>
                <a:tc>
                  <a:txBody>
                    <a:bodyPr/>
                    <a:lstStyle/>
                    <a:p>
                      <a:pPr algn="ctr"/>
                      <a:r>
                        <a:rPr sz="900" b="1">
                          <a:solidFill>
                            <a:srgbClr val="FFFFFF"/>
                          </a:solidFill>
                          <a:latin typeface="Microsoft YaHei"/>
                        </a:rPr>
                        <a:t>为什么难修</a:t>
                      </a:r>
                    </a:p>
                  </a:txBody>
                  <a:tcPr marL="36576" marR="36576">
                    <a:solidFill>
                      <a:srgbClr val="18375C"/>
                    </a:solidFill>
                  </a:tcPr>
                </a:tc>
              </a:tr>
              <a:tr h="576072">
                <a:tc>
                  <a:txBody>
                    <a:bodyPr/>
                    <a:lstStyle/>
                    <a:p>
                      <a:pPr algn="l"/>
                      <a:r>
                        <a:rPr sz="800" b="0">
                          <a:solidFill>
                            <a:srgbClr val="1F2933"/>
                          </a:solidFill>
                          <a:latin typeface="Microsoft YaHei"/>
                        </a:rPr>
                        <a:t>schema linking</a:t>
                      </a:r>
                    </a:p>
                  </a:txBody>
                  <a:tcPr marL="36576" marR="36576">
                    <a:solidFill>
                      <a:srgbClr val="FFFFFF"/>
                    </a:solidFill>
                  </a:tcPr>
                </a:tc>
                <a:tc>
                  <a:txBody>
                    <a:bodyPr/>
                    <a:lstStyle/>
                    <a:p>
                      <a:pPr algn="l"/>
                      <a:r>
                        <a:rPr sz="800" b="0">
                          <a:solidFill>
                            <a:srgbClr val="1F2933"/>
                          </a:solidFill>
                          <a:latin typeface="Microsoft YaHei"/>
                        </a:rPr>
                        <a:t>表列选择、连接路径错误</a:t>
                      </a:r>
                    </a:p>
                  </a:txBody>
                  <a:tcPr marL="36576" marR="36576">
                    <a:solidFill>
                      <a:srgbClr val="FFFFFF"/>
                    </a:solidFill>
                  </a:tcPr>
                </a:tc>
                <a:tc>
                  <a:txBody>
                    <a:bodyPr/>
                    <a:lstStyle/>
                    <a:p>
                      <a:pPr algn="l"/>
                      <a:r>
                        <a:rPr sz="800" b="0">
                          <a:solidFill>
                            <a:srgbClr val="1F2933"/>
                          </a:solidFill>
                          <a:latin typeface="Microsoft YaHei"/>
                        </a:rPr>
                        <a:t>会传导到 WHERE、GROUP 和 SELECT</a:t>
                      </a:r>
                    </a:p>
                  </a:txBody>
                  <a:tcPr marL="36576" marR="36576">
                    <a:solidFill>
                      <a:srgbClr val="FFFFFF"/>
                    </a:solidFill>
                  </a:tcPr>
                </a:tc>
              </a:tr>
              <a:tr h="576072">
                <a:tc>
                  <a:txBody>
                    <a:bodyPr/>
                    <a:lstStyle/>
                    <a:p>
                      <a:pPr algn="l"/>
                      <a:r>
                        <a:rPr sz="800" b="0">
                          <a:solidFill>
                            <a:srgbClr val="1F2933"/>
                          </a:solidFill>
                          <a:latin typeface="Microsoft YaHei"/>
                        </a:rPr>
                        <a:t>value linking</a:t>
                      </a:r>
                    </a:p>
                  </a:txBody>
                  <a:tcPr marL="36576" marR="36576">
                    <a:solidFill>
                      <a:srgbClr val="F6F8FA"/>
                    </a:solidFill>
                  </a:tcPr>
                </a:tc>
                <a:tc>
                  <a:txBody>
                    <a:bodyPr/>
                    <a:lstStyle/>
                    <a:p>
                      <a:pPr algn="l"/>
                      <a:r>
                        <a:rPr sz="800" b="0">
                          <a:solidFill>
                            <a:srgbClr val="1F2933"/>
                          </a:solidFill>
                          <a:latin typeface="Microsoft YaHei"/>
                        </a:rPr>
                        <a:t>枚举值、日期、阈值错误</a:t>
                      </a:r>
                    </a:p>
                  </a:txBody>
                  <a:tcPr marL="36576" marR="36576">
                    <a:solidFill>
                      <a:srgbClr val="F6F8FA"/>
                    </a:solidFill>
                  </a:tcPr>
                </a:tc>
                <a:tc>
                  <a:txBody>
                    <a:bodyPr/>
                    <a:lstStyle/>
                    <a:p>
                      <a:pPr algn="l"/>
                      <a:r>
                        <a:rPr sz="800" b="0">
                          <a:solidFill>
                            <a:srgbClr val="1F2933"/>
                          </a:solidFill>
                          <a:latin typeface="Microsoft YaHei"/>
                        </a:rPr>
                        <a:t>执行可能不报错，但结果语义错</a:t>
                      </a:r>
                    </a:p>
                  </a:txBody>
                  <a:tcPr marL="36576" marR="36576">
                    <a:solidFill>
                      <a:srgbClr val="F6F8FA"/>
                    </a:solidFill>
                  </a:tcPr>
                </a:tc>
              </a:tr>
              <a:tr h="576072">
                <a:tc>
                  <a:txBody>
                    <a:bodyPr/>
                    <a:lstStyle/>
                    <a:p>
                      <a:pPr algn="l"/>
                      <a:r>
                        <a:rPr sz="800" b="0">
                          <a:solidFill>
                            <a:srgbClr val="1F2933"/>
                          </a:solidFill>
                          <a:latin typeface="Microsoft YaHei"/>
                        </a:rPr>
                        <a:t>aggregation</a:t>
                      </a:r>
                    </a:p>
                  </a:txBody>
                  <a:tcPr marL="36576" marR="36576">
                    <a:solidFill>
                      <a:srgbClr val="FFFFFF"/>
                    </a:solidFill>
                  </a:tcPr>
                </a:tc>
                <a:tc>
                  <a:txBody>
                    <a:bodyPr/>
                    <a:lstStyle/>
                    <a:p>
                      <a:pPr algn="l"/>
                      <a:r>
                        <a:rPr sz="800" b="0">
                          <a:solidFill>
                            <a:srgbClr val="1F2933"/>
                          </a:solidFill>
                          <a:latin typeface="Microsoft YaHei"/>
                        </a:rPr>
                        <a:t>COUNT、GROUP、HAVING 口径错误</a:t>
                      </a:r>
                    </a:p>
                  </a:txBody>
                  <a:tcPr marL="36576" marR="36576">
                    <a:solidFill>
                      <a:srgbClr val="FFFFFF"/>
                    </a:solidFill>
                  </a:tcPr>
                </a:tc>
                <a:tc>
                  <a:txBody>
                    <a:bodyPr/>
                    <a:lstStyle/>
                    <a:p>
                      <a:pPr algn="l"/>
                      <a:r>
                        <a:rPr sz="800" b="0">
                          <a:solidFill>
                            <a:srgbClr val="1F2933"/>
                          </a:solidFill>
                          <a:latin typeface="Microsoft YaHei"/>
                        </a:rPr>
                        <a:t>涉及跨子句依赖</a:t>
                      </a:r>
                    </a:p>
                  </a:txBody>
                  <a:tcPr marL="36576" marR="36576">
                    <a:solidFill>
                      <a:srgbClr val="FFFFFF"/>
                    </a:solidFill>
                  </a:tcPr>
                </a:tc>
              </a:tr>
              <a:tr h="576072">
                <a:tc>
                  <a:txBody>
                    <a:bodyPr/>
                    <a:lstStyle/>
                    <a:p>
                      <a:pPr algn="l"/>
                      <a:r>
                        <a:rPr sz="800" b="0">
                          <a:solidFill>
                            <a:srgbClr val="1F2933"/>
                          </a:solidFill>
                          <a:latin typeface="Microsoft YaHei"/>
                        </a:rPr>
                        <a:t>projection/order</a:t>
                      </a:r>
                    </a:p>
                  </a:txBody>
                  <a:tcPr marL="36576" marR="36576">
                    <a:solidFill>
                      <a:srgbClr val="F6F8FA"/>
                    </a:solidFill>
                  </a:tcPr>
                </a:tc>
                <a:tc>
                  <a:txBody>
                    <a:bodyPr/>
                    <a:lstStyle/>
                    <a:p>
                      <a:pPr algn="l"/>
                      <a:r>
                        <a:rPr sz="800" b="0">
                          <a:solidFill>
                            <a:srgbClr val="1F2933"/>
                          </a:solidFill>
                          <a:latin typeface="Microsoft YaHei"/>
                        </a:rPr>
                        <a:t>输出列、排序字段、top-k 错误</a:t>
                      </a:r>
                    </a:p>
                  </a:txBody>
                  <a:tcPr marL="36576" marR="36576">
                    <a:solidFill>
                      <a:srgbClr val="F6F8FA"/>
                    </a:solidFill>
                  </a:tcPr>
                </a:tc>
                <a:tc>
                  <a:txBody>
                    <a:bodyPr/>
                    <a:lstStyle/>
                    <a:p>
                      <a:pPr algn="l"/>
                      <a:r>
                        <a:rPr sz="800" b="0">
                          <a:solidFill>
                            <a:srgbClr val="1F2933"/>
                          </a:solidFill>
                          <a:latin typeface="Microsoft YaHei"/>
                        </a:rPr>
                        <a:t>结果看似合理但不符合问题</a:t>
                      </a:r>
                    </a:p>
                  </a:txBody>
                  <a:tcPr marL="36576" marR="36576">
                    <a:solidFill>
                      <a:srgbClr val="F6F8FA"/>
                    </a:solidFill>
                  </a:tcPr>
                </a:tc>
              </a:tr>
            </a:tbl>
          </a:graphicData>
        </a:graphic>
      </p:graphicFrame>
      <p:sp>
        <p:nvSpPr>
          <p:cNvPr id="10" name="Rectangle 9"/>
          <p:cNvSpPr/>
          <p:nvPr/>
        </p:nvSpPr>
        <p:spPr>
          <a:xfrm>
            <a:off x="804672" y="5559552"/>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B22626"/>
                </a:solidFill>
                <a:latin typeface="Microsoft YaHei"/>
              </a:rPr>
              <a:t>重点：本课题关注生成失败后的定位、路由和局部修复。</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研究发展：从 benchmark 到 agentic NL2SQL</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4</a:t>
            </a:r>
          </a:p>
        </p:txBody>
      </p:sp>
      <p:sp>
        <p:nvSpPr>
          <p:cNvPr id="4" name="TextBox 3"/>
          <p:cNvSpPr txBox="1"/>
          <p:nvPr/>
        </p:nvSpPr>
        <p:spPr>
          <a:xfrm>
            <a:off x="731520" y="2926080"/>
            <a:ext cx="7772400" cy="109728"/>
          </a:xfrm>
          <a:prstGeom prst="rect">
            <a:avLst/>
          </a:prstGeom>
          <a:noFill/>
        </p:spPr>
        <p:txBody>
          <a:bodyPr wrap="square" anchor="ctr">
            <a:spAutoFit/>
          </a:bodyPr>
          <a:lstStyle/>
          <a:p>
            <a:pPr algn="l"/>
            <a:r>
              <a:rPr sz="1300" b="1">
                <a:solidFill>
                  <a:srgbClr val="667080"/>
                </a:solidFill>
                <a:latin typeface="Microsoft YaHei"/>
              </a:rPr>
              <a:t>────────────────────────────────────────</a:t>
            </a:r>
          </a:p>
        </p:txBody>
      </p:sp>
      <p:sp>
        <p:nvSpPr>
          <p:cNvPr id="5" name="Rectangle 4"/>
          <p:cNvSpPr/>
          <p:nvPr/>
        </p:nvSpPr>
        <p:spPr>
          <a:xfrm>
            <a:off x="475488" y="1965960"/>
            <a:ext cx="96012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icrosoft YaHei"/>
              </a:rPr>
              <a:t>2018</a:t>
            </a:r>
          </a:p>
        </p:txBody>
      </p:sp>
      <p:sp>
        <p:nvSpPr>
          <p:cNvPr id="6" name="Rectangle 5"/>
          <p:cNvSpPr/>
          <p:nvPr/>
        </p:nvSpPr>
        <p:spPr>
          <a:xfrm>
            <a:off x="384048" y="3273552"/>
            <a:ext cx="1143000" cy="1024128"/>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a:solidFill>
                  <a:srgbClr val="1F2933"/>
                </a:solidFill>
                <a:latin typeface="Microsoft YaHei"/>
              </a:rPr>
              <a:t>Spider
跨数据库复杂 SQL</a:t>
            </a:r>
          </a:p>
        </p:txBody>
      </p:sp>
      <p:sp>
        <p:nvSpPr>
          <p:cNvPr id="7" name="TextBox 6"/>
          <p:cNvSpPr txBox="1"/>
          <p:nvPr/>
        </p:nvSpPr>
        <p:spPr>
          <a:xfrm>
            <a:off x="859536" y="2505456"/>
            <a:ext cx="182880" cy="320040"/>
          </a:xfrm>
          <a:prstGeom prst="rect">
            <a:avLst/>
          </a:prstGeom>
          <a:noFill/>
        </p:spPr>
        <p:txBody>
          <a:bodyPr wrap="square" anchor="ctr">
            <a:spAutoFit/>
          </a:bodyPr>
          <a:lstStyle/>
          <a:p>
            <a:pPr algn="ctr"/>
            <a:r>
              <a:rPr sz="1400" b="1">
                <a:solidFill>
                  <a:srgbClr val="18375C"/>
                </a:solidFill>
                <a:latin typeface="Microsoft YaHei"/>
              </a:rPr>
              <a:t>│</a:t>
            </a:r>
          </a:p>
        </p:txBody>
      </p:sp>
      <p:sp>
        <p:nvSpPr>
          <p:cNvPr id="8" name="Rectangle 7"/>
          <p:cNvSpPr/>
          <p:nvPr/>
        </p:nvSpPr>
        <p:spPr>
          <a:xfrm>
            <a:off x="1664208" y="1965960"/>
            <a:ext cx="960120" cy="438912"/>
          </a:xfrm>
          <a:prstGeom prst="rect">
            <a:avLst/>
          </a:prstGeom>
          <a:solidFill>
            <a:srgbClr val="525C69"/>
          </a:solidFill>
          <a:ln>
            <a:solidFill>
              <a:srgbClr val="525C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icrosoft YaHei"/>
              </a:rPr>
              <a:t>2019</a:t>
            </a:r>
          </a:p>
        </p:txBody>
      </p:sp>
      <p:sp>
        <p:nvSpPr>
          <p:cNvPr id="9" name="Rectangle 8"/>
          <p:cNvSpPr/>
          <p:nvPr/>
        </p:nvSpPr>
        <p:spPr>
          <a:xfrm>
            <a:off x="1572768" y="3273552"/>
            <a:ext cx="1143000" cy="1024128"/>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a:solidFill>
                  <a:srgbClr val="1F2933"/>
                </a:solidFill>
                <a:latin typeface="Microsoft YaHei"/>
              </a:rPr>
              <a:t>IRNet/SemQL
语义中间表示</a:t>
            </a:r>
          </a:p>
        </p:txBody>
      </p:sp>
      <p:sp>
        <p:nvSpPr>
          <p:cNvPr id="10" name="TextBox 9"/>
          <p:cNvSpPr txBox="1"/>
          <p:nvPr/>
        </p:nvSpPr>
        <p:spPr>
          <a:xfrm>
            <a:off x="2048256" y="2505456"/>
            <a:ext cx="182880" cy="320040"/>
          </a:xfrm>
          <a:prstGeom prst="rect">
            <a:avLst/>
          </a:prstGeom>
          <a:noFill/>
        </p:spPr>
        <p:txBody>
          <a:bodyPr wrap="square" anchor="ctr">
            <a:spAutoFit/>
          </a:bodyPr>
          <a:lstStyle/>
          <a:p>
            <a:pPr algn="ctr"/>
            <a:r>
              <a:rPr sz="1400" b="1">
                <a:solidFill>
                  <a:srgbClr val="525C69"/>
                </a:solidFill>
                <a:latin typeface="Microsoft YaHei"/>
              </a:rPr>
              <a:t>│</a:t>
            </a:r>
          </a:p>
        </p:txBody>
      </p:sp>
      <p:sp>
        <p:nvSpPr>
          <p:cNvPr id="11" name="Rectangle 10"/>
          <p:cNvSpPr/>
          <p:nvPr/>
        </p:nvSpPr>
        <p:spPr>
          <a:xfrm>
            <a:off x="2852928" y="1965960"/>
            <a:ext cx="960120" cy="438912"/>
          </a:xfrm>
          <a:prstGeom prst="rect">
            <a:avLst/>
          </a:prstGeom>
          <a:solidFill>
            <a:srgbClr val="3A4E5E"/>
          </a:solidFill>
          <a:ln>
            <a:solidFill>
              <a:srgbClr val="3A4E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icrosoft YaHei"/>
              </a:rPr>
              <a:t>2020</a:t>
            </a:r>
          </a:p>
        </p:txBody>
      </p:sp>
      <p:sp>
        <p:nvSpPr>
          <p:cNvPr id="12" name="Rectangle 11"/>
          <p:cNvSpPr/>
          <p:nvPr/>
        </p:nvSpPr>
        <p:spPr>
          <a:xfrm>
            <a:off x="2761488" y="3273552"/>
            <a:ext cx="1143000" cy="1024128"/>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a:solidFill>
                  <a:srgbClr val="1F2933"/>
                </a:solidFill>
                <a:latin typeface="Microsoft YaHei"/>
              </a:rPr>
              <a:t>RAT-SQL
关系感知 schema linking</a:t>
            </a:r>
          </a:p>
        </p:txBody>
      </p:sp>
      <p:sp>
        <p:nvSpPr>
          <p:cNvPr id="13" name="TextBox 12"/>
          <p:cNvSpPr txBox="1"/>
          <p:nvPr/>
        </p:nvSpPr>
        <p:spPr>
          <a:xfrm>
            <a:off x="3236976" y="2505456"/>
            <a:ext cx="182880" cy="320040"/>
          </a:xfrm>
          <a:prstGeom prst="rect">
            <a:avLst/>
          </a:prstGeom>
          <a:noFill/>
        </p:spPr>
        <p:txBody>
          <a:bodyPr wrap="square" anchor="ctr">
            <a:spAutoFit/>
          </a:bodyPr>
          <a:lstStyle/>
          <a:p>
            <a:pPr algn="ctr"/>
            <a:r>
              <a:rPr sz="1400" b="1">
                <a:solidFill>
                  <a:srgbClr val="3A4E5E"/>
                </a:solidFill>
                <a:latin typeface="Microsoft YaHei"/>
              </a:rPr>
              <a:t>│</a:t>
            </a:r>
          </a:p>
        </p:txBody>
      </p:sp>
      <p:sp>
        <p:nvSpPr>
          <p:cNvPr id="14" name="Rectangle 13"/>
          <p:cNvSpPr/>
          <p:nvPr/>
        </p:nvSpPr>
        <p:spPr>
          <a:xfrm>
            <a:off x="4041648" y="1965960"/>
            <a:ext cx="96012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icrosoft YaHei"/>
              </a:rPr>
              <a:t>2021</a:t>
            </a:r>
          </a:p>
        </p:txBody>
      </p:sp>
      <p:sp>
        <p:nvSpPr>
          <p:cNvPr id="15" name="Rectangle 14"/>
          <p:cNvSpPr/>
          <p:nvPr/>
        </p:nvSpPr>
        <p:spPr>
          <a:xfrm>
            <a:off x="3950208" y="3273552"/>
            <a:ext cx="1143000" cy="1024128"/>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a:solidFill>
                  <a:srgbClr val="1F2933"/>
                </a:solidFill>
                <a:latin typeface="Microsoft YaHei"/>
              </a:rPr>
              <a:t>NatSQL / PICARD
简化表示与约束解码</a:t>
            </a:r>
          </a:p>
        </p:txBody>
      </p:sp>
      <p:sp>
        <p:nvSpPr>
          <p:cNvPr id="16" name="TextBox 15"/>
          <p:cNvSpPr txBox="1"/>
          <p:nvPr/>
        </p:nvSpPr>
        <p:spPr>
          <a:xfrm>
            <a:off x="4425696" y="2505456"/>
            <a:ext cx="182880" cy="320040"/>
          </a:xfrm>
          <a:prstGeom prst="rect">
            <a:avLst/>
          </a:prstGeom>
          <a:noFill/>
        </p:spPr>
        <p:txBody>
          <a:bodyPr wrap="square" anchor="ctr">
            <a:spAutoFit/>
          </a:bodyPr>
          <a:lstStyle/>
          <a:p>
            <a:pPr algn="ctr"/>
            <a:r>
              <a:rPr sz="1400" b="1">
                <a:solidFill>
                  <a:srgbClr val="18375C"/>
                </a:solidFill>
                <a:latin typeface="Microsoft YaHei"/>
              </a:rPr>
              <a:t>│</a:t>
            </a:r>
          </a:p>
        </p:txBody>
      </p:sp>
      <p:sp>
        <p:nvSpPr>
          <p:cNvPr id="17" name="Rectangle 16"/>
          <p:cNvSpPr/>
          <p:nvPr/>
        </p:nvSpPr>
        <p:spPr>
          <a:xfrm>
            <a:off x="5230368" y="1965960"/>
            <a:ext cx="960120" cy="438912"/>
          </a:xfrm>
          <a:prstGeom prst="rect">
            <a:avLst/>
          </a:prstGeom>
          <a:solidFill>
            <a:srgbClr val="B22626"/>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icrosoft YaHei"/>
              </a:rPr>
              <a:t>2023</a:t>
            </a:r>
          </a:p>
        </p:txBody>
      </p:sp>
      <p:sp>
        <p:nvSpPr>
          <p:cNvPr id="18" name="Rectangle 17"/>
          <p:cNvSpPr/>
          <p:nvPr/>
        </p:nvSpPr>
        <p:spPr>
          <a:xfrm>
            <a:off x="5138928" y="3273552"/>
            <a:ext cx="1143000" cy="1024128"/>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a:solidFill>
                  <a:srgbClr val="1F2933"/>
                </a:solidFill>
                <a:latin typeface="Microsoft YaHei"/>
              </a:rPr>
              <a:t>BIRD / DIN-SQL / LEVER
真实数据库与反馈验证</a:t>
            </a:r>
          </a:p>
        </p:txBody>
      </p:sp>
      <p:sp>
        <p:nvSpPr>
          <p:cNvPr id="19" name="TextBox 18"/>
          <p:cNvSpPr txBox="1"/>
          <p:nvPr/>
        </p:nvSpPr>
        <p:spPr>
          <a:xfrm>
            <a:off x="5614416" y="2505456"/>
            <a:ext cx="182880" cy="320040"/>
          </a:xfrm>
          <a:prstGeom prst="rect">
            <a:avLst/>
          </a:prstGeom>
          <a:noFill/>
        </p:spPr>
        <p:txBody>
          <a:bodyPr wrap="square" anchor="ctr">
            <a:spAutoFit/>
          </a:bodyPr>
          <a:lstStyle/>
          <a:p>
            <a:pPr algn="ctr"/>
            <a:r>
              <a:rPr sz="1400" b="1">
                <a:solidFill>
                  <a:srgbClr val="B22626"/>
                </a:solidFill>
                <a:latin typeface="Microsoft YaHei"/>
              </a:rPr>
              <a:t>│</a:t>
            </a:r>
          </a:p>
        </p:txBody>
      </p:sp>
      <p:sp>
        <p:nvSpPr>
          <p:cNvPr id="20" name="Rectangle 19"/>
          <p:cNvSpPr/>
          <p:nvPr/>
        </p:nvSpPr>
        <p:spPr>
          <a:xfrm>
            <a:off x="6419088" y="1965960"/>
            <a:ext cx="960120" cy="438912"/>
          </a:xfrm>
          <a:prstGeom prst="rect">
            <a:avLst/>
          </a:prstGeom>
          <a:solidFill>
            <a:srgbClr val="525C69"/>
          </a:solidFill>
          <a:ln>
            <a:solidFill>
              <a:srgbClr val="525C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icrosoft YaHei"/>
              </a:rPr>
              <a:t>2024</a:t>
            </a:r>
          </a:p>
        </p:txBody>
      </p:sp>
      <p:sp>
        <p:nvSpPr>
          <p:cNvPr id="21" name="Rectangle 20"/>
          <p:cNvSpPr/>
          <p:nvPr/>
        </p:nvSpPr>
        <p:spPr>
          <a:xfrm>
            <a:off x="6327648" y="3273552"/>
            <a:ext cx="1143000" cy="1024128"/>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a:solidFill>
                  <a:srgbClr val="1F2933"/>
                </a:solidFill>
                <a:latin typeface="Microsoft YaHei"/>
              </a:rPr>
              <a:t>Pipe Syntax / CHESS / CHASE-SQL
线性 SQL 与多路径 agent</a:t>
            </a:r>
          </a:p>
        </p:txBody>
      </p:sp>
      <p:sp>
        <p:nvSpPr>
          <p:cNvPr id="22" name="TextBox 21"/>
          <p:cNvSpPr txBox="1"/>
          <p:nvPr/>
        </p:nvSpPr>
        <p:spPr>
          <a:xfrm>
            <a:off x="6803136" y="2505456"/>
            <a:ext cx="182880" cy="320040"/>
          </a:xfrm>
          <a:prstGeom prst="rect">
            <a:avLst/>
          </a:prstGeom>
          <a:noFill/>
        </p:spPr>
        <p:txBody>
          <a:bodyPr wrap="square" anchor="ctr">
            <a:spAutoFit/>
          </a:bodyPr>
          <a:lstStyle/>
          <a:p>
            <a:pPr algn="ctr"/>
            <a:r>
              <a:rPr sz="1400" b="1">
                <a:solidFill>
                  <a:srgbClr val="525C69"/>
                </a:solidFill>
                <a:latin typeface="Microsoft YaHei"/>
              </a:rPr>
              <a:t>│</a:t>
            </a:r>
          </a:p>
        </p:txBody>
      </p:sp>
      <p:sp>
        <p:nvSpPr>
          <p:cNvPr id="23" name="Rectangle 22"/>
          <p:cNvSpPr/>
          <p:nvPr/>
        </p:nvSpPr>
        <p:spPr>
          <a:xfrm>
            <a:off x="7607808" y="1965960"/>
            <a:ext cx="960120" cy="438912"/>
          </a:xfrm>
          <a:prstGeom prst="rect">
            <a:avLst/>
          </a:prstGeom>
          <a:solidFill>
            <a:srgbClr val="3A4E5E"/>
          </a:solidFill>
          <a:ln>
            <a:solidFill>
              <a:srgbClr val="3A4E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icrosoft YaHei"/>
              </a:rPr>
              <a:t>2025</a:t>
            </a:r>
          </a:p>
        </p:txBody>
      </p:sp>
      <p:sp>
        <p:nvSpPr>
          <p:cNvPr id="24" name="Rectangle 23"/>
          <p:cNvSpPr/>
          <p:nvPr/>
        </p:nvSpPr>
        <p:spPr>
          <a:xfrm>
            <a:off x="7516368" y="3273552"/>
            <a:ext cx="1143000" cy="1024128"/>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a:solidFill>
                  <a:srgbClr val="1F2933"/>
                </a:solidFill>
                <a:latin typeface="Microsoft YaHei"/>
              </a:rPr>
              <a:t>Spider 2.0 / MAC-SQL / SQL-Factory
企业工作流与多智能体生成</a:t>
            </a:r>
          </a:p>
        </p:txBody>
      </p:sp>
      <p:sp>
        <p:nvSpPr>
          <p:cNvPr id="25" name="TextBox 24"/>
          <p:cNvSpPr txBox="1"/>
          <p:nvPr/>
        </p:nvSpPr>
        <p:spPr>
          <a:xfrm>
            <a:off x="7991856" y="2505456"/>
            <a:ext cx="182880" cy="320040"/>
          </a:xfrm>
          <a:prstGeom prst="rect">
            <a:avLst/>
          </a:prstGeom>
          <a:noFill/>
        </p:spPr>
        <p:txBody>
          <a:bodyPr wrap="square" anchor="ctr">
            <a:spAutoFit/>
          </a:bodyPr>
          <a:lstStyle/>
          <a:p>
            <a:pPr algn="ctr"/>
            <a:r>
              <a:rPr sz="1400" b="1">
                <a:solidFill>
                  <a:srgbClr val="3A4E5E"/>
                </a:solidFill>
                <a:latin typeface="Microsoft YaHei"/>
              </a:rPr>
              <a:t>│</a:t>
            </a:r>
          </a:p>
        </p:txBody>
      </p:sp>
      <p:sp>
        <p:nvSpPr>
          <p:cNvPr id="26" name="Rectangle 25"/>
          <p:cNvSpPr/>
          <p:nvPr/>
        </p:nvSpPr>
        <p:spPr>
          <a:xfrm>
            <a:off x="658368" y="5806440"/>
            <a:ext cx="7909560" cy="43891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B22626"/>
                </a:solidFill>
                <a:latin typeface="Microsoft YaHei"/>
              </a:rPr>
              <a:t>发展趋势很清楚：任务越来越真实，系统越来越模块化，评价也从准确率扩展到反馈、效率和可修复性。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当前研究与发展：benchmark、IR 与 agentic NL2SQL</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5</a:t>
            </a:r>
          </a:p>
        </p:txBody>
      </p:sp>
      <p:graphicFrame>
        <p:nvGraphicFramePr>
          <p:cNvPr id="4" name="Table 3"/>
          <p:cNvGraphicFramePr>
            <a:graphicFrameLocks noGrp="1"/>
          </p:cNvGraphicFramePr>
          <p:nvPr/>
        </p:nvGraphicFramePr>
        <p:xfrm>
          <a:off x="411480" y="960120"/>
          <a:ext cx="8321040" cy="4754880"/>
        </p:xfrm>
        <a:graphic>
          <a:graphicData uri="http://schemas.openxmlformats.org/drawingml/2006/table">
            <a:tbl>
              <a:tblPr firstRow="1" bandRow="1">
                <a:tableStyleId>{5C22544A-7EE6-4342-B048-85BDC9FD1C3A}</a:tableStyleId>
              </a:tblPr>
              <a:tblGrid>
                <a:gridCol w="2080260"/>
                <a:gridCol w="2080260"/>
                <a:gridCol w="2080260"/>
                <a:gridCol w="2080260"/>
              </a:tblGrid>
              <a:tr h="792480">
                <a:tc>
                  <a:txBody>
                    <a:bodyPr/>
                    <a:lstStyle/>
                    <a:p>
                      <a:pPr algn="ctr"/>
                      <a:r>
                        <a:rPr sz="800" b="1">
                          <a:solidFill>
                            <a:srgbClr val="FFFFFF"/>
                          </a:solidFill>
                          <a:latin typeface="Microsoft YaHei"/>
                        </a:rPr>
                        <a:t>方向</a:t>
                      </a:r>
                    </a:p>
                  </a:txBody>
                  <a:tcPr marL="36576" marR="36576">
                    <a:solidFill>
                      <a:srgbClr val="18375C"/>
                    </a:solidFill>
                  </a:tcPr>
                </a:tc>
                <a:tc>
                  <a:txBody>
                    <a:bodyPr/>
                    <a:lstStyle/>
                    <a:p>
                      <a:pPr algn="ctr"/>
                      <a:r>
                        <a:rPr sz="800" b="1">
                          <a:solidFill>
                            <a:srgbClr val="FFFFFF"/>
                          </a:solidFill>
                          <a:latin typeface="Microsoft YaHei"/>
                        </a:rPr>
                        <a:t>代表工作与年份</a:t>
                      </a:r>
                    </a:p>
                  </a:txBody>
                  <a:tcPr marL="36576" marR="36576">
                    <a:solidFill>
                      <a:srgbClr val="18375C"/>
                    </a:solidFill>
                  </a:tcPr>
                </a:tc>
                <a:tc>
                  <a:txBody>
                    <a:bodyPr/>
                    <a:lstStyle/>
                    <a:p>
                      <a:pPr algn="ctr"/>
                      <a:r>
                        <a:rPr sz="800" b="1">
                          <a:solidFill>
                            <a:srgbClr val="FFFFFF"/>
                          </a:solidFill>
                          <a:latin typeface="Microsoft YaHei"/>
                        </a:rPr>
                        <a:t>已解决问题</a:t>
                      </a:r>
                    </a:p>
                  </a:txBody>
                  <a:tcPr marL="36576" marR="36576">
                    <a:solidFill>
                      <a:srgbClr val="18375C"/>
                    </a:solidFill>
                  </a:tcPr>
                </a:tc>
                <a:tc>
                  <a:txBody>
                    <a:bodyPr/>
                    <a:lstStyle/>
                    <a:p>
                      <a:pPr algn="ctr"/>
                      <a:r>
                        <a:rPr sz="800" b="1">
                          <a:solidFill>
                            <a:srgbClr val="FFFFFF"/>
                          </a:solidFill>
                          <a:latin typeface="Microsoft YaHei"/>
                        </a:rPr>
                        <a:t>对本课题的启发</a:t>
                      </a:r>
                    </a:p>
                  </a:txBody>
                  <a:tcPr marL="36576" marR="36576">
                    <a:solidFill>
                      <a:srgbClr val="18375C"/>
                    </a:solidFill>
                  </a:tcPr>
                </a:tc>
              </a:tr>
              <a:tr h="792480">
                <a:tc>
                  <a:txBody>
                    <a:bodyPr/>
                    <a:lstStyle/>
                    <a:p>
                      <a:pPr algn="l"/>
                      <a:r>
                        <a:rPr sz="700" b="0">
                          <a:solidFill>
                            <a:srgbClr val="1F2933"/>
                          </a:solidFill>
                          <a:latin typeface="Microsoft YaHei"/>
                        </a:rPr>
                        <a:t>公开评测</a:t>
                      </a:r>
                    </a:p>
                  </a:txBody>
                  <a:tcPr marL="36576" marR="36576">
                    <a:solidFill>
                      <a:srgbClr val="FFFFFF"/>
                    </a:solidFill>
                  </a:tcPr>
                </a:tc>
                <a:tc>
                  <a:txBody>
                    <a:bodyPr/>
                    <a:lstStyle/>
                    <a:p>
                      <a:pPr algn="l"/>
                      <a:r>
                        <a:rPr sz="700" b="0">
                          <a:solidFill>
                            <a:srgbClr val="1F2933"/>
                          </a:solidFill>
                          <a:latin typeface="Microsoft YaHei"/>
                        </a:rPr>
                        <a:t>Spider 2018、BIRD 2023、Spider 2.0 2025</a:t>
                      </a:r>
                    </a:p>
                  </a:txBody>
                  <a:tcPr marL="36576" marR="36576">
                    <a:solidFill>
                      <a:srgbClr val="FFFFFF"/>
                    </a:solidFill>
                  </a:tcPr>
                </a:tc>
                <a:tc>
                  <a:txBody>
                    <a:bodyPr/>
                    <a:lstStyle/>
                    <a:p>
                      <a:pPr algn="l"/>
                      <a:r>
                        <a:rPr sz="700" b="0">
                          <a:solidFill>
                            <a:srgbClr val="1F2933"/>
                          </a:solidFill>
                          <a:latin typeface="Microsoft YaHei"/>
                        </a:rPr>
                        <a:t>复杂 schema、真实数据、企业工作流</a:t>
                      </a:r>
                    </a:p>
                  </a:txBody>
                  <a:tcPr marL="36576" marR="36576">
                    <a:solidFill>
                      <a:srgbClr val="FFFFFF"/>
                    </a:solidFill>
                  </a:tcPr>
                </a:tc>
                <a:tc>
                  <a:txBody>
                    <a:bodyPr/>
                    <a:lstStyle/>
                    <a:p>
                      <a:pPr algn="l"/>
                      <a:r>
                        <a:rPr sz="700" b="0">
                          <a:solidFill>
                            <a:srgbClr val="1F2933"/>
                          </a:solidFill>
                          <a:latin typeface="Microsoft YaHei"/>
                        </a:rPr>
                        <a:t>后续需要从小子集扩展到多库和真实方言</a:t>
                      </a:r>
                    </a:p>
                  </a:txBody>
                  <a:tcPr marL="36576" marR="36576">
                    <a:solidFill>
                      <a:srgbClr val="FFFFFF"/>
                    </a:solidFill>
                  </a:tcPr>
                </a:tc>
              </a:tr>
              <a:tr h="792480">
                <a:tc>
                  <a:txBody>
                    <a:bodyPr/>
                    <a:lstStyle/>
                    <a:p>
                      <a:pPr algn="l"/>
                      <a:r>
                        <a:rPr sz="700" b="0">
                          <a:solidFill>
                            <a:srgbClr val="1F2933"/>
                          </a:solidFill>
                          <a:latin typeface="Microsoft YaHei"/>
                        </a:rPr>
                        <a:t>中间表示</a:t>
                      </a:r>
                    </a:p>
                  </a:txBody>
                  <a:tcPr marL="36576" marR="36576">
                    <a:solidFill>
                      <a:srgbClr val="F6F8FA"/>
                    </a:solidFill>
                  </a:tcPr>
                </a:tc>
                <a:tc>
                  <a:txBody>
                    <a:bodyPr/>
                    <a:lstStyle/>
                    <a:p>
                      <a:pPr algn="l"/>
                      <a:r>
                        <a:rPr sz="700" b="0">
                          <a:solidFill>
                            <a:srgbClr val="1F2933"/>
                          </a:solidFill>
                          <a:latin typeface="Microsoft YaHei"/>
                        </a:rPr>
                        <a:t>SemQL 2019、NatSQL 2021、Pipe Syntax 2024</a:t>
                      </a:r>
                    </a:p>
                  </a:txBody>
                  <a:tcPr marL="36576" marR="36576">
                    <a:solidFill>
                      <a:srgbClr val="F6F8FA"/>
                    </a:solidFill>
                  </a:tcPr>
                </a:tc>
                <a:tc>
                  <a:txBody>
                    <a:bodyPr/>
                    <a:lstStyle/>
                    <a:p>
                      <a:pPr algn="l"/>
                      <a:r>
                        <a:rPr sz="700" b="0">
                          <a:solidFill>
                            <a:srgbClr val="1F2933"/>
                          </a:solidFill>
                          <a:latin typeface="Microsoft YaHei"/>
                        </a:rPr>
                        <a:t>降低 SQL 生成或表达复杂度</a:t>
                      </a:r>
                    </a:p>
                  </a:txBody>
                  <a:tcPr marL="36576" marR="36576">
                    <a:solidFill>
                      <a:srgbClr val="F6F8FA"/>
                    </a:solidFill>
                  </a:tcPr>
                </a:tc>
                <a:tc>
                  <a:txBody>
                    <a:bodyPr/>
                    <a:lstStyle/>
                    <a:p>
                      <a:pPr algn="l"/>
                      <a:r>
                        <a:rPr sz="700" b="0">
                          <a:solidFill>
                            <a:srgbClr val="1F2933"/>
                          </a:solidFill>
                          <a:latin typeface="Microsoft YaHei"/>
                        </a:rPr>
                        <a:t>SQL+ 要证明修复接口价值，而不只是换语法</a:t>
                      </a:r>
                    </a:p>
                  </a:txBody>
                  <a:tcPr marL="36576" marR="36576">
                    <a:solidFill>
                      <a:srgbClr val="F6F8FA"/>
                    </a:solidFill>
                  </a:tcPr>
                </a:tc>
              </a:tr>
              <a:tr h="792480">
                <a:tc>
                  <a:txBody>
                    <a:bodyPr/>
                    <a:lstStyle/>
                    <a:p>
                      <a:pPr algn="l"/>
                      <a:r>
                        <a:rPr sz="700" b="0">
                          <a:solidFill>
                            <a:srgbClr val="1F2933"/>
                          </a:solidFill>
                          <a:latin typeface="Microsoft YaHei"/>
                        </a:rPr>
                        <a:t>约束与验证</a:t>
                      </a:r>
                    </a:p>
                  </a:txBody>
                  <a:tcPr marL="36576" marR="36576">
                    <a:solidFill>
                      <a:srgbClr val="FFFFFF"/>
                    </a:solidFill>
                  </a:tcPr>
                </a:tc>
                <a:tc>
                  <a:txBody>
                    <a:bodyPr/>
                    <a:lstStyle/>
                    <a:p>
                      <a:pPr algn="l"/>
                      <a:r>
                        <a:rPr sz="700" b="0">
                          <a:solidFill>
                            <a:srgbClr val="1F2933"/>
                          </a:solidFill>
                          <a:latin typeface="Microsoft YaHei"/>
                        </a:rPr>
                        <a:t>PICARD 2021、LEVER 2023</a:t>
                      </a:r>
                    </a:p>
                  </a:txBody>
                  <a:tcPr marL="36576" marR="36576">
                    <a:solidFill>
                      <a:srgbClr val="FFFFFF"/>
                    </a:solidFill>
                  </a:tcPr>
                </a:tc>
                <a:tc>
                  <a:txBody>
                    <a:bodyPr/>
                    <a:lstStyle/>
                    <a:p>
                      <a:pPr algn="l"/>
                      <a:r>
                        <a:rPr sz="700" b="0">
                          <a:solidFill>
                            <a:srgbClr val="1F2933"/>
                          </a:solidFill>
                          <a:latin typeface="Microsoft YaHei"/>
                        </a:rPr>
                        <a:t>语法约束、执行验证、候选筛选</a:t>
                      </a:r>
                    </a:p>
                  </a:txBody>
                  <a:tcPr marL="36576" marR="36576">
                    <a:solidFill>
                      <a:srgbClr val="FFFFFF"/>
                    </a:solidFill>
                  </a:tcPr>
                </a:tc>
                <a:tc>
                  <a:txBody>
                    <a:bodyPr/>
                    <a:lstStyle/>
                    <a:p>
                      <a:pPr algn="l"/>
                      <a:r>
                        <a:rPr sz="700" b="0">
                          <a:solidFill>
                            <a:srgbClr val="1F2933"/>
                          </a:solidFill>
                          <a:latin typeface="Microsoft YaHei"/>
                        </a:rPr>
                        <a:t>执行反馈需要进入诊断和 patch 过程</a:t>
                      </a:r>
                    </a:p>
                  </a:txBody>
                  <a:tcPr marL="36576" marR="36576">
                    <a:solidFill>
                      <a:srgbClr val="FFFFFF"/>
                    </a:solidFill>
                  </a:tcPr>
                </a:tc>
              </a:tr>
              <a:tr h="792480">
                <a:tc>
                  <a:txBody>
                    <a:bodyPr/>
                    <a:lstStyle/>
                    <a:p>
                      <a:pPr algn="l"/>
                      <a:r>
                        <a:rPr sz="700" b="0">
                          <a:solidFill>
                            <a:srgbClr val="1F2933"/>
                          </a:solidFill>
                          <a:latin typeface="Microsoft YaHei"/>
                        </a:rPr>
                        <a:t>Agentic NL2SQL</a:t>
                      </a:r>
                    </a:p>
                  </a:txBody>
                  <a:tcPr marL="36576" marR="36576">
                    <a:solidFill>
                      <a:srgbClr val="F6F8FA"/>
                    </a:solidFill>
                  </a:tcPr>
                </a:tc>
                <a:tc>
                  <a:txBody>
                    <a:bodyPr/>
                    <a:lstStyle/>
                    <a:p>
                      <a:pPr algn="l"/>
                      <a:r>
                        <a:rPr sz="700" b="0">
                          <a:solidFill>
                            <a:srgbClr val="1F2933"/>
                          </a:solidFill>
                          <a:latin typeface="Microsoft YaHei"/>
                        </a:rPr>
                        <a:t>DIN-SQL 2023、CHESS 2024、CHASE-SQL 2024、MAC-SQL 2025</a:t>
                      </a:r>
                    </a:p>
                  </a:txBody>
                  <a:tcPr marL="36576" marR="36576">
                    <a:solidFill>
                      <a:srgbClr val="F6F8FA"/>
                    </a:solidFill>
                  </a:tcPr>
                </a:tc>
                <a:tc>
                  <a:txBody>
                    <a:bodyPr/>
                    <a:lstStyle/>
                    <a:p>
                      <a:pPr algn="l"/>
                      <a:r>
                        <a:rPr sz="700" b="0">
                          <a:solidFill>
                            <a:srgbClr val="1F2933"/>
                          </a:solidFill>
                          <a:latin typeface="Microsoft YaHei"/>
                        </a:rPr>
                        <a:t>分解、多候选、多角色协作</a:t>
                      </a:r>
                    </a:p>
                  </a:txBody>
                  <a:tcPr marL="36576" marR="36576">
                    <a:solidFill>
                      <a:srgbClr val="F6F8FA"/>
                    </a:solidFill>
                  </a:tcPr>
                </a:tc>
                <a:tc>
                  <a:txBody>
                    <a:bodyPr/>
                    <a:lstStyle/>
                    <a:p>
                      <a:pPr algn="l"/>
                      <a:r>
                        <a:rPr sz="700" b="0">
                          <a:solidFill>
                            <a:srgbClr val="1F2933"/>
                          </a:solidFill>
                          <a:latin typeface="Microsoft YaHei"/>
                        </a:rPr>
                        <a:t>需要更清楚的步骤级错误定位和 repair skill 评价</a:t>
                      </a:r>
                    </a:p>
                  </a:txBody>
                  <a:tcPr marL="36576" marR="36576">
                    <a:solidFill>
                      <a:srgbClr val="F6F8FA"/>
                    </a:solidFill>
                  </a:tcPr>
                </a:tc>
              </a:tr>
              <a:tr h="792480">
                <a:tc>
                  <a:txBody>
                    <a:bodyPr/>
                    <a:lstStyle/>
                    <a:p>
                      <a:pPr algn="l"/>
                      <a:r>
                        <a:rPr sz="700" b="0">
                          <a:solidFill>
                            <a:srgbClr val="1F2933"/>
                          </a:solidFill>
                          <a:latin typeface="Microsoft YaHei"/>
                        </a:rPr>
                        <a:t>数据生成</a:t>
                      </a:r>
                    </a:p>
                  </a:txBody>
                  <a:tcPr marL="36576" marR="36576">
                    <a:solidFill>
                      <a:srgbClr val="FFFFFF"/>
                    </a:solidFill>
                  </a:tcPr>
                </a:tc>
                <a:tc>
                  <a:txBody>
                    <a:bodyPr/>
                    <a:lstStyle/>
                    <a:p>
                      <a:pPr algn="l"/>
                      <a:r>
                        <a:rPr sz="700" b="0">
                          <a:solidFill>
                            <a:srgbClr val="1F2933"/>
                          </a:solidFill>
                          <a:latin typeface="Microsoft YaHei"/>
                        </a:rPr>
                        <a:t>SQL-Factory 2025</a:t>
                      </a:r>
                    </a:p>
                  </a:txBody>
                  <a:tcPr marL="36576" marR="36576">
                    <a:solidFill>
                      <a:srgbClr val="FFFFFF"/>
                    </a:solidFill>
                  </a:tcPr>
                </a:tc>
                <a:tc>
                  <a:txBody>
                    <a:bodyPr/>
                    <a:lstStyle/>
                    <a:p>
                      <a:pPr algn="l"/>
                      <a:r>
                        <a:rPr sz="700" b="0">
                          <a:solidFill>
                            <a:srgbClr val="1F2933"/>
                          </a:solidFill>
                          <a:latin typeface="Microsoft YaHei"/>
                        </a:rPr>
                        <a:t>多智能体生成高质量 SQL 数据</a:t>
                      </a:r>
                    </a:p>
                  </a:txBody>
                  <a:tcPr marL="36576" marR="36576">
                    <a:solidFill>
                      <a:srgbClr val="FFFFFF"/>
                    </a:solidFill>
                  </a:tcPr>
                </a:tc>
                <a:tc>
                  <a:txBody>
                    <a:bodyPr/>
                    <a:lstStyle/>
                    <a:p>
                      <a:pPr algn="l"/>
                      <a:r>
                        <a:rPr sz="700" b="0">
                          <a:solidFill>
                            <a:srgbClr val="1F2933"/>
                          </a:solidFill>
                          <a:latin typeface="Microsoft YaHei"/>
                        </a:rPr>
                        <a:t>可用于后续扩充训练和评测样例</a:t>
                      </a:r>
                    </a:p>
                  </a:txBody>
                  <a:tcPr marL="36576" marR="36576">
                    <a:solidFill>
                      <a:srgbClr val="FFFFFF"/>
                    </a:solidFill>
                  </a:tcPr>
                </a:tc>
              </a:tr>
            </a:tbl>
          </a:graphicData>
        </a:graphic>
      </p:graphicFrame>
      <p:sp>
        <p:nvSpPr>
          <p:cNvPr id="5" name="Rectangle 4"/>
          <p:cNvSpPr/>
          <p:nvPr/>
        </p:nvSpPr>
        <p:spPr>
          <a:xfrm>
            <a:off x="658368" y="5870448"/>
            <a:ext cx="7909560" cy="43891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B22626"/>
                </a:solidFill>
                <a:latin typeface="Microsoft YaHei"/>
              </a:rPr>
              <a:t>研究趋势是从单次生成走向真实环境、工具反馈、多智能体协作和可验证修复。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动机测试一：实验背景与设置</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6</a:t>
            </a:r>
          </a:p>
        </p:txBody>
      </p:sp>
      <p:graphicFrame>
        <p:nvGraphicFramePr>
          <p:cNvPr id="4" name="Table 3"/>
          <p:cNvGraphicFramePr>
            <a:graphicFrameLocks noGrp="1"/>
          </p:cNvGraphicFramePr>
          <p:nvPr/>
        </p:nvGraphicFramePr>
        <p:xfrm>
          <a:off x="411480" y="932688"/>
          <a:ext cx="8321040" cy="4617720"/>
        </p:xfrm>
        <a:graphic>
          <a:graphicData uri="http://schemas.openxmlformats.org/drawingml/2006/table">
            <a:tbl>
              <a:tblPr firstRow="1" bandRow="1">
                <a:tableStyleId>{5C22544A-7EE6-4342-B048-85BDC9FD1C3A}</a:tableStyleId>
              </a:tblPr>
              <a:tblGrid>
                <a:gridCol w="4160520"/>
                <a:gridCol w="4160520"/>
              </a:tblGrid>
              <a:tr h="659674">
                <a:tc>
                  <a:txBody>
                    <a:bodyPr/>
                    <a:lstStyle/>
                    <a:p>
                      <a:pPr algn="ctr"/>
                      <a:r>
                        <a:rPr sz="800" b="1">
                          <a:solidFill>
                            <a:srgbClr val="FFFFFF"/>
                          </a:solidFill>
                          <a:latin typeface="Microsoft YaHei"/>
                        </a:rPr>
                        <a:t>项目</a:t>
                      </a:r>
                    </a:p>
                  </a:txBody>
                  <a:tcPr marL="36576" marR="36576">
                    <a:solidFill>
                      <a:srgbClr val="18375C"/>
                    </a:solidFill>
                  </a:tcPr>
                </a:tc>
                <a:tc>
                  <a:txBody>
                    <a:bodyPr/>
                    <a:lstStyle/>
                    <a:p>
                      <a:pPr algn="ctr"/>
                      <a:r>
                        <a:rPr sz="800" b="1">
                          <a:solidFill>
                            <a:srgbClr val="FFFFFF"/>
                          </a:solidFill>
                          <a:latin typeface="Microsoft YaHei"/>
                        </a:rPr>
                        <a:t>设置</a:t>
                      </a:r>
                    </a:p>
                  </a:txBody>
                  <a:tcPr marL="36576" marR="36576">
                    <a:solidFill>
                      <a:srgbClr val="18375C"/>
                    </a:solidFill>
                  </a:tcPr>
                </a:tc>
              </a:tr>
              <a:tr h="659674">
                <a:tc>
                  <a:txBody>
                    <a:bodyPr/>
                    <a:lstStyle/>
                    <a:p>
                      <a:pPr algn="l"/>
                      <a:r>
                        <a:rPr sz="700" b="0">
                          <a:solidFill>
                            <a:srgbClr val="1F2933"/>
                          </a:solidFill>
                          <a:latin typeface="Microsoft YaHei"/>
                        </a:rPr>
                        <a:t>实验背景</a:t>
                      </a:r>
                    </a:p>
                  </a:txBody>
                  <a:tcPr marL="36576" marR="36576">
                    <a:solidFill>
                      <a:srgbClr val="FFFFFF"/>
                    </a:solidFill>
                  </a:tcPr>
                </a:tc>
                <a:tc>
                  <a:txBody>
                    <a:bodyPr/>
                    <a:lstStyle/>
                    <a:p>
                      <a:pPr algn="l"/>
                      <a:r>
                        <a:rPr sz="700" b="0">
                          <a:solidFill>
                            <a:srgbClr val="1F2933"/>
                          </a:solidFill>
                          <a:latin typeface="Microsoft YaHei"/>
                        </a:rPr>
                        <a:t>第一次生成的 SQL 经常可执行但语义不对，需要判断问题来自表示形式、生成方式还是修复方式</a:t>
                      </a:r>
                    </a:p>
                  </a:txBody>
                  <a:tcPr marL="36576" marR="36576">
                    <a:solidFill>
                      <a:srgbClr val="FFFFFF"/>
                    </a:solidFill>
                  </a:tcPr>
                </a:tc>
              </a:tr>
              <a:tr h="659674">
                <a:tc>
                  <a:txBody>
                    <a:bodyPr/>
                    <a:lstStyle/>
                    <a:p>
                      <a:pPr algn="l"/>
                      <a:r>
                        <a:rPr sz="700" b="0">
                          <a:solidFill>
                            <a:srgbClr val="1F2933"/>
                          </a:solidFill>
                          <a:latin typeface="Microsoft YaHei"/>
                        </a:rPr>
                        <a:t>核心问题</a:t>
                      </a:r>
                    </a:p>
                  </a:txBody>
                  <a:tcPr marL="36576" marR="36576">
                    <a:solidFill>
                      <a:srgbClr val="F6F8FA"/>
                    </a:solidFill>
                  </a:tcPr>
                </a:tc>
                <a:tc>
                  <a:txBody>
                    <a:bodyPr/>
                    <a:lstStyle/>
                    <a:p>
                      <a:pPr algn="l"/>
                      <a:r>
                        <a:rPr sz="700" b="0">
                          <a:solidFill>
                            <a:srgbClr val="1F2933"/>
                          </a:solidFill>
                          <a:latin typeface="Microsoft YaHei"/>
                        </a:rPr>
                        <a:t>为什么设计 SQL+，为什么不能只靠单 Agent 或整条 SQL 重写</a:t>
                      </a:r>
                    </a:p>
                  </a:txBody>
                  <a:tcPr marL="36576" marR="36576">
                    <a:solidFill>
                      <a:srgbClr val="F6F8FA"/>
                    </a:solidFill>
                  </a:tcPr>
                </a:tc>
              </a:tr>
              <a:tr h="659674">
                <a:tc>
                  <a:txBody>
                    <a:bodyPr/>
                    <a:lstStyle/>
                    <a:p>
                      <a:pPr algn="l"/>
                      <a:r>
                        <a:rPr sz="700" b="0">
                          <a:solidFill>
                            <a:srgbClr val="1F2933"/>
                          </a:solidFill>
                          <a:latin typeface="Microsoft YaHei"/>
                        </a:rPr>
                        <a:t>实验环境</a:t>
                      </a:r>
                    </a:p>
                  </a:txBody>
                  <a:tcPr marL="36576" marR="36576">
                    <a:solidFill>
                      <a:srgbClr val="FFFFFF"/>
                    </a:solidFill>
                  </a:tcPr>
                </a:tc>
                <a:tc>
                  <a:txBody>
                    <a:bodyPr/>
                    <a:lstStyle/>
                    <a:p>
                      <a:pPr algn="l"/>
                      <a:r>
                        <a:rPr sz="700" b="0">
                          <a:solidFill>
                            <a:srgbClr val="1F2933"/>
                          </a:solidFill>
                          <a:latin typeface="Microsoft YaHei"/>
                        </a:rPr>
                        <a:t>SQLite 内存数据库，自建订单分析数据集，模型为 gpt-5-mini</a:t>
                      </a:r>
                    </a:p>
                  </a:txBody>
                  <a:tcPr marL="36576" marR="36576">
                    <a:solidFill>
                      <a:srgbClr val="FFFFFF"/>
                    </a:solidFill>
                  </a:tcPr>
                </a:tc>
              </a:tr>
              <a:tr h="659674">
                <a:tc>
                  <a:txBody>
                    <a:bodyPr/>
                    <a:lstStyle/>
                    <a:p>
                      <a:pPr algn="l"/>
                      <a:r>
                        <a:rPr sz="700" b="0">
                          <a:solidFill>
                            <a:srgbClr val="1F2933"/>
                          </a:solidFill>
                          <a:latin typeface="Microsoft YaHei"/>
                        </a:rPr>
                        <a:t>样例规模</a:t>
                      </a:r>
                    </a:p>
                  </a:txBody>
                  <a:tcPr marL="36576" marR="36576">
                    <a:solidFill>
                      <a:srgbClr val="F6F8FA"/>
                    </a:solidFill>
                  </a:tcPr>
                </a:tc>
                <a:tc>
                  <a:txBody>
                    <a:bodyPr/>
                    <a:lstStyle/>
                    <a:p>
                      <a:pPr algn="l"/>
                      <a:r>
                        <a:rPr sz="700" b="0">
                          <a:solidFill>
                            <a:srgbClr val="1F2933"/>
                          </a:solidFill>
                          <a:latin typeface="Microsoft YaHei"/>
                        </a:rPr>
                        <a:t>30 条自然语言查询；13 条 SQL+ prompt v2 已知失败样例；14 条 Direct SQL 失败样例</a:t>
                      </a:r>
                    </a:p>
                  </a:txBody>
                  <a:tcPr marL="36576" marR="36576">
                    <a:solidFill>
                      <a:srgbClr val="F6F8FA"/>
                    </a:solidFill>
                  </a:tcPr>
                </a:tc>
              </a:tr>
              <a:tr h="659674">
                <a:tc>
                  <a:txBody>
                    <a:bodyPr/>
                    <a:lstStyle/>
                    <a:p>
                      <a:pPr algn="l"/>
                      <a:r>
                        <a:rPr sz="700" b="0">
                          <a:solidFill>
                            <a:srgbClr val="1F2933"/>
                          </a:solidFill>
                          <a:latin typeface="Microsoft YaHei"/>
                        </a:rPr>
                        <a:t>对比对象</a:t>
                      </a:r>
                    </a:p>
                  </a:txBody>
                  <a:tcPr marL="36576" marR="36576">
                    <a:solidFill>
                      <a:srgbClr val="FFFFFF"/>
                    </a:solidFill>
                  </a:tcPr>
                </a:tc>
                <a:tc>
                  <a:txBody>
                    <a:bodyPr/>
                    <a:lstStyle/>
                    <a:p>
                      <a:pPr algn="l"/>
                      <a:r>
                        <a:rPr sz="700" b="0">
                          <a:solidFill>
                            <a:srgbClr val="1F2933"/>
                          </a:solidFill>
                          <a:latin typeface="Microsoft YaHei"/>
                        </a:rPr>
                        <a:t>Direct SQL、NL2SQL+、SQL+、NatSQL-style proxy、SemQL-style proxy、Direct SQL Refiner、SQL+ Refiner、Router + Repair Skills</a:t>
                      </a:r>
                    </a:p>
                  </a:txBody>
                  <a:tcPr marL="36576" marR="36576">
                    <a:solidFill>
                      <a:srgbClr val="FFFFFF"/>
                    </a:solidFill>
                  </a:tcPr>
                </a:tc>
              </a:tr>
              <a:tr h="659676">
                <a:tc>
                  <a:txBody>
                    <a:bodyPr/>
                    <a:lstStyle/>
                    <a:p>
                      <a:pPr algn="l"/>
                      <a:r>
                        <a:rPr sz="700" b="0">
                          <a:solidFill>
                            <a:srgbClr val="1F2933"/>
                          </a:solidFill>
                          <a:latin typeface="Microsoft YaHei"/>
                        </a:rPr>
                        <a:t>评估指标</a:t>
                      </a:r>
                    </a:p>
                  </a:txBody>
                  <a:tcPr marL="36576" marR="36576">
                    <a:solidFill>
                      <a:srgbClr val="F6F8FA"/>
                    </a:solidFill>
                  </a:tcPr>
                </a:tc>
                <a:tc>
                  <a:txBody>
                    <a:bodyPr/>
                    <a:lstStyle/>
                    <a:p>
                      <a:pPr algn="l"/>
                      <a:r>
                        <a:rPr sz="700" b="0">
                          <a:solidFill>
                            <a:srgbClr val="1F2933"/>
                          </a:solidFill>
                          <a:latin typeface="Microsoft YaHei"/>
                        </a:rPr>
                        <a:t>execution match、valid rate、token、latency、alias dependency、cross-clause reference、repair success、patch minimality</a:t>
                      </a:r>
                    </a:p>
                  </a:txBody>
                  <a:tcPr marL="36576" marR="36576">
                    <a:solidFill>
                      <a:srgbClr val="F6F8FA"/>
                    </a:solidFill>
                  </a:tcPr>
                </a:tc>
              </a:tr>
            </a:tbl>
          </a:graphicData>
        </a:graphic>
      </p:graphicFrame>
      <p:sp>
        <p:nvSpPr>
          <p:cNvPr id="5" name="Rectangle 4"/>
          <p:cNvSpPr/>
          <p:nvPr/>
        </p:nvSpPr>
        <p:spPr>
          <a:xfrm>
            <a:off x="804672" y="5650992"/>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B22626"/>
                </a:solidFill>
                <a:latin typeface="Microsoft YaHei"/>
              </a:rPr>
              <a:t>动机测试先证明设计必要性，再进入系统架构。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动机测试二：实验过程</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7</a:t>
            </a:r>
          </a:p>
        </p:txBody>
      </p:sp>
      <p:graphicFrame>
        <p:nvGraphicFramePr>
          <p:cNvPr id="4" name="Table 3"/>
          <p:cNvGraphicFramePr>
            <a:graphicFrameLocks noGrp="1"/>
          </p:cNvGraphicFramePr>
          <p:nvPr/>
        </p:nvGraphicFramePr>
        <p:xfrm>
          <a:off x="411480" y="960120"/>
          <a:ext cx="8321040" cy="4434840"/>
        </p:xfrm>
        <a:graphic>
          <a:graphicData uri="http://schemas.openxmlformats.org/drawingml/2006/table">
            <a:tbl>
              <a:tblPr firstRow="1" bandRow="1">
                <a:tableStyleId>{5C22544A-7EE6-4342-B048-85BDC9FD1C3A}</a:tableStyleId>
              </a:tblPr>
              <a:tblGrid>
                <a:gridCol w="2773680"/>
                <a:gridCol w="2773680"/>
                <a:gridCol w="2773680"/>
              </a:tblGrid>
              <a:tr h="886968">
                <a:tc>
                  <a:txBody>
                    <a:bodyPr/>
                    <a:lstStyle/>
                    <a:p>
                      <a:pPr algn="ctr"/>
                      <a:r>
                        <a:rPr sz="800" b="1">
                          <a:solidFill>
                            <a:srgbClr val="FFFFFF"/>
                          </a:solidFill>
                          <a:latin typeface="Microsoft YaHei"/>
                        </a:rPr>
                        <a:t>步骤</a:t>
                      </a:r>
                    </a:p>
                  </a:txBody>
                  <a:tcPr marL="36576" marR="36576">
                    <a:solidFill>
                      <a:srgbClr val="18375C"/>
                    </a:solidFill>
                  </a:tcPr>
                </a:tc>
                <a:tc>
                  <a:txBody>
                    <a:bodyPr/>
                    <a:lstStyle/>
                    <a:p>
                      <a:pPr algn="ctr"/>
                      <a:r>
                        <a:rPr sz="800" b="1">
                          <a:solidFill>
                            <a:srgbClr val="FFFFFF"/>
                          </a:solidFill>
                          <a:latin typeface="Microsoft YaHei"/>
                        </a:rPr>
                        <a:t>具体做法</a:t>
                      </a:r>
                    </a:p>
                  </a:txBody>
                  <a:tcPr marL="36576" marR="36576">
                    <a:solidFill>
                      <a:srgbClr val="18375C"/>
                    </a:solidFill>
                  </a:tcPr>
                </a:tc>
                <a:tc>
                  <a:txBody>
                    <a:bodyPr/>
                    <a:lstStyle/>
                    <a:p>
                      <a:pPr algn="ctr"/>
                      <a:r>
                        <a:rPr sz="800" b="1">
                          <a:solidFill>
                            <a:srgbClr val="FFFFFF"/>
                          </a:solidFill>
                          <a:latin typeface="Microsoft YaHei"/>
                        </a:rPr>
                        <a:t>回答的问题</a:t>
                      </a:r>
                    </a:p>
                  </a:txBody>
                  <a:tcPr marL="36576" marR="36576">
                    <a:solidFill>
                      <a:srgbClr val="18375C"/>
                    </a:solidFill>
                  </a:tcPr>
                </a:tc>
              </a:tr>
              <a:tr h="886968">
                <a:tc>
                  <a:txBody>
                    <a:bodyPr/>
                    <a:lstStyle/>
                    <a:p>
                      <a:pPr algn="l"/>
                      <a:r>
                        <a:rPr sz="700" b="0">
                          <a:solidFill>
                            <a:srgbClr val="1F2933"/>
                          </a:solidFill>
                          <a:latin typeface="Microsoft YaHei"/>
                        </a:rPr>
                        <a:t>1 初次生成对比</a:t>
                      </a:r>
                    </a:p>
                  </a:txBody>
                  <a:tcPr marL="36576" marR="36576">
                    <a:solidFill>
                      <a:srgbClr val="FFFFFF"/>
                    </a:solidFill>
                  </a:tcPr>
                </a:tc>
                <a:tc>
                  <a:txBody>
                    <a:bodyPr/>
                    <a:lstStyle/>
                    <a:p>
                      <a:pPr algn="l"/>
                      <a:r>
                        <a:rPr sz="700" b="0">
                          <a:solidFill>
                            <a:srgbClr val="1F2933"/>
                          </a:solidFill>
                          <a:latin typeface="Microsoft YaHei"/>
                        </a:rPr>
                        <a:t>同一批 30 条问题和同一 schema，分别生成 Direct SQL 与 SQL+，转换后执行并对齐 gold 结果</a:t>
                      </a:r>
                    </a:p>
                  </a:txBody>
                  <a:tcPr marL="36576" marR="36576">
                    <a:solidFill>
                      <a:srgbClr val="FFFFFF"/>
                    </a:solidFill>
                  </a:tcPr>
                </a:tc>
                <a:tc>
                  <a:txBody>
                    <a:bodyPr/>
                    <a:lstStyle/>
                    <a:p>
                      <a:pPr algn="l"/>
                      <a:r>
                        <a:rPr sz="700" b="0">
                          <a:solidFill>
                            <a:srgbClr val="1F2933"/>
                          </a:solidFill>
                          <a:latin typeface="Microsoft YaHei"/>
                        </a:rPr>
                        <a:t>只换成 SQL+ 是否就能明显提升准确率</a:t>
                      </a:r>
                    </a:p>
                  </a:txBody>
                  <a:tcPr marL="36576" marR="36576">
                    <a:solidFill>
                      <a:srgbClr val="FFFFFF"/>
                    </a:solidFill>
                  </a:tcPr>
                </a:tc>
              </a:tr>
              <a:tr h="886968">
                <a:tc>
                  <a:txBody>
                    <a:bodyPr/>
                    <a:lstStyle/>
                    <a:p>
                      <a:pPr algn="l"/>
                      <a:r>
                        <a:rPr sz="700" b="0">
                          <a:solidFill>
                            <a:srgbClr val="1F2933"/>
                          </a:solidFill>
                          <a:latin typeface="Microsoft YaHei"/>
                        </a:rPr>
                        <a:t>2 表示复杂度对比</a:t>
                      </a:r>
                    </a:p>
                  </a:txBody>
                  <a:tcPr marL="36576" marR="36576">
                    <a:solidFill>
                      <a:srgbClr val="F6F8FA"/>
                    </a:solidFill>
                  </a:tcPr>
                </a:tc>
                <a:tc>
                  <a:txBody>
                    <a:bodyPr/>
                    <a:lstStyle/>
                    <a:p>
                      <a:pPr algn="l"/>
                      <a:r>
                        <a:rPr sz="700" b="0">
                          <a:solidFill>
                            <a:srgbClr val="1F2933"/>
                          </a:solidFill>
                          <a:latin typeface="Microsoft YaHei"/>
                        </a:rPr>
                        <a:t>把同一批 gold 查询整理成 SQL、SQL+、SemQL-style、NatSQL-style、Pipe-style，统计 token、别名依赖和跨子句引用</a:t>
                      </a:r>
                    </a:p>
                  </a:txBody>
                  <a:tcPr marL="36576" marR="36576">
                    <a:solidFill>
                      <a:srgbClr val="F6F8FA"/>
                    </a:solidFill>
                  </a:tcPr>
                </a:tc>
                <a:tc>
                  <a:txBody>
                    <a:bodyPr/>
                    <a:lstStyle/>
                    <a:p>
                      <a:pPr algn="l"/>
                      <a:r>
                        <a:rPr sz="700" b="0">
                          <a:solidFill>
                            <a:srgbClr val="1F2933"/>
                          </a:solidFill>
                          <a:latin typeface="Microsoft YaHei"/>
                        </a:rPr>
                        <a:t>SQL+ 的优势是不是来自更短表达</a:t>
                      </a:r>
                    </a:p>
                  </a:txBody>
                  <a:tcPr marL="36576" marR="36576">
                    <a:solidFill>
                      <a:srgbClr val="F6F8FA"/>
                    </a:solidFill>
                  </a:tcPr>
                </a:tc>
              </a:tr>
              <a:tr h="886968">
                <a:tc>
                  <a:txBody>
                    <a:bodyPr/>
                    <a:lstStyle/>
                    <a:p>
                      <a:pPr algn="l"/>
                      <a:r>
                        <a:rPr sz="700" b="0">
                          <a:solidFill>
                            <a:srgbClr val="1F2933"/>
                          </a:solidFill>
                          <a:latin typeface="Microsoft YaHei"/>
                        </a:rPr>
                        <a:t>3 生成成本对比</a:t>
                      </a:r>
                    </a:p>
                  </a:txBody>
                  <a:tcPr marL="36576" marR="36576">
                    <a:solidFill>
                      <a:srgbClr val="FFFFFF"/>
                    </a:solidFill>
                  </a:tcPr>
                </a:tc>
                <a:tc>
                  <a:txBody>
                    <a:bodyPr/>
                    <a:lstStyle/>
                    <a:p>
                      <a:pPr algn="l"/>
                      <a:r>
                        <a:rPr sz="700" b="0">
                          <a:solidFill>
                            <a:srgbClr val="1F2933"/>
                          </a:solidFill>
                          <a:latin typeface="Microsoft YaHei"/>
                        </a:rPr>
                        <a:t>用同一模型生成多种目标表示，记录 valid rate、execution match、总 token 和平均延迟</a:t>
                      </a:r>
                    </a:p>
                  </a:txBody>
                  <a:tcPr marL="36576" marR="36576">
                    <a:solidFill>
                      <a:srgbClr val="FFFFFF"/>
                    </a:solidFill>
                  </a:tcPr>
                </a:tc>
                <a:tc>
                  <a:txBody>
                    <a:bodyPr/>
                    <a:lstStyle/>
                    <a:p>
                      <a:pPr algn="l"/>
                      <a:r>
                        <a:rPr sz="700" b="0">
                          <a:solidFill>
                            <a:srgbClr val="1F2933"/>
                          </a:solidFill>
                          <a:latin typeface="Microsoft YaHei"/>
                        </a:rPr>
                        <a:t>SQL+ 是否有额外生成成本</a:t>
                      </a:r>
                    </a:p>
                  </a:txBody>
                  <a:tcPr marL="36576" marR="36576">
                    <a:solidFill>
                      <a:srgbClr val="FFFFFF"/>
                    </a:solidFill>
                  </a:tcPr>
                </a:tc>
              </a:tr>
              <a:tr h="886968">
                <a:tc>
                  <a:txBody>
                    <a:bodyPr/>
                    <a:lstStyle/>
                    <a:p>
                      <a:pPr algn="l"/>
                      <a:r>
                        <a:rPr sz="700" b="0">
                          <a:solidFill>
                            <a:srgbClr val="1F2933"/>
                          </a:solidFill>
                          <a:latin typeface="Microsoft YaHei"/>
                        </a:rPr>
                        <a:t>4 修复策略对比</a:t>
                      </a:r>
                    </a:p>
                  </a:txBody>
                  <a:tcPr marL="36576" marR="36576">
                    <a:solidFill>
                      <a:srgbClr val="F6F8FA"/>
                    </a:solidFill>
                  </a:tcPr>
                </a:tc>
                <a:tc>
                  <a:txBody>
                    <a:bodyPr/>
                    <a:lstStyle/>
                    <a:p>
                      <a:pPr algn="l"/>
                      <a:r>
                        <a:rPr sz="700" b="0">
                          <a:solidFill>
                            <a:srgbClr val="1F2933"/>
                          </a:solidFill>
                          <a:latin typeface="Microsoft YaHei"/>
                        </a:rPr>
                        <a:t>收集失败输出，分别交给 SQL+ Refiner、Direct SQL Refiner、Critic-Refiner 和 Router + Repair Skills 修复</a:t>
                      </a:r>
                    </a:p>
                  </a:txBody>
                  <a:tcPr marL="36576" marR="36576">
                    <a:solidFill>
                      <a:srgbClr val="F6F8FA"/>
                    </a:solidFill>
                  </a:tcPr>
                </a:tc>
                <a:tc>
                  <a:txBody>
                    <a:bodyPr/>
                    <a:lstStyle/>
                    <a:p>
                      <a:pPr algn="l"/>
                      <a:r>
                        <a:rPr sz="700" b="0">
                          <a:solidFill>
                            <a:srgbClr val="1F2933"/>
                          </a:solidFill>
                          <a:latin typeface="Microsoft YaHei"/>
                        </a:rPr>
                        <a:t>多 Agent 与局部 repair skill 是否必要</a:t>
                      </a:r>
                    </a:p>
                  </a:txBody>
                  <a:tcPr marL="36576" marR="36576">
                    <a:solidFill>
                      <a:srgbClr val="F6F8FA"/>
                    </a:solidFill>
                  </a:tcPr>
                </a:tc>
              </a:tr>
            </a:tbl>
          </a:graphicData>
        </a:graphic>
      </p:graphicFrame>
      <p:sp>
        <p:nvSpPr>
          <p:cNvPr id="5" name="Rectangle 4"/>
          <p:cNvSpPr/>
          <p:nvPr/>
        </p:nvSpPr>
        <p:spPr>
          <a:xfrm>
            <a:off x="804672" y="5596128"/>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B22626"/>
                </a:solidFill>
                <a:latin typeface="Microsoft YaHei"/>
              </a:rPr>
              <a:t>实验过程围绕一个问题展开：SQL+ 和多 Agent 是否真的让错误更容易被修。</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动机测试三：结果表一，为什么设计 SQL+</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8</a:t>
            </a:r>
          </a:p>
        </p:txBody>
      </p:sp>
      <p:graphicFrame>
        <p:nvGraphicFramePr>
          <p:cNvPr id="4" name="Table 3"/>
          <p:cNvGraphicFramePr>
            <a:graphicFrameLocks noGrp="1"/>
          </p:cNvGraphicFramePr>
          <p:nvPr/>
        </p:nvGraphicFramePr>
        <p:xfrm>
          <a:off x="411480" y="960120"/>
          <a:ext cx="8321040" cy="4343400"/>
        </p:xfrm>
        <a:graphic>
          <a:graphicData uri="http://schemas.openxmlformats.org/drawingml/2006/table">
            <a:tbl>
              <a:tblPr firstRow="1" bandRow="1">
                <a:tableStyleId>{5C22544A-7EE6-4342-B048-85BDC9FD1C3A}</a:tableStyleId>
              </a:tblPr>
              <a:tblGrid>
                <a:gridCol w="2773680"/>
                <a:gridCol w="2773680"/>
                <a:gridCol w="2773680"/>
              </a:tblGrid>
              <a:tr h="868680">
                <a:tc>
                  <a:txBody>
                    <a:bodyPr/>
                    <a:lstStyle/>
                    <a:p>
                      <a:pPr algn="ctr"/>
                      <a:r>
                        <a:rPr sz="900" b="1">
                          <a:solidFill>
                            <a:srgbClr val="FFFFFF"/>
                          </a:solidFill>
                          <a:latin typeface="Microsoft YaHei"/>
                        </a:rPr>
                        <a:t>测试项</a:t>
                      </a:r>
                    </a:p>
                  </a:txBody>
                  <a:tcPr marL="36576" marR="36576">
                    <a:solidFill>
                      <a:srgbClr val="18375C"/>
                    </a:solidFill>
                  </a:tcPr>
                </a:tc>
                <a:tc>
                  <a:txBody>
                    <a:bodyPr/>
                    <a:lstStyle/>
                    <a:p>
                      <a:pPr algn="ctr"/>
                      <a:r>
                        <a:rPr sz="900" b="1">
                          <a:solidFill>
                            <a:srgbClr val="FFFFFF"/>
                          </a:solidFill>
                          <a:latin typeface="Microsoft YaHei"/>
                        </a:rPr>
                        <a:t>关键结果</a:t>
                      </a:r>
                    </a:p>
                  </a:txBody>
                  <a:tcPr marL="36576" marR="36576">
                    <a:solidFill>
                      <a:srgbClr val="18375C"/>
                    </a:solidFill>
                  </a:tcPr>
                </a:tc>
                <a:tc>
                  <a:txBody>
                    <a:bodyPr/>
                    <a:lstStyle/>
                    <a:p>
                      <a:pPr algn="ctr"/>
                      <a:r>
                        <a:rPr sz="900" b="1">
                          <a:solidFill>
                            <a:srgbClr val="FFFFFF"/>
                          </a:solidFill>
                          <a:latin typeface="Microsoft YaHei"/>
                        </a:rPr>
                        <a:t>结果分析</a:t>
                      </a:r>
                    </a:p>
                  </a:txBody>
                  <a:tcPr marL="36576" marR="36576">
                    <a:solidFill>
                      <a:srgbClr val="18375C"/>
                    </a:solidFill>
                  </a:tcPr>
                </a:tc>
              </a:tr>
              <a:tr h="868680">
                <a:tc>
                  <a:txBody>
                    <a:bodyPr/>
                    <a:lstStyle/>
                    <a:p>
                      <a:pPr algn="l"/>
                      <a:r>
                        <a:rPr sz="800" b="0">
                          <a:solidFill>
                            <a:srgbClr val="1F2933"/>
                          </a:solidFill>
                          <a:latin typeface="Microsoft YaHei"/>
                        </a:rPr>
                        <a:t>Baseline</a:t>
                      </a:r>
                    </a:p>
                  </a:txBody>
                  <a:tcPr marL="36576" marR="36576">
                    <a:solidFill>
                      <a:srgbClr val="FFFFFF"/>
                    </a:solidFill>
                  </a:tcPr>
                </a:tc>
                <a:tc>
                  <a:txBody>
                    <a:bodyPr/>
                    <a:lstStyle/>
                    <a:p>
                      <a:pPr algn="l"/>
                      <a:r>
                        <a:rPr sz="800" b="0">
                          <a:solidFill>
                            <a:srgbClr val="1F2933"/>
                          </a:solidFill>
                          <a:latin typeface="Microsoft YaHei"/>
                        </a:rPr>
                        <a:t>Direct SQL 16/30；NL2SQL+ prompt v2 17/30</a:t>
                      </a:r>
                    </a:p>
                  </a:txBody>
                  <a:tcPr marL="36576" marR="36576">
                    <a:solidFill>
                      <a:srgbClr val="FFFFFF"/>
                    </a:solidFill>
                  </a:tcPr>
                </a:tc>
                <a:tc>
                  <a:txBody>
                    <a:bodyPr/>
                    <a:lstStyle/>
                    <a:p>
                      <a:pPr algn="l"/>
                      <a:r>
                        <a:rPr sz="800" b="0">
                          <a:solidFill>
                            <a:srgbClr val="1F2933"/>
                          </a:solidFill>
                          <a:latin typeface="Microsoft YaHei"/>
                        </a:rPr>
                        <a:t>只换输出格式提升很小，SQL+ 不能只靠初次生成准确率立论</a:t>
                      </a:r>
                    </a:p>
                  </a:txBody>
                  <a:tcPr marL="36576" marR="36576">
                    <a:solidFill>
                      <a:srgbClr val="FFFFFF"/>
                    </a:solidFill>
                  </a:tcPr>
                </a:tc>
              </a:tr>
              <a:tr h="868680">
                <a:tc>
                  <a:txBody>
                    <a:bodyPr/>
                    <a:lstStyle/>
                    <a:p>
                      <a:pPr algn="l"/>
                      <a:r>
                        <a:rPr sz="800" b="0">
                          <a:solidFill>
                            <a:srgbClr val="1F2933"/>
                          </a:solidFill>
                          <a:latin typeface="Microsoft YaHei"/>
                        </a:rPr>
                        <a:t>IR 复杂度</a:t>
                      </a:r>
                    </a:p>
                  </a:txBody>
                  <a:tcPr marL="36576" marR="36576">
                    <a:solidFill>
                      <a:srgbClr val="F6F8FA"/>
                    </a:solidFill>
                  </a:tcPr>
                </a:tc>
                <a:tc>
                  <a:txBody>
                    <a:bodyPr/>
                    <a:lstStyle/>
                    <a:p>
                      <a:pPr algn="l"/>
                      <a:r>
                        <a:rPr sz="800" b="0">
                          <a:solidFill>
                            <a:srgbClr val="1F2933"/>
                          </a:solidFill>
                          <a:latin typeface="Microsoft YaHei"/>
                        </a:rPr>
                        <a:t>SQL+ 平均 token 35.0333，高于 Standard SQL 31.5333</a:t>
                      </a:r>
                    </a:p>
                  </a:txBody>
                  <a:tcPr marL="36576" marR="36576">
                    <a:solidFill>
                      <a:srgbClr val="F6F8FA"/>
                    </a:solidFill>
                  </a:tcPr>
                </a:tc>
                <a:tc>
                  <a:txBody>
                    <a:bodyPr/>
                    <a:lstStyle/>
                    <a:p>
                      <a:pPr algn="l"/>
                      <a:r>
                        <a:rPr sz="800" b="0">
                          <a:solidFill>
                            <a:srgbClr val="1F2933"/>
                          </a:solidFill>
                          <a:latin typeface="Microsoft YaHei"/>
                        </a:rPr>
                        <a:t>SQL+ 不是更短的表示，不能用压缩长度解释价值</a:t>
                      </a:r>
                    </a:p>
                  </a:txBody>
                  <a:tcPr marL="36576" marR="36576">
                    <a:solidFill>
                      <a:srgbClr val="F6F8FA"/>
                    </a:solidFill>
                  </a:tcPr>
                </a:tc>
              </a:tr>
              <a:tr h="868680">
                <a:tc>
                  <a:txBody>
                    <a:bodyPr/>
                    <a:lstStyle/>
                    <a:p>
                      <a:pPr algn="l"/>
                      <a:r>
                        <a:rPr sz="800" b="0">
                          <a:solidFill>
                            <a:srgbClr val="1F2933"/>
                          </a:solidFill>
                          <a:latin typeface="Microsoft YaHei"/>
                        </a:rPr>
                        <a:t>结构依赖</a:t>
                      </a:r>
                    </a:p>
                  </a:txBody>
                  <a:tcPr marL="36576" marR="36576">
                    <a:solidFill>
                      <a:srgbClr val="FFFFFF"/>
                    </a:solidFill>
                  </a:tcPr>
                </a:tc>
                <a:tc>
                  <a:txBody>
                    <a:bodyPr/>
                    <a:lstStyle/>
                    <a:p>
                      <a:pPr algn="l"/>
                      <a:r>
                        <a:rPr sz="800" b="0">
                          <a:solidFill>
                            <a:srgbClr val="1F2933"/>
                          </a:solidFill>
                          <a:latin typeface="Microsoft YaHei"/>
                        </a:rPr>
                        <a:t>SQL+ alias dependency 0.7，cross-clause reference 1.0；SQL 分别为 2.0333 和 2.3333</a:t>
                      </a:r>
                    </a:p>
                  </a:txBody>
                  <a:tcPr marL="36576" marR="36576">
                    <a:solidFill>
                      <a:srgbClr val="FFFFFF"/>
                    </a:solidFill>
                  </a:tcPr>
                </a:tc>
                <a:tc>
                  <a:txBody>
                    <a:bodyPr/>
                    <a:lstStyle/>
                    <a:p>
                      <a:pPr algn="l"/>
                      <a:r>
                        <a:rPr sz="800" b="0">
                          <a:solidFill>
                            <a:srgbClr val="1F2933"/>
                          </a:solidFill>
                          <a:latin typeface="Microsoft YaHei"/>
                        </a:rPr>
                        <a:t>SQL+ 的优势在于步骤边界更清楚，跨区域耦合更少</a:t>
                      </a:r>
                    </a:p>
                  </a:txBody>
                  <a:tcPr marL="36576" marR="36576">
                    <a:solidFill>
                      <a:srgbClr val="FFFFFF"/>
                    </a:solidFill>
                  </a:tcPr>
                </a:tc>
              </a:tr>
              <a:tr h="868680">
                <a:tc>
                  <a:txBody>
                    <a:bodyPr/>
                    <a:lstStyle/>
                    <a:p>
                      <a:pPr algn="l"/>
                      <a:r>
                        <a:rPr sz="800" b="0">
                          <a:solidFill>
                            <a:srgbClr val="1F2933"/>
                          </a:solidFill>
                          <a:latin typeface="Microsoft YaHei"/>
                        </a:rPr>
                        <a:t>生成成本</a:t>
                      </a:r>
                    </a:p>
                  </a:txBody>
                  <a:tcPr marL="36576" marR="36576">
                    <a:solidFill>
                      <a:srgbClr val="F6F8FA"/>
                    </a:solidFill>
                  </a:tcPr>
                </a:tc>
                <a:tc>
                  <a:txBody>
                    <a:bodyPr/>
                    <a:lstStyle/>
                    <a:p>
                      <a:pPr algn="l"/>
                      <a:r>
                        <a:rPr sz="800" b="0">
                          <a:solidFill>
                            <a:srgbClr val="1F2933"/>
                          </a:solidFill>
                          <a:latin typeface="Microsoft YaHei"/>
                        </a:rPr>
                        <a:t>SQL+ execution match 14/30，平均 813.0333 tokens，9.2197s</a:t>
                      </a:r>
                    </a:p>
                  </a:txBody>
                  <a:tcPr marL="36576" marR="36576">
                    <a:solidFill>
                      <a:srgbClr val="F6F8FA"/>
                    </a:solidFill>
                  </a:tcPr>
                </a:tc>
                <a:tc>
                  <a:txBody>
                    <a:bodyPr/>
                    <a:lstStyle/>
                    <a:p>
                      <a:pPr algn="l"/>
                      <a:r>
                        <a:rPr sz="800" b="0">
                          <a:solidFill>
                            <a:srgbClr val="1F2933"/>
                          </a:solidFill>
                          <a:latin typeface="Microsoft YaHei"/>
                        </a:rPr>
                        <a:t>SQL+ 有成本，必须在修复阶段体现收益</a:t>
                      </a:r>
                    </a:p>
                  </a:txBody>
                  <a:tcPr marL="36576" marR="36576">
                    <a:solidFill>
                      <a:srgbClr val="F6F8FA"/>
                    </a:solidFill>
                  </a:tcPr>
                </a:tc>
              </a:tr>
            </a:tbl>
          </a:graphicData>
        </a:graphic>
      </p:graphicFrame>
      <p:sp>
        <p:nvSpPr>
          <p:cNvPr id="5" name="Rectangle 4"/>
          <p:cNvSpPr/>
          <p:nvPr/>
        </p:nvSpPr>
        <p:spPr>
          <a:xfrm>
            <a:off x="804672" y="5541264"/>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B22626"/>
                </a:solidFill>
                <a:latin typeface="Microsoft YaHei"/>
              </a:rPr>
              <a:t>结论：SQL+ 不是为了更短，而是为了把错误落到可定位、可修改的步骤上。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动机测试四：结果表二，为什么使用多 Agent</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9</a:t>
            </a:r>
          </a:p>
        </p:txBody>
      </p:sp>
      <p:graphicFrame>
        <p:nvGraphicFramePr>
          <p:cNvPr id="4" name="Table 3"/>
          <p:cNvGraphicFramePr>
            <a:graphicFrameLocks noGrp="1"/>
          </p:cNvGraphicFramePr>
          <p:nvPr/>
        </p:nvGraphicFramePr>
        <p:xfrm>
          <a:off x="411480" y="914400"/>
          <a:ext cx="8321040" cy="4553712"/>
        </p:xfrm>
        <a:graphic>
          <a:graphicData uri="http://schemas.openxmlformats.org/drawingml/2006/table">
            <a:tbl>
              <a:tblPr firstRow="1" bandRow="1">
                <a:tableStyleId>{5C22544A-7EE6-4342-B048-85BDC9FD1C3A}</a:tableStyleId>
              </a:tblPr>
              <a:tblGrid>
                <a:gridCol w="2080260"/>
                <a:gridCol w="2080260"/>
                <a:gridCol w="2080260"/>
                <a:gridCol w="2080260"/>
              </a:tblGrid>
              <a:tr h="758952">
                <a:tc>
                  <a:txBody>
                    <a:bodyPr/>
                    <a:lstStyle/>
                    <a:p>
                      <a:pPr algn="ctr"/>
                      <a:r>
                        <a:rPr sz="800" b="1">
                          <a:solidFill>
                            <a:srgbClr val="FFFFFF"/>
                          </a:solidFill>
                          <a:latin typeface="Microsoft YaHei"/>
                        </a:rPr>
                        <a:t>方法</a:t>
                      </a:r>
                    </a:p>
                  </a:txBody>
                  <a:tcPr marL="36576" marR="36576">
                    <a:solidFill>
                      <a:srgbClr val="18375C"/>
                    </a:solidFill>
                  </a:tcPr>
                </a:tc>
                <a:tc>
                  <a:txBody>
                    <a:bodyPr/>
                    <a:lstStyle/>
                    <a:p>
                      <a:pPr algn="ctr"/>
                      <a:r>
                        <a:rPr sz="800" b="1">
                          <a:solidFill>
                            <a:srgbClr val="FFFFFF"/>
                          </a:solidFill>
                          <a:latin typeface="Microsoft YaHei"/>
                        </a:rPr>
                        <a:t>样例</a:t>
                      </a:r>
                    </a:p>
                  </a:txBody>
                  <a:tcPr marL="36576" marR="36576">
                    <a:solidFill>
                      <a:srgbClr val="18375C"/>
                    </a:solidFill>
                  </a:tcPr>
                </a:tc>
                <a:tc>
                  <a:txBody>
                    <a:bodyPr/>
                    <a:lstStyle/>
                    <a:p>
                      <a:pPr algn="ctr"/>
                      <a:r>
                        <a:rPr sz="800" b="1">
                          <a:solidFill>
                            <a:srgbClr val="FFFFFF"/>
                          </a:solidFill>
                          <a:latin typeface="Microsoft YaHei"/>
                        </a:rPr>
                        <a:t>修复结果</a:t>
                      </a:r>
                    </a:p>
                  </a:txBody>
                  <a:tcPr marL="36576" marR="36576">
                    <a:solidFill>
                      <a:srgbClr val="18375C"/>
                    </a:solidFill>
                  </a:tcPr>
                </a:tc>
                <a:tc>
                  <a:txBody>
                    <a:bodyPr/>
                    <a:lstStyle/>
                    <a:p>
                      <a:pPr algn="ctr"/>
                      <a:r>
                        <a:rPr sz="800" b="1">
                          <a:solidFill>
                            <a:srgbClr val="FFFFFF"/>
                          </a:solidFill>
                          <a:latin typeface="Microsoft YaHei"/>
                        </a:rPr>
                        <a:t>结果分析</a:t>
                      </a:r>
                    </a:p>
                  </a:txBody>
                  <a:tcPr marL="36576" marR="36576">
                    <a:solidFill>
                      <a:srgbClr val="18375C"/>
                    </a:solidFill>
                  </a:tcPr>
                </a:tc>
              </a:tr>
              <a:tr h="758952">
                <a:tc>
                  <a:txBody>
                    <a:bodyPr/>
                    <a:lstStyle/>
                    <a:p>
                      <a:pPr algn="l"/>
                      <a:r>
                        <a:rPr sz="700" b="0">
                          <a:solidFill>
                            <a:srgbClr val="1F2933"/>
                          </a:solidFill>
                          <a:latin typeface="Microsoft YaHei"/>
                        </a:rPr>
                        <a:t>SQL+ non-gold Refiner v2</a:t>
                      </a:r>
                    </a:p>
                  </a:txBody>
                  <a:tcPr marL="36576" marR="36576">
                    <a:solidFill>
                      <a:srgbClr val="FFFFFF"/>
                    </a:solidFill>
                  </a:tcPr>
                </a:tc>
                <a:tc>
                  <a:txBody>
                    <a:bodyPr/>
                    <a:lstStyle/>
                    <a:p>
                      <a:pPr algn="l"/>
                      <a:r>
                        <a:rPr sz="700" b="0">
                          <a:solidFill>
                            <a:srgbClr val="1F2933"/>
                          </a:solidFill>
                          <a:latin typeface="Microsoft YaHei"/>
                        </a:rPr>
                        <a:t>13 条 SQL+ 已知失败样例</a:t>
                      </a:r>
                    </a:p>
                  </a:txBody>
                  <a:tcPr marL="36576" marR="36576">
                    <a:solidFill>
                      <a:srgbClr val="FFFFFF"/>
                    </a:solidFill>
                  </a:tcPr>
                </a:tc>
                <a:tc>
                  <a:txBody>
                    <a:bodyPr/>
                    <a:lstStyle/>
                    <a:p>
                      <a:pPr algn="l"/>
                      <a:r>
                        <a:rPr sz="700" b="0">
                          <a:solidFill>
                            <a:srgbClr val="1F2933"/>
                          </a:solidFill>
                          <a:latin typeface="Microsoft YaHei"/>
                        </a:rPr>
                        <a:t>4/13</a:t>
                      </a:r>
                    </a:p>
                  </a:txBody>
                  <a:tcPr marL="36576" marR="36576">
                    <a:solidFill>
                      <a:srgbClr val="FFFFFF"/>
                    </a:solidFill>
                  </a:tcPr>
                </a:tc>
                <a:tc>
                  <a:txBody>
                    <a:bodyPr/>
                    <a:lstStyle/>
                    <a:p>
                      <a:pPr algn="l"/>
                      <a:r>
                        <a:rPr sz="700" b="0">
                          <a:solidFill>
                            <a:srgbClr val="1F2933"/>
                          </a:solidFill>
                          <a:latin typeface="Microsoft YaHei"/>
                        </a:rPr>
                        <a:t>粗粒度反馈不足，模型容易改不到关键步骤</a:t>
                      </a:r>
                    </a:p>
                  </a:txBody>
                  <a:tcPr marL="36576" marR="36576">
                    <a:solidFill>
                      <a:srgbClr val="FFFFFF"/>
                    </a:solidFill>
                  </a:tcPr>
                </a:tc>
              </a:tr>
              <a:tr h="758952">
                <a:tc>
                  <a:txBody>
                    <a:bodyPr/>
                    <a:lstStyle/>
                    <a:p>
                      <a:pPr algn="l"/>
                      <a:r>
                        <a:rPr sz="700" b="0">
                          <a:solidFill>
                            <a:srgbClr val="1F2933"/>
                          </a:solidFill>
                          <a:latin typeface="Microsoft YaHei"/>
                        </a:rPr>
                        <a:t>Direct SQL non-gold Refiner</a:t>
                      </a:r>
                    </a:p>
                  </a:txBody>
                  <a:tcPr marL="36576" marR="36576">
                    <a:solidFill>
                      <a:srgbClr val="F6F8FA"/>
                    </a:solidFill>
                  </a:tcPr>
                </a:tc>
                <a:tc>
                  <a:txBody>
                    <a:bodyPr/>
                    <a:lstStyle/>
                    <a:p>
                      <a:pPr algn="l"/>
                      <a:r>
                        <a:rPr sz="700" b="0">
                          <a:solidFill>
                            <a:srgbClr val="1F2933"/>
                          </a:solidFill>
                          <a:latin typeface="Microsoft YaHei"/>
                        </a:rPr>
                        <a:t>14 条 Direct SQL 失败样例</a:t>
                      </a:r>
                    </a:p>
                  </a:txBody>
                  <a:tcPr marL="36576" marR="36576">
                    <a:solidFill>
                      <a:srgbClr val="F6F8FA"/>
                    </a:solidFill>
                  </a:tcPr>
                </a:tc>
                <a:tc>
                  <a:txBody>
                    <a:bodyPr/>
                    <a:lstStyle/>
                    <a:p>
                      <a:pPr algn="l"/>
                      <a:r>
                        <a:rPr sz="700" b="0">
                          <a:solidFill>
                            <a:srgbClr val="1F2933"/>
                          </a:solidFill>
                          <a:latin typeface="Microsoft YaHei"/>
                        </a:rPr>
                        <a:t>6/14</a:t>
                      </a:r>
                    </a:p>
                  </a:txBody>
                  <a:tcPr marL="36576" marR="36576">
                    <a:solidFill>
                      <a:srgbClr val="F6F8FA"/>
                    </a:solidFill>
                  </a:tcPr>
                </a:tc>
                <a:tc>
                  <a:txBody>
                    <a:bodyPr/>
                    <a:lstStyle/>
                    <a:p>
                      <a:pPr algn="l"/>
                      <a:r>
                        <a:rPr sz="700" b="0">
                          <a:solidFill>
                            <a:srgbClr val="1F2933"/>
                          </a:solidFill>
                          <a:latin typeface="Microsoft YaHei"/>
                        </a:rPr>
                        <a:t>整条 SQL 修复能工作，但修改范围不稳定，解释性较弱</a:t>
                      </a:r>
                    </a:p>
                  </a:txBody>
                  <a:tcPr marL="36576" marR="36576">
                    <a:solidFill>
                      <a:srgbClr val="F6F8FA"/>
                    </a:solidFill>
                  </a:tcPr>
                </a:tc>
              </a:tr>
              <a:tr h="758952">
                <a:tc>
                  <a:txBody>
                    <a:bodyPr/>
                    <a:lstStyle/>
                    <a:p>
                      <a:pPr algn="l"/>
                      <a:r>
                        <a:rPr sz="700" b="0">
                          <a:solidFill>
                            <a:srgbClr val="1F2933"/>
                          </a:solidFill>
                          <a:latin typeface="Microsoft YaHei"/>
                        </a:rPr>
                        <a:t>Schema-Critic-Refiner</a:t>
                      </a:r>
                    </a:p>
                  </a:txBody>
                  <a:tcPr marL="36576" marR="36576">
                    <a:solidFill>
                      <a:srgbClr val="FFFFFF"/>
                    </a:solidFill>
                  </a:tcPr>
                </a:tc>
                <a:tc>
                  <a:txBody>
                    <a:bodyPr/>
                    <a:lstStyle/>
                    <a:p>
                      <a:pPr algn="l"/>
                      <a:r>
                        <a:rPr sz="700" b="0">
                          <a:solidFill>
                            <a:srgbClr val="1F2933"/>
                          </a:solidFill>
                          <a:latin typeface="Microsoft YaHei"/>
                        </a:rPr>
                        <a:t>13 条 SQL+ 已知失败样例</a:t>
                      </a:r>
                    </a:p>
                  </a:txBody>
                  <a:tcPr marL="36576" marR="36576">
                    <a:solidFill>
                      <a:srgbClr val="FFFFFF"/>
                    </a:solidFill>
                  </a:tcPr>
                </a:tc>
                <a:tc>
                  <a:txBody>
                    <a:bodyPr/>
                    <a:lstStyle/>
                    <a:p>
                      <a:pPr algn="l"/>
                      <a:r>
                        <a:rPr sz="700" b="0">
                          <a:solidFill>
                            <a:srgbClr val="1F2933"/>
                          </a:solidFill>
                          <a:latin typeface="Microsoft YaHei"/>
                        </a:rPr>
                        <a:t>3/13</a:t>
                      </a:r>
                    </a:p>
                  </a:txBody>
                  <a:tcPr marL="36576" marR="36576">
                    <a:solidFill>
                      <a:srgbClr val="FFFFFF"/>
                    </a:solidFill>
                  </a:tcPr>
                </a:tc>
                <a:tc>
                  <a:txBody>
                    <a:bodyPr/>
                    <a:lstStyle/>
                    <a:p>
                      <a:pPr algn="l"/>
                      <a:r>
                        <a:rPr sz="700" b="0">
                          <a:solidFill>
                            <a:srgbClr val="1F2933"/>
                          </a:solidFill>
                          <a:latin typeface="Microsoft YaHei"/>
                        </a:rPr>
                        <a:t>先诊断再重写不一定有效，诊断没有转化为明确 repair 动作</a:t>
                      </a:r>
                    </a:p>
                  </a:txBody>
                  <a:tcPr marL="36576" marR="36576">
                    <a:solidFill>
                      <a:srgbClr val="FFFFFF"/>
                    </a:solidFill>
                  </a:tcPr>
                </a:tc>
              </a:tr>
              <a:tr h="758952">
                <a:tc>
                  <a:txBody>
                    <a:bodyPr/>
                    <a:lstStyle/>
                    <a:p>
                      <a:pPr algn="l"/>
                      <a:r>
                        <a:rPr sz="700" b="0">
                          <a:solidFill>
                            <a:srgbClr val="1F2933"/>
                          </a:solidFill>
                          <a:latin typeface="Microsoft YaHei"/>
                        </a:rPr>
                        <a:t>Step-wise Critic-Refiner</a:t>
                      </a:r>
                    </a:p>
                  </a:txBody>
                  <a:tcPr marL="36576" marR="36576">
                    <a:solidFill>
                      <a:srgbClr val="F6F8FA"/>
                    </a:solidFill>
                  </a:tcPr>
                </a:tc>
                <a:tc>
                  <a:txBody>
                    <a:bodyPr/>
                    <a:lstStyle/>
                    <a:p>
                      <a:pPr algn="l"/>
                      <a:r>
                        <a:rPr sz="700" b="0">
                          <a:solidFill>
                            <a:srgbClr val="1F2933"/>
                          </a:solidFill>
                          <a:latin typeface="Microsoft YaHei"/>
                        </a:rPr>
                        <a:t>13 条 SQL+ 已知失败样例</a:t>
                      </a:r>
                    </a:p>
                  </a:txBody>
                  <a:tcPr marL="36576" marR="36576">
                    <a:solidFill>
                      <a:srgbClr val="F6F8FA"/>
                    </a:solidFill>
                  </a:tcPr>
                </a:tc>
                <a:tc>
                  <a:txBody>
                    <a:bodyPr/>
                    <a:lstStyle/>
                    <a:p>
                      <a:pPr algn="l"/>
                      <a:r>
                        <a:rPr sz="700" b="0">
                          <a:solidFill>
                            <a:srgbClr val="1F2933"/>
                          </a:solidFill>
                          <a:latin typeface="Microsoft YaHei"/>
                        </a:rPr>
                        <a:t>3/13</a:t>
                      </a:r>
                    </a:p>
                  </a:txBody>
                  <a:tcPr marL="36576" marR="36576">
                    <a:solidFill>
                      <a:srgbClr val="F6F8FA"/>
                    </a:solidFill>
                  </a:tcPr>
                </a:tc>
                <a:tc>
                  <a:txBody>
                    <a:bodyPr/>
                    <a:lstStyle/>
                    <a:p>
                      <a:pPr algn="l"/>
                      <a:r>
                        <a:rPr sz="700" b="0">
                          <a:solidFill>
                            <a:srgbClr val="1F2933"/>
                          </a:solidFill>
                          <a:latin typeface="Microsoft YaHei"/>
                        </a:rPr>
                        <a:t>步骤级诊断更细，但没有限制 patch 范围时仍不稳定</a:t>
                      </a:r>
                    </a:p>
                  </a:txBody>
                  <a:tcPr marL="36576" marR="36576">
                    <a:solidFill>
                      <a:srgbClr val="F6F8FA"/>
                    </a:solidFill>
                  </a:tcPr>
                </a:tc>
              </a:tr>
              <a:tr h="758952">
                <a:tc>
                  <a:txBody>
                    <a:bodyPr/>
                    <a:lstStyle/>
                    <a:p>
                      <a:pPr algn="l"/>
                      <a:r>
                        <a:rPr sz="700" b="0">
                          <a:solidFill>
                            <a:srgbClr val="1F2933"/>
                          </a:solidFill>
                          <a:latin typeface="Microsoft YaHei"/>
                        </a:rPr>
                        <a:t>Skill Router + Repair Skills v3</a:t>
                      </a:r>
                    </a:p>
                  </a:txBody>
                  <a:tcPr marL="36576" marR="36576">
                    <a:solidFill>
                      <a:srgbClr val="FFFFFF"/>
                    </a:solidFill>
                  </a:tcPr>
                </a:tc>
                <a:tc>
                  <a:txBody>
                    <a:bodyPr/>
                    <a:lstStyle/>
                    <a:p>
                      <a:pPr algn="l"/>
                      <a:r>
                        <a:rPr sz="700" b="0">
                          <a:solidFill>
                            <a:srgbClr val="1F2933"/>
                          </a:solidFill>
                          <a:latin typeface="Microsoft YaHei"/>
                        </a:rPr>
                        <a:t>13 条 known-failure set</a:t>
                      </a:r>
                    </a:p>
                  </a:txBody>
                  <a:tcPr marL="36576" marR="36576">
                    <a:solidFill>
                      <a:srgbClr val="FFFFFF"/>
                    </a:solidFill>
                  </a:tcPr>
                </a:tc>
                <a:tc>
                  <a:txBody>
                    <a:bodyPr/>
                    <a:lstStyle/>
                    <a:p>
                      <a:pPr algn="l"/>
                      <a:r>
                        <a:rPr sz="700" b="0">
                          <a:solidFill>
                            <a:srgbClr val="1F2933"/>
                          </a:solidFill>
                          <a:latin typeface="Microsoft YaHei"/>
                        </a:rPr>
                        <a:t>13/13</a:t>
                      </a:r>
                    </a:p>
                  </a:txBody>
                  <a:tcPr marL="36576" marR="36576">
                    <a:solidFill>
                      <a:srgbClr val="FFFFFF"/>
                    </a:solidFill>
                  </a:tcPr>
                </a:tc>
                <a:tc>
                  <a:txBody>
                    <a:bodyPr/>
                    <a:lstStyle/>
                    <a:p>
                      <a:pPr algn="l"/>
                      <a:r>
                        <a:rPr sz="700" b="0">
                          <a:solidFill>
                            <a:srgbClr val="1F2933"/>
                          </a:solidFill>
                          <a:latin typeface="Microsoft YaHei"/>
                        </a:rPr>
                        <a:t>按错误类型路由到局部 skill 后，修复范围更可控</a:t>
                      </a:r>
                    </a:p>
                  </a:txBody>
                  <a:tcPr marL="36576" marR="36576">
                    <a:solidFill>
                      <a:srgbClr val="FFFFFF"/>
                    </a:solidFill>
                  </a:tcPr>
                </a:tc>
              </a:tr>
            </a:tbl>
          </a:graphicData>
        </a:graphic>
      </p:graphicFrame>
      <p:sp>
        <p:nvSpPr>
          <p:cNvPr id="5" name="Rectangle 4"/>
          <p:cNvSpPr/>
          <p:nvPr/>
        </p:nvSpPr>
        <p:spPr>
          <a:xfrm>
            <a:off x="804672" y="5632704"/>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B22626"/>
                </a:solidFill>
                <a:latin typeface="Microsoft YaHei"/>
              </a:rPr>
              <a:t>结论：Agent 数量不是重点，诊断、路由、局部 patch 和执行验证才是关键。</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动机测试五：结果分析与设计结论</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10</a:t>
            </a:r>
          </a:p>
        </p:txBody>
      </p:sp>
      <p:graphicFrame>
        <p:nvGraphicFramePr>
          <p:cNvPr id="4" name="Table 3"/>
          <p:cNvGraphicFramePr>
            <a:graphicFrameLocks noGrp="1"/>
          </p:cNvGraphicFramePr>
          <p:nvPr/>
        </p:nvGraphicFramePr>
        <p:xfrm>
          <a:off x="411480" y="1005840"/>
          <a:ext cx="8321040" cy="4389120"/>
        </p:xfrm>
        <a:graphic>
          <a:graphicData uri="http://schemas.openxmlformats.org/drawingml/2006/table">
            <a:tbl>
              <a:tblPr firstRow="1" bandRow="1">
                <a:tableStyleId>{5C22544A-7EE6-4342-B048-85BDC9FD1C3A}</a:tableStyleId>
              </a:tblPr>
              <a:tblGrid>
                <a:gridCol w="4160520"/>
                <a:gridCol w="4160520"/>
              </a:tblGrid>
              <a:tr h="731520">
                <a:tc>
                  <a:txBody>
                    <a:bodyPr/>
                    <a:lstStyle/>
                    <a:p>
                      <a:pPr algn="ctr"/>
                      <a:r>
                        <a:rPr sz="900" b="1">
                          <a:solidFill>
                            <a:srgbClr val="FFFFFF"/>
                          </a:solidFill>
                          <a:latin typeface="Microsoft YaHei"/>
                        </a:rPr>
                        <a:t>实验观察</a:t>
                      </a:r>
                    </a:p>
                  </a:txBody>
                  <a:tcPr marL="36576" marR="36576">
                    <a:solidFill>
                      <a:srgbClr val="18375C"/>
                    </a:solidFill>
                  </a:tcPr>
                </a:tc>
                <a:tc>
                  <a:txBody>
                    <a:bodyPr/>
                    <a:lstStyle/>
                    <a:p>
                      <a:pPr algn="ctr"/>
                      <a:r>
                        <a:rPr sz="900" b="1">
                          <a:solidFill>
                            <a:srgbClr val="FFFFFF"/>
                          </a:solidFill>
                          <a:latin typeface="Microsoft YaHei"/>
                        </a:rPr>
                        <a:t>推出的设计要求</a:t>
                      </a:r>
                    </a:p>
                  </a:txBody>
                  <a:tcPr marL="36576" marR="36576">
                    <a:solidFill>
                      <a:srgbClr val="18375C"/>
                    </a:solidFill>
                  </a:tcPr>
                </a:tc>
              </a:tr>
              <a:tr h="731520">
                <a:tc>
                  <a:txBody>
                    <a:bodyPr/>
                    <a:lstStyle/>
                    <a:p>
                      <a:pPr algn="l"/>
                      <a:r>
                        <a:rPr sz="800" b="0">
                          <a:solidFill>
                            <a:srgbClr val="1F2933"/>
                          </a:solidFill>
                          <a:latin typeface="Microsoft YaHei"/>
                        </a:rPr>
                        <a:t>初次生成阶段，SQL+ 只比 Direct SQL 略高，且 token 和 latency 更高</a:t>
                      </a:r>
                    </a:p>
                  </a:txBody>
                  <a:tcPr marL="36576" marR="36576">
                    <a:solidFill>
                      <a:srgbClr val="FFFFFF"/>
                    </a:solidFill>
                  </a:tcPr>
                </a:tc>
                <a:tc>
                  <a:txBody>
                    <a:bodyPr/>
                    <a:lstStyle/>
                    <a:p>
                      <a:pPr algn="l"/>
                      <a:r>
                        <a:rPr sz="800" b="0">
                          <a:solidFill>
                            <a:srgbClr val="1F2933"/>
                          </a:solidFill>
                          <a:latin typeface="Microsoft YaHei"/>
                        </a:rPr>
                        <a:t>不能把 SQL+ 设计成单纯的生成格式，必须服务于反馈修复</a:t>
                      </a:r>
                    </a:p>
                  </a:txBody>
                  <a:tcPr marL="36576" marR="36576">
                    <a:solidFill>
                      <a:srgbClr val="FFFFFF"/>
                    </a:solidFill>
                  </a:tcPr>
                </a:tc>
              </a:tr>
              <a:tr h="731520">
                <a:tc>
                  <a:txBody>
                    <a:bodyPr/>
                    <a:lstStyle/>
                    <a:p>
                      <a:pPr algn="l"/>
                      <a:r>
                        <a:rPr sz="800" b="0">
                          <a:solidFill>
                            <a:srgbClr val="1F2933"/>
                          </a:solidFill>
                          <a:latin typeface="Microsoft YaHei"/>
                        </a:rPr>
                        <a:t>SQL+ 的别名依赖和跨子句引用更少</a:t>
                      </a:r>
                    </a:p>
                  </a:txBody>
                  <a:tcPr marL="36576" marR="36576">
                    <a:solidFill>
                      <a:srgbClr val="F6F8FA"/>
                    </a:solidFill>
                  </a:tcPr>
                </a:tc>
                <a:tc>
                  <a:txBody>
                    <a:bodyPr/>
                    <a:lstStyle/>
                    <a:p>
                      <a:pPr algn="l"/>
                      <a:r>
                        <a:rPr sz="800" b="0">
                          <a:solidFill>
                            <a:srgbClr val="1F2933"/>
                          </a:solidFill>
                          <a:latin typeface="Microsoft YaHei"/>
                        </a:rPr>
                        <a:t>需要把查询拆成步骤，让错误定位能落到 FROM、JOIN、WHERE、AGG、ORDER 等局部</a:t>
                      </a:r>
                    </a:p>
                  </a:txBody>
                  <a:tcPr marL="36576" marR="36576">
                    <a:solidFill>
                      <a:srgbClr val="F6F8FA"/>
                    </a:solidFill>
                  </a:tcPr>
                </a:tc>
              </a:tr>
              <a:tr h="731520">
                <a:tc>
                  <a:txBody>
                    <a:bodyPr/>
                    <a:lstStyle/>
                    <a:p>
                      <a:pPr algn="l"/>
                      <a:r>
                        <a:rPr sz="800" b="0">
                          <a:solidFill>
                            <a:srgbClr val="1F2933"/>
                          </a:solidFill>
                          <a:latin typeface="Microsoft YaHei"/>
                        </a:rPr>
                        <a:t>单 Refiner 与简单 Critic 串联效果不稳</a:t>
                      </a:r>
                    </a:p>
                  </a:txBody>
                  <a:tcPr marL="36576" marR="36576">
                    <a:solidFill>
                      <a:srgbClr val="FFFFFF"/>
                    </a:solidFill>
                  </a:tcPr>
                </a:tc>
                <a:tc>
                  <a:txBody>
                    <a:bodyPr/>
                    <a:lstStyle/>
                    <a:p>
                      <a:pPr algn="l"/>
                      <a:r>
                        <a:rPr sz="800" b="0">
                          <a:solidFill>
                            <a:srgbClr val="1F2933"/>
                          </a:solidFill>
                          <a:latin typeface="Microsoft YaHei"/>
                        </a:rPr>
                        <a:t>需要明确分工，Critic 负责诊断，Router 负责分流，Repair Skill 负责局部 patch</a:t>
                      </a:r>
                    </a:p>
                  </a:txBody>
                  <a:tcPr marL="36576" marR="36576">
                    <a:solidFill>
                      <a:srgbClr val="FFFFFF"/>
                    </a:solidFill>
                  </a:tcPr>
                </a:tc>
              </a:tr>
              <a:tr h="731520">
                <a:tc>
                  <a:txBody>
                    <a:bodyPr/>
                    <a:lstStyle/>
                    <a:p>
                      <a:pPr algn="l"/>
                      <a:r>
                        <a:rPr sz="800" b="0">
                          <a:solidFill>
                            <a:srgbClr val="1F2933"/>
                          </a:solidFill>
                          <a:latin typeface="Microsoft YaHei"/>
                        </a:rPr>
                        <a:t>分治 repair skill 在当前 known-failure set 上达到 13/13</a:t>
                      </a:r>
                    </a:p>
                  </a:txBody>
                  <a:tcPr marL="36576" marR="36576">
                    <a:solidFill>
                      <a:srgbClr val="F6F8FA"/>
                    </a:solidFill>
                  </a:tcPr>
                </a:tc>
                <a:tc>
                  <a:txBody>
                    <a:bodyPr/>
                    <a:lstStyle/>
                    <a:p>
                      <a:pPr algn="l"/>
                      <a:r>
                        <a:rPr sz="800" b="0">
                          <a:solidFill>
                            <a:srgbClr val="1F2933"/>
                          </a:solidFill>
                          <a:latin typeface="Microsoft YaHei"/>
                        </a:rPr>
                        <a:t>需要保留 skill 化修复，并用 Executor 对候选 patch 做执行验证</a:t>
                      </a:r>
                    </a:p>
                  </a:txBody>
                  <a:tcPr marL="36576" marR="36576">
                    <a:solidFill>
                      <a:srgbClr val="F6F8FA"/>
                    </a:solidFill>
                  </a:tcPr>
                </a:tc>
              </a:tr>
              <a:tr h="731520">
                <a:tc>
                  <a:txBody>
                    <a:bodyPr/>
                    <a:lstStyle/>
                    <a:p>
                      <a:pPr algn="l"/>
                      <a:r>
                        <a:rPr sz="800" b="0">
                          <a:solidFill>
                            <a:srgbClr val="1F2933"/>
                          </a:solidFill>
                          <a:latin typeface="Microsoft YaHei"/>
                        </a:rPr>
                        <a:t>Spider fresh e2e 小子集可跑通但规模有限</a:t>
                      </a:r>
                    </a:p>
                  </a:txBody>
                  <a:tcPr marL="36576" marR="36576">
                    <a:solidFill>
                      <a:srgbClr val="FFFFFF"/>
                    </a:solidFill>
                  </a:tcPr>
                </a:tc>
                <a:tc>
                  <a:txBody>
                    <a:bodyPr/>
                    <a:lstStyle/>
                    <a:p>
                      <a:pPr algn="l"/>
                      <a:r>
                        <a:rPr sz="800" b="0">
                          <a:solidFill>
                            <a:srgbClr val="1F2933"/>
                          </a:solidFill>
                          <a:latin typeface="Microsoft YaHei"/>
                        </a:rPr>
                        <a:t>后续必须扩展多库、多难度和更多错误类型，不能过度外推</a:t>
                      </a:r>
                    </a:p>
                  </a:txBody>
                  <a:tcPr marL="36576" marR="36576">
                    <a:solidFill>
                      <a:srgbClr val="FFFFFF"/>
                    </a:solidFill>
                  </a:tcPr>
                </a:tc>
              </a:tr>
            </a:tbl>
          </a:graphicData>
        </a:graphic>
      </p:graphicFrame>
      <p:sp>
        <p:nvSpPr>
          <p:cNvPr id="5" name="Rectangle 4"/>
          <p:cNvSpPr/>
          <p:nvPr/>
        </p:nvSpPr>
        <p:spPr>
          <a:xfrm>
            <a:off x="804672" y="5623560"/>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B22626"/>
                </a:solidFill>
                <a:latin typeface="Microsoft YaHei"/>
              </a:rPr>
              <a:t>因此，本课题设计的是 SQL+ 支撑下的多智能体反馈修正闭环。</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研究不足与本课题切入点</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11</a:t>
            </a:r>
          </a:p>
        </p:txBody>
      </p:sp>
      <p:sp>
        <p:nvSpPr>
          <p:cNvPr id="4" name="Rectangle 3"/>
          <p:cNvSpPr/>
          <p:nvPr/>
        </p:nvSpPr>
        <p:spPr>
          <a:xfrm>
            <a:off x="640080" y="1234440"/>
            <a:ext cx="3429000" cy="9601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5" name="TextBox 4"/>
          <p:cNvSpPr txBox="1"/>
          <p:nvPr/>
        </p:nvSpPr>
        <p:spPr>
          <a:xfrm>
            <a:off x="841247" y="1380744"/>
            <a:ext cx="2834640" cy="237744"/>
          </a:xfrm>
          <a:prstGeom prst="rect">
            <a:avLst/>
          </a:prstGeom>
          <a:noFill/>
        </p:spPr>
        <p:txBody>
          <a:bodyPr wrap="square" anchor="ctr">
            <a:spAutoFit/>
          </a:bodyPr>
          <a:lstStyle/>
          <a:p>
            <a:pPr algn="l"/>
            <a:r>
              <a:rPr sz="1400" b="1">
                <a:solidFill>
                  <a:srgbClr val="18375C"/>
                </a:solidFill>
                <a:latin typeface="Microsoft YaHei"/>
              </a:rPr>
              <a:t>中间表示</a:t>
            </a:r>
          </a:p>
        </p:txBody>
      </p:sp>
      <p:sp>
        <p:nvSpPr>
          <p:cNvPr id="6" name="TextBox 5"/>
          <p:cNvSpPr txBox="1"/>
          <p:nvPr/>
        </p:nvSpPr>
        <p:spPr>
          <a:xfrm>
            <a:off x="841247" y="1709928"/>
            <a:ext cx="2834640" cy="310896"/>
          </a:xfrm>
          <a:prstGeom prst="rect">
            <a:avLst/>
          </a:prstGeom>
          <a:noFill/>
        </p:spPr>
        <p:txBody>
          <a:bodyPr wrap="square" anchor="ctr">
            <a:spAutoFit/>
          </a:bodyPr>
          <a:lstStyle/>
          <a:p>
            <a:pPr algn="l"/>
            <a:r>
              <a:rPr sz="1000" b="0">
                <a:solidFill>
                  <a:srgbClr val="1F2933"/>
                </a:solidFill>
                <a:latin typeface="Microsoft YaHei"/>
              </a:rPr>
              <a:t>多服务于初次生成，对执行反馈后的局部修复关注不足</a:t>
            </a:r>
          </a:p>
        </p:txBody>
      </p:sp>
      <p:sp>
        <p:nvSpPr>
          <p:cNvPr id="7" name="Rectangle 6"/>
          <p:cNvSpPr/>
          <p:nvPr/>
        </p:nvSpPr>
        <p:spPr>
          <a:xfrm>
            <a:off x="4709160" y="1234440"/>
            <a:ext cx="3429000" cy="96012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8" name="TextBox 7"/>
          <p:cNvSpPr txBox="1"/>
          <p:nvPr/>
        </p:nvSpPr>
        <p:spPr>
          <a:xfrm>
            <a:off x="4910328" y="1380744"/>
            <a:ext cx="2834640" cy="237744"/>
          </a:xfrm>
          <a:prstGeom prst="rect">
            <a:avLst/>
          </a:prstGeom>
          <a:noFill/>
        </p:spPr>
        <p:txBody>
          <a:bodyPr wrap="square" anchor="ctr">
            <a:spAutoFit/>
          </a:bodyPr>
          <a:lstStyle/>
          <a:p>
            <a:pPr algn="l"/>
            <a:r>
              <a:rPr sz="1400" b="1">
                <a:solidFill>
                  <a:srgbClr val="525C69"/>
                </a:solidFill>
                <a:latin typeface="Microsoft YaHei"/>
              </a:rPr>
              <a:t>Agent 系统</a:t>
            </a:r>
          </a:p>
        </p:txBody>
      </p:sp>
      <p:sp>
        <p:nvSpPr>
          <p:cNvPr id="9" name="TextBox 8"/>
          <p:cNvSpPr txBox="1"/>
          <p:nvPr/>
        </p:nvSpPr>
        <p:spPr>
          <a:xfrm>
            <a:off x="4910328" y="1709928"/>
            <a:ext cx="2834640" cy="310896"/>
          </a:xfrm>
          <a:prstGeom prst="rect">
            <a:avLst/>
          </a:prstGeom>
          <a:noFill/>
        </p:spPr>
        <p:txBody>
          <a:bodyPr wrap="square" anchor="ctr">
            <a:spAutoFit/>
          </a:bodyPr>
          <a:lstStyle/>
          <a:p>
            <a:pPr algn="l"/>
            <a:r>
              <a:rPr sz="1000" b="0">
                <a:solidFill>
                  <a:srgbClr val="1F2933"/>
                </a:solidFill>
                <a:latin typeface="Microsoft YaHei"/>
              </a:rPr>
              <a:t>常用于分解、候选生成和选择，错误不一定映射到可修复步骤</a:t>
            </a:r>
          </a:p>
        </p:txBody>
      </p:sp>
      <p:sp>
        <p:nvSpPr>
          <p:cNvPr id="10" name="Rectangle 9"/>
          <p:cNvSpPr/>
          <p:nvPr/>
        </p:nvSpPr>
        <p:spPr>
          <a:xfrm>
            <a:off x="640080" y="2834640"/>
            <a:ext cx="3429000" cy="960120"/>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11" name="TextBox 10"/>
          <p:cNvSpPr txBox="1"/>
          <p:nvPr/>
        </p:nvSpPr>
        <p:spPr>
          <a:xfrm>
            <a:off x="841247" y="2980944"/>
            <a:ext cx="2834640" cy="237744"/>
          </a:xfrm>
          <a:prstGeom prst="rect">
            <a:avLst/>
          </a:prstGeom>
          <a:noFill/>
        </p:spPr>
        <p:txBody>
          <a:bodyPr wrap="square" anchor="ctr">
            <a:spAutoFit/>
          </a:bodyPr>
          <a:lstStyle/>
          <a:p>
            <a:pPr algn="l"/>
            <a:r>
              <a:rPr sz="1400" b="1">
                <a:solidFill>
                  <a:srgbClr val="3A4E5E"/>
                </a:solidFill>
                <a:latin typeface="Microsoft YaHei"/>
              </a:rPr>
              <a:t>评价指标</a:t>
            </a:r>
          </a:p>
        </p:txBody>
      </p:sp>
      <p:sp>
        <p:nvSpPr>
          <p:cNvPr id="12" name="TextBox 11"/>
          <p:cNvSpPr txBox="1"/>
          <p:nvPr/>
        </p:nvSpPr>
        <p:spPr>
          <a:xfrm>
            <a:off x="841247" y="3310128"/>
            <a:ext cx="2834640" cy="310896"/>
          </a:xfrm>
          <a:prstGeom prst="rect">
            <a:avLst/>
          </a:prstGeom>
          <a:noFill/>
        </p:spPr>
        <p:txBody>
          <a:bodyPr wrap="square" anchor="ctr">
            <a:spAutoFit/>
          </a:bodyPr>
          <a:lstStyle/>
          <a:p>
            <a:pPr algn="l"/>
            <a:r>
              <a:rPr sz="1000" b="0">
                <a:solidFill>
                  <a:srgbClr val="1F2933"/>
                </a:solidFill>
                <a:latin typeface="Microsoft YaHei"/>
              </a:rPr>
              <a:t>execution accuracy 不够，需要 repairability 和成本指标</a:t>
            </a:r>
          </a:p>
        </p:txBody>
      </p:sp>
      <p:sp>
        <p:nvSpPr>
          <p:cNvPr id="13" name="Rectangle 12"/>
          <p:cNvSpPr/>
          <p:nvPr/>
        </p:nvSpPr>
        <p:spPr>
          <a:xfrm>
            <a:off x="4709160" y="2834640"/>
            <a:ext cx="3429000" cy="960120"/>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14" name="TextBox 13"/>
          <p:cNvSpPr txBox="1"/>
          <p:nvPr/>
        </p:nvSpPr>
        <p:spPr>
          <a:xfrm>
            <a:off x="4910328" y="2980944"/>
            <a:ext cx="2834640" cy="237744"/>
          </a:xfrm>
          <a:prstGeom prst="rect">
            <a:avLst/>
          </a:prstGeom>
          <a:noFill/>
        </p:spPr>
        <p:txBody>
          <a:bodyPr wrap="square" anchor="ctr">
            <a:spAutoFit/>
          </a:bodyPr>
          <a:lstStyle/>
          <a:p>
            <a:pPr algn="l"/>
            <a:r>
              <a:rPr sz="1400" b="1">
                <a:solidFill>
                  <a:srgbClr val="B22626"/>
                </a:solidFill>
                <a:latin typeface="Microsoft YaHei"/>
              </a:rPr>
              <a:t>真实环境</a:t>
            </a:r>
          </a:p>
        </p:txBody>
      </p:sp>
      <p:sp>
        <p:nvSpPr>
          <p:cNvPr id="15" name="TextBox 14"/>
          <p:cNvSpPr txBox="1"/>
          <p:nvPr/>
        </p:nvSpPr>
        <p:spPr>
          <a:xfrm>
            <a:off x="4910328" y="3310128"/>
            <a:ext cx="2834640" cy="310896"/>
          </a:xfrm>
          <a:prstGeom prst="rect">
            <a:avLst/>
          </a:prstGeom>
          <a:noFill/>
        </p:spPr>
        <p:txBody>
          <a:bodyPr wrap="square" anchor="ctr">
            <a:spAutoFit/>
          </a:bodyPr>
          <a:lstStyle/>
          <a:p>
            <a:pPr algn="l"/>
            <a:r>
              <a:rPr sz="1000" b="0">
                <a:solidFill>
                  <a:srgbClr val="1F2933"/>
                </a:solidFill>
                <a:latin typeface="Microsoft YaHei"/>
              </a:rPr>
              <a:t>公开 benchmark 与企业数据库方言、脏值、外部知识仍有差距</a:t>
            </a:r>
          </a:p>
        </p:txBody>
      </p:sp>
      <p:sp>
        <p:nvSpPr>
          <p:cNvPr id="16" name="Rectangle 15"/>
          <p:cNvSpPr/>
          <p:nvPr/>
        </p:nvSpPr>
        <p:spPr>
          <a:xfrm>
            <a:off x="804672" y="4846320"/>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B22626"/>
                </a:solidFill>
                <a:latin typeface="Microsoft YaHei"/>
              </a:rPr>
              <a:t>切入点：让 Critic、Router、Repair Skill 和 Executor 围绕 SQL+ 步骤工作。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提出的系统：SQL+ 多智能体反馈修正框架</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12</a:t>
            </a:r>
          </a:p>
        </p:txBody>
      </p:sp>
      <p:sp>
        <p:nvSpPr>
          <p:cNvPr id="4" name="Rectangle 3"/>
          <p:cNvSpPr/>
          <p:nvPr/>
        </p:nvSpPr>
        <p:spPr>
          <a:xfrm>
            <a:off x="594360" y="1170432"/>
            <a:ext cx="1508760" cy="640080"/>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2933"/>
                </a:solidFill>
                <a:latin typeface="Microsoft YaHei"/>
              </a:rPr>
              <a:t>用户问题</a:t>
            </a:r>
          </a:p>
        </p:txBody>
      </p:sp>
      <p:sp>
        <p:nvSpPr>
          <p:cNvPr id="5" name="TextBox 4"/>
          <p:cNvSpPr txBox="1"/>
          <p:nvPr/>
        </p:nvSpPr>
        <p:spPr>
          <a:xfrm>
            <a:off x="2148840" y="1353312"/>
            <a:ext cx="310896" cy="237744"/>
          </a:xfrm>
          <a:prstGeom prst="rect">
            <a:avLst/>
          </a:prstGeom>
          <a:noFill/>
        </p:spPr>
        <p:txBody>
          <a:bodyPr wrap="square" anchor="ctr">
            <a:spAutoFit/>
          </a:bodyPr>
          <a:lstStyle/>
          <a:p>
            <a:pPr algn="ctr"/>
            <a:r>
              <a:rPr sz="1600" b="1">
                <a:solidFill>
                  <a:srgbClr val="667080"/>
                </a:solidFill>
                <a:latin typeface="Microsoft YaHei"/>
              </a:rPr>
              <a:t>→</a:t>
            </a:r>
          </a:p>
        </p:txBody>
      </p:sp>
      <p:sp>
        <p:nvSpPr>
          <p:cNvPr id="6" name="Rectangle 5"/>
          <p:cNvSpPr/>
          <p:nvPr/>
        </p:nvSpPr>
        <p:spPr>
          <a:xfrm>
            <a:off x="2651760" y="1170432"/>
            <a:ext cx="1508760" cy="640080"/>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2933"/>
                </a:solidFill>
                <a:latin typeface="Microsoft YaHei"/>
              </a:rPr>
              <a:t>SQL+ Generator</a:t>
            </a:r>
          </a:p>
        </p:txBody>
      </p:sp>
      <p:sp>
        <p:nvSpPr>
          <p:cNvPr id="7" name="TextBox 6"/>
          <p:cNvSpPr txBox="1"/>
          <p:nvPr/>
        </p:nvSpPr>
        <p:spPr>
          <a:xfrm>
            <a:off x="4206240" y="1353312"/>
            <a:ext cx="310896" cy="237744"/>
          </a:xfrm>
          <a:prstGeom prst="rect">
            <a:avLst/>
          </a:prstGeom>
          <a:noFill/>
        </p:spPr>
        <p:txBody>
          <a:bodyPr wrap="square" anchor="ctr">
            <a:spAutoFit/>
          </a:bodyPr>
          <a:lstStyle/>
          <a:p>
            <a:pPr algn="ctr"/>
            <a:r>
              <a:rPr sz="1600" b="1">
                <a:solidFill>
                  <a:srgbClr val="667080"/>
                </a:solidFill>
                <a:latin typeface="Microsoft YaHei"/>
              </a:rPr>
              <a:t>→</a:t>
            </a:r>
          </a:p>
        </p:txBody>
      </p:sp>
      <p:sp>
        <p:nvSpPr>
          <p:cNvPr id="8" name="Rectangle 7"/>
          <p:cNvSpPr/>
          <p:nvPr/>
        </p:nvSpPr>
        <p:spPr>
          <a:xfrm>
            <a:off x="4709160" y="1170432"/>
            <a:ext cx="1508760" cy="640080"/>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2933"/>
                </a:solidFill>
                <a:latin typeface="Microsoft YaHei"/>
              </a:rPr>
              <a:t>Translator</a:t>
            </a:r>
          </a:p>
        </p:txBody>
      </p:sp>
      <p:sp>
        <p:nvSpPr>
          <p:cNvPr id="9" name="TextBox 8"/>
          <p:cNvSpPr txBox="1"/>
          <p:nvPr/>
        </p:nvSpPr>
        <p:spPr>
          <a:xfrm>
            <a:off x="6263640" y="1353312"/>
            <a:ext cx="310896" cy="237744"/>
          </a:xfrm>
          <a:prstGeom prst="rect">
            <a:avLst/>
          </a:prstGeom>
          <a:noFill/>
        </p:spPr>
        <p:txBody>
          <a:bodyPr wrap="square" anchor="ctr">
            <a:spAutoFit/>
          </a:bodyPr>
          <a:lstStyle/>
          <a:p>
            <a:pPr algn="ctr"/>
            <a:r>
              <a:rPr sz="1600" b="1">
                <a:solidFill>
                  <a:srgbClr val="667080"/>
                </a:solidFill>
                <a:latin typeface="Microsoft YaHei"/>
              </a:rPr>
              <a:t>→</a:t>
            </a:r>
          </a:p>
        </p:txBody>
      </p:sp>
      <p:sp>
        <p:nvSpPr>
          <p:cNvPr id="10" name="Rectangle 9"/>
          <p:cNvSpPr/>
          <p:nvPr/>
        </p:nvSpPr>
        <p:spPr>
          <a:xfrm>
            <a:off x="6766560" y="1170432"/>
            <a:ext cx="1508760" cy="640080"/>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2933"/>
                </a:solidFill>
                <a:latin typeface="Microsoft YaHei"/>
              </a:rPr>
              <a:t>Executor</a:t>
            </a:r>
          </a:p>
        </p:txBody>
      </p:sp>
      <p:sp>
        <p:nvSpPr>
          <p:cNvPr id="11" name="Rectangle 10"/>
          <p:cNvSpPr/>
          <p:nvPr/>
        </p:nvSpPr>
        <p:spPr>
          <a:xfrm>
            <a:off x="594360" y="3767328"/>
            <a:ext cx="1508760" cy="786384"/>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1F2933"/>
                </a:solidFill>
                <a:latin typeface="Microsoft YaHei"/>
              </a:rPr>
              <a:t>Critic Agent
错误类型与步骤定位</a:t>
            </a:r>
          </a:p>
        </p:txBody>
      </p:sp>
      <p:sp>
        <p:nvSpPr>
          <p:cNvPr id="12" name="TextBox 11"/>
          <p:cNvSpPr txBox="1"/>
          <p:nvPr/>
        </p:nvSpPr>
        <p:spPr>
          <a:xfrm>
            <a:off x="2148840" y="4041648"/>
            <a:ext cx="310896" cy="237744"/>
          </a:xfrm>
          <a:prstGeom prst="rect">
            <a:avLst/>
          </a:prstGeom>
          <a:noFill/>
        </p:spPr>
        <p:txBody>
          <a:bodyPr wrap="square" anchor="ctr">
            <a:spAutoFit/>
          </a:bodyPr>
          <a:lstStyle/>
          <a:p>
            <a:pPr algn="ctr"/>
            <a:r>
              <a:rPr sz="1600" b="1">
                <a:solidFill>
                  <a:srgbClr val="667080"/>
                </a:solidFill>
                <a:latin typeface="Microsoft YaHei"/>
              </a:rPr>
              <a:t>→</a:t>
            </a:r>
          </a:p>
        </p:txBody>
      </p:sp>
      <p:sp>
        <p:nvSpPr>
          <p:cNvPr id="13" name="Rectangle 12"/>
          <p:cNvSpPr/>
          <p:nvPr/>
        </p:nvSpPr>
        <p:spPr>
          <a:xfrm>
            <a:off x="2651760" y="3767328"/>
            <a:ext cx="1508760" cy="786384"/>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1F2933"/>
                </a:solidFill>
                <a:latin typeface="Microsoft YaHei"/>
              </a:rPr>
              <a:t>Skill Router
选择局部 repair skill</a:t>
            </a:r>
          </a:p>
        </p:txBody>
      </p:sp>
      <p:sp>
        <p:nvSpPr>
          <p:cNvPr id="14" name="TextBox 13"/>
          <p:cNvSpPr txBox="1"/>
          <p:nvPr/>
        </p:nvSpPr>
        <p:spPr>
          <a:xfrm>
            <a:off x="4206240" y="4041648"/>
            <a:ext cx="310896" cy="237744"/>
          </a:xfrm>
          <a:prstGeom prst="rect">
            <a:avLst/>
          </a:prstGeom>
          <a:noFill/>
        </p:spPr>
        <p:txBody>
          <a:bodyPr wrap="square" anchor="ctr">
            <a:spAutoFit/>
          </a:bodyPr>
          <a:lstStyle/>
          <a:p>
            <a:pPr algn="ctr"/>
            <a:r>
              <a:rPr sz="1600" b="1">
                <a:solidFill>
                  <a:srgbClr val="667080"/>
                </a:solidFill>
                <a:latin typeface="Microsoft YaHei"/>
              </a:rPr>
              <a:t>→</a:t>
            </a:r>
          </a:p>
        </p:txBody>
      </p:sp>
      <p:sp>
        <p:nvSpPr>
          <p:cNvPr id="15" name="Rectangle 14"/>
          <p:cNvSpPr/>
          <p:nvPr/>
        </p:nvSpPr>
        <p:spPr>
          <a:xfrm>
            <a:off x="4709160" y="3767328"/>
            <a:ext cx="1508760" cy="786384"/>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1F2933"/>
                </a:solidFill>
                <a:latin typeface="Microsoft YaHei"/>
              </a:rPr>
              <a:t>Repair Skill
生成 SQL+ patch</a:t>
            </a:r>
          </a:p>
        </p:txBody>
      </p:sp>
      <p:sp>
        <p:nvSpPr>
          <p:cNvPr id="16" name="TextBox 15"/>
          <p:cNvSpPr txBox="1"/>
          <p:nvPr/>
        </p:nvSpPr>
        <p:spPr>
          <a:xfrm>
            <a:off x="6263640" y="4041648"/>
            <a:ext cx="310896" cy="237744"/>
          </a:xfrm>
          <a:prstGeom prst="rect">
            <a:avLst/>
          </a:prstGeom>
          <a:noFill/>
        </p:spPr>
        <p:txBody>
          <a:bodyPr wrap="square" anchor="ctr">
            <a:spAutoFit/>
          </a:bodyPr>
          <a:lstStyle/>
          <a:p>
            <a:pPr algn="ctr"/>
            <a:r>
              <a:rPr sz="1600" b="1">
                <a:solidFill>
                  <a:srgbClr val="667080"/>
                </a:solidFill>
                <a:latin typeface="Microsoft YaHei"/>
              </a:rPr>
              <a:t>→</a:t>
            </a:r>
          </a:p>
        </p:txBody>
      </p:sp>
      <p:sp>
        <p:nvSpPr>
          <p:cNvPr id="17" name="Rectangle 16"/>
          <p:cNvSpPr/>
          <p:nvPr/>
        </p:nvSpPr>
        <p:spPr>
          <a:xfrm>
            <a:off x="6766560" y="3767328"/>
            <a:ext cx="1508760" cy="786384"/>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1F2933"/>
                </a:solidFill>
                <a:latin typeface="Microsoft YaHei"/>
              </a:rPr>
              <a:t>Executor
执行验证候选</a:t>
            </a:r>
          </a:p>
        </p:txBody>
      </p:sp>
      <p:sp>
        <p:nvSpPr>
          <p:cNvPr id="18" name="TextBox 17"/>
          <p:cNvSpPr txBox="1"/>
          <p:nvPr/>
        </p:nvSpPr>
        <p:spPr>
          <a:xfrm>
            <a:off x="7178040" y="1874519"/>
            <a:ext cx="274320" cy="1554480"/>
          </a:xfrm>
          <a:prstGeom prst="rect">
            <a:avLst/>
          </a:prstGeom>
          <a:noFill/>
        </p:spPr>
        <p:txBody>
          <a:bodyPr wrap="square" anchor="ctr">
            <a:spAutoFit/>
          </a:bodyPr>
          <a:lstStyle/>
          <a:p>
            <a:pPr algn="ctr"/>
            <a:r>
              <a:rPr sz="1400" b="1">
                <a:solidFill>
                  <a:srgbClr val="525C69"/>
                </a:solidFill>
                <a:latin typeface="Microsoft YaHei"/>
              </a:rPr>
              <a:t>↓
反馈</a:t>
            </a:r>
          </a:p>
        </p:txBody>
      </p:sp>
      <p:sp>
        <p:nvSpPr>
          <p:cNvPr id="19" name="TextBox 18"/>
          <p:cNvSpPr txBox="1"/>
          <p:nvPr/>
        </p:nvSpPr>
        <p:spPr>
          <a:xfrm>
            <a:off x="4480560" y="2971800"/>
            <a:ext cx="347472" cy="347472"/>
          </a:xfrm>
          <a:prstGeom prst="rect">
            <a:avLst/>
          </a:prstGeom>
          <a:noFill/>
        </p:spPr>
        <p:txBody>
          <a:bodyPr wrap="square" anchor="ctr">
            <a:spAutoFit/>
          </a:bodyPr>
          <a:lstStyle/>
          <a:p>
            <a:pPr algn="ctr"/>
            <a:r>
              <a:rPr sz="2200" b="1">
                <a:solidFill>
                  <a:srgbClr val="B22626"/>
                </a:solidFill>
                <a:latin typeface="Microsoft YaHei"/>
              </a:rPr>
              <a:t>↺</a:t>
            </a:r>
          </a:p>
        </p:txBody>
      </p:sp>
      <p:sp>
        <p:nvSpPr>
          <p:cNvPr id="20" name="Rectangle 19"/>
          <p:cNvSpPr/>
          <p:nvPr/>
        </p:nvSpPr>
        <p:spPr>
          <a:xfrm>
            <a:off x="804672" y="5596128"/>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B22626"/>
                </a:solidFill>
                <a:latin typeface="Microsoft YaHei"/>
              </a:rPr>
              <a:t>核心思路：不整条重写 SQL，把错误压回 SQL+ 的局部步骤中修。</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SQL+ 表达示例：把查询拆成步骤</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13</a:t>
            </a:r>
          </a:p>
        </p:txBody>
      </p:sp>
      <p:sp>
        <p:nvSpPr>
          <p:cNvPr id="4" name="Rectangle 3"/>
          <p:cNvSpPr/>
          <p:nvPr/>
        </p:nvSpPr>
        <p:spPr>
          <a:xfrm>
            <a:off x="685800" y="1078992"/>
            <a:ext cx="4114800" cy="4526280"/>
          </a:xfrm>
          <a:prstGeom prst="rect">
            <a:avLst/>
          </a:prstGeom>
          <a:solidFill>
            <a:srgbClr val="FFFFFF"/>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1F2933"/>
                </a:solidFill>
                <a:latin typeface="Microsoft YaHei"/>
              </a:rPr>
              <a:t>FROM orders o
| JOIN order_items oi ON o.order_id = oi.order_id
| WHERE o.status = 'paid'
| GROUP o.order_id
| AGG o.order_id, SUM(oi.quantity * oi.unit_price) AS amount
| ORDER amount DESC
| LIMIT 10</a:t>
            </a:r>
          </a:p>
        </p:txBody>
      </p:sp>
      <p:graphicFrame>
        <p:nvGraphicFramePr>
          <p:cNvPr id="5" name="Table 4"/>
          <p:cNvGraphicFramePr>
            <a:graphicFrameLocks noGrp="1"/>
          </p:cNvGraphicFramePr>
          <p:nvPr/>
        </p:nvGraphicFramePr>
        <p:xfrm>
          <a:off x="5166360" y="1234440"/>
          <a:ext cx="3337560" cy="2926080"/>
        </p:xfrm>
        <a:graphic>
          <a:graphicData uri="http://schemas.openxmlformats.org/drawingml/2006/table">
            <a:tbl>
              <a:tblPr firstRow="1" bandRow="1">
                <a:tableStyleId>{5C22544A-7EE6-4342-B048-85BDC9FD1C3A}</a:tableStyleId>
              </a:tblPr>
              <a:tblGrid>
                <a:gridCol w="1668780"/>
                <a:gridCol w="1668780"/>
              </a:tblGrid>
              <a:tr h="585216">
                <a:tc>
                  <a:txBody>
                    <a:bodyPr/>
                    <a:lstStyle/>
                    <a:p>
                      <a:pPr algn="ctr"/>
                      <a:r>
                        <a:rPr sz="900" b="1">
                          <a:solidFill>
                            <a:srgbClr val="FFFFFF"/>
                          </a:solidFill>
                          <a:latin typeface="Microsoft YaHei"/>
                        </a:rPr>
                        <a:t>SQL+ 步骤</a:t>
                      </a:r>
                    </a:p>
                  </a:txBody>
                  <a:tcPr marL="36576" marR="36576">
                    <a:solidFill>
                      <a:srgbClr val="18375C"/>
                    </a:solidFill>
                  </a:tcPr>
                </a:tc>
                <a:tc>
                  <a:txBody>
                    <a:bodyPr/>
                    <a:lstStyle/>
                    <a:p>
                      <a:pPr algn="ctr"/>
                      <a:r>
                        <a:rPr sz="900" b="1">
                          <a:solidFill>
                            <a:srgbClr val="FFFFFF"/>
                          </a:solidFill>
                          <a:latin typeface="Microsoft YaHei"/>
                        </a:rPr>
                        <a:t>可诊断问题</a:t>
                      </a:r>
                    </a:p>
                  </a:txBody>
                  <a:tcPr marL="36576" marR="36576">
                    <a:solidFill>
                      <a:srgbClr val="18375C"/>
                    </a:solidFill>
                  </a:tcPr>
                </a:tc>
              </a:tr>
              <a:tr h="585216">
                <a:tc>
                  <a:txBody>
                    <a:bodyPr/>
                    <a:lstStyle/>
                    <a:p>
                      <a:pPr algn="l"/>
                      <a:r>
                        <a:rPr sz="800" b="0">
                          <a:solidFill>
                            <a:srgbClr val="1F2933"/>
                          </a:solidFill>
                          <a:latin typeface="Microsoft YaHei"/>
                        </a:rPr>
                        <a:t>WHERE</a:t>
                      </a:r>
                    </a:p>
                  </a:txBody>
                  <a:tcPr marL="36576" marR="36576">
                    <a:solidFill>
                      <a:srgbClr val="FFFFFF"/>
                    </a:solidFill>
                  </a:tcPr>
                </a:tc>
                <a:tc>
                  <a:txBody>
                    <a:bodyPr/>
                    <a:lstStyle/>
                    <a:p>
                      <a:pPr algn="l"/>
                      <a:r>
                        <a:rPr sz="800" b="0">
                          <a:solidFill>
                            <a:srgbClr val="1F2933"/>
                          </a:solidFill>
                          <a:latin typeface="Microsoft YaHei"/>
                        </a:rPr>
                        <a:t>状态值 paid 是否正确</a:t>
                      </a:r>
                    </a:p>
                  </a:txBody>
                  <a:tcPr marL="36576" marR="36576">
                    <a:solidFill>
                      <a:srgbClr val="FFFFFF"/>
                    </a:solidFill>
                  </a:tcPr>
                </a:tc>
              </a:tr>
              <a:tr h="585216">
                <a:tc>
                  <a:txBody>
                    <a:bodyPr/>
                    <a:lstStyle/>
                    <a:p>
                      <a:pPr algn="l"/>
                      <a:r>
                        <a:rPr sz="800" b="0">
                          <a:solidFill>
                            <a:srgbClr val="1F2933"/>
                          </a:solidFill>
                          <a:latin typeface="Microsoft YaHei"/>
                        </a:rPr>
                        <a:t>GROUP / AGG</a:t>
                      </a:r>
                    </a:p>
                  </a:txBody>
                  <a:tcPr marL="36576" marR="36576">
                    <a:solidFill>
                      <a:srgbClr val="F6F8FA"/>
                    </a:solidFill>
                  </a:tcPr>
                </a:tc>
                <a:tc>
                  <a:txBody>
                    <a:bodyPr/>
                    <a:lstStyle/>
                    <a:p>
                      <a:pPr algn="l"/>
                      <a:r>
                        <a:rPr sz="800" b="0">
                          <a:solidFill>
                            <a:srgbClr val="1F2933"/>
                          </a:solidFill>
                          <a:latin typeface="Microsoft YaHei"/>
                        </a:rPr>
                        <a:t>聚合口径和别名是否正确</a:t>
                      </a:r>
                    </a:p>
                  </a:txBody>
                  <a:tcPr marL="36576" marR="36576">
                    <a:solidFill>
                      <a:srgbClr val="F6F8FA"/>
                    </a:solidFill>
                  </a:tcPr>
                </a:tc>
              </a:tr>
              <a:tr h="585216">
                <a:tc>
                  <a:txBody>
                    <a:bodyPr/>
                    <a:lstStyle/>
                    <a:p>
                      <a:pPr algn="l"/>
                      <a:r>
                        <a:rPr sz="800" b="0">
                          <a:solidFill>
                            <a:srgbClr val="1F2933"/>
                          </a:solidFill>
                          <a:latin typeface="Microsoft YaHei"/>
                        </a:rPr>
                        <a:t>ORDER / LIMIT</a:t>
                      </a:r>
                    </a:p>
                  </a:txBody>
                  <a:tcPr marL="36576" marR="36576">
                    <a:solidFill>
                      <a:srgbClr val="FFFFFF"/>
                    </a:solidFill>
                  </a:tcPr>
                </a:tc>
                <a:tc>
                  <a:txBody>
                    <a:bodyPr/>
                    <a:lstStyle/>
                    <a:p>
                      <a:pPr algn="l"/>
                      <a:r>
                        <a:rPr sz="800" b="0">
                          <a:solidFill>
                            <a:srgbClr val="1F2933"/>
                          </a:solidFill>
                          <a:latin typeface="Microsoft YaHei"/>
                        </a:rPr>
                        <a:t>top-k 排序字段和方向是否正确</a:t>
                      </a:r>
                    </a:p>
                  </a:txBody>
                  <a:tcPr marL="36576" marR="36576">
                    <a:solidFill>
                      <a:srgbClr val="FFFFFF"/>
                    </a:solidFill>
                  </a:tcPr>
                </a:tc>
              </a:tr>
              <a:tr h="585216">
                <a:tc>
                  <a:txBody>
                    <a:bodyPr/>
                    <a:lstStyle/>
                    <a:p>
                      <a:pPr algn="l"/>
                      <a:r>
                        <a:rPr sz="800" b="0">
                          <a:solidFill>
                            <a:srgbClr val="1F2933"/>
                          </a:solidFill>
                          <a:latin typeface="Microsoft YaHei"/>
                        </a:rPr>
                        <a:t>JOIN</a:t>
                      </a:r>
                    </a:p>
                  </a:txBody>
                  <a:tcPr marL="36576" marR="36576">
                    <a:solidFill>
                      <a:srgbClr val="F6F8FA"/>
                    </a:solidFill>
                  </a:tcPr>
                </a:tc>
                <a:tc>
                  <a:txBody>
                    <a:bodyPr/>
                    <a:lstStyle/>
                    <a:p>
                      <a:pPr algn="l"/>
                      <a:r>
                        <a:rPr sz="800" b="0">
                          <a:solidFill>
                            <a:srgbClr val="1F2933"/>
                          </a:solidFill>
                          <a:latin typeface="Microsoft YaHei"/>
                        </a:rPr>
                        <a:t>连接路径是否必要且正确</a:t>
                      </a:r>
                    </a:p>
                  </a:txBody>
                  <a:tcPr marL="36576" marR="36576">
                    <a:solidFill>
                      <a:srgbClr val="F6F8FA"/>
                    </a:solidFill>
                  </a:tcPr>
                </a:tc>
              </a:tr>
            </a:tbl>
          </a:graphicData>
        </a:graphic>
      </p:graphicFrame>
      <p:sp>
        <p:nvSpPr>
          <p:cNvPr id="6" name="Rectangle 5"/>
          <p:cNvSpPr/>
          <p:nvPr/>
        </p:nvSpPr>
        <p:spPr>
          <a:xfrm>
            <a:off x="5166360" y="4572000"/>
            <a:ext cx="3337560" cy="749808"/>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B22626"/>
                </a:solidFill>
                <a:latin typeface="Microsoft YaHei"/>
              </a:rPr>
              <a:t>重点：每个步骤都是定位和局部修改的锚点。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系统架构设计：可观察的多智能体分工</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14</a:t>
            </a:r>
          </a:p>
        </p:txBody>
      </p:sp>
      <p:graphicFrame>
        <p:nvGraphicFramePr>
          <p:cNvPr id="4" name="Table 3"/>
          <p:cNvGraphicFramePr>
            <a:graphicFrameLocks noGrp="1"/>
          </p:cNvGraphicFramePr>
          <p:nvPr/>
        </p:nvGraphicFramePr>
        <p:xfrm>
          <a:off x="411480" y="960120"/>
          <a:ext cx="8321040" cy="5166360"/>
        </p:xfrm>
        <a:graphic>
          <a:graphicData uri="http://schemas.openxmlformats.org/drawingml/2006/table">
            <a:tbl>
              <a:tblPr firstRow="1" bandRow="1">
                <a:tableStyleId>{5C22544A-7EE6-4342-B048-85BDC9FD1C3A}</a:tableStyleId>
              </a:tblPr>
              <a:tblGrid>
                <a:gridCol w="2080260"/>
                <a:gridCol w="2080260"/>
                <a:gridCol w="2080260"/>
                <a:gridCol w="2080260"/>
              </a:tblGrid>
              <a:tr h="738051">
                <a:tc>
                  <a:txBody>
                    <a:bodyPr/>
                    <a:lstStyle/>
                    <a:p>
                      <a:pPr algn="ctr"/>
                      <a:r>
                        <a:rPr sz="800" b="1">
                          <a:solidFill>
                            <a:srgbClr val="FFFFFF"/>
                          </a:solidFill>
                          <a:latin typeface="Microsoft YaHei"/>
                        </a:rPr>
                        <a:t>模块</a:t>
                      </a:r>
                    </a:p>
                  </a:txBody>
                  <a:tcPr marL="36576" marR="36576">
                    <a:solidFill>
                      <a:srgbClr val="18375C"/>
                    </a:solidFill>
                  </a:tcPr>
                </a:tc>
                <a:tc>
                  <a:txBody>
                    <a:bodyPr/>
                    <a:lstStyle/>
                    <a:p>
                      <a:pPr algn="ctr"/>
                      <a:r>
                        <a:rPr sz="800" b="1">
                          <a:solidFill>
                            <a:srgbClr val="FFFFFF"/>
                          </a:solidFill>
                          <a:latin typeface="Microsoft YaHei"/>
                        </a:rPr>
                        <a:t>输入</a:t>
                      </a:r>
                    </a:p>
                  </a:txBody>
                  <a:tcPr marL="36576" marR="36576">
                    <a:solidFill>
                      <a:srgbClr val="18375C"/>
                    </a:solidFill>
                  </a:tcPr>
                </a:tc>
                <a:tc>
                  <a:txBody>
                    <a:bodyPr/>
                    <a:lstStyle/>
                    <a:p>
                      <a:pPr algn="ctr"/>
                      <a:r>
                        <a:rPr sz="800" b="1">
                          <a:solidFill>
                            <a:srgbClr val="FFFFFF"/>
                          </a:solidFill>
                          <a:latin typeface="Microsoft YaHei"/>
                        </a:rPr>
                        <a:t>输出</a:t>
                      </a:r>
                    </a:p>
                  </a:txBody>
                  <a:tcPr marL="36576" marR="36576">
                    <a:solidFill>
                      <a:srgbClr val="18375C"/>
                    </a:solidFill>
                  </a:tcPr>
                </a:tc>
                <a:tc>
                  <a:txBody>
                    <a:bodyPr/>
                    <a:lstStyle/>
                    <a:p>
                      <a:pPr algn="ctr"/>
                      <a:r>
                        <a:rPr sz="800" b="1">
                          <a:solidFill>
                            <a:srgbClr val="FFFFFF"/>
                          </a:solidFill>
                          <a:latin typeface="Microsoft YaHei"/>
                        </a:rPr>
                        <a:t>评价方式</a:t>
                      </a:r>
                    </a:p>
                  </a:txBody>
                  <a:tcPr marL="36576" marR="36576">
                    <a:solidFill>
                      <a:srgbClr val="18375C"/>
                    </a:solidFill>
                  </a:tcPr>
                </a:tc>
              </a:tr>
              <a:tr h="738051">
                <a:tc>
                  <a:txBody>
                    <a:bodyPr/>
                    <a:lstStyle/>
                    <a:p>
                      <a:pPr algn="l"/>
                      <a:r>
                        <a:rPr sz="700" b="0">
                          <a:solidFill>
                            <a:srgbClr val="1F2933"/>
                          </a:solidFill>
                          <a:latin typeface="Microsoft YaHei"/>
                        </a:rPr>
                        <a:t>Schema Agent</a:t>
                      </a:r>
                    </a:p>
                  </a:txBody>
                  <a:tcPr marL="36576" marR="36576">
                    <a:solidFill>
                      <a:srgbClr val="FFFFFF"/>
                    </a:solidFill>
                  </a:tcPr>
                </a:tc>
                <a:tc>
                  <a:txBody>
                    <a:bodyPr/>
                    <a:lstStyle/>
                    <a:p>
                      <a:pPr algn="l"/>
                      <a:r>
                        <a:rPr sz="700" b="0">
                          <a:solidFill>
                            <a:srgbClr val="1F2933"/>
                          </a:solidFill>
                          <a:latin typeface="Microsoft YaHei"/>
                        </a:rPr>
                        <a:t>问题、schema、值域样例</a:t>
                      </a:r>
                    </a:p>
                  </a:txBody>
                  <a:tcPr marL="36576" marR="36576">
                    <a:solidFill>
                      <a:srgbClr val="FFFFFF"/>
                    </a:solidFill>
                  </a:tcPr>
                </a:tc>
                <a:tc>
                  <a:txBody>
                    <a:bodyPr/>
                    <a:lstStyle/>
                    <a:p>
                      <a:pPr algn="l"/>
                      <a:r>
                        <a:rPr sz="700" b="0">
                          <a:solidFill>
                            <a:srgbClr val="1F2933"/>
                          </a:solidFill>
                          <a:latin typeface="Microsoft YaHei"/>
                        </a:rPr>
                        <a:t>相关表列、join path、候选值</a:t>
                      </a:r>
                    </a:p>
                  </a:txBody>
                  <a:tcPr marL="36576" marR="36576">
                    <a:solidFill>
                      <a:srgbClr val="FFFFFF"/>
                    </a:solidFill>
                  </a:tcPr>
                </a:tc>
                <a:tc>
                  <a:txBody>
                    <a:bodyPr/>
                    <a:lstStyle/>
                    <a:p>
                      <a:pPr algn="l"/>
                      <a:r>
                        <a:rPr sz="700" b="0">
                          <a:solidFill>
                            <a:srgbClr val="1F2933"/>
                          </a:solidFill>
                          <a:latin typeface="Microsoft YaHei"/>
                        </a:rPr>
                        <a:t>schema/value/join accuracy</a:t>
                      </a:r>
                    </a:p>
                  </a:txBody>
                  <a:tcPr marL="36576" marR="36576">
                    <a:solidFill>
                      <a:srgbClr val="FFFFFF"/>
                    </a:solidFill>
                  </a:tcPr>
                </a:tc>
              </a:tr>
              <a:tr h="738051">
                <a:tc>
                  <a:txBody>
                    <a:bodyPr/>
                    <a:lstStyle/>
                    <a:p>
                      <a:pPr algn="l"/>
                      <a:r>
                        <a:rPr sz="700" b="0">
                          <a:solidFill>
                            <a:srgbClr val="1F2933"/>
                          </a:solidFill>
                          <a:latin typeface="Microsoft YaHei"/>
                        </a:rPr>
                        <a:t>SQL+ Generator</a:t>
                      </a:r>
                    </a:p>
                  </a:txBody>
                  <a:tcPr marL="36576" marR="36576">
                    <a:solidFill>
                      <a:srgbClr val="F6F8FA"/>
                    </a:solidFill>
                  </a:tcPr>
                </a:tc>
                <a:tc>
                  <a:txBody>
                    <a:bodyPr/>
                    <a:lstStyle/>
                    <a:p>
                      <a:pPr algn="l"/>
                      <a:r>
                        <a:rPr sz="700" b="0">
                          <a:solidFill>
                            <a:srgbClr val="1F2933"/>
                          </a:solidFill>
                          <a:latin typeface="Microsoft YaHei"/>
                        </a:rPr>
                        <a:t>问题、schema 上下文</a:t>
                      </a:r>
                    </a:p>
                  </a:txBody>
                  <a:tcPr marL="36576" marR="36576">
                    <a:solidFill>
                      <a:srgbClr val="F6F8FA"/>
                    </a:solidFill>
                  </a:tcPr>
                </a:tc>
                <a:tc>
                  <a:txBody>
                    <a:bodyPr/>
                    <a:lstStyle/>
                    <a:p>
                      <a:pPr algn="l"/>
                      <a:r>
                        <a:rPr sz="700" b="0">
                          <a:solidFill>
                            <a:srgbClr val="1F2933"/>
                          </a:solidFill>
                          <a:latin typeface="Microsoft YaHei"/>
                        </a:rPr>
                        <a:t>初始 SQL+</a:t>
                      </a:r>
                    </a:p>
                  </a:txBody>
                  <a:tcPr marL="36576" marR="36576">
                    <a:solidFill>
                      <a:srgbClr val="F6F8FA"/>
                    </a:solidFill>
                  </a:tcPr>
                </a:tc>
                <a:tc>
                  <a:txBody>
                    <a:bodyPr/>
                    <a:lstStyle/>
                    <a:p>
                      <a:pPr algn="l"/>
                      <a:r>
                        <a:rPr sz="700" b="0">
                          <a:solidFill>
                            <a:srgbClr val="1F2933"/>
                          </a:solidFill>
                          <a:latin typeface="Microsoft YaHei"/>
                        </a:rPr>
                        <a:t>SQL+ valid, exec match</a:t>
                      </a:r>
                    </a:p>
                  </a:txBody>
                  <a:tcPr marL="36576" marR="36576">
                    <a:solidFill>
                      <a:srgbClr val="F6F8FA"/>
                    </a:solidFill>
                  </a:tcPr>
                </a:tc>
              </a:tr>
              <a:tr h="738051">
                <a:tc>
                  <a:txBody>
                    <a:bodyPr/>
                    <a:lstStyle/>
                    <a:p>
                      <a:pPr algn="l"/>
                      <a:r>
                        <a:rPr sz="700" b="0">
                          <a:solidFill>
                            <a:srgbClr val="1F2933"/>
                          </a:solidFill>
                          <a:latin typeface="Microsoft YaHei"/>
                        </a:rPr>
                        <a:t>Critic Agent</a:t>
                      </a:r>
                    </a:p>
                  </a:txBody>
                  <a:tcPr marL="36576" marR="36576">
                    <a:solidFill>
                      <a:srgbClr val="FFFFFF"/>
                    </a:solidFill>
                  </a:tcPr>
                </a:tc>
                <a:tc>
                  <a:txBody>
                    <a:bodyPr/>
                    <a:lstStyle/>
                    <a:p>
                      <a:pPr algn="l"/>
                      <a:r>
                        <a:rPr sz="700" b="0">
                          <a:solidFill>
                            <a:srgbClr val="1F2933"/>
                          </a:solidFill>
                          <a:latin typeface="Microsoft YaHei"/>
                        </a:rPr>
                        <a:t>SQL+、执行反馈、结果摘要</a:t>
                      </a:r>
                    </a:p>
                  </a:txBody>
                  <a:tcPr marL="36576" marR="36576">
                    <a:solidFill>
                      <a:srgbClr val="FFFFFF"/>
                    </a:solidFill>
                  </a:tcPr>
                </a:tc>
                <a:tc>
                  <a:txBody>
                    <a:bodyPr/>
                    <a:lstStyle/>
                    <a:p>
                      <a:pPr algn="l"/>
                      <a:r>
                        <a:rPr sz="700" b="0">
                          <a:solidFill>
                            <a:srgbClr val="1F2933"/>
                          </a:solidFill>
                          <a:latin typeface="Microsoft YaHei"/>
                        </a:rPr>
                        <a:t>错误类型、可疑步骤、证据</a:t>
                      </a:r>
                    </a:p>
                  </a:txBody>
                  <a:tcPr marL="36576" marR="36576">
                    <a:solidFill>
                      <a:srgbClr val="FFFFFF"/>
                    </a:solidFill>
                  </a:tcPr>
                </a:tc>
                <a:tc>
                  <a:txBody>
                    <a:bodyPr/>
                    <a:lstStyle/>
                    <a:p>
                      <a:pPr algn="l"/>
                      <a:r>
                        <a:rPr sz="700" b="0">
                          <a:solidFill>
                            <a:srgbClr val="1F2933"/>
                          </a:solidFill>
                          <a:latin typeface="Microsoft YaHei"/>
                        </a:rPr>
                        <a:t>localization accuracy</a:t>
                      </a:r>
                    </a:p>
                  </a:txBody>
                  <a:tcPr marL="36576" marR="36576">
                    <a:solidFill>
                      <a:srgbClr val="FFFFFF"/>
                    </a:solidFill>
                  </a:tcPr>
                </a:tc>
              </a:tr>
              <a:tr h="738051">
                <a:tc>
                  <a:txBody>
                    <a:bodyPr/>
                    <a:lstStyle/>
                    <a:p>
                      <a:pPr algn="l"/>
                      <a:r>
                        <a:rPr sz="700" b="0">
                          <a:solidFill>
                            <a:srgbClr val="1F2933"/>
                          </a:solidFill>
                          <a:latin typeface="Microsoft YaHei"/>
                        </a:rPr>
                        <a:t>Skill Router</a:t>
                      </a:r>
                    </a:p>
                  </a:txBody>
                  <a:tcPr marL="36576" marR="36576">
                    <a:solidFill>
                      <a:srgbClr val="F6F8FA"/>
                    </a:solidFill>
                  </a:tcPr>
                </a:tc>
                <a:tc>
                  <a:txBody>
                    <a:bodyPr/>
                    <a:lstStyle/>
                    <a:p>
                      <a:pPr algn="l"/>
                      <a:r>
                        <a:rPr sz="700" b="0">
                          <a:solidFill>
                            <a:srgbClr val="1F2933"/>
                          </a:solidFill>
                          <a:latin typeface="Microsoft YaHei"/>
                        </a:rPr>
                        <a:t>Critic 输出、SQL+ 结构</a:t>
                      </a:r>
                    </a:p>
                  </a:txBody>
                  <a:tcPr marL="36576" marR="36576">
                    <a:solidFill>
                      <a:srgbClr val="F6F8FA"/>
                    </a:solidFill>
                  </a:tcPr>
                </a:tc>
                <a:tc>
                  <a:txBody>
                    <a:bodyPr/>
                    <a:lstStyle/>
                    <a:p>
                      <a:pPr algn="l"/>
                      <a:r>
                        <a:rPr sz="700" b="0">
                          <a:solidFill>
                            <a:srgbClr val="1F2933"/>
                          </a:solidFill>
                          <a:latin typeface="Microsoft YaHei"/>
                        </a:rPr>
                        <a:t>repair skill 路由</a:t>
                      </a:r>
                    </a:p>
                  </a:txBody>
                  <a:tcPr marL="36576" marR="36576">
                    <a:solidFill>
                      <a:srgbClr val="F6F8FA"/>
                    </a:solidFill>
                  </a:tcPr>
                </a:tc>
                <a:tc>
                  <a:txBody>
                    <a:bodyPr/>
                    <a:lstStyle/>
                    <a:p>
                      <a:pPr algn="l"/>
                      <a:r>
                        <a:rPr sz="700" b="0">
                          <a:solidFill>
                            <a:srgbClr val="1F2933"/>
                          </a:solidFill>
                          <a:latin typeface="Microsoft YaHei"/>
                        </a:rPr>
                        <a:t>router accuracy</a:t>
                      </a:r>
                    </a:p>
                  </a:txBody>
                  <a:tcPr marL="36576" marR="36576">
                    <a:solidFill>
                      <a:srgbClr val="F6F8FA"/>
                    </a:solidFill>
                  </a:tcPr>
                </a:tc>
              </a:tr>
              <a:tr h="738051">
                <a:tc>
                  <a:txBody>
                    <a:bodyPr/>
                    <a:lstStyle/>
                    <a:p>
                      <a:pPr algn="l"/>
                      <a:r>
                        <a:rPr sz="700" b="0">
                          <a:solidFill>
                            <a:srgbClr val="1F2933"/>
                          </a:solidFill>
                          <a:latin typeface="Microsoft YaHei"/>
                        </a:rPr>
                        <a:t>Repair Skill</a:t>
                      </a:r>
                    </a:p>
                  </a:txBody>
                  <a:tcPr marL="36576" marR="36576">
                    <a:solidFill>
                      <a:srgbClr val="FFFFFF"/>
                    </a:solidFill>
                  </a:tcPr>
                </a:tc>
                <a:tc>
                  <a:txBody>
                    <a:bodyPr/>
                    <a:lstStyle/>
                    <a:p>
                      <a:pPr algn="l"/>
                      <a:r>
                        <a:rPr sz="700" b="0">
                          <a:solidFill>
                            <a:srgbClr val="1F2933"/>
                          </a:solidFill>
                          <a:latin typeface="Microsoft YaHei"/>
                        </a:rPr>
                        <a:t>SQL+ 局部步骤、反馈</a:t>
                      </a:r>
                    </a:p>
                  </a:txBody>
                  <a:tcPr marL="36576" marR="36576">
                    <a:solidFill>
                      <a:srgbClr val="FFFFFF"/>
                    </a:solidFill>
                  </a:tcPr>
                </a:tc>
                <a:tc>
                  <a:txBody>
                    <a:bodyPr/>
                    <a:lstStyle/>
                    <a:p>
                      <a:pPr algn="l"/>
                      <a:r>
                        <a:rPr sz="700" b="0">
                          <a:solidFill>
                            <a:srgbClr val="1F2933"/>
                          </a:solidFill>
                          <a:latin typeface="Microsoft YaHei"/>
                        </a:rPr>
                        <a:t>候选 patch</a:t>
                      </a:r>
                    </a:p>
                  </a:txBody>
                  <a:tcPr marL="36576" marR="36576">
                    <a:solidFill>
                      <a:srgbClr val="FFFFFF"/>
                    </a:solidFill>
                  </a:tcPr>
                </a:tc>
                <a:tc>
                  <a:txBody>
                    <a:bodyPr/>
                    <a:lstStyle/>
                    <a:p>
                      <a:pPr algn="l"/>
                      <a:r>
                        <a:rPr sz="700" b="0">
                          <a:solidFill>
                            <a:srgbClr val="1F2933"/>
                          </a:solidFill>
                          <a:latin typeface="Microsoft YaHei"/>
                        </a:rPr>
                        <a:t>patch minimality</a:t>
                      </a:r>
                    </a:p>
                  </a:txBody>
                  <a:tcPr marL="36576" marR="36576">
                    <a:solidFill>
                      <a:srgbClr val="FFFFFF"/>
                    </a:solidFill>
                  </a:tcPr>
                </a:tc>
              </a:tr>
              <a:tr h="738054">
                <a:tc>
                  <a:txBody>
                    <a:bodyPr/>
                    <a:lstStyle/>
                    <a:p>
                      <a:pPr algn="l"/>
                      <a:r>
                        <a:rPr sz="700" b="0">
                          <a:solidFill>
                            <a:srgbClr val="1F2933"/>
                          </a:solidFill>
                          <a:latin typeface="Microsoft YaHei"/>
                        </a:rPr>
                        <a:t>Executor</a:t>
                      </a:r>
                    </a:p>
                  </a:txBody>
                  <a:tcPr marL="36576" marR="36576">
                    <a:solidFill>
                      <a:srgbClr val="F6F8FA"/>
                    </a:solidFill>
                  </a:tcPr>
                </a:tc>
                <a:tc>
                  <a:txBody>
                    <a:bodyPr/>
                    <a:lstStyle/>
                    <a:p>
                      <a:pPr algn="l"/>
                      <a:r>
                        <a:rPr sz="700" b="0">
                          <a:solidFill>
                            <a:srgbClr val="1F2933"/>
                          </a:solidFill>
                          <a:latin typeface="Microsoft YaHei"/>
                        </a:rPr>
                        <a:t>候选 SQL</a:t>
                      </a:r>
                    </a:p>
                  </a:txBody>
                  <a:tcPr marL="36576" marR="36576">
                    <a:solidFill>
                      <a:srgbClr val="F6F8FA"/>
                    </a:solidFill>
                  </a:tcPr>
                </a:tc>
                <a:tc>
                  <a:txBody>
                    <a:bodyPr/>
                    <a:lstStyle/>
                    <a:p>
                      <a:pPr algn="l"/>
                      <a:r>
                        <a:rPr sz="700" b="0">
                          <a:solidFill>
                            <a:srgbClr val="1F2933"/>
                          </a:solidFill>
                          <a:latin typeface="Microsoft YaHei"/>
                        </a:rPr>
                        <a:t>执行结果、错误、最终选择</a:t>
                      </a:r>
                    </a:p>
                  </a:txBody>
                  <a:tcPr marL="36576" marR="36576">
                    <a:solidFill>
                      <a:srgbClr val="F6F8FA"/>
                    </a:solidFill>
                  </a:tcPr>
                </a:tc>
                <a:tc>
                  <a:txBody>
                    <a:bodyPr/>
                    <a:lstStyle/>
                    <a:p>
                      <a:pPr algn="l"/>
                      <a:r>
                        <a:rPr sz="700" b="0">
                          <a:solidFill>
                            <a:srgbClr val="1F2933"/>
                          </a:solidFill>
                          <a:latin typeface="Microsoft YaHei"/>
                        </a:rPr>
                        <a:t>repair success, latency</a:t>
                      </a:r>
                    </a:p>
                  </a:txBody>
                  <a:tcPr marL="36576" marR="36576">
                    <a:solidFill>
                      <a:srgbClr val="F6F8FA"/>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实验结构设计：动机、可行性、对比、泛化</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15</a:t>
            </a:r>
          </a:p>
        </p:txBody>
      </p:sp>
      <p:graphicFrame>
        <p:nvGraphicFramePr>
          <p:cNvPr id="4" name="Table 3"/>
          <p:cNvGraphicFramePr>
            <a:graphicFrameLocks noGrp="1"/>
          </p:cNvGraphicFramePr>
          <p:nvPr/>
        </p:nvGraphicFramePr>
        <p:xfrm>
          <a:off x="411480" y="1051560"/>
          <a:ext cx="8321040" cy="4297680"/>
        </p:xfrm>
        <a:graphic>
          <a:graphicData uri="http://schemas.openxmlformats.org/drawingml/2006/table">
            <a:tbl>
              <a:tblPr firstRow="1" bandRow="1">
                <a:tableStyleId>{5C22544A-7EE6-4342-B048-85BDC9FD1C3A}</a:tableStyleId>
              </a:tblPr>
              <a:tblGrid>
                <a:gridCol w="2773680"/>
                <a:gridCol w="2773680"/>
                <a:gridCol w="2773680"/>
              </a:tblGrid>
              <a:tr h="716280">
                <a:tc>
                  <a:txBody>
                    <a:bodyPr/>
                    <a:lstStyle/>
                    <a:p>
                      <a:pPr algn="ctr"/>
                      <a:r>
                        <a:rPr sz="900" b="1">
                          <a:solidFill>
                            <a:srgbClr val="FFFFFF"/>
                          </a:solidFill>
                          <a:latin typeface="Microsoft YaHei"/>
                        </a:rPr>
                        <a:t>实验层次</a:t>
                      </a:r>
                    </a:p>
                  </a:txBody>
                  <a:tcPr marL="36576" marR="36576">
                    <a:solidFill>
                      <a:srgbClr val="18375C"/>
                    </a:solidFill>
                  </a:tcPr>
                </a:tc>
                <a:tc>
                  <a:txBody>
                    <a:bodyPr/>
                    <a:lstStyle/>
                    <a:p>
                      <a:pPr algn="ctr"/>
                      <a:r>
                        <a:rPr sz="900" b="1">
                          <a:solidFill>
                            <a:srgbClr val="FFFFFF"/>
                          </a:solidFill>
                          <a:latin typeface="Microsoft YaHei"/>
                        </a:rPr>
                        <a:t>对应实验</a:t>
                      </a:r>
                    </a:p>
                  </a:txBody>
                  <a:tcPr marL="36576" marR="36576">
                    <a:solidFill>
                      <a:srgbClr val="18375C"/>
                    </a:solidFill>
                  </a:tcPr>
                </a:tc>
                <a:tc>
                  <a:txBody>
                    <a:bodyPr/>
                    <a:lstStyle/>
                    <a:p>
                      <a:pPr algn="ctr"/>
                      <a:r>
                        <a:rPr sz="900" b="1">
                          <a:solidFill>
                            <a:srgbClr val="FFFFFF"/>
                          </a:solidFill>
                          <a:latin typeface="Microsoft YaHei"/>
                        </a:rPr>
                        <a:t>回答的问题</a:t>
                      </a:r>
                    </a:p>
                  </a:txBody>
                  <a:tcPr marL="36576" marR="36576">
                    <a:solidFill>
                      <a:srgbClr val="18375C"/>
                    </a:solidFill>
                  </a:tcPr>
                </a:tc>
              </a:tr>
              <a:tr h="716280">
                <a:tc>
                  <a:txBody>
                    <a:bodyPr/>
                    <a:lstStyle/>
                    <a:p>
                      <a:pPr algn="l"/>
                      <a:r>
                        <a:rPr sz="800" b="0">
                          <a:solidFill>
                            <a:srgbClr val="1F2933"/>
                          </a:solidFill>
                          <a:latin typeface="Microsoft YaHei"/>
                        </a:rPr>
                        <a:t>动机测试</a:t>
                      </a:r>
                    </a:p>
                  </a:txBody>
                  <a:tcPr marL="36576" marR="36576">
                    <a:solidFill>
                      <a:srgbClr val="FFFFFF"/>
                    </a:solidFill>
                  </a:tcPr>
                </a:tc>
                <a:tc>
                  <a:txBody>
                    <a:bodyPr/>
                    <a:lstStyle/>
                    <a:p>
                      <a:pPr algn="l"/>
                      <a:r>
                        <a:rPr sz="800" b="0">
                          <a:solidFill>
                            <a:srgbClr val="1F2933"/>
                          </a:solidFill>
                          <a:latin typeface="Microsoft YaHei"/>
                        </a:rPr>
                        <a:t>baseline、IR 复杂度、单 Refiner 对比</a:t>
                      </a:r>
                    </a:p>
                  </a:txBody>
                  <a:tcPr marL="36576" marR="36576">
                    <a:solidFill>
                      <a:srgbClr val="FFFFFF"/>
                    </a:solidFill>
                  </a:tcPr>
                </a:tc>
                <a:tc>
                  <a:txBody>
                    <a:bodyPr/>
                    <a:lstStyle/>
                    <a:p>
                      <a:pPr algn="l"/>
                      <a:r>
                        <a:rPr sz="800" b="0">
                          <a:solidFill>
                            <a:srgbClr val="1F2933"/>
                          </a:solidFill>
                          <a:latin typeface="Microsoft YaHei"/>
                        </a:rPr>
                        <a:t>为什么不能只靠直接生成或整体重写</a:t>
                      </a:r>
                    </a:p>
                  </a:txBody>
                  <a:tcPr marL="36576" marR="36576">
                    <a:solidFill>
                      <a:srgbClr val="FFFFFF"/>
                    </a:solidFill>
                  </a:tcPr>
                </a:tc>
              </a:tr>
              <a:tr h="716280">
                <a:tc>
                  <a:txBody>
                    <a:bodyPr/>
                    <a:lstStyle/>
                    <a:p>
                      <a:pPr algn="l"/>
                      <a:r>
                        <a:rPr sz="800" b="0">
                          <a:solidFill>
                            <a:srgbClr val="1F2933"/>
                          </a:solidFill>
                          <a:latin typeface="Microsoft YaHei"/>
                        </a:rPr>
                        <a:t>方案可行性</a:t>
                      </a:r>
                    </a:p>
                  </a:txBody>
                  <a:tcPr marL="36576" marR="36576">
                    <a:solidFill>
                      <a:srgbClr val="F6F8FA"/>
                    </a:solidFill>
                  </a:tcPr>
                </a:tc>
                <a:tc>
                  <a:txBody>
                    <a:bodyPr/>
                    <a:lstStyle/>
                    <a:p>
                      <a:pPr algn="l"/>
                      <a:r>
                        <a:rPr sz="800" b="0">
                          <a:solidFill>
                            <a:srgbClr val="1F2933"/>
                          </a:solidFill>
                          <a:latin typeface="Microsoft YaHei"/>
                        </a:rPr>
                        <a:t>SQL+ parser、translator、executor 闭环</a:t>
                      </a:r>
                    </a:p>
                  </a:txBody>
                  <a:tcPr marL="36576" marR="36576">
                    <a:solidFill>
                      <a:srgbClr val="F6F8FA"/>
                    </a:solidFill>
                  </a:tcPr>
                </a:tc>
                <a:tc>
                  <a:txBody>
                    <a:bodyPr/>
                    <a:lstStyle/>
                    <a:p>
                      <a:pPr algn="l"/>
                      <a:r>
                        <a:rPr sz="800" b="0">
                          <a:solidFill>
                            <a:srgbClr val="1F2933"/>
                          </a:solidFill>
                          <a:latin typeface="Microsoft YaHei"/>
                        </a:rPr>
                        <a:t>SQL+ 是否能稳定解析、转换和执行</a:t>
                      </a:r>
                    </a:p>
                  </a:txBody>
                  <a:tcPr marL="36576" marR="36576">
                    <a:solidFill>
                      <a:srgbClr val="F6F8FA"/>
                    </a:solidFill>
                  </a:tcPr>
                </a:tc>
              </a:tr>
              <a:tr h="716280">
                <a:tc>
                  <a:txBody>
                    <a:bodyPr/>
                    <a:lstStyle/>
                    <a:p>
                      <a:pPr algn="l"/>
                      <a:r>
                        <a:rPr sz="800" b="0">
                          <a:solidFill>
                            <a:srgbClr val="1F2933"/>
                          </a:solidFill>
                          <a:latin typeface="Microsoft YaHei"/>
                        </a:rPr>
                        <a:t>机制可行性</a:t>
                      </a:r>
                    </a:p>
                  </a:txBody>
                  <a:tcPr marL="36576" marR="36576">
                    <a:solidFill>
                      <a:srgbClr val="FFFFFF"/>
                    </a:solidFill>
                  </a:tcPr>
                </a:tc>
                <a:tc>
                  <a:txBody>
                    <a:bodyPr/>
                    <a:lstStyle/>
                    <a:p>
                      <a:pPr algn="l"/>
                      <a:r>
                        <a:rPr sz="800" b="0">
                          <a:solidFill>
                            <a:srgbClr val="1F2933"/>
                          </a:solidFill>
                          <a:latin typeface="Microsoft YaHei"/>
                        </a:rPr>
                        <a:t>Critic -&gt; Router -&gt; Repair Skill -&gt; Executor</a:t>
                      </a:r>
                    </a:p>
                  </a:txBody>
                  <a:tcPr marL="36576" marR="36576">
                    <a:solidFill>
                      <a:srgbClr val="FFFFFF"/>
                    </a:solidFill>
                  </a:tcPr>
                </a:tc>
                <a:tc>
                  <a:txBody>
                    <a:bodyPr/>
                    <a:lstStyle/>
                    <a:p>
                      <a:pPr algn="l"/>
                      <a:r>
                        <a:rPr sz="800" b="0">
                          <a:solidFill>
                            <a:srgbClr val="1F2933"/>
                          </a:solidFill>
                          <a:latin typeface="Microsoft YaHei"/>
                        </a:rPr>
                        <a:t>局部 skill 分治是否能修复已知错误类型</a:t>
                      </a:r>
                    </a:p>
                  </a:txBody>
                  <a:tcPr marL="36576" marR="36576">
                    <a:solidFill>
                      <a:srgbClr val="FFFFFF"/>
                    </a:solidFill>
                  </a:tcPr>
                </a:tc>
              </a:tr>
              <a:tr h="716280">
                <a:tc>
                  <a:txBody>
                    <a:bodyPr/>
                    <a:lstStyle/>
                    <a:p>
                      <a:pPr algn="l"/>
                      <a:r>
                        <a:rPr sz="800" b="0">
                          <a:solidFill>
                            <a:srgbClr val="1F2933"/>
                          </a:solidFill>
                          <a:latin typeface="Microsoft YaHei"/>
                        </a:rPr>
                        <a:t>公开子集验证</a:t>
                      </a:r>
                    </a:p>
                  </a:txBody>
                  <a:tcPr marL="36576" marR="36576">
                    <a:solidFill>
                      <a:srgbClr val="F6F8FA"/>
                    </a:solidFill>
                  </a:tcPr>
                </a:tc>
                <a:tc>
                  <a:txBody>
                    <a:bodyPr/>
                    <a:lstStyle/>
                    <a:p>
                      <a:pPr algn="l"/>
                      <a:r>
                        <a:rPr sz="800" b="0">
                          <a:solidFill>
                            <a:srgbClr val="1F2933"/>
                          </a:solidFill>
                          <a:latin typeface="Microsoft YaHei"/>
                        </a:rPr>
                        <a:t>Spider concert_singer 小规模 fresh e2e 与 semantic repair</a:t>
                      </a:r>
                    </a:p>
                  </a:txBody>
                  <a:tcPr marL="36576" marR="36576">
                    <a:solidFill>
                      <a:srgbClr val="F6F8FA"/>
                    </a:solidFill>
                  </a:tcPr>
                </a:tc>
                <a:tc>
                  <a:txBody>
                    <a:bodyPr/>
                    <a:lstStyle/>
                    <a:p>
                      <a:pPr algn="l"/>
                      <a:r>
                        <a:rPr sz="800" b="0">
                          <a:solidFill>
                            <a:srgbClr val="1F2933"/>
                          </a:solidFill>
                          <a:latin typeface="Microsoft YaHei"/>
                        </a:rPr>
                        <a:t>能否离开自建数据集初步跑通</a:t>
                      </a:r>
                    </a:p>
                  </a:txBody>
                  <a:tcPr marL="36576" marR="36576">
                    <a:solidFill>
                      <a:srgbClr val="F6F8FA"/>
                    </a:solidFill>
                  </a:tcPr>
                </a:tc>
              </a:tr>
              <a:tr h="716280">
                <a:tc>
                  <a:txBody>
                    <a:bodyPr/>
                    <a:lstStyle/>
                    <a:p>
                      <a:pPr algn="l"/>
                      <a:r>
                        <a:rPr sz="800" b="0">
                          <a:solidFill>
                            <a:srgbClr val="1F2933"/>
                          </a:solidFill>
                          <a:latin typeface="Microsoft YaHei"/>
                        </a:rPr>
                        <a:t>后续对比与消融</a:t>
                      </a:r>
                    </a:p>
                  </a:txBody>
                  <a:tcPr marL="36576" marR="36576">
                    <a:solidFill>
                      <a:srgbClr val="FFFFFF"/>
                    </a:solidFill>
                  </a:tcPr>
                </a:tc>
                <a:tc>
                  <a:txBody>
                    <a:bodyPr/>
                    <a:lstStyle/>
                    <a:p>
                      <a:pPr algn="l"/>
                      <a:r>
                        <a:rPr sz="800" b="0">
                          <a:solidFill>
                            <a:srgbClr val="1F2933"/>
                          </a:solidFill>
                          <a:latin typeface="Microsoft YaHei"/>
                        </a:rPr>
                        <a:t>多表示、多修复策略、去模块实验</a:t>
                      </a:r>
                    </a:p>
                  </a:txBody>
                  <a:tcPr marL="36576" marR="36576">
                    <a:solidFill>
                      <a:srgbClr val="FFFFFF"/>
                    </a:solidFill>
                  </a:tcPr>
                </a:tc>
                <a:tc>
                  <a:txBody>
                    <a:bodyPr/>
                    <a:lstStyle/>
                    <a:p>
                      <a:pPr algn="l"/>
                      <a:r>
                        <a:rPr sz="800" b="0">
                          <a:solidFill>
                            <a:srgbClr val="1F2933"/>
                          </a:solidFill>
                          <a:latin typeface="Microsoft YaHei"/>
                        </a:rPr>
                        <a:t>各模块是否真的贡献效果</a:t>
                      </a:r>
                    </a:p>
                  </a:txBody>
                  <a:tcPr marL="36576" marR="36576">
                    <a:solidFill>
                      <a:srgbClr val="FFFFFF"/>
                    </a:solidFill>
                  </a:tcPr>
                </a:tc>
              </a:tr>
            </a:tbl>
          </a:graphicData>
        </a:graphic>
      </p:graphicFrame>
      <p:sp>
        <p:nvSpPr>
          <p:cNvPr id="5" name="Rectangle 4"/>
          <p:cNvSpPr/>
          <p:nvPr/>
        </p:nvSpPr>
        <p:spPr>
          <a:xfrm>
            <a:off x="804672" y="5559552"/>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B22626"/>
                </a:solidFill>
                <a:latin typeface="Microsoft YaHei"/>
              </a:rPr>
              <a:t>结构原则：动机测试说明为什么做，可行性实验说明能不能做。</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前期可行性实验：总体设置</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16</a:t>
            </a:r>
          </a:p>
        </p:txBody>
      </p:sp>
      <p:graphicFrame>
        <p:nvGraphicFramePr>
          <p:cNvPr id="4" name="Table 3"/>
          <p:cNvGraphicFramePr>
            <a:graphicFrameLocks noGrp="1"/>
          </p:cNvGraphicFramePr>
          <p:nvPr/>
        </p:nvGraphicFramePr>
        <p:xfrm>
          <a:off x="411480" y="960120"/>
          <a:ext cx="8321040" cy="5257800"/>
        </p:xfrm>
        <a:graphic>
          <a:graphicData uri="http://schemas.openxmlformats.org/drawingml/2006/table">
            <a:tbl>
              <a:tblPr firstRow="1" bandRow="1">
                <a:tableStyleId>{5C22544A-7EE6-4342-B048-85BDC9FD1C3A}</a:tableStyleId>
              </a:tblPr>
              <a:tblGrid>
                <a:gridCol w="4160520"/>
                <a:gridCol w="4160520"/>
              </a:tblGrid>
              <a:tr h="525780">
                <a:tc>
                  <a:txBody>
                    <a:bodyPr/>
                    <a:lstStyle/>
                    <a:p>
                      <a:pPr algn="ctr"/>
                      <a:r>
                        <a:rPr sz="900" b="1">
                          <a:solidFill>
                            <a:srgbClr val="FFFFFF"/>
                          </a:solidFill>
                          <a:latin typeface="Microsoft YaHei"/>
                        </a:rPr>
                        <a:t>项目</a:t>
                      </a:r>
                    </a:p>
                  </a:txBody>
                  <a:tcPr marL="36576" marR="36576">
                    <a:solidFill>
                      <a:srgbClr val="18375C"/>
                    </a:solidFill>
                  </a:tcPr>
                </a:tc>
                <a:tc>
                  <a:txBody>
                    <a:bodyPr/>
                    <a:lstStyle/>
                    <a:p>
                      <a:pPr algn="ctr"/>
                      <a:r>
                        <a:rPr sz="900" b="1">
                          <a:solidFill>
                            <a:srgbClr val="FFFFFF"/>
                          </a:solidFill>
                          <a:latin typeface="Microsoft YaHei"/>
                        </a:rPr>
                        <a:t>当前设置</a:t>
                      </a:r>
                    </a:p>
                  </a:txBody>
                  <a:tcPr marL="36576" marR="36576">
                    <a:solidFill>
                      <a:srgbClr val="18375C"/>
                    </a:solidFill>
                  </a:tcPr>
                </a:tc>
              </a:tr>
              <a:tr h="525780">
                <a:tc>
                  <a:txBody>
                    <a:bodyPr/>
                    <a:lstStyle/>
                    <a:p>
                      <a:pPr algn="l"/>
                      <a:r>
                        <a:rPr sz="800" b="0">
                          <a:solidFill>
                            <a:srgbClr val="1F2933"/>
                          </a:solidFill>
                          <a:latin typeface="Microsoft YaHei"/>
                        </a:rPr>
                        <a:t>自建数据库</a:t>
                      </a:r>
                    </a:p>
                  </a:txBody>
                  <a:tcPr marL="36576" marR="36576">
                    <a:solidFill>
                      <a:srgbClr val="FFFFFF"/>
                    </a:solidFill>
                  </a:tcPr>
                </a:tc>
                <a:tc>
                  <a:txBody>
                    <a:bodyPr/>
                    <a:lstStyle/>
                    <a:p>
                      <a:pPr algn="l"/>
                      <a:r>
                        <a:rPr sz="800" b="0">
                          <a:solidFill>
                            <a:srgbClr val="1F2933"/>
                          </a:solidFill>
                          <a:latin typeface="Microsoft YaHei"/>
                        </a:rPr>
                        <a:t>企业订单分析样例库</a:t>
                      </a:r>
                    </a:p>
                  </a:txBody>
                  <a:tcPr marL="36576" marR="36576">
                    <a:solidFill>
                      <a:srgbClr val="FFFFFF"/>
                    </a:solidFill>
                  </a:tcPr>
                </a:tc>
              </a:tr>
              <a:tr h="525780">
                <a:tc>
                  <a:txBody>
                    <a:bodyPr/>
                    <a:lstStyle/>
                    <a:p>
                      <a:pPr algn="l"/>
                      <a:r>
                        <a:rPr sz="800" b="0">
                          <a:solidFill>
                            <a:srgbClr val="1F2933"/>
                          </a:solidFill>
                          <a:latin typeface="Microsoft YaHei"/>
                        </a:rPr>
                        <a:t>数据表</a:t>
                      </a:r>
                    </a:p>
                  </a:txBody>
                  <a:tcPr marL="36576" marR="36576">
                    <a:solidFill>
                      <a:srgbClr val="F6F8FA"/>
                    </a:solidFill>
                  </a:tcPr>
                </a:tc>
                <a:tc>
                  <a:txBody>
                    <a:bodyPr/>
                    <a:lstStyle/>
                    <a:p>
                      <a:pPr algn="l"/>
                      <a:r>
                        <a:rPr sz="800" b="0">
                          <a:solidFill>
                            <a:srgbClr val="1F2933"/>
                          </a:solidFill>
                          <a:latin typeface="Microsoft YaHei"/>
                        </a:rPr>
                        <a:t>customers、products、orders、order_items</a:t>
                      </a:r>
                    </a:p>
                  </a:txBody>
                  <a:tcPr marL="36576" marR="36576">
                    <a:solidFill>
                      <a:srgbClr val="F6F8FA"/>
                    </a:solidFill>
                  </a:tcPr>
                </a:tc>
              </a:tr>
              <a:tr h="525780">
                <a:tc>
                  <a:txBody>
                    <a:bodyPr/>
                    <a:lstStyle/>
                    <a:p>
                      <a:pPr algn="l"/>
                      <a:r>
                        <a:rPr sz="800" b="0">
                          <a:solidFill>
                            <a:srgbClr val="1F2933"/>
                          </a:solidFill>
                          <a:latin typeface="Microsoft YaHei"/>
                        </a:rPr>
                        <a:t>自然语言查询</a:t>
                      </a:r>
                    </a:p>
                  </a:txBody>
                  <a:tcPr marL="36576" marR="36576">
                    <a:solidFill>
                      <a:srgbClr val="FFFFFF"/>
                    </a:solidFill>
                  </a:tcPr>
                </a:tc>
                <a:tc>
                  <a:txBody>
                    <a:bodyPr/>
                    <a:lstStyle/>
                    <a:p>
                      <a:pPr algn="l"/>
                      <a:r>
                        <a:rPr sz="800" b="0">
                          <a:solidFill>
                            <a:srgbClr val="1F2933"/>
                          </a:solidFill>
                          <a:latin typeface="Microsoft YaHei"/>
                        </a:rPr>
                        <a:t>30 条</a:t>
                      </a:r>
                    </a:p>
                  </a:txBody>
                  <a:tcPr marL="36576" marR="36576">
                    <a:solidFill>
                      <a:srgbClr val="FFFFFF"/>
                    </a:solidFill>
                  </a:tcPr>
                </a:tc>
              </a:tr>
              <a:tr h="525780">
                <a:tc>
                  <a:txBody>
                    <a:bodyPr/>
                    <a:lstStyle/>
                    <a:p>
                      <a:pPr algn="l"/>
                      <a:r>
                        <a:rPr sz="800" b="0">
                          <a:solidFill>
                            <a:srgbClr val="1F2933"/>
                          </a:solidFill>
                          <a:latin typeface="Microsoft YaHei"/>
                        </a:rPr>
                        <a:t>SQL+ 标准样例</a:t>
                      </a:r>
                    </a:p>
                  </a:txBody>
                  <a:tcPr marL="36576" marR="36576">
                    <a:solidFill>
                      <a:srgbClr val="F6F8FA"/>
                    </a:solidFill>
                  </a:tcPr>
                </a:tc>
                <a:tc>
                  <a:txBody>
                    <a:bodyPr/>
                    <a:lstStyle/>
                    <a:p>
                      <a:pPr algn="l"/>
                      <a:r>
                        <a:rPr sz="800" b="0">
                          <a:solidFill>
                            <a:srgbClr val="1F2933"/>
                          </a:solidFill>
                          <a:latin typeface="Microsoft YaHei"/>
                        </a:rPr>
                        <a:t>30 条</a:t>
                      </a:r>
                    </a:p>
                  </a:txBody>
                  <a:tcPr marL="36576" marR="36576">
                    <a:solidFill>
                      <a:srgbClr val="F6F8FA"/>
                    </a:solidFill>
                  </a:tcPr>
                </a:tc>
              </a:tr>
              <a:tr h="525780">
                <a:tc>
                  <a:txBody>
                    <a:bodyPr/>
                    <a:lstStyle/>
                    <a:p>
                      <a:pPr algn="l"/>
                      <a:r>
                        <a:rPr sz="800" b="0">
                          <a:solidFill>
                            <a:srgbClr val="1F2933"/>
                          </a:solidFill>
                          <a:latin typeface="Microsoft YaHei"/>
                        </a:rPr>
                        <a:t>修复样例</a:t>
                      </a:r>
                    </a:p>
                  </a:txBody>
                  <a:tcPr marL="36576" marR="36576">
                    <a:solidFill>
                      <a:srgbClr val="FFFFFF"/>
                    </a:solidFill>
                  </a:tcPr>
                </a:tc>
                <a:tc>
                  <a:txBody>
                    <a:bodyPr/>
                    <a:lstStyle/>
                    <a:p>
                      <a:pPr algn="l"/>
                      <a:r>
                        <a:rPr sz="800" b="0">
                          <a:solidFill>
                            <a:srgbClr val="1F2933"/>
                          </a:solidFill>
                          <a:latin typeface="Microsoft YaHei"/>
                        </a:rPr>
                        <a:t>15 条规则修正样例；13 条 SQL+ prompt v2 已知失败样例</a:t>
                      </a:r>
                    </a:p>
                  </a:txBody>
                  <a:tcPr marL="36576" marR="36576">
                    <a:solidFill>
                      <a:srgbClr val="FFFFFF"/>
                    </a:solidFill>
                  </a:tcPr>
                </a:tc>
              </a:tr>
              <a:tr h="525780">
                <a:tc>
                  <a:txBody>
                    <a:bodyPr/>
                    <a:lstStyle/>
                    <a:p>
                      <a:pPr algn="l"/>
                      <a:r>
                        <a:rPr sz="800" b="0">
                          <a:solidFill>
                            <a:srgbClr val="1F2933"/>
                          </a:solidFill>
                          <a:latin typeface="Microsoft YaHei"/>
                        </a:rPr>
                        <a:t>执行环境</a:t>
                      </a:r>
                    </a:p>
                  </a:txBody>
                  <a:tcPr marL="36576" marR="36576">
                    <a:solidFill>
                      <a:srgbClr val="F6F8FA"/>
                    </a:solidFill>
                  </a:tcPr>
                </a:tc>
                <a:tc>
                  <a:txBody>
                    <a:bodyPr/>
                    <a:lstStyle/>
                    <a:p>
                      <a:pPr algn="l"/>
                      <a:r>
                        <a:rPr sz="800" b="0">
                          <a:solidFill>
                            <a:srgbClr val="1F2933"/>
                          </a:solidFill>
                          <a:latin typeface="Microsoft YaHei"/>
                        </a:rPr>
                        <a:t>SQLite 内存数据库</a:t>
                      </a:r>
                    </a:p>
                  </a:txBody>
                  <a:tcPr marL="36576" marR="36576">
                    <a:solidFill>
                      <a:srgbClr val="F6F8FA"/>
                    </a:solidFill>
                  </a:tcPr>
                </a:tc>
              </a:tr>
              <a:tr h="525780">
                <a:tc>
                  <a:txBody>
                    <a:bodyPr/>
                    <a:lstStyle/>
                    <a:p>
                      <a:pPr algn="l"/>
                      <a:r>
                        <a:rPr sz="800" b="0">
                          <a:solidFill>
                            <a:srgbClr val="1F2933"/>
                          </a:solidFill>
                          <a:latin typeface="Microsoft YaHei"/>
                        </a:rPr>
                        <a:t>模型</a:t>
                      </a:r>
                    </a:p>
                  </a:txBody>
                  <a:tcPr marL="36576" marR="36576">
                    <a:solidFill>
                      <a:srgbClr val="FFFFFF"/>
                    </a:solidFill>
                  </a:tcPr>
                </a:tc>
                <a:tc>
                  <a:txBody>
                    <a:bodyPr/>
                    <a:lstStyle/>
                    <a:p>
                      <a:pPr algn="l"/>
                      <a:r>
                        <a:rPr sz="800" b="0">
                          <a:solidFill>
                            <a:srgbClr val="1F2933"/>
                          </a:solidFill>
                          <a:latin typeface="Microsoft YaHei"/>
                        </a:rPr>
                        <a:t>gpt-5-mini</a:t>
                      </a:r>
                    </a:p>
                  </a:txBody>
                  <a:tcPr marL="36576" marR="36576">
                    <a:solidFill>
                      <a:srgbClr val="FFFFFF"/>
                    </a:solidFill>
                  </a:tcPr>
                </a:tc>
              </a:tr>
              <a:tr h="525780">
                <a:tc>
                  <a:txBody>
                    <a:bodyPr/>
                    <a:lstStyle/>
                    <a:p>
                      <a:pPr algn="l"/>
                      <a:r>
                        <a:rPr sz="800" b="0">
                          <a:solidFill>
                            <a:srgbClr val="1F2933"/>
                          </a:solidFill>
                          <a:latin typeface="Microsoft YaHei"/>
                        </a:rPr>
                        <a:t>评价方式</a:t>
                      </a:r>
                    </a:p>
                  </a:txBody>
                  <a:tcPr marL="36576" marR="36576">
                    <a:solidFill>
                      <a:srgbClr val="F6F8FA"/>
                    </a:solidFill>
                  </a:tcPr>
                </a:tc>
                <a:tc>
                  <a:txBody>
                    <a:bodyPr/>
                    <a:lstStyle/>
                    <a:p>
                      <a:pPr algn="l"/>
                      <a:r>
                        <a:rPr sz="800" b="0">
                          <a:solidFill>
                            <a:srgbClr val="1F2933"/>
                          </a:solidFill>
                          <a:latin typeface="Microsoft YaHei"/>
                        </a:rPr>
                        <a:t>执行生成 SQL，并与 gold SQL 执行结果比较</a:t>
                      </a:r>
                    </a:p>
                  </a:txBody>
                  <a:tcPr marL="36576" marR="36576">
                    <a:solidFill>
                      <a:srgbClr val="F6F8FA"/>
                    </a:solidFill>
                  </a:tcPr>
                </a:tc>
              </a:tr>
              <a:tr h="525780">
                <a:tc>
                  <a:txBody>
                    <a:bodyPr/>
                    <a:lstStyle/>
                    <a:p>
                      <a:pPr algn="l"/>
                      <a:r>
                        <a:rPr sz="800" b="0">
                          <a:solidFill>
                            <a:srgbClr val="1F2933"/>
                          </a:solidFill>
                          <a:latin typeface="Microsoft YaHei"/>
                        </a:rPr>
                        <a:t>gold 边界</a:t>
                      </a:r>
                    </a:p>
                  </a:txBody>
                  <a:tcPr marL="36576" marR="36576">
                    <a:solidFill>
                      <a:srgbClr val="FFFFFF"/>
                    </a:solidFill>
                  </a:tcPr>
                </a:tc>
                <a:tc>
                  <a:txBody>
                    <a:bodyPr/>
                    <a:lstStyle/>
                    <a:p>
                      <a:pPr algn="l"/>
                      <a:r>
                        <a:rPr sz="800" b="0">
                          <a:solidFill>
                            <a:srgbClr val="1F2933"/>
                          </a:solidFill>
                          <a:latin typeface="Microsoft YaHei"/>
                        </a:rPr>
                        <a:t>gold SQL 只用于离线评估，非 gold 修复不把 gold 差异输入模型</a:t>
                      </a:r>
                    </a:p>
                  </a:txBody>
                  <a:tcPr marL="36576" marR="36576">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实验一：SQL+ 表达与转换可行性</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17</a:t>
            </a:r>
          </a:p>
        </p:txBody>
      </p:sp>
      <p:graphicFrame>
        <p:nvGraphicFramePr>
          <p:cNvPr id="4" name="Table 3"/>
          <p:cNvGraphicFramePr>
            <a:graphicFrameLocks noGrp="1"/>
          </p:cNvGraphicFramePr>
          <p:nvPr/>
        </p:nvGraphicFramePr>
        <p:xfrm>
          <a:off x="411480" y="1005840"/>
          <a:ext cx="8321040" cy="4800600"/>
        </p:xfrm>
        <a:graphic>
          <a:graphicData uri="http://schemas.openxmlformats.org/drawingml/2006/table">
            <a:tbl>
              <a:tblPr firstRow="1" bandRow="1">
                <a:tableStyleId>{5C22544A-7EE6-4342-B048-85BDC9FD1C3A}</a:tableStyleId>
              </a:tblPr>
              <a:tblGrid>
                <a:gridCol w="4160520"/>
                <a:gridCol w="4160520"/>
              </a:tblGrid>
              <a:tr h="800100">
                <a:tc>
                  <a:txBody>
                    <a:bodyPr/>
                    <a:lstStyle/>
                    <a:p>
                      <a:pPr algn="ctr"/>
                      <a:r>
                        <a:rPr sz="1000" b="1">
                          <a:solidFill>
                            <a:srgbClr val="FFFFFF"/>
                          </a:solidFill>
                          <a:latin typeface="Microsoft YaHei"/>
                        </a:rPr>
                        <a:t>维度</a:t>
                      </a:r>
                    </a:p>
                  </a:txBody>
                  <a:tcPr marL="36576" marR="36576">
                    <a:solidFill>
                      <a:srgbClr val="18375C"/>
                    </a:solidFill>
                  </a:tcPr>
                </a:tc>
                <a:tc>
                  <a:txBody>
                    <a:bodyPr/>
                    <a:lstStyle/>
                    <a:p>
                      <a:pPr algn="ctr"/>
                      <a:r>
                        <a:rPr sz="1000" b="1">
                          <a:solidFill>
                            <a:srgbClr val="FFFFFF"/>
                          </a:solidFill>
                          <a:latin typeface="Microsoft YaHei"/>
                        </a:rPr>
                        <a:t>内容</a:t>
                      </a:r>
                    </a:p>
                  </a:txBody>
                  <a:tcPr marL="36576" marR="36576">
                    <a:solidFill>
                      <a:srgbClr val="18375C"/>
                    </a:solidFill>
                  </a:tcPr>
                </a:tc>
              </a:tr>
              <a:tr h="800100">
                <a:tc>
                  <a:txBody>
                    <a:bodyPr/>
                    <a:lstStyle/>
                    <a:p>
                      <a:pPr algn="l"/>
                      <a:r>
                        <a:rPr sz="900" b="0">
                          <a:solidFill>
                            <a:srgbClr val="1F2933"/>
                          </a:solidFill>
                          <a:latin typeface="Microsoft YaHei"/>
                        </a:rPr>
                        <a:t>实验类型</a:t>
                      </a:r>
                    </a:p>
                  </a:txBody>
                  <a:tcPr marL="36576" marR="36576">
                    <a:solidFill>
                      <a:srgbClr val="FFFFFF"/>
                    </a:solidFill>
                  </a:tcPr>
                </a:tc>
                <a:tc>
                  <a:txBody>
                    <a:bodyPr/>
                    <a:lstStyle/>
                    <a:p>
                      <a:pPr algn="l"/>
                      <a:r>
                        <a:rPr sz="900" b="0">
                          <a:solidFill>
                            <a:srgbClr val="1F2933"/>
                          </a:solidFill>
                          <a:latin typeface="Microsoft YaHei"/>
                        </a:rPr>
                        <a:t>验证系统和方案可行性的基础实验</a:t>
                      </a:r>
                    </a:p>
                  </a:txBody>
                  <a:tcPr marL="36576" marR="36576">
                    <a:solidFill>
                      <a:srgbClr val="FFFFFF"/>
                    </a:solidFill>
                  </a:tcPr>
                </a:tc>
              </a:tr>
              <a:tr h="800100">
                <a:tc>
                  <a:txBody>
                    <a:bodyPr/>
                    <a:lstStyle/>
                    <a:p>
                      <a:pPr algn="l"/>
                      <a:r>
                        <a:rPr sz="900" b="0">
                          <a:solidFill>
                            <a:srgbClr val="1F2933"/>
                          </a:solidFill>
                          <a:latin typeface="Microsoft YaHei"/>
                        </a:rPr>
                        <a:t>实验设置</a:t>
                      </a:r>
                    </a:p>
                  </a:txBody>
                  <a:tcPr marL="36576" marR="36576">
                    <a:solidFill>
                      <a:srgbClr val="F6F8FA"/>
                    </a:solidFill>
                  </a:tcPr>
                </a:tc>
                <a:tc>
                  <a:txBody>
                    <a:bodyPr/>
                    <a:lstStyle/>
                    <a:p>
                      <a:pPr algn="l"/>
                      <a:r>
                        <a:rPr sz="900" b="0">
                          <a:solidFill>
                            <a:srgbClr val="1F2933"/>
                          </a:solidFill>
                          <a:latin typeface="Microsoft YaHei"/>
                        </a:rPr>
                        <a:t>30 条人工 SQL+ 标准样例，覆盖过滤、join、聚合、排序、top-k</a:t>
                      </a:r>
                    </a:p>
                  </a:txBody>
                  <a:tcPr marL="36576" marR="36576">
                    <a:solidFill>
                      <a:srgbClr val="F6F8FA"/>
                    </a:solidFill>
                  </a:tcPr>
                </a:tc>
              </a:tr>
              <a:tr h="800100">
                <a:tc>
                  <a:txBody>
                    <a:bodyPr/>
                    <a:lstStyle/>
                    <a:p>
                      <a:pPr algn="l"/>
                      <a:r>
                        <a:rPr sz="900" b="0">
                          <a:solidFill>
                            <a:srgbClr val="1F2933"/>
                          </a:solidFill>
                          <a:latin typeface="Microsoft YaHei"/>
                        </a:rPr>
                        <a:t>实验过程</a:t>
                      </a:r>
                    </a:p>
                  </a:txBody>
                  <a:tcPr marL="36576" marR="36576">
                    <a:solidFill>
                      <a:srgbClr val="FFFFFF"/>
                    </a:solidFill>
                  </a:tcPr>
                </a:tc>
                <a:tc>
                  <a:txBody>
                    <a:bodyPr/>
                    <a:lstStyle/>
                    <a:p>
                      <a:pPr algn="l"/>
                      <a:r>
                        <a:rPr sz="900" b="0">
                          <a:solidFill>
                            <a:srgbClr val="1F2933"/>
                          </a:solidFill>
                          <a:latin typeface="Microsoft YaHei"/>
                        </a:rPr>
                        <a:t>SQL+ parser 解析 -&gt; converter 转 SQL -&gt; SQLite 执行 -&gt; 与 gold SQL 结果比较</a:t>
                      </a:r>
                    </a:p>
                  </a:txBody>
                  <a:tcPr marL="36576" marR="36576">
                    <a:solidFill>
                      <a:srgbClr val="FFFFFF"/>
                    </a:solidFill>
                  </a:tcPr>
                </a:tc>
              </a:tr>
              <a:tr h="800100">
                <a:tc>
                  <a:txBody>
                    <a:bodyPr/>
                    <a:lstStyle/>
                    <a:p>
                      <a:pPr algn="l"/>
                      <a:r>
                        <a:rPr sz="900" b="0">
                          <a:solidFill>
                            <a:srgbClr val="1F2933"/>
                          </a:solidFill>
                          <a:latin typeface="Microsoft YaHei"/>
                        </a:rPr>
                        <a:t>实验结果</a:t>
                      </a:r>
                    </a:p>
                  </a:txBody>
                  <a:tcPr marL="36576" marR="36576">
                    <a:solidFill>
                      <a:srgbClr val="F6F8FA"/>
                    </a:solidFill>
                  </a:tcPr>
                </a:tc>
                <a:tc>
                  <a:txBody>
                    <a:bodyPr/>
                    <a:lstStyle/>
                    <a:p>
                      <a:pPr algn="l"/>
                      <a:r>
                        <a:rPr sz="900" b="0">
                          <a:solidFill>
                            <a:srgbClr val="1F2933"/>
                          </a:solidFill>
                          <a:latin typeface="Microsoft YaHei"/>
                        </a:rPr>
                        <a:t>SQL+ 语法通过 30/30；SQL 可执行 30/30；执行一致 30/30</a:t>
                      </a:r>
                    </a:p>
                  </a:txBody>
                  <a:tcPr marL="36576" marR="36576">
                    <a:solidFill>
                      <a:srgbClr val="F6F8FA"/>
                    </a:solidFill>
                  </a:tcPr>
                </a:tc>
              </a:tr>
              <a:tr h="800100">
                <a:tc>
                  <a:txBody>
                    <a:bodyPr/>
                    <a:lstStyle/>
                    <a:p>
                      <a:pPr algn="l"/>
                      <a:r>
                        <a:rPr sz="900" b="0">
                          <a:solidFill>
                            <a:srgbClr val="1F2933"/>
                          </a:solidFill>
                          <a:latin typeface="Microsoft YaHei"/>
                        </a:rPr>
                        <a:t>实验结论</a:t>
                      </a:r>
                    </a:p>
                  </a:txBody>
                  <a:tcPr marL="36576" marR="36576">
                    <a:solidFill>
                      <a:srgbClr val="FFFFFF"/>
                    </a:solidFill>
                  </a:tcPr>
                </a:tc>
                <a:tc>
                  <a:txBody>
                    <a:bodyPr/>
                    <a:lstStyle/>
                    <a:p>
                      <a:pPr algn="l"/>
                      <a:r>
                        <a:rPr sz="900" b="0">
                          <a:solidFill>
                            <a:srgbClr val="1F2933"/>
                          </a:solidFill>
                          <a:latin typeface="Microsoft YaHei"/>
                        </a:rPr>
                        <a:t>SQL+ 已形成可解析、可转换、可执行的最小闭环</a:t>
                      </a:r>
                    </a:p>
                  </a:txBody>
                  <a:tcPr marL="36576" marR="36576">
                    <a:solidFill>
                      <a:srgbClr val="FFFFFF"/>
                    </a:solidFill>
                  </a:tcPr>
                </a:tc>
              </a:tr>
            </a:tbl>
          </a:graphicData>
        </a:graphic>
      </p:graphicFrame>
      <p:sp>
        <p:nvSpPr>
          <p:cNvPr id="5" name="Rectangle 4"/>
          <p:cNvSpPr/>
          <p:nvPr/>
        </p:nvSpPr>
        <p:spPr>
          <a:xfrm>
            <a:off x="804672" y="5650992"/>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B22626"/>
                </a:solidFill>
                <a:latin typeface="Microsoft YaHei"/>
              </a:rPr>
              <a:t>注意：这里验证转换链路，不是模型生成准确率。</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实验二：反馈修正与 repairability</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18</a:t>
            </a:r>
          </a:p>
        </p:txBody>
      </p:sp>
      <p:graphicFrame>
        <p:nvGraphicFramePr>
          <p:cNvPr id="4" name="Table 3"/>
          <p:cNvGraphicFramePr>
            <a:graphicFrameLocks noGrp="1"/>
          </p:cNvGraphicFramePr>
          <p:nvPr/>
        </p:nvGraphicFramePr>
        <p:xfrm>
          <a:off x="411480" y="960120"/>
          <a:ext cx="8321040" cy="3246120"/>
        </p:xfrm>
        <a:graphic>
          <a:graphicData uri="http://schemas.openxmlformats.org/drawingml/2006/table">
            <a:tbl>
              <a:tblPr firstRow="1" bandRow="1">
                <a:tableStyleId>{5C22544A-7EE6-4342-B048-85BDC9FD1C3A}</a:tableStyleId>
              </a:tblPr>
              <a:tblGrid>
                <a:gridCol w="1386840"/>
                <a:gridCol w="1386840"/>
                <a:gridCol w="1386840"/>
                <a:gridCol w="1386840"/>
                <a:gridCol w="1386840"/>
                <a:gridCol w="1386840"/>
              </a:tblGrid>
              <a:tr h="649224">
                <a:tc>
                  <a:txBody>
                    <a:bodyPr/>
                    <a:lstStyle/>
                    <a:p>
                      <a:pPr algn="ctr"/>
                      <a:r>
                        <a:rPr sz="800" b="1">
                          <a:solidFill>
                            <a:srgbClr val="FFFFFF"/>
                          </a:solidFill>
                          <a:latin typeface="Microsoft YaHei"/>
                        </a:rPr>
                        <a:t>方法</a:t>
                      </a:r>
                    </a:p>
                  </a:txBody>
                  <a:tcPr marL="36576" marR="36576">
                    <a:solidFill>
                      <a:srgbClr val="18375C"/>
                    </a:solidFill>
                  </a:tcPr>
                </a:tc>
                <a:tc>
                  <a:txBody>
                    <a:bodyPr/>
                    <a:lstStyle/>
                    <a:p>
                      <a:pPr algn="ctr"/>
                      <a:r>
                        <a:rPr sz="800" b="1">
                          <a:solidFill>
                            <a:srgbClr val="FFFFFF"/>
                          </a:solidFill>
                          <a:latin typeface="Microsoft YaHei"/>
                        </a:rPr>
                        <a:t>初始失败</a:t>
                      </a:r>
                    </a:p>
                  </a:txBody>
                  <a:tcPr marL="36576" marR="36576">
                    <a:solidFill>
                      <a:srgbClr val="18375C"/>
                    </a:solidFill>
                  </a:tcPr>
                </a:tc>
                <a:tc>
                  <a:txBody>
                    <a:bodyPr/>
                    <a:lstStyle/>
                    <a:p>
                      <a:pPr algn="ctr"/>
                      <a:r>
                        <a:rPr sz="800" b="1">
                          <a:solidFill>
                            <a:srgbClr val="FFFFFF"/>
                          </a:solidFill>
                          <a:latin typeface="Microsoft YaHei"/>
                        </a:rPr>
                        <a:t>SQL+ 有效</a:t>
                      </a:r>
                    </a:p>
                  </a:txBody>
                  <a:tcPr marL="36576" marR="36576">
                    <a:solidFill>
                      <a:srgbClr val="18375C"/>
                    </a:solidFill>
                  </a:tcPr>
                </a:tc>
                <a:tc>
                  <a:txBody>
                    <a:bodyPr/>
                    <a:lstStyle/>
                    <a:p>
                      <a:pPr algn="ctr"/>
                      <a:r>
                        <a:rPr sz="800" b="1">
                          <a:solidFill>
                            <a:srgbClr val="FFFFFF"/>
                          </a:solidFill>
                          <a:latin typeface="Microsoft YaHei"/>
                        </a:rPr>
                        <a:t>SQL 可执行</a:t>
                      </a:r>
                    </a:p>
                  </a:txBody>
                  <a:tcPr marL="36576" marR="36576">
                    <a:solidFill>
                      <a:srgbClr val="18375C"/>
                    </a:solidFill>
                  </a:tcPr>
                </a:tc>
                <a:tc>
                  <a:txBody>
                    <a:bodyPr/>
                    <a:lstStyle/>
                    <a:p>
                      <a:pPr algn="ctr"/>
                      <a:r>
                        <a:rPr sz="800" b="1">
                          <a:solidFill>
                            <a:srgbClr val="FFFFFF"/>
                          </a:solidFill>
                          <a:latin typeface="Microsoft YaHei"/>
                        </a:rPr>
                        <a:t>修复成功</a:t>
                      </a:r>
                    </a:p>
                  </a:txBody>
                  <a:tcPr marL="36576" marR="36576">
                    <a:solidFill>
                      <a:srgbClr val="18375C"/>
                    </a:solidFill>
                  </a:tcPr>
                </a:tc>
                <a:tc>
                  <a:txBody>
                    <a:bodyPr/>
                    <a:lstStyle/>
                    <a:p>
                      <a:pPr algn="ctr"/>
                      <a:r>
                        <a:rPr sz="800" b="1">
                          <a:solidFill>
                            <a:srgbClr val="FFFFFF"/>
                          </a:solidFill>
                          <a:latin typeface="Microsoft YaHei"/>
                        </a:rPr>
                        <a:t>说明</a:t>
                      </a:r>
                    </a:p>
                  </a:txBody>
                  <a:tcPr marL="36576" marR="36576">
                    <a:solidFill>
                      <a:srgbClr val="18375C"/>
                    </a:solidFill>
                  </a:tcPr>
                </a:tc>
              </a:tr>
              <a:tr h="649224">
                <a:tc>
                  <a:txBody>
                    <a:bodyPr/>
                    <a:lstStyle/>
                    <a:p>
                      <a:pPr algn="l"/>
                      <a:r>
                        <a:rPr sz="700" b="0">
                          <a:solidFill>
                            <a:srgbClr val="1F2933"/>
                          </a:solidFill>
                          <a:latin typeface="Microsoft YaHei"/>
                        </a:rPr>
                        <a:t>SQL+ 诊断辅助 Refiner</a:t>
                      </a:r>
                    </a:p>
                  </a:txBody>
                  <a:tcPr marL="36576" marR="36576">
                    <a:solidFill>
                      <a:srgbClr val="FFFFFF"/>
                    </a:solidFill>
                  </a:tcPr>
                </a:tc>
                <a:tc>
                  <a:txBody>
                    <a:bodyPr/>
                    <a:lstStyle/>
                    <a:p>
                      <a:pPr algn="l"/>
                      <a:r>
                        <a:rPr sz="700" b="0">
                          <a:solidFill>
                            <a:srgbClr val="1F2933"/>
                          </a:solidFill>
                          <a:latin typeface="Microsoft YaHei"/>
                        </a:rPr>
                        <a:t>13</a:t>
                      </a:r>
                    </a:p>
                  </a:txBody>
                  <a:tcPr marL="36576" marR="36576">
                    <a:solidFill>
                      <a:srgbClr val="FFFFFF"/>
                    </a:solidFill>
                  </a:tcPr>
                </a:tc>
                <a:tc>
                  <a:txBody>
                    <a:bodyPr/>
                    <a:lstStyle/>
                    <a:p>
                      <a:pPr algn="l"/>
                      <a:r>
                        <a:rPr sz="700" b="0">
                          <a:solidFill>
                            <a:srgbClr val="1F2933"/>
                          </a:solidFill>
                          <a:latin typeface="Microsoft YaHei"/>
                        </a:rPr>
                        <a:t>13/13</a:t>
                      </a:r>
                    </a:p>
                  </a:txBody>
                  <a:tcPr marL="36576" marR="36576">
                    <a:solidFill>
                      <a:srgbClr val="FFFFFF"/>
                    </a:solidFill>
                  </a:tcPr>
                </a:tc>
                <a:tc>
                  <a:txBody>
                    <a:bodyPr/>
                    <a:lstStyle/>
                    <a:p>
                      <a:pPr algn="l"/>
                      <a:r>
                        <a:rPr sz="700" b="0">
                          <a:solidFill>
                            <a:srgbClr val="1F2933"/>
                          </a:solidFill>
                          <a:latin typeface="Microsoft YaHei"/>
                        </a:rPr>
                        <a:t>13/13</a:t>
                      </a:r>
                    </a:p>
                  </a:txBody>
                  <a:tcPr marL="36576" marR="36576">
                    <a:solidFill>
                      <a:srgbClr val="FFFFFF"/>
                    </a:solidFill>
                  </a:tcPr>
                </a:tc>
                <a:tc>
                  <a:txBody>
                    <a:bodyPr/>
                    <a:lstStyle/>
                    <a:p>
                      <a:pPr algn="l"/>
                      <a:r>
                        <a:rPr sz="700" b="0">
                          <a:solidFill>
                            <a:srgbClr val="1F2933"/>
                          </a:solidFill>
                          <a:latin typeface="Microsoft YaHei"/>
                        </a:rPr>
                        <a:t>13/13</a:t>
                      </a:r>
                    </a:p>
                  </a:txBody>
                  <a:tcPr marL="36576" marR="36576">
                    <a:solidFill>
                      <a:srgbClr val="FFFFFF"/>
                    </a:solidFill>
                  </a:tcPr>
                </a:tc>
                <a:tc>
                  <a:txBody>
                    <a:bodyPr/>
                    <a:lstStyle/>
                    <a:p>
                      <a:pPr algn="l"/>
                      <a:r>
                        <a:rPr sz="700" b="0">
                          <a:solidFill>
                            <a:srgbClr val="1F2933"/>
                          </a:solidFill>
                          <a:latin typeface="Microsoft YaHei"/>
                        </a:rPr>
                        <a:t>使用 gold-derived differences</a:t>
                      </a:r>
                    </a:p>
                  </a:txBody>
                  <a:tcPr marL="36576" marR="36576">
                    <a:solidFill>
                      <a:srgbClr val="FFFFFF"/>
                    </a:solidFill>
                  </a:tcPr>
                </a:tc>
              </a:tr>
              <a:tr h="649224">
                <a:tc>
                  <a:txBody>
                    <a:bodyPr/>
                    <a:lstStyle/>
                    <a:p>
                      <a:pPr algn="l"/>
                      <a:r>
                        <a:rPr sz="700" b="0">
                          <a:solidFill>
                            <a:srgbClr val="1F2933"/>
                          </a:solidFill>
                          <a:latin typeface="Microsoft YaHei"/>
                        </a:rPr>
                        <a:t>SQL+ 非 gold Refiner v2</a:t>
                      </a:r>
                    </a:p>
                  </a:txBody>
                  <a:tcPr marL="36576" marR="36576">
                    <a:solidFill>
                      <a:srgbClr val="F6F8FA"/>
                    </a:solidFill>
                  </a:tcPr>
                </a:tc>
                <a:tc>
                  <a:txBody>
                    <a:bodyPr/>
                    <a:lstStyle/>
                    <a:p>
                      <a:pPr algn="l"/>
                      <a:r>
                        <a:rPr sz="700" b="0">
                          <a:solidFill>
                            <a:srgbClr val="1F2933"/>
                          </a:solidFill>
                          <a:latin typeface="Microsoft YaHei"/>
                        </a:rPr>
                        <a:t>13</a:t>
                      </a:r>
                    </a:p>
                  </a:txBody>
                  <a:tcPr marL="36576" marR="36576">
                    <a:solidFill>
                      <a:srgbClr val="F6F8FA"/>
                    </a:solidFill>
                  </a:tcPr>
                </a:tc>
                <a:tc>
                  <a:txBody>
                    <a:bodyPr/>
                    <a:lstStyle/>
                    <a:p>
                      <a:pPr algn="l"/>
                      <a:r>
                        <a:rPr sz="700" b="0">
                          <a:solidFill>
                            <a:srgbClr val="1F2933"/>
                          </a:solidFill>
                          <a:latin typeface="Microsoft YaHei"/>
                        </a:rPr>
                        <a:t>13/13</a:t>
                      </a:r>
                    </a:p>
                  </a:txBody>
                  <a:tcPr marL="36576" marR="36576">
                    <a:solidFill>
                      <a:srgbClr val="F6F8FA"/>
                    </a:solidFill>
                  </a:tcPr>
                </a:tc>
                <a:tc>
                  <a:txBody>
                    <a:bodyPr/>
                    <a:lstStyle/>
                    <a:p>
                      <a:pPr algn="l"/>
                      <a:r>
                        <a:rPr sz="700" b="0">
                          <a:solidFill>
                            <a:srgbClr val="1F2933"/>
                          </a:solidFill>
                          <a:latin typeface="Microsoft YaHei"/>
                        </a:rPr>
                        <a:t>12/13</a:t>
                      </a:r>
                    </a:p>
                  </a:txBody>
                  <a:tcPr marL="36576" marR="36576">
                    <a:solidFill>
                      <a:srgbClr val="F6F8FA"/>
                    </a:solidFill>
                  </a:tcPr>
                </a:tc>
                <a:tc>
                  <a:txBody>
                    <a:bodyPr/>
                    <a:lstStyle/>
                    <a:p>
                      <a:pPr algn="l"/>
                      <a:r>
                        <a:rPr sz="700" b="0">
                          <a:solidFill>
                            <a:srgbClr val="1F2933"/>
                          </a:solidFill>
                          <a:latin typeface="Microsoft YaHei"/>
                        </a:rPr>
                        <a:t>4/13</a:t>
                      </a:r>
                    </a:p>
                  </a:txBody>
                  <a:tcPr marL="36576" marR="36576">
                    <a:solidFill>
                      <a:srgbClr val="F6F8FA"/>
                    </a:solidFill>
                  </a:tcPr>
                </a:tc>
                <a:tc>
                  <a:txBody>
                    <a:bodyPr/>
                    <a:lstStyle/>
                    <a:p>
                      <a:pPr algn="l"/>
                      <a:r>
                        <a:rPr sz="700" b="0">
                          <a:solidFill>
                            <a:srgbClr val="1F2933"/>
                          </a:solidFill>
                          <a:latin typeface="Microsoft YaHei"/>
                        </a:rPr>
                        <a:t>执行反馈和粗粒度诊断</a:t>
                      </a:r>
                    </a:p>
                  </a:txBody>
                  <a:tcPr marL="36576" marR="36576">
                    <a:solidFill>
                      <a:srgbClr val="F6F8FA"/>
                    </a:solidFill>
                  </a:tcPr>
                </a:tc>
              </a:tr>
              <a:tr h="649224">
                <a:tc>
                  <a:txBody>
                    <a:bodyPr/>
                    <a:lstStyle/>
                    <a:p>
                      <a:pPr algn="l"/>
                      <a:r>
                        <a:rPr sz="700" b="0">
                          <a:solidFill>
                            <a:srgbClr val="1F2933"/>
                          </a:solidFill>
                          <a:latin typeface="Microsoft YaHei"/>
                        </a:rPr>
                        <a:t>Direct SQL 非 gold Refiner</a:t>
                      </a:r>
                    </a:p>
                  </a:txBody>
                  <a:tcPr marL="36576" marR="36576">
                    <a:solidFill>
                      <a:srgbClr val="FFFFFF"/>
                    </a:solidFill>
                  </a:tcPr>
                </a:tc>
                <a:tc>
                  <a:txBody>
                    <a:bodyPr/>
                    <a:lstStyle/>
                    <a:p>
                      <a:pPr algn="l"/>
                      <a:r>
                        <a:rPr sz="700" b="0">
                          <a:solidFill>
                            <a:srgbClr val="1F2933"/>
                          </a:solidFill>
                          <a:latin typeface="Microsoft YaHei"/>
                        </a:rPr>
                        <a:t>14</a:t>
                      </a:r>
                    </a:p>
                  </a:txBody>
                  <a:tcPr marL="36576" marR="36576">
                    <a:solidFill>
                      <a:srgbClr val="FFFFFF"/>
                    </a:solidFill>
                  </a:tcPr>
                </a:tc>
                <a:tc>
                  <a:txBody>
                    <a:bodyPr/>
                    <a:lstStyle/>
                    <a:p>
                      <a:pPr algn="l"/>
                      <a:r>
                        <a:rPr sz="700" b="0">
                          <a:solidFill>
                            <a:srgbClr val="1F2933"/>
                          </a:solidFill>
                          <a:latin typeface="Microsoft YaHei"/>
                        </a:rPr>
                        <a:t>-</a:t>
                      </a:r>
                    </a:p>
                  </a:txBody>
                  <a:tcPr marL="36576" marR="36576">
                    <a:solidFill>
                      <a:srgbClr val="FFFFFF"/>
                    </a:solidFill>
                  </a:tcPr>
                </a:tc>
                <a:tc>
                  <a:txBody>
                    <a:bodyPr/>
                    <a:lstStyle/>
                    <a:p>
                      <a:pPr algn="l"/>
                      <a:r>
                        <a:rPr sz="700" b="0">
                          <a:solidFill>
                            <a:srgbClr val="1F2933"/>
                          </a:solidFill>
                          <a:latin typeface="Microsoft YaHei"/>
                        </a:rPr>
                        <a:t>14/14</a:t>
                      </a:r>
                    </a:p>
                  </a:txBody>
                  <a:tcPr marL="36576" marR="36576">
                    <a:solidFill>
                      <a:srgbClr val="FFFFFF"/>
                    </a:solidFill>
                  </a:tcPr>
                </a:tc>
                <a:tc>
                  <a:txBody>
                    <a:bodyPr/>
                    <a:lstStyle/>
                    <a:p>
                      <a:pPr algn="l"/>
                      <a:r>
                        <a:rPr sz="700" b="0">
                          <a:solidFill>
                            <a:srgbClr val="1F2933"/>
                          </a:solidFill>
                          <a:latin typeface="Microsoft YaHei"/>
                        </a:rPr>
                        <a:t>6/14</a:t>
                      </a:r>
                    </a:p>
                  </a:txBody>
                  <a:tcPr marL="36576" marR="36576">
                    <a:solidFill>
                      <a:srgbClr val="FFFFFF"/>
                    </a:solidFill>
                  </a:tcPr>
                </a:tc>
                <a:tc>
                  <a:txBody>
                    <a:bodyPr/>
                    <a:lstStyle/>
                    <a:p>
                      <a:pPr algn="l"/>
                      <a:r>
                        <a:rPr sz="700" b="0">
                          <a:solidFill>
                            <a:srgbClr val="1F2933"/>
                          </a:solidFill>
                          <a:latin typeface="Microsoft YaHei"/>
                        </a:rPr>
                        <a:t>直接修标准 SQL</a:t>
                      </a:r>
                    </a:p>
                  </a:txBody>
                  <a:tcPr marL="36576" marR="36576">
                    <a:solidFill>
                      <a:srgbClr val="FFFFFF"/>
                    </a:solidFill>
                  </a:tcPr>
                </a:tc>
              </a:tr>
              <a:tr h="649224">
                <a:tc>
                  <a:txBody>
                    <a:bodyPr/>
                    <a:lstStyle/>
                    <a:p>
                      <a:pPr algn="l"/>
                      <a:r>
                        <a:rPr sz="700" b="0">
                          <a:solidFill>
                            <a:srgbClr val="1F2933"/>
                          </a:solidFill>
                          <a:latin typeface="Microsoft YaHei"/>
                        </a:rPr>
                        <a:t>SQL+ Skill Router + Repair Skills v3</a:t>
                      </a:r>
                    </a:p>
                  </a:txBody>
                  <a:tcPr marL="36576" marR="36576">
                    <a:solidFill>
                      <a:srgbClr val="F6F8FA"/>
                    </a:solidFill>
                  </a:tcPr>
                </a:tc>
                <a:tc>
                  <a:txBody>
                    <a:bodyPr/>
                    <a:lstStyle/>
                    <a:p>
                      <a:pPr algn="l"/>
                      <a:r>
                        <a:rPr sz="700" b="0">
                          <a:solidFill>
                            <a:srgbClr val="1F2933"/>
                          </a:solidFill>
                          <a:latin typeface="Microsoft YaHei"/>
                        </a:rPr>
                        <a:t>13</a:t>
                      </a:r>
                    </a:p>
                  </a:txBody>
                  <a:tcPr marL="36576" marR="36576">
                    <a:solidFill>
                      <a:srgbClr val="F6F8FA"/>
                    </a:solidFill>
                  </a:tcPr>
                </a:tc>
                <a:tc>
                  <a:txBody>
                    <a:bodyPr/>
                    <a:lstStyle/>
                    <a:p>
                      <a:pPr algn="l"/>
                      <a:r>
                        <a:rPr sz="700" b="0">
                          <a:solidFill>
                            <a:srgbClr val="1F2933"/>
                          </a:solidFill>
                          <a:latin typeface="Microsoft YaHei"/>
                        </a:rPr>
                        <a:t>13/13</a:t>
                      </a:r>
                    </a:p>
                  </a:txBody>
                  <a:tcPr marL="36576" marR="36576">
                    <a:solidFill>
                      <a:srgbClr val="F6F8FA"/>
                    </a:solidFill>
                  </a:tcPr>
                </a:tc>
                <a:tc>
                  <a:txBody>
                    <a:bodyPr/>
                    <a:lstStyle/>
                    <a:p>
                      <a:pPr algn="l"/>
                      <a:r>
                        <a:rPr sz="700" b="0">
                          <a:solidFill>
                            <a:srgbClr val="1F2933"/>
                          </a:solidFill>
                          <a:latin typeface="Microsoft YaHei"/>
                        </a:rPr>
                        <a:t>13/13</a:t>
                      </a:r>
                    </a:p>
                  </a:txBody>
                  <a:tcPr marL="36576" marR="36576">
                    <a:solidFill>
                      <a:srgbClr val="F6F8FA"/>
                    </a:solidFill>
                  </a:tcPr>
                </a:tc>
                <a:tc>
                  <a:txBody>
                    <a:bodyPr/>
                    <a:lstStyle/>
                    <a:p>
                      <a:pPr algn="l"/>
                      <a:r>
                        <a:rPr sz="700" b="0">
                          <a:solidFill>
                            <a:srgbClr val="1F2933"/>
                          </a:solidFill>
                          <a:latin typeface="Microsoft YaHei"/>
                        </a:rPr>
                        <a:t>13/13</a:t>
                      </a:r>
                    </a:p>
                  </a:txBody>
                  <a:tcPr marL="36576" marR="36576">
                    <a:solidFill>
                      <a:srgbClr val="F6F8FA"/>
                    </a:solidFill>
                  </a:tcPr>
                </a:tc>
                <a:tc>
                  <a:txBody>
                    <a:bodyPr/>
                    <a:lstStyle/>
                    <a:p>
                      <a:pPr algn="l"/>
                      <a:r>
                        <a:rPr sz="700" b="0">
                          <a:solidFill>
                            <a:srgbClr val="1F2933"/>
                          </a:solidFill>
                          <a:latin typeface="Microsoft YaHei"/>
                        </a:rPr>
                        <a:t>Critic 路由到五类局部 skill</a:t>
                      </a:r>
                    </a:p>
                  </a:txBody>
                  <a:tcPr marL="36576" marR="36576">
                    <a:solidFill>
                      <a:srgbClr val="F6F8FA"/>
                    </a:solidFill>
                  </a:tcPr>
                </a:tc>
              </a:tr>
            </a:tbl>
          </a:graphicData>
        </a:graphic>
      </p:graphicFrame>
      <p:graphicFrame>
        <p:nvGraphicFramePr>
          <p:cNvPr id="5" name="Table 4"/>
          <p:cNvGraphicFramePr>
            <a:graphicFrameLocks noGrp="1"/>
          </p:cNvGraphicFramePr>
          <p:nvPr/>
        </p:nvGraphicFramePr>
        <p:xfrm>
          <a:off x="411480" y="4498848"/>
          <a:ext cx="8321040" cy="1298448"/>
        </p:xfrm>
        <a:graphic>
          <a:graphicData uri="http://schemas.openxmlformats.org/drawingml/2006/table">
            <a:tbl>
              <a:tblPr firstRow="1" bandRow="1">
                <a:tableStyleId>{5C22544A-7EE6-4342-B048-85BDC9FD1C3A}</a:tableStyleId>
              </a:tblPr>
              <a:tblGrid>
                <a:gridCol w="1664208"/>
                <a:gridCol w="1664208"/>
                <a:gridCol w="1664208"/>
                <a:gridCol w="1664208"/>
                <a:gridCol w="1664208"/>
              </a:tblGrid>
              <a:tr h="432816">
                <a:tc>
                  <a:txBody>
                    <a:bodyPr/>
                    <a:lstStyle/>
                    <a:p>
                      <a:pPr algn="ctr"/>
                      <a:r>
                        <a:rPr sz="900" b="1">
                          <a:solidFill>
                            <a:srgbClr val="FFFFFF"/>
                          </a:solidFill>
                          <a:latin typeface="Microsoft YaHei"/>
                        </a:rPr>
                        <a:t>方法</a:t>
                      </a:r>
                    </a:p>
                  </a:txBody>
                  <a:tcPr marL="36576" marR="36576">
                    <a:solidFill>
                      <a:srgbClr val="18375C"/>
                    </a:solidFill>
                  </a:tcPr>
                </a:tc>
                <a:tc>
                  <a:txBody>
                    <a:bodyPr/>
                    <a:lstStyle/>
                    <a:p>
                      <a:pPr algn="ctr"/>
                      <a:r>
                        <a:rPr sz="900" b="1">
                          <a:solidFill>
                            <a:srgbClr val="FFFFFF"/>
                          </a:solidFill>
                          <a:latin typeface="Microsoft YaHei"/>
                        </a:rPr>
                        <a:t>修复成功</a:t>
                      </a:r>
                    </a:p>
                  </a:txBody>
                  <a:tcPr marL="36576" marR="36576">
                    <a:solidFill>
                      <a:srgbClr val="18375C"/>
                    </a:solidFill>
                  </a:tcPr>
                </a:tc>
                <a:tc>
                  <a:txBody>
                    <a:bodyPr/>
                    <a:lstStyle/>
                    <a:p>
                      <a:pPr algn="ctr"/>
                      <a:r>
                        <a:rPr sz="900" b="1">
                          <a:solidFill>
                            <a:srgbClr val="FFFFFF"/>
                          </a:solidFill>
                          <a:latin typeface="Microsoft YaHei"/>
                        </a:rPr>
                        <a:t>定位准确率</a:t>
                      </a:r>
                    </a:p>
                  </a:txBody>
                  <a:tcPr marL="36576" marR="36576">
                    <a:solidFill>
                      <a:srgbClr val="18375C"/>
                    </a:solidFill>
                  </a:tcPr>
                </a:tc>
                <a:tc>
                  <a:txBody>
                    <a:bodyPr/>
                    <a:lstStyle/>
                    <a:p>
                      <a:pPr algn="ctr"/>
                      <a:r>
                        <a:rPr sz="900" b="1">
                          <a:solidFill>
                            <a:srgbClr val="FFFFFF"/>
                          </a:solidFill>
                          <a:latin typeface="Microsoft YaHei"/>
                        </a:rPr>
                        <a:t>严格最小 patch</a:t>
                      </a:r>
                    </a:p>
                  </a:txBody>
                  <a:tcPr marL="36576" marR="36576">
                    <a:solidFill>
                      <a:srgbClr val="18375C"/>
                    </a:solidFill>
                  </a:tcPr>
                </a:tc>
                <a:tc>
                  <a:txBody>
                    <a:bodyPr/>
                    <a:lstStyle/>
                    <a:p>
                      <a:pPr algn="ctr"/>
                      <a:r>
                        <a:rPr sz="900" b="1">
                          <a:solidFill>
                            <a:srgbClr val="FFFFFF"/>
                          </a:solidFill>
                          <a:latin typeface="Microsoft YaHei"/>
                        </a:rPr>
                        <a:t>平均 repair token</a:t>
                      </a:r>
                    </a:p>
                  </a:txBody>
                  <a:tcPr marL="36576" marR="36576">
                    <a:solidFill>
                      <a:srgbClr val="18375C"/>
                    </a:solidFill>
                  </a:tcPr>
                </a:tc>
              </a:tr>
              <a:tr h="432816">
                <a:tc>
                  <a:txBody>
                    <a:bodyPr/>
                    <a:lstStyle/>
                    <a:p>
                      <a:pPr algn="l"/>
                      <a:r>
                        <a:rPr sz="800" b="0">
                          <a:solidFill>
                            <a:srgbClr val="1F2933"/>
                          </a:solidFill>
                          <a:latin typeface="Microsoft YaHei"/>
                        </a:rPr>
                        <a:t>Direct SQL Refiner</a:t>
                      </a:r>
                    </a:p>
                  </a:txBody>
                  <a:tcPr marL="36576" marR="36576">
                    <a:solidFill>
                      <a:srgbClr val="FFFFFF"/>
                    </a:solidFill>
                  </a:tcPr>
                </a:tc>
                <a:tc>
                  <a:txBody>
                    <a:bodyPr/>
                    <a:lstStyle/>
                    <a:p>
                      <a:pPr algn="l"/>
                      <a:r>
                        <a:rPr sz="800" b="0">
                          <a:solidFill>
                            <a:srgbClr val="1F2933"/>
                          </a:solidFill>
                          <a:latin typeface="Microsoft YaHei"/>
                        </a:rPr>
                        <a:t>6/14</a:t>
                      </a:r>
                    </a:p>
                  </a:txBody>
                  <a:tcPr marL="36576" marR="36576">
                    <a:solidFill>
                      <a:srgbClr val="FFFFFF"/>
                    </a:solidFill>
                  </a:tcPr>
                </a:tc>
                <a:tc>
                  <a:txBody>
                    <a:bodyPr/>
                    <a:lstStyle/>
                    <a:p>
                      <a:pPr algn="l"/>
                      <a:r>
                        <a:rPr sz="800" b="0">
                          <a:solidFill>
                            <a:srgbClr val="1F2933"/>
                          </a:solidFill>
                          <a:latin typeface="Microsoft YaHei"/>
                        </a:rPr>
                        <a:t>0.8571</a:t>
                      </a:r>
                    </a:p>
                  </a:txBody>
                  <a:tcPr marL="36576" marR="36576">
                    <a:solidFill>
                      <a:srgbClr val="FFFFFF"/>
                    </a:solidFill>
                  </a:tcPr>
                </a:tc>
                <a:tc>
                  <a:txBody>
                    <a:bodyPr/>
                    <a:lstStyle/>
                    <a:p>
                      <a:pPr algn="l"/>
                      <a:r>
                        <a:rPr sz="800" b="0">
                          <a:solidFill>
                            <a:srgbClr val="1F2933"/>
                          </a:solidFill>
                          <a:latin typeface="Microsoft YaHei"/>
                        </a:rPr>
                        <a:t>0.8571</a:t>
                      </a:r>
                    </a:p>
                  </a:txBody>
                  <a:tcPr marL="36576" marR="36576">
                    <a:solidFill>
                      <a:srgbClr val="FFFFFF"/>
                    </a:solidFill>
                  </a:tcPr>
                </a:tc>
                <a:tc>
                  <a:txBody>
                    <a:bodyPr/>
                    <a:lstStyle/>
                    <a:p>
                      <a:pPr algn="l"/>
                      <a:r>
                        <a:rPr sz="800" b="0">
                          <a:solidFill>
                            <a:srgbClr val="1F2933"/>
                          </a:solidFill>
                          <a:latin typeface="Microsoft YaHei"/>
                        </a:rPr>
                        <a:t>1609.3571</a:t>
                      </a:r>
                    </a:p>
                  </a:txBody>
                  <a:tcPr marL="36576" marR="36576">
                    <a:solidFill>
                      <a:srgbClr val="FFFFFF"/>
                    </a:solidFill>
                  </a:tcPr>
                </a:tc>
              </a:tr>
              <a:tr h="432816">
                <a:tc>
                  <a:txBody>
                    <a:bodyPr/>
                    <a:lstStyle/>
                    <a:p>
                      <a:pPr algn="l"/>
                      <a:r>
                        <a:rPr sz="800" b="0">
                          <a:solidFill>
                            <a:srgbClr val="1F2933"/>
                          </a:solidFill>
                          <a:latin typeface="Microsoft YaHei"/>
                        </a:rPr>
                        <a:t>SQL+ Router Skills</a:t>
                      </a:r>
                    </a:p>
                  </a:txBody>
                  <a:tcPr marL="36576" marR="36576">
                    <a:solidFill>
                      <a:srgbClr val="F6F8FA"/>
                    </a:solidFill>
                  </a:tcPr>
                </a:tc>
                <a:tc>
                  <a:txBody>
                    <a:bodyPr/>
                    <a:lstStyle/>
                    <a:p>
                      <a:pPr algn="l"/>
                      <a:r>
                        <a:rPr sz="800" b="0">
                          <a:solidFill>
                            <a:srgbClr val="1F2933"/>
                          </a:solidFill>
                          <a:latin typeface="Microsoft YaHei"/>
                        </a:rPr>
                        <a:t>13/13</a:t>
                      </a:r>
                    </a:p>
                  </a:txBody>
                  <a:tcPr marL="36576" marR="36576">
                    <a:solidFill>
                      <a:srgbClr val="F6F8FA"/>
                    </a:solidFill>
                  </a:tcPr>
                </a:tc>
                <a:tc>
                  <a:txBody>
                    <a:bodyPr/>
                    <a:lstStyle/>
                    <a:p>
                      <a:pPr algn="l"/>
                      <a:r>
                        <a:rPr sz="800" b="0">
                          <a:solidFill>
                            <a:srgbClr val="1F2933"/>
                          </a:solidFill>
                          <a:latin typeface="Microsoft YaHei"/>
                        </a:rPr>
                        <a:t>0.7692</a:t>
                      </a:r>
                    </a:p>
                  </a:txBody>
                  <a:tcPr marL="36576" marR="36576">
                    <a:solidFill>
                      <a:srgbClr val="F6F8FA"/>
                    </a:solidFill>
                  </a:tcPr>
                </a:tc>
                <a:tc>
                  <a:txBody>
                    <a:bodyPr/>
                    <a:lstStyle/>
                    <a:p>
                      <a:pPr algn="l"/>
                      <a:r>
                        <a:rPr sz="800" b="0">
                          <a:solidFill>
                            <a:srgbClr val="1F2933"/>
                          </a:solidFill>
                          <a:latin typeface="Microsoft YaHei"/>
                        </a:rPr>
                        <a:t>0.9231</a:t>
                      </a:r>
                    </a:p>
                  </a:txBody>
                  <a:tcPr marL="36576" marR="36576">
                    <a:solidFill>
                      <a:srgbClr val="F6F8FA"/>
                    </a:solidFill>
                  </a:tcPr>
                </a:tc>
                <a:tc>
                  <a:txBody>
                    <a:bodyPr/>
                    <a:lstStyle/>
                    <a:p>
                      <a:pPr algn="l"/>
                      <a:r>
                        <a:rPr sz="800" b="0">
                          <a:solidFill>
                            <a:srgbClr val="1F2933"/>
                          </a:solidFill>
                          <a:latin typeface="Microsoft YaHei"/>
                        </a:rPr>
                        <a:t>3813.9231</a:t>
                      </a:r>
                    </a:p>
                  </a:txBody>
                  <a:tcPr marL="36576" marR="36576">
                    <a:solidFill>
                      <a:srgbClr val="F6F8FA"/>
                    </a:solidFill>
                  </a:tcPr>
                </a:tc>
              </a:tr>
            </a:tbl>
          </a:graphicData>
        </a:graphic>
      </p:graphicFrame>
      <p:sp>
        <p:nvSpPr>
          <p:cNvPr id="6" name="Rectangle 5"/>
          <p:cNvSpPr/>
          <p:nvPr/>
        </p:nvSpPr>
        <p:spPr>
          <a:xfrm>
            <a:off x="804672" y="5870448"/>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B22626"/>
                </a:solidFill>
                <a:latin typeface="Microsoft YaHei"/>
              </a:rPr>
              <a:t>结论：SQL+ 路线修复成功率和 patch 可控性更好，但 token 成本更高。</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实验三：Repair Skill 分治结果</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19</a:t>
            </a:r>
          </a:p>
        </p:txBody>
      </p:sp>
      <p:graphicFrame>
        <p:nvGraphicFramePr>
          <p:cNvPr id="4" name="Table 3"/>
          <p:cNvGraphicFramePr>
            <a:graphicFrameLocks noGrp="1"/>
          </p:cNvGraphicFramePr>
          <p:nvPr/>
        </p:nvGraphicFramePr>
        <p:xfrm>
          <a:off x="411480" y="1051560"/>
          <a:ext cx="8321040" cy="3840480"/>
        </p:xfrm>
        <a:graphic>
          <a:graphicData uri="http://schemas.openxmlformats.org/drawingml/2006/table">
            <a:tbl>
              <a:tblPr firstRow="1" bandRow="1">
                <a:tableStyleId>{5C22544A-7EE6-4342-B048-85BDC9FD1C3A}</a:tableStyleId>
              </a:tblPr>
              <a:tblGrid>
                <a:gridCol w="2080260"/>
                <a:gridCol w="2080260"/>
                <a:gridCol w="2080260"/>
                <a:gridCol w="2080260"/>
              </a:tblGrid>
              <a:tr h="640080">
                <a:tc>
                  <a:txBody>
                    <a:bodyPr/>
                    <a:lstStyle/>
                    <a:p>
                      <a:pPr algn="ctr"/>
                      <a:r>
                        <a:rPr sz="900" b="1">
                          <a:solidFill>
                            <a:srgbClr val="FFFFFF"/>
                          </a:solidFill>
                          <a:latin typeface="Microsoft YaHei"/>
                        </a:rPr>
                        <a:t>Repair skill</a:t>
                      </a:r>
                    </a:p>
                  </a:txBody>
                  <a:tcPr marL="36576" marR="36576">
                    <a:solidFill>
                      <a:srgbClr val="18375C"/>
                    </a:solidFill>
                  </a:tcPr>
                </a:tc>
                <a:tc>
                  <a:txBody>
                    <a:bodyPr/>
                    <a:lstStyle/>
                    <a:p>
                      <a:pPr algn="ctr"/>
                      <a:r>
                        <a:rPr sz="900" b="1">
                          <a:solidFill>
                            <a:srgbClr val="FFFFFF"/>
                          </a:solidFill>
                          <a:latin typeface="Microsoft YaHei"/>
                        </a:rPr>
                        <a:t>样例数</a:t>
                      </a:r>
                    </a:p>
                  </a:txBody>
                  <a:tcPr marL="36576" marR="36576">
                    <a:solidFill>
                      <a:srgbClr val="18375C"/>
                    </a:solidFill>
                  </a:tcPr>
                </a:tc>
                <a:tc>
                  <a:txBody>
                    <a:bodyPr/>
                    <a:lstStyle/>
                    <a:p>
                      <a:pPr algn="ctr"/>
                      <a:r>
                        <a:rPr sz="900" b="1">
                          <a:solidFill>
                            <a:srgbClr val="FFFFFF"/>
                          </a:solidFill>
                          <a:latin typeface="Microsoft YaHei"/>
                        </a:rPr>
                        <a:t>修复成功</a:t>
                      </a:r>
                    </a:p>
                  </a:txBody>
                  <a:tcPr marL="36576" marR="36576">
                    <a:solidFill>
                      <a:srgbClr val="18375C"/>
                    </a:solidFill>
                  </a:tcPr>
                </a:tc>
                <a:tc>
                  <a:txBody>
                    <a:bodyPr/>
                    <a:lstStyle/>
                    <a:p>
                      <a:pPr algn="ctr"/>
                      <a:r>
                        <a:rPr sz="900" b="1">
                          <a:solidFill>
                            <a:srgbClr val="FFFFFF"/>
                          </a:solidFill>
                          <a:latin typeface="Microsoft YaHei"/>
                        </a:rPr>
                        <a:t>覆盖的典型问题</a:t>
                      </a:r>
                    </a:p>
                  </a:txBody>
                  <a:tcPr marL="36576" marR="36576">
                    <a:solidFill>
                      <a:srgbClr val="18375C"/>
                    </a:solidFill>
                  </a:tcPr>
                </a:tc>
              </a:tr>
              <a:tr h="640080">
                <a:tc>
                  <a:txBody>
                    <a:bodyPr/>
                    <a:lstStyle/>
                    <a:p>
                      <a:pPr algn="l"/>
                      <a:r>
                        <a:rPr sz="800" b="0">
                          <a:solidFill>
                            <a:srgbClr val="1F2933"/>
                          </a:solidFill>
                          <a:latin typeface="Microsoft YaHei"/>
                        </a:rPr>
                        <a:t>value-linking</a:t>
                      </a:r>
                    </a:p>
                  </a:txBody>
                  <a:tcPr marL="36576" marR="36576">
                    <a:solidFill>
                      <a:srgbClr val="FFFFFF"/>
                    </a:solidFill>
                  </a:tcPr>
                </a:tc>
                <a:tc>
                  <a:txBody>
                    <a:bodyPr/>
                    <a:lstStyle/>
                    <a:p>
                      <a:pPr algn="l"/>
                      <a:r>
                        <a:rPr sz="800" b="0">
                          <a:solidFill>
                            <a:srgbClr val="1F2933"/>
                          </a:solidFill>
                          <a:latin typeface="Microsoft YaHei"/>
                        </a:rPr>
                        <a:t>3</a:t>
                      </a:r>
                    </a:p>
                  </a:txBody>
                  <a:tcPr marL="36576" marR="36576">
                    <a:solidFill>
                      <a:srgbClr val="FFFFFF"/>
                    </a:solidFill>
                  </a:tcPr>
                </a:tc>
                <a:tc>
                  <a:txBody>
                    <a:bodyPr/>
                    <a:lstStyle/>
                    <a:p>
                      <a:pPr algn="l"/>
                      <a:r>
                        <a:rPr sz="800" b="0">
                          <a:solidFill>
                            <a:srgbClr val="1F2933"/>
                          </a:solidFill>
                          <a:latin typeface="Microsoft YaHei"/>
                        </a:rPr>
                        <a:t>3/3</a:t>
                      </a:r>
                    </a:p>
                  </a:txBody>
                  <a:tcPr marL="36576" marR="36576">
                    <a:solidFill>
                      <a:srgbClr val="FFFFFF"/>
                    </a:solidFill>
                  </a:tcPr>
                </a:tc>
                <a:tc>
                  <a:txBody>
                    <a:bodyPr/>
                    <a:lstStyle/>
                    <a:p>
                      <a:pPr algn="l"/>
                      <a:r>
                        <a:rPr sz="800" b="0">
                          <a:solidFill>
                            <a:srgbClr val="1F2933"/>
                          </a:solidFill>
                          <a:latin typeface="Microsoft YaHei"/>
                        </a:rPr>
                        <a:t>候选值替换、日期边界归一化、值过滤错误</a:t>
                      </a:r>
                    </a:p>
                  </a:txBody>
                  <a:tcPr marL="36576" marR="36576">
                    <a:solidFill>
                      <a:srgbClr val="FFFFFF"/>
                    </a:solidFill>
                  </a:tcPr>
                </a:tc>
              </a:tr>
              <a:tr h="640080">
                <a:tc>
                  <a:txBody>
                    <a:bodyPr/>
                    <a:lstStyle/>
                    <a:p>
                      <a:pPr algn="l"/>
                      <a:r>
                        <a:rPr sz="800" b="0">
                          <a:solidFill>
                            <a:srgbClr val="1F2933"/>
                          </a:solidFill>
                          <a:latin typeface="Microsoft YaHei"/>
                        </a:rPr>
                        <a:t>ORDER</a:t>
                      </a:r>
                    </a:p>
                  </a:txBody>
                  <a:tcPr marL="36576" marR="36576">
                    <a:solidFill>
                      <a:srgbClr val="F6F8FA"/>
                    </a:solidFill>
                  </a:tcPr>
                </a:tc>
                <a:tc>
                  <a:txBody>
                    <a:bodyPr/>
                    <a:lstStyle/>
                    <a:p>
                      <a:pPr algn="l"/>
                      <a:r>
                        <a:rPr sz="800" b="0">
                          <a:solidFill>
                            <a:srgbClr val="1F2933"/>
                          </a:solidFill>
                          <a:latin typeface="Microsoft YaHei"/>
                        </a:rPr>
                        <a:t>3</a:t>
                      </a:r>
                    </a:p>
                  </a:txBody>
                  <a:tcPr marL="36576" marR="36576">
                    <a:solidFill>
                      <a:srgbClr val="F6F8FA"/>
                    </a:solidFill>
                  </a:tcPr>
                </a:tc>
                <a:tc>
                  <a:txBody>
                    <a:bodyPr/>
                    <a:lstStyle/>
                    <a:p>
                      <a:pPr algn="l"/>
                      <a:r>
                        <a:rPr sz="800" b="0">
                          <a:solidFill>
                            <a:srgbClr val="1F2933"/>
                          </a:solidFill>
                          <a:latin typeface="Microsoft YaHei"/>
                        </a:rPr>
                        <a:t>3/3</a:t>
                      </a:r>
                    </a:p>
                  </a:txBody>
                  <a:tcPr marL="36576" marR="36576">
                    <a:solidFill>
                      <a:srgbClr val="F6F8FA"/>
                    </a:solidFill>
                  </a:tcPr>
                </a:tc>
                <a:tc>
                  <a:txBody>
                    <a:bodyPr/>
                    <a:lstStyle/>
                    <a:p>
                      <a:pPr algn="l"/>
                      <a:r>
                        <a:rPr sz="800" b="0">
                          <a:solidFill>
                            <a:srgbClr val="1F2933"/>
                          </a:solidFill>
                          <a:latin typeface="Microsoft YaHei"/>
                        </a:rPr>
                        <a:t>排序字段错误、升降序错误、LIMIT/Top-K 约束</a:t>
                      </a:r>
                    </a:p>
                  </a:txBody>
                  <a:tcPr marL="36576" marR="36576">
                    <a:solidFill>
                      <a:srgbClr val="F6F8FA"/>
                    </a:solidFill>
                  </a:tcPr>
                </a:tc>
              </a:tr>
              <a:tr h="640080">
                <a:tc>
                  <a:txBody>
                    <a:bodyPr/>
                    <a:lstStyle/>
                    <a:p>
                      <a:pPr algn="l"/>
                      <a:r>
                        <a:rPr sz="800" b="0">
                          <a:solidFill>
                            <a:srgbClr val="1F2933"/>
                          </a:solidFill>
                          <a:latin typeface="Microsoft YaHei"/>
                        </a:rPr>
                        <a:t>aggregation</a:t>
                      </a:r>
                    </a:p>
                  </a:txBody>
                  <a:tcPr marL="36576" marR="36576">
                    <a:solidFill>
                      <a:srgbClr val="FFFFFF"/>
                    </a:solidFill>
                  </a:tcPr>
                </a:tc>
                <a:tc>
                  <a:txBody>
                    <a:bodyPr/>
                    <a:lstStyle/>
                    <a:p>
                      <a:pPr algn="l"/>
                      <a:r>
                        <a:rPr sz="800" b="0">
                          <a:solidFill>
                            <a:srgbClr val="1F2933"/>
                          </a:solidFill>
                          <a:latin typeface="Microsoft YaHei"/>
                        </a:rPr>
                        <a:t>3</a:t>
                      </a:r>
                    </a:p>
                  </a:txBody>
                  <a:tcPr marL="36576" marR="36576">
                    <a:solidFill>
                      <a:srgbClr val="FFFFFF"/>
                    </a:solidFill>
                  </a:tcPr>
                </a:tc>
                <a:tc>
                  <a:txBody>
                    <a:bodyPr/>
                    <a:lstStyle/>
                    <a:p>
                      <a:pPr algn="l"/>
                      <a:r>
                        <a:rPr sz="800" b="0">
                          <a:solidFill>
                            <a:srgbClr val="1F2933"/>
                          </a:solidFill>
                          <a:latin typeface="Microsoft YaHei"/>
                        </a:rPr>
                        <a:t>3/3</a:t>
                      </a:r>
                    </a:p>
                  </a:txBody>
                  <a:tcPr marL="36576" marR="36576">
                    <a:solidFill>
                      <a:srgbClr val="FFFFFF"/>
                    </a:solidFill>
                  </a:tcPr>
                </a:tc>
                <a:tc>
                  <a:txBody>
                    <a:bodyPr/>
                    <a:lstStyle/>
                    <a:p>
                      <a:pPr algn="l"/>
                      <a:r>
                        <a:rPr sz="800" b="0">
                          <a:solidFill>
                            <a:srgbClr val="1F2933"/>
                          </a:solidFill>
                          <a:latin typeface="Microsoft YaHei"/>
                        </a:rPr>
                        <a:t>COUNT 口径、GROUP 维度、AGG 别名、ORDER/HAVING 引用</a:t>
                      </a:r>
                    </a:p>
                  </a:txBody>
                  <a:tcPr marL="36576" marR="36576">
                    <a:solidFill>
                      <a:srgbClr val="FFFFFF"/>
                    </a:solidFill>
                  </a:tcPr>
                </a:tc>
              </a:tr>
              <a:tr h="640080">
                <a:tc>
                  <a:txBody>
                    <a:bodyPr/>
                    <a:lstStyle/>
                    <a:p>
                      <a:pPr algn="l"/>
                      <a:r>
                        <a:rPr sz="800" b="0">
                          <a:solidFill>
                            <a:srgbClr val="1F2933"/>
                          </a:solidFill>
                          <a:latin typeface="Microsoft YaHei"/>
                        </a:rPr>
                        <a:t>join</a:t>
                      </a:r>
                    </a:p>
                  </a:txBody>
                  <a:tcPr marL="36576" marR="36576">
                    <a:solidFill>
                      <a:srgbClr val="F6F8FA"/>
                    </a:solidFill>
                  </a:tcPr>
                </a:tc>
                <a:tc>
                  <a:txBody>
                    <a:bodyPr/>
                    <a:lstStyle/>
                    <a:p>
                      <a:pPr algn="l"/>
                      <a:r>
                        <a:rPr sz="800" b="0">
                          <a:solidFill>
                            <a:srgbClr val="1F2933"/>
                          </a:solidFill>
                          <a:latin typeface="Microsoft YaHei"/>
                        </a:rPr>
                        <a:t>3</a:t>
                      </a:r>
                    </a:p>
                  </a:txBody>
                  <a:tcPr marL="36576" marR="36576">
                    <a:solidFill>
                      <a:srgbClr val="F6F8FA"/>
                    </a:solidFill>
                  </a:tcPr>
                </a:tc>
                <a:tc>
                  <a:txBody>
                    <a:bodyPr/>
                    <a:lstStyle/>
                    <a:p>
                      <a:pPr algn="l"/>
                      <a:r>
                        <a:rPr sz="800" b="0">
                          <a:solidFill>
                            <a:srgbClr val="1F2933"/>
                          </a:solidFill>
                          <a:latin typeface="Microsoft YaHei"/>
                        </a:rPr>
                        <a:t>3/3</a:t>
                      </a:r>
                    </a:p>
                  </a:txBody>
                  <a:tcPr marL="36576" marR="36576">
                    <a:solidFill>
                      <a:srgbClr val="F6F8FA"/>
                    </a:solidFill>
                  </a:tcPr>
                </a:tc>
                <a:tc>
                  <a:txBody>
                    <a:bodyPr/>
                    <a:lstStyle/>
                    <a:p>
                      <a:pPr algn="l"/>
                      <a:r>
                        <a:rPr sz="800" b="0">
                          <a:solidFill>
                            <a:srgbClr val="1F2933"/>
                          </a:solidFill>
                          <a:latin typeface="Microsoft YaHei"/>
                        </a:rPr>
                        <a:t>JOIN 方向、冗余 JOIN、缺失 JOIN、paid 过滤遗漏</a:t>
                      </a:r>
                    </a:p>
                  </a:txBody>
                  <a:tcPr marL="36576" marR="36576">
                    <a:solidFill>
                      <a:srgbClr val="F6F8FA"/>
                    </a:solidFill>
                  </a:tcPr>
                </a:tc>
              </a:tr>
              <a:tr h="640080">
                <a:tc>
                  <a:txBody>
                    <a:bodyPr/>
                    <a:lstStyle/>
                    <a:p>
                      <a:pPr algn="l"/>
                      <a:r>
                        <a:rPr sz="800" b="0">
                          <a:solidFill>
                            <a:srgbClr val="1F2933"/>
                          </a:solidFill>
                          <a:latin typeface="Microsoft YaHei"/>
                        </a:rPr>
                        <a:t>projection</a:t>
                      </a:r>
                    </a:p>
                  </a:txBody>
                  <a:tcPr marL="36576" marR="36576">
                    <a:solidFill>
                      <a:srgbClr val="FFFFFF"/>
                    </a:solidFill>
                  </a:tcPr>
                </a:tc>
                <a:tc>
                  <a:txBody>
                    <a:bodyPr/>
                    <a:lstStyle/>
                    <a:p>
                      <a:pPr algn="l"/>
                      <a:r>
                        <a:rPr sz="800" b="0">
                          <a:solidFill>
                            <a:srgbClr val="1F2933"/>
                          </a:solidFill>
                          <a:latin typeface="Microsoft YaHei"/>
                        </a:rPr>
                        <a:t>1</a:t>
                      </a:r>
                    </a:p>
                  </a:txBody>
                  <a:tcPr marL="36576" marR="36576">
                    <a:solidFill>
                      <a:srgbClr val="FFFFFF"/>
                    </a:solidFill>
                  </a:tcPr>
                </a:tc>
                <a:tc>
                  <a:txBody>
                    <a:bodyPr/>
                    <a:lstStyle/>
                    <a:p>
                      <a:pPr algn="l"/>
                      <a:r>
                        <a:rPr sz="800" b="0">
                          <a:solidFill>
                            <a:srgbClr val="1F2933"/>
                          </a:solidFill>
                          <a:latin typeface="Microsoft YaHei"/>
                        </a:rPr>
                        <a:t>1/1</a:t>
                      </a:r>
                    </a:p>
                  </a:txBody>
                  <a:tcPr marL="36576" marR="36576">
                    <a:solidFill>
                      <a:srgbClr val="FFFFFF"/>
                    </a:solidFill>
                  </a:tcPr>
                </a:tc>
                <a:tc>
                  <a:txBody>
                    <a:bodyPr/>
                    <a:lstStyle/>
                    <a:p>
                      <a:pPr algn="l"/>
                      <a:r>
                        <a:rPr sz="800" b="0">
                          <a:solidFill>
                            <a:srgbClr val="1F2933"/>
                          </a:solidFill>
                          <a:latin typeface="Microsoft YaHei"/>
                        </a:rPr>
                        <a:t>结果列多、列少或列顺序错误</a:t>
                      </a:r>
                    </a:p>
                  </a:txBody>
                  <a:tcPr marL="36576" marR="36576">
                    <a:solidFill>
                      <a:srgbClr val="FFFFFF"/>
                    </a:solidFill>
                  </a:tcPr>
                </a:tc>
              </a:tr>
            </a:tbl>
          </a:graphicData>
        </a:graphic>
      </p:graphicFrame>
      <p:sp>
        <p:nvSpPr>
          <p:cNvPr id="5" name="Rectangle 4"/>
          <p:cNvSpPr/>
          <p:nvPr/>
        </p:nvSpPr>
        <p:spPr>
          <a:xfrm>
            <a:off x="804672" y="5266944"/>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B22626"/>
                </a:solidFill>
                <a:latin typeface="Microsoft YaHei"/>
              </a:rPr>
              <a:t>结论：不同错误类型需要不同局部修复策略，整体重写不是最稳的路径。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实验四：Spider 小规模公开子集</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20</a:t>
            </a:r>
          </a:p>
        </p:txBody>
      </p:sp>
      <p:graphicFrame>
        <p:nvGraphicFramePr>
          <p:cNvPr id="4" name="Table 3"/>
          <p:cNvGraphicFramePr>
            <a:graphicFrameLocks noGrp="1"/>
          </p:cNvGraphicFramePr>
          <p:nvPr/>
        </p:nvGraphicFramePr>
        <p:xfrm>
          <a:off x="411480" y="1051560"/>
          <a:ext cx="8321040" cy="2560320"/>
        </p:xfrm>
        <a:graphic>
          <a:graphicData uri="http://schemas.openxmlformats.org/drawingml/2006/table">
            <a:tbl>
              <a:tblPr firstRow="1" bandRow="1">
                <a:tableStyleId>{5C22544A-7EE6-4342-B048-85BDC9FD1C3A}</a:tableStyleId>
              </a:tblPr>
              <a:tblGrid>
                <a:gridCol w="1386840"/>
                <a:gridCol w="1386840"/>
                <a:gridCol w="1386840"/>
                <a:gridCol w="1386840"/>
                <a:gridCol w="1386840"/>
                <a:gridCol w="1386840"/>
              </a:tblGrid>
              <a:tr h="640080">
                <a:tc>
                  <a:txBody>
                    <a:bodyPr/>
                    <a:lstStyle/>
                    <a:p>
                      <a:pPr algn="ctr"/>
                      <a:r>
                        <a:rPr sz="800" b="1">
                          <a:solidFill>
                            <a:srgbClr val="FFFFFF"/>
                          </a:solidFill>
                          <a:latin typeface="Microsoft YaHei"/>
                        </a:rPr>
                        <a:t>实验</a:t>
                      </a:r>
                    </a:p>
                  </a:txBody>
                  <a:tcPr marL="36576" marR="36576">
                    <a:solidFill>
                      <a:srgbClr val="18375C"/>
                    </a:solidFill>
                  </a:tcPr>
                </a:tc>
                <a:tc>
                  <a:txBody>
                    <a:bodyPr/>
                    <a:lstStyle/>
                    <a:p>
                      <a:pPr algn="ctr"/>
                      <a:r>
                        <a:rPr sz="800" b="1">
                          <a:solidFill>
                            <a:srgbClr val="FFFFFF"/>
                          </a:solidFill>
                          <a:latin typeface="Microsoft YaHei"/>
                        </a:rPr>
                        <a:t>样例</a:t>
                      </a:r>
                    </a:p>
                  </a:txBody>
                  <a:tcPr marL="36576" marR="36576">
                    <a:solidFill>
                      <a:srgbClr val="18375C"/>
                    </a:solidFill>
                  </a:tcPr>
                </a:tc>
                <a:tc>
                  <a:txBody>
                    <a:bodyPr/>
                    <a:lstStyle/>
                    <a:p>
                      <a:pPr algn="ctr"/>
                      <a:r>
                        <a:rPr sz="800" b="1">
                          <a:solidFill>
                            <a:srgbClr val="FFFFFF"/>
                          </a:solidFill>
                          <a:latin typeface="Microsoft YaHei"/>
                        </a:rPr>
                        <a:t>SQL+ 有效</a:t>
                      </a:r>
                    </a:p>
                  </a:txBody>
                  <a:tcPr marL="36576" marR="36576">
                    <a:solidFill>
                      <a:srgbClr val="18375C"/>
                    </a:solidFill>
                  </a:tcPr>
                </a:tc>
                <a:tc>
                  <a:txBody>
                    <a:bodyPr/>
                    <a:lstStyle/>
                    <a:p>
                      <a:pPr algn="ctr"/>
                      <a:r>
                        <a:rPr sz="800" b="1">
                          <a:solidFill>
                            <a:srgbClr val="FFFFFF"/>
                          </a:solidFill>
                          <a:latin typeface="Microsoft YaHei"/>
                        </a:rPr>
                        <a:t>SQL 可执行</a:t>
                      </a:r>
                    </a:p>
                  </a:txBody>
                  <a:tcPr marL="36576" marR="36576">
                    <a:solidFill>
                      <a:srgbClr val="18375C"/>
                    </a:solidFill>
                  </a:tcPr>
                </a:tc>
                <a:tc>
                  <a:txBody>
                    <a:bodyPr/>
                    <a:lstStyle/>
                    <a:p>
                      <a:pPr algn="ctr"/>
                      <a:r>
                        <a:rPr sz="800" b="1">
                          <a:solidFill>
                            <a:srgbClr val="FFFFFF"/>
                          </a:solidFill>
                          <a:latin typeface="Microsoft YaHei"/>
                        </a:rPr>
                        <a:t>执行一致</a:t>
                      </a:r>
                    </a:p>
                  </a:txBody>
                  <a:tcPr marL="36576" marR="36576">
                    <a:solidFill>
                      <a:srgbClr val="18375C"/>
                    </a:solidFill>
                  </a:tcPr>
                </a:tc>
                <a:tc>
                  <a:txBody>
                    <a:bodyPr/>
                    <a:lstStyle/>
                    <a:p>
                      <a:pPr algn="ctr"/>
                      <a:r>
                        <a:rPr sz="800" b="1">
                          <a:solidFill>
                            <a:srgbClr val="FFFFFF"/>
                          </a:solidFill>
                          <a:latin typeface="Microsoft YaHei"/>
                        </a:rPr>
                        <a:t>说明</a:t>
                      </a:r>
                    </a:p>
                  </a:txBody>
                  <a:tcPr marL="36576" marR="36576">
                    <a:solidFill>
                      <a:srgbClr val="18375C"/>
                    </a:solidFill>
                  </a:tcPr>
                </a:tc>
              </a:tr>
              <a:tr h="640080">
                <a:tc>
                  <a:txBody>
                    <a:bodyPr/>
                    <a:lstStyle/>
                    <a:p>
                      <a:pPr algn="l"/>
                      <a:r>
                        <a:rPr sz="700" b="0">
                          <a:solidFill>
                            <a:srgbClr val="1F2933"/>
                          </a:solidFill>
                          <a:latin typeface="Microsoft YaHei"/>
                        </a:rPr>
                        <a:t>conversion smoke test</a:t>
                      </a:r>
                    </a:p>
                  </a:txBody>
                  <a:tcPr marL="36576" marR="36576">
                    <a:solidFill>
                      <a:srgbClr val="FFFFFF"/>
                    </a:solidFill>
                  </a:tcPr>
                </a:tc>
                <a:tc>
                  <a:txBody>
                    <a:bodyPr/>
                    <a:lstStyle/>
                    <a:p>
                      <a:pPr algn="l"/>
                      <a:r>
                        <a:rPr sz="700" b="0">
                          <a:solidFill>
                            <a:srgbClr val="1F2933"/>
                          </a:solidFill>
                          <a:latin typeface="Microsoft YaHei"/>
                        </a:rPr>
                        <a:t>20</a:t>
                      </a:r>
                    </a:p>
                  </a:txBody>
                  <a:tcPr marL="36576" marR="36576">
                    <a:solidFill>
                      <a:srgbClr val="FFFFFF"/>
                    </a:solidFill>
                  </a:tcPr>
                </a:tc>
                <a:tc>
                  <a:txBody>
                    <a:bodyPr/>
                    <a:lstStyle/>
                    <a:p>
                      <a:pPr algn="l"/>
                      <a:r>
                        <a:rPr sz="700" b="0">
                          <a:solidFill>
                            <a:srgbClr val="1F2933"/>
                          </a:solidFill>
                          <a:latin typeface="Microsoft YaHei"/>
                        </a:rPr>
                        <a:t>20/20</a:t>
                      </a:r>
                    </a:p>
                  </a:txBody>
                  <a:tcPr marL="36576" marR="36576">
                    <a:solidFill>
                      <a:srgbClr val="FFFFFF"/>
                    </a:solidFill>
                  </a:tcPr>
                </a:tc>
                <a:tc>
                  <a:txBody>
                    <a:bodyPr/>
                    <a:lstStyle/>
                    <a:p>
                      <a:pPr algn="l"/>
                      <a:r>
                        <a:rPr sz="700" b="0">
                          <a:solidFill>
                            <a:srgbClr val="1F2933"/>
                          </a:solidFill>
                          <a:latin typeface="Microsoft YaHei"/>
                        </a:rPr>
                        <a:t>20/20</a:t>
                      </a:r>
                    </a:p>
                  </a:txBody>
                  <a:tcPr marL="36576" marR="36576">
                    <a:solidFill>
                      <a:srgbClr val="FFFFFF"/>
                    </a:solidFill>
                  </a:tcPr>
                </a:tc>
                <a:tc>
                  <a:txBody>
                    <a:bodyPr/>
                    <a:lstStyle/>
                    <a:p>
                      <a:pPr algn="l"/>
                      <a:r>
                        <a:rPr sz="700" b="0">
                          <a:solidFill>
                            <a:srgbClr val="1F2933"/>
                          </a:solidFill>
                          <a:latin typeface="Microsoft YaHei"/>
                        </a:rPr>
                        <a:t>20/20</a:t>
                      </a:r>
                    </a:p>
                  </a:txBody>
                  <a:tcPr marL="36576" marR="36576">
                    <a:solidFill>
                      <a:srgbClr val="FFFFFF"/>
                    </a:solidFill>
                  </a:tcPr>
                </a:tc>
                <a:tc>
                  <a:txBody>
                    <a:bodyPr/>
                    <a:lstStyle/>
                    <a:p>
                      <a:pPr algn="l"/>
                      <a:r>
                        <a:rPr sz="700" b="0">
                          <a:solidFill>
                            <a:srgbClr val="1F2933"/>
                          </a:solidFill>
                          <a:latin typeface="Microsoft YaHei"/>
                        </a:rPr>
                        <a:t>Spider gold SQL -&gt; SQL+ -&gt; SQL</a:t>
                      </a:r>
                    </a:p>
                  </a:txBody>
                  <a:tcPr marL="36576" marR="36576">
                    <a:solidFill>
                      <a:srgbClr val="FFFFFF"/>
                    </a:solidFill>
                  </a:tcPr>
                </a:tc>
              </a:tr>
              <a:tr h="640080">
                <a:tc>
                  <a:txBody>
                    <a:bodyPr/>
                    <a:lstStyle/>
                    <a:p>
                      <a:pPr algn="l"/>
                      <a:r>
                        <a:rPr sz="700" b="0">
                          <a:solidFill>
                            <a:srgbClr val="1F2933"/>
                          </a:solidFill>
                          <a:latin typeface="Microsoft YaHei"/>
                        </a:rPr>
                        <a:t>fresh e2e generation</a:t>
                      </a:r>
                    </a:p>
                  </a:txBody>
                  <a:tcPr marL="36576" marR="36576">
                    <a:solidFill>
                      <a:srgbClr val="F6F8FA"/>
                    </a:solidFill>
                  </a:tcPr>
                </a:tc>
                <a:tc>
                  <a:txBody>
                    <a:bodyPr/>
                    <a:lstStyle/>
                    <a:p>
                      <a:pPr algn="l"/>
                      <a:r>
                        <a:rPr sz="700" b="0">
                          <a:solidFill>
                            <a:srgbClr val="1F2933"/>
                          </a:solidFill>
                          <a:latin typeface="Microsoft YaHei"/>
                        </a:rPr>
                        <a:t>20</a:t>
                      </a:r>
                    </a:p>
                  </a:txBody>
                  <a:tcPr marL="36576" marR="36576">
                    <a:solidFill>
                      <a:srgbClr val="F6F8FA"/>
                    </a:solidFill>
                  </a:tcPr>
                </a:tc>
                <a:tc>
                  <a:txBody>
                    <a:bodyPr/>
                    <a:lstStyle/>
                    <a:p>
                      <a:pPr algn="l"/>
                      <a:r>
                        <a:rPr sz="700" b="0">
                          <a:solidFill>
                            <a:srgbClr val="1F2933"/>
                          </a:solidFill>
                          <a:latin typeface="Microsoft YaHei"/>
                        </a:rPr>
                        <a:t>19/20</a:t>
                      </a:r>
                    </a:p>
                  </a:txBody>
                  <a:tcPr marL="36576" marR="36576">
                    <a:solidFill>
                      <a:srgbClr val="F6F8FA"/>
                    </a:solidFill>
                  </a:tcPr>
                </a:tc>
                <a:tc>
                  <a:txBody>
                    <a:bodyPr/>
                    <a:lstStyle/>
                    <a:p>
                      <a:pPr algn="l"/>
                      <a:r>
                        <a:rPr sz="700" b="0">
                          <a:solidFill>
                            <a:srgbClr val="1F2933"/>
                          </a:solidFill>
                          <a:latin typeface="Microsoft YaHei"/>
                        </a:rPr>
                        <a:t>19/20</a:t>
                      </a:r>
                    </a:p>
                  </a:txBody>
                  <a:tcPr marL="36576" marR="36576">
                    <a:solidFill>
                      <a:srgbClr val="F6F8FA"/>
                    </a:solidFill>
                  </a:tcPr>
                </a:tc>
                <a:tc>
                  <a:txBody>
                    <a:bodyPr/>
                    <a:lstStyle/>
                    <a:p>
                      <a:pPr algn="l"/>
                      <a:r>
                        <a:rPr sz="700" b="0">
                          <a:solidFill>
                            <a:srgbClr val="1F2933"/>
                          </a:solidFill>
                          <a:latin typeface="Microsoft YaHei"/>
                        </a:rPr>
                        <a:t>19/20</a:t>
                      </a:r>
                    </a:p>
                  </a:txBody>
                  <a:tcPr marL="36576" marR="36576">
                    <a:solidFill>
                      <a:srgbClr val="F6F8FA"/>
                    </a:solidFill>
                  </a:tcPr>
                </a:tc>
                <a:tc>
                  <a:txBody>
                    <a:bodyPr/>
                    <a:lstStyle/>
                    <a:p>
                      <a:pPr algn="l"/>
                      <a:r>
                        <a:rPr sz="700" b="0">
                          <a:solidFill>
                            <a:srgbClr val="1F2933"/>
                          </a:solidFill>
                          <a:latin typeface="Microsoft YaHei"/>
                        </a:rPr>
                        <a:t>question + schema -&gt; SQL+</a:t>
                      </a:r>
                    </a:p>
                  </a:txBody>
                  <a:tcPr marL="36576" marR="36576">
                    <a:solidFill>
                      <a:srgbClr val="F6F8FA"/>
                    </a:solidFill>
                  </a:tcPr>
                </a:tc>
              </a:tr>
              <a:tr h="640080">
                <a:tc>
                  <a:txBody>
                    <a:bodyPr/>
                    <a:lstStyle/>
                    <a:p>
                      <a:pPr algn="l"/>
                      <a:r>
                        <a:rPr sz="700" b="0">
                          <a:solidFill>
                            <a:srgbClr val="1F2933"/>
                          </a:solidFill>
                          <a:latin typeface="Microsoft YaHei"/>
                        </a:rPr>
                        <a:t>fresh e2e + semantic repair</a:t>
                      </a:r>
                    </a:p>
                  </a:txBody>
                  <a:tcPr marL="36576" marR="36576">
                    <a:solidFill>
                      <a:srgbClr val="FFFFFF"/>
                    </a:solidFill>
                  </a:tcPr>
                </a:tc>
                <a:tc>
                  <a:txBody>
                    <a:bodyPr/>
                    <a:lstStyle/>
                    <a:p>
                      <a:pPr algn="l"/>
                      <a:r>
                        <a:rPr sz="700" b="0">
                          <a:solidFill>
                            <a:srgbClr val="1F2933"/>
                          </a:solidFill>
                          <a:latin typeface="Microsoft YaHei"/>
                        </a:rPr>
                        <a:t>20</a:t>
                      </a:r>
                    </a:p>
                  </a:txBody>
                  <a:tcPr marL="36576" marR="36576">
                    <a:solidFill>
                      <a:srgbClr val="FFFFFF"/>
                    </a:solidFill>
                  </a:tcPr>
                </a:tc>
                <a:tc>
                  <a:txBody>
                    <a:bodyPr/>
                    <a:lstStyle/>
                    <a:p>
                      <a:pPr algn="l"/>
                      <a:r>
                        <a:rPr sz="700" b="0">
                          <a:solidFill>
                            <a:srgbClr val="1F2933"/>
                          </a:solidFill>
                          <a:latin typeface="Microsoft YaHei"/>
                        </a:rPr>
                        <a:t>20/20</a:t>
                      </a:r>
                    </a:p>
                  </a:txBody>
                  <a:tcPr marL="36576" marR="36576">
                    <a:solidFill>
                      <a:srgbClr val="FFFFFF"/>
                    </a:solidFill>
                  </a:tcPr>
                </a:tc>
                <a:tc>
                  <a:txBody>
                    <a:bodyPr/>
                    <a:lstStyle/>
                    <a:p>
                      <a:pPr algn="l"/>
                      <a:r>
                        <a:rPr sz="700" b="0">
                          <a:solidFill>
                            <a:srgbClr val="1F2933"/>
                          </a:solidFill>
                          <a:latin typeface="Microsoft YaHei"/>
                        </a:rPr>
                        <a:t>20/20</a:t>
                      </a:r>
                    </a:p>
                  </a:txBody>
                  <a:tcPr marL="36576" marR="36576">
                    <a:solidFill>
                      <a:srgbClr val="FFFFFF"/>
                    </a:solidFill>
                  </a:tcPr>
                </a:tc>
                <a:tc>
                  <a:txBody>
                    <a:bodyPr/>
                    <a:lstStyle/>
                    <a:p>
                      <a:pPr algn="l"/>
                      <a:r>
                        <a:rPr sz="700" b="0">
                          <a:solidFill>
                            <a:srgbClr val="1F2933"/>
                          </a:solidFill>
                          <a:latin typeface="Microsoft YaHei"/>
                        </a:rPr>
                        <a:t>20/20</a:t>
                      </a:r>
                    </a:p>
                  </a:txBody>
                  <a:tcPr marL="36576" marR="36576">
                    <a:solidFill>
                      <a:srgbClr val="FFFFFF"/>
                    </a:solidFill>
                  </a:tcPr>
                </a:tc>
                <a:tc>
                  <a:txBody>
                    <a:bodyPr/>
                    <a:lstStyle/>
                    <a:p>
                      <a:pPr algn="l"/>
                      <a:r>
                        <a:rPr sz="700" b="0">
                          <a:solidFill>
                            <a:srgbClr val="1F2933"/>
                          </a:solidFill>
                          <a:latin typeface="Microsoft YaHei"/>
                        </a:rPr>
                        <a:t>同一次 fresh 输出经 Router -&gt; semantic repair skill</a:t>
                      </a:r>
                    </a:p>
                  </a:txBody>
                  <a:tcPr marL="36576" marR="36576">
                    <a:solidFill>
                      <a:srgbClr val="FFFFFF"/>
                    </a:solidFill>
                  </a:tcPr>
                </a:tc>
              </a:tr>
            </a:tbl>
          </a:graphicData>
        </a:graphic>
      </p:graphicFrame>
      <p:sp>
        <p:nvSpPr>
          <p:cNvPr id="5" name="Rectangle 4"/>
          <p:cNvSpPr/>
          <p:nvPr/>
        </p:nvSpPr>
        <p:spPr>
          <a:xfrm>
            <a:off x="685800" y="4069080"/>
            <a:ext cx="7818120" cy="1143000"/>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B22626"/>
                </a:solidFill>
                <a:latin typeface="Microsoft YaHei"/>
              </a:rPr>
              <a:t>结论：SQL+ 表达、转换、fresh 生成和 semantic repair 链路已在 concert_singer 小子集跑通。
边界：conversion smoke 使用 gold SQL 改写，不是端到端准确率；整体不是完整 Spider benchmark 跑分。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前期可行性分析小结</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21</a:t>
            </a:r>
          </a:p>
        </p:txBody>
      </p:sp>
      <p:sp>
        <p:nvSpPr>
          <p:cNvPr id="4" name="Rectangle 3"/>
          <p:cNvSpPr/>
          <p:nvPr/>
        </p:nvSpPr>
        <p:spPr>
          <a:xfrm>
            <a:off x="594360" y="1234440"/>
            <a:ext cx="2331720" cy="11430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5" name="TextBox 4"/>
          <p:cNvSpPr txBox="1"/>
          <p:nvPr/>
        </p:nvSpPr>
        <p:spPr>
          <a:xfrm>
            <a:off x="758952" y="1399032"/>
            <a:ext cx="1920240" cy="256032"/>
          </a:xfrm>
          <a:prstGeom prst="rect">
            <a:avLst/>
          </a:prstGeom>
          <a:noFill/>
        </p:spPr>
        <p:txBody>
          <a:bodyPr wrap="square" anchor="ctr">
            <a:spAutoFit/>
          </a:bodyPr>
          <a:lstStyle/>
          <a:p>
            <a:pPr algn="l"/>
            <a:r>
              <a:rPr sz="1200" b="1">
                <a:solidFill>
                  <a:srgbClr val="18375C"/>
                </a:solidFill>
                <a:latin typeface="Microsoft YaHei"/>
              </a:rPr>
              <a:t>表达可行</a:t>
            </a:r>
          </a:p>
        </p:txBody>
      </p:sp>
      <p:sp>
        <p:nvSpPr>
          <p:cNvPr id="6" name="TextBox 5"/>
          <p:cNvSpPr txBox="1"/>
          <p:nvPr/>
        </p:nvSpPr>
        <p:spPr>
          <a:xfrm>
            <a:off x="758952" y="1764792"/>
            <a:ext cx="1920240" cy="384048"/>
          </a:xfrm>
          <a:prstGeom prst="rect">
            <a:avLst/>
          </a:prstGeom>
          <a:noFill/>
        </p:spPr>
        <p:txBody>
          <a:bodyPr wrap="square" anchor="ctr">
            <a:spAutoFit/>
          </a:bodyPr>
          <a:lstStyle/>
          <a:p>
            <a:pPr algn="ctr"/>
            <a:r>
              <a:rPr sz="1000" b="0">
                <a:solidFill>
                  <a:srgbClr val="1F2933"/>
                </a:solidFill>
                <a:latin typeface="Microsoft YaHei"/>
              </a:rPr>
              <a:t>SQL+ -&gt; SQL
30/30 执行一致</a:t>
            </a:r>
          </a:p>
        </p:txBody>
      </p:sp>
      <p:sp>
        <p:nvSpPr>
          <p:cNvPr id="7" name="Rectangle 6"/>
          <p:cNvSpPr/>
          <p:nvPr/>
        </p:nvSpPr>
        <p:spPr>
          <a:xfrm>
            <a:off x="3337560" y="1234440"/>
            <a:ext cx="2331720" cy="11430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8" name="TextBox 7"/>
          <p:cNvSpPr txBox="1"/>
          <p:nvPr/>
        </p:nvSpPr>
        <p:spPr>
          <a:xfrm>
            <a:off x="3502152" y="1399032"/>
            <a:ext cx="1920240" cy="256032"/>
          </a:xfrm>
          <a:prstGeom prst="rect">
            <a:avLst/>
          </a:prstGeom>
          <a:noFill/>
        </p:spPr>
        <p:txBody>
          <a:bodyPr wrap="square" anchor="ctr">
            <a:spAutoFit/>
          </a:bodyPr>
          <a:lstStyle/>
          <a:p>
            <a:pPr algn="l"/>
            <a:r>
              <a:rPr sz="1200" b="1">
                <a:solidFill>
                  <a:srgbClr val="525C69"/>
                </a:solidFill>
                <a:latin typeface="Microsoft YaHei"/>
              </a:rPr>
              <a:t>生成有潜力</a:t>
            </a:r>
          </a:p>
        </p:txBody>
      </p:sp>
      <p:sp>
        <p:nvSpPr>
          <p:cNvPr id="9" name="TextBox 8"/>
          <p:cNvSpPr txBox="1"/>
          <p:nvPr/>
        </p:nvSpPr>
        <p:spPr>
          <a:xfrm>
            <a:off x="3502152" y="1764792"/>
            <a:ext cx="1920240" cy="384048"/>
          </a:xfrm>
          <a:prstGeom prst="rect">
            <a:avLst/>
          </a:prstGeom>
          <a:noFill/>
        </p:spPr>
        <p:txBody>
          <a:bodyPr wrap="square" anchor="ctr">
            <a:spAutoFit/>
          </a:bodyPr>
          <a:lstStyle/>
          <a:p>
            <a:pPr algn="ctr"/>
            <a:r>
              <a:rPr sz="1000" b="0">
                <a:solidFill>
                  <a:srgbClr val="1F2933"/>
                </a:solidFill>
                <a:latin typeface="Microsoft YaHei"/>
              </a:rPr>
              <a:t>SQL+ v2 17/30
Direct SQL 16/30</a:t>
            </a:r>
          </a:p>
        </p:txBody>
      </p:sp>
      <p:sp>
        <p:nvSpPr>
          <p:cNvPr id="10" name="Rectangle 9"/>
          <p:cNvSpPr/>
          <p:nvPr/>
        </p:nvSpPr>
        <p:spPr>
          <a:xfrm>
            <a:off x="6080760" y="1234440"/>
            <a:ext cx="2331720" cy="1143000"/>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11" name="TextBox 10"/>
          <p:cNvSpPr txBox="1"/>
          <p:nvPr/>
        </p:nvSpPr>
        <p:spPr>
          <a:xfrm>
            <a:off x="6245352" y="1399032"/>
            <a:ext cx="1920240" cy="256032"/>
          </a:xfrm>
          <a:prstGeom prst="rect">
            <a:avLst/>
          </a:prstGeom>
          <a:noFill/>
        </p:spPr>
        <p:txBody>
          <a:bodyPr wrap="square" anchor="ctr">
            <a:spAutoFit/>
          </a:bodyPr>
          <a:lstStyle/>
          <a:p>
            <a:pPr algn="l"/>
            <a:r>
              <a:rPr sz="1200" b="1">
                <a:solidFill>
                  <a:srgbClr val="3A4E5E"/>
                </a:solidFill>
                <a:latin typeface="Microsoft YaHei"/>
              </a:rPr>
              <a:t>修复更关键</a:t>
            </a:r>
          </a:p>
        </p:txBody>
      </p:sp>
      <p:sp>
        <p:nvSpPr>
          <p:cNvPr id="12" name="TextBox 11"/>
          <p:cNvSpPr txBox="1"/>
          <p:nvPr/>
        </p:nvSpPr>
        <p:spPr>
          <a:xfrm>
            <a:off x="6245352" y="1764792"/>
            <a:ext cx="1920240" cy="384048"/>
          </a:xfrm>
          <a:prstGeom prst="rect">
            <a:avLst/>
          </a:prstGeom>
          <a:noFill/>
        </p:spPr>
        <p:txBody>
          <a:bodyPr wrap="square" anchor="ctr">
            <a:spAutoFit/>
          </a:bodyPr>
          <a:lstStyle/>
          <a:p>
            <a:pPr algn="ctr"/>
            <a:r>
              <a:rPr sz="1000" b="0">
                <a:solidFill>
                  <a:srgbClr val="1F2933"/>
                </a:solidFill>
                <a:latin typeface="Microsoft YaHei"/>
              </a:rPr>
              <a:t>单 Refiner 不稳
Router Skills 13/13</a:t>
            </a:r>
          </a:p>
        </p:txBody>
      </p:sp>
      <p:sp>
        <p:nvSpPr>
          <p:cNvPr id="13" name="Rectangle 12"/>
          <p:cNvSpPr/>
          <p:nvPr/>
        </p:nvSpPr>
        <p:spPr>
          <a:xfrm>
            <a:off x="594360" y="2880360"/>
            <a:ext cx="2331720" cy="1143000"/>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14" name="TextBox 13"/>
          <p:cNvSpPr txBox="1"/>
          <p:nvPr/>
        </p:nvSpPr>
        <p:spPr>
          <a:xfrm>
            <a:off x="758952" y="3044952"/>
            <a:ext cx="1920240" cy="256032"/>
          </a:xfrm>
          <a:prstGeom prst="rect">
            <a:avLst/>
          </a:prstGeom>
          <a:noFill/>
        </p:spPr>
        <p:txBody>
          <a:bodyPr wrap="square" anchor="ctr">
            <a:spAutoFit/>
          </a:bodyPr>
          <a:lstStyle/>
          <a:p>
            <a:pPr algn="l"/>
            <a:r>
              <a:rPr sz="1200" b="1">
                <a:solidFill>
                  <a:srgbClr val="B22626"/>
                </a:solidFill>
                <a:latin typeface="Microsoft YaHei"/>
              </a:rPr>
              <a:t>成本需补齐</a:t>
            </a:r>
          </a:p>
        </p:txBody>
      </p:sp>
      <p:sp>
        <p:nvSpPr>
          <p:cNvPr id="15" name="TextBox 14"/>
          <p:cNvSpPr txBox="1"/>
          <p:nvPr/>
        </p:nvSpPr>
        <p:spPr>
          <a:xfrm>
            <a:off x="758952" y="3410712"/>
            <a:ext cx="1920240" cy="384048"/>
          </a:xfrm>
          <a:prstGeom prst="rect">
            <a:avLst/>
          </a:prstGeom>
          <a:noFill/>
        </p:spPr>
        <p:txBody>
          <a:bodyPr wrap="square" anchor="ctr">
            <a:spAutoFit/>
          </a:bodyPr>
          <a:lstStyle/>
          <a:p>
            <a:pPr algn="ctr"/>
            <a:r>
              <a:rPr sz="1000" b="0">
                <a:solidFill>
                  <a:srgbClr val="1F2933"/>
                </a:solidFill>
                <a:latin typeface="Microsoft YaHei"/>
              </a:rPr>
              <a:t>SQL+ token 更高
latency 需重跑</a:t>
            </a:r>
          </a:p>
        </p:txBody>
      </p:sp>
      <p:sp>
        <p:nvSpPr>
          <p:cNvPr id="16" name="Rectangle 15"/>
          <p:cNvSpPr/>
          <p:nvPr/>
        </p:nvSpPr>
        <p:spPr>
          <a:xfrm>
            <a:off x="3337560" y="2880360"/>
            <a:ext cx="2331720" cy="11430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17" name="TextBox 16"/>
          <p:cNvSpPr txBox="1"/>
          <p:nvPr/>
        </p:nvSpPr>
        <p:spPr>
          <a:xfrm>
            <a:off x="3502152" y="3044952"/>
            <a:ext cx="1920240" cy="256032"/>
          </a:xfrm>
          <a:prstGeom prst="rect">
            <a:avLst/>
          </a:prstGeom>
          <a:noFill/>
        </p:spPr>
        <p:txBody>
          <a:bodyPr wrap="square" anchor="ctr">
            <a:spAutoFit/>
          </a:bodyPr>
          <a:lstStyle/>
          <a:p>
            <a:pPr algn="l"/>
            <a:r>
              <a:rPr sz="1200" b="1">
                <a:solidFill>
                  <a:srgbClr val="18375C"/>
                </a:solidFill>
                <a:latin typeface="Microsoft YaHei"/>
              </a:rPr>
              <a:t>公开子集已跑通</a:t>
            </a:r>
          </a:p>
        </p:txBody>
      </p:sp>
      <p:sp>
        <p:nvSpPr>
          <p:cNvPr id="18" name="TextBox 17"/>
          <p:cNvSpPr txBox="1"/>
          <p:nvPr/>
        </p:nvSpPr>
        <p:spPr>
          <a:xfrm>
            <a:off x="3502152" y="3410712"/>
            <a:ext cx="1920240" cy="384048"/>
          </a:xfrm>
          <a:prstGeom prst="rect">
            <a:avLst/>
          </a:prstGeom>
          <a:noFill/>
        </p:spPr>
        <p:txBody>
          <a:bodyPr wrap="square" anchor="ctr">
            <a:spAutoFit/>
          </a:bodyPr>
          <a:lstStyle/>
          <a:p>
            <a:pPr algn="ctr"/>
            <a:r>
              <a:rPr sz="1000" b="0">
                <a:solidFill>
                  <a:srgbClr val="1F2933"/>
                </a:solidFill>
                <a:latin typeface="Microsoft YaHei"/>
              </a:rPr>
              <a:t>Spider 20 条
fresh 19/20 -&gt; 20/20</a:t>
            </a:r>
          </a:p>
        </p:txBody>
      </p:sp>
      <p:sp>
        <p:nvSpPr>
          <p:cNvPr id="19" name="Rectangle 18"/>
          <p:cNvSpPr/>
          <p:nvPr/>
        </p:nvSpPr>
        <p:spPr>
          <a:xfrm>
            <a:off x="6080760" y="2880360"/>
            <a:ext cx="2331720" cy="11430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20" name="TextBox 19"/>
          <p:cNvSpPr txBox="1"/>
          <p:nvPr/>
        </p:nvSpPr>
        <p:spPr>
          <a:xfrm>
            <a:off x="6245352" y="3044952"/>
            <a:ext cx="1920240" cy="256032"/>
          </a:xfrm>
          <a:prstGeom prst="rect">
            <a:avLst/>
          </a:prstGeom>
          <a:noFill/>
        </p:spPr>
        <p:txBody>
          <a:bodyPr wrap="square" anchor="ctr">
            <a:spAutoFit/>
          </a:bodyPr>
          <a:lstStyle/>
          <a:p>
            <a:pPr algn="l"/>
            <a:r>
              <a:rPr sz="1200" b="1">
                <a:solidFill>
                  <a:srgbClr val="525C69"/>
                </a:solidFill>
                <a:latin typeface="Microsoft YaHei"/>
              </a:rPr>
              <a:t>不能过度外推</a:t>
            </a:r>
          </a:p>
        </p:txBody>
      </p:sp>
      <p:sp>
        <p:nvSpPr>
          <p:cNvPr id="21" name="TextBox 20"/>
          <p:cNvSpPr txBox="1"/>
          <p:nvPr/>
        </p:nvSpPr>
        <p:spPr>
          <a:xfrm>
            <a:off x="6245352" y="3410712"/>
            <a:ext cx="1920240" cy="384048"/>
          </a:xfrm>
          <a:prstGeom prst="rect">
            <a:avLst/>
          </a:prstGeom>
          <a:noFill/>
        </p:spPr>
        <p:txBody>
          <a:bodyPr wrap="square" anchor="ctr">
            <a:spAutoFit/>
          </a:bodyPr>
          <a:lstStyle/>
          <a:p>
            <a:pPr algn="ctr"/>
            <a:r>
              <a:rPr sz="1000" b="0">
                <a:solidFill>
                  <a:srgbClr val="1F2933"/>
                </a:solidFill>
                <a:latin typeface="Microsoft YaHei"/>
              </a:rPr>
              <a:t>小样例
非完整 benchmark</a:t>
            </a:r>
          </a:p>
        </p:txBody>
      </p:sp>
      <p:sp>
        <p:nvSpPr>
          <p:cNvPr id="22" name="Rectangle 21"/>
          <p:cNvSpPr/>
          <p:nvPr/>
        </p:nvSpPr>
        <p:spPr>
          <a:xfrm>
            <a:off x="804672" y="5175504"/>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B22626"/>
                </a:solidFill>
                <a:latin typeface="Microsoft YaHei"/>
              </a:rPr>
              <a:t>当前结果支撑开题可行性，但还不足以支撑泛化结论。</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后续实验设计与评价指标</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22</a:t>
            </a:r>
          </a:p>
        </p:txBody>
      </p:sp>
      <p:graphicFrame>
        <p:nvGraphicFramePr>
          <p:cNvPr id="4" name="Table 3"/>
          <p:cNvGraphicFramePr>
            <a:graphicFrameLocks noGrp="1"/>
          </p:cNvGraphicFramePr>
          <p:nvPr/>
        </p:nvGraphicFramePr>
        <p:xfrm>
          <a:off x="411480" y="960120"/>
          <a:ext cx="8321040" cy="3474720"/>
        </p:xfrm>
        <a:graphic>
          <a:graphicData uri="http://schemas.openxmlformats.org/drawingml/2006/table">
            <a:tbl>
              <a:tblPr firstRow="1" bandRow="1">
                <a:tableStyleId>{5C22544A-7EE6-4342-B048-85BDC9FD1C3A}</a:tableStyleId>
              </a:tblPr>
              <a:tblGrid>
                <a:gridCol w="2773680"/>
                <a:gridCol w="2773680"/>
                <a:gridCol w="2773680"/>
              </a:tblGrid>
              <a:tr h="579120">
                <a:tc>
                  <a:txBody>
                    <a:bodyPr/>
                    <a:lstStyle/>
                    <a:p>
                      <a:pPr algn="ctr"/>
                      <a:r>
                        <a:rPr sz="900" b="1">
                          <a:solidFill>
                            <a:srgbClr val="FFFFFF"/>
                          </a:solidFill>
                          <a:latin typeface="Microsoft YaHei"/>
                        </a:rPr>
                        <a:t>实验组</a:t>
                      </a:r>
                    </a:p>
                  </a:txBody>
                  <a:tcPr marL="36576" marR="36576">
                    <a:solidFill>
                      <a:srgbClr val="18375C"/>
                    </a:solidFill>
                  </a:tcPr>
                </a:tc>
                <a:tc>
                  <a:txBody>
                    <a:bodyPr/>
                    <a:lstStyle/>
                    <a:p>
                      <a:pPr algn="ctr"/>
                      <a:r>
                        <a:rPr sz="900" b="1">
                          <a:solidFill>
                            <a:srgbClr val="FFFFFF"/>
                          </a:solidFill>
                          <a:latin typeface="Microsoft YaHei"/>
                        </a:rPr>
                        <a:t>目的</a:t>
                      </a:r>
                    </a:p>
                  </a:txBody>
                  <a:tcPr marL="36576" marR="36576">
                    <a:solidFill>
                      <a:srgbClr val="18375C"/>
                    </a:solidFill>
                  </a:tcPr>
                </a:tc>
                <a:tc>
                  <a:txBody>
                    <a:bodyPr/>
                    <a:lstStyle/>
                    <a:p>
                      <a:pPr algn="ctr"/>
                      <a:r>
                        <a:rPr sz="900" b="1">
                          <a:solidFill>
                            <a:srgbClr val="FFFFFF"/>
                          </a:solidFill>
                          <a:latin typeface="Microsoft YaHei"/>
                        </a:rPr>
                        <a:t>主要指标</a:t>
                      </a:r>
                    </a:p>
                  </a:txBody>
                  <a:tcPr marL="36576" marR="36576">
                    <a:solidFill>
                      <a:srgbClr val="18375C"/>
                    </a:solidFill>
                  </a:tcPr>
                </a:tc>
              </a:tr>
              <a:tr h="579120">
                <a:tc>
                  <a:txBody>
                    <a:bodyPr/>
                    <a:lstStyle/>
                    <a:p>
                      <a:pPr algn="l"/>
                      <a:r>
                        <a:rPr sz="800" b="0">
                          <a:solidFill>
                            <a:srgbClr val="1F2933"/>
                          </a:solidFill>
                          <a:latin typeface="Microsoft YaHei"/>
                        </a:rPr>
                        <a:t>Direct SQL / NL2SQL+</a:t>
                      </a:r>
                    </a:p>
                  </a:txBody>
                  <a:tcPr marL="36576" marR="36576">
                    <a:solidFill>
                      <a:srgbClr val="FFFFFF"/>
                    </a:solidFill>
                  </a:tcPr>
                </a:tc>
                <a:tc>
                  <a:txBody>
                    <a:bodyPr/>
                    <a:lstStyle/>
                    <a:p>
                      <a:pPr algn="l"/>
                      <a:r>
                        <a:rPr sz="800" b="0">
                          <a:solidFill>
                            <a:srgbClr val="1F2933"/>
                          </a:solidFill>
                          <a:latin typeface="Microsoft YaHei"/>
                        </a:rPr>
                        <a:t>比较直接生成和 SQL+ 生成</a:t>
                      </a:r>
                    </a:p>
                  </a:txBody>
                  <a:tcPr marL="36576" marR="36576">
                    <a:solidFill>
                      <a:srgbClr val="FFFFFF"/>
                    </a:solidFill>
                  </a:tcPr>
                </a:tc>
                <a:tc>
                  <a:txBody>
                    <a:bodyPr/>
                    <a:lstStyle/>
                    <a:p>
                      <a:pPr algn="l"/>
                      <a:r>
                        <a:rPr sz="800" b="0">
                          <a:solidFill>
                            <a:srgbClr val="1F2933"/>
                          </a:solidFill>
                          <a:latin typeface="Microsoft YaHei"/>
                        </a:rPr>
                        <a:t>execution accuracy、valid rate、token、latency</a:t>
                      </a:r>
                    </a:p>
                  </a:txBody>
                  <a:tcPr marL="36576" marR="36576">
                    <a:solidFill>
                      <a:srgbClr val="FFFFFF"/>
                    </a:solidFill>
                  </a:tcPr>
                </a:tc>
              </a:tr>
              <a:tr h="579120">
                <a:tc>
                  <a:txBody>
                    <a:bodyPr/>
                    <a:lstStyle/>
                    <a:p>
                      <a:pPr algn="l"/>
                      <a:r>
                        <a:rPr sz="800" b="0">
                          <a:solidFill>
                            <a:srgbClr val="1F2933"/>
                          </a:solidFill>
                          <a:latin typeface="Microsoft YaHei"/>
                        </a:rPr>
                        <a:t>SemQL/NatSQL/Pipe-style proxy</a:t>
                      </a:r>
                    </a:p>
                  </a:txBody>
                  <a:tcPr marL="36576" marR="36576">
                    <a:solidFill>
                      <a:srgbClr val="F6F8FA"/>
                    </a:solidFill>
                  </a:tcPr>
                </a:tc>
                <a:tc>
                  <a:txBody>
                    <a:bodyPr/>
                    <a:lstStyle/>
                    <a:p>
                      <a:pPr algn="l"/>
                      <a:r>
                        <a:rPr sz="800" b="0">
                          <a:solidFill>
                            <a:srgbClr val="1F2933"/>
                          </a:solidFill>
                          <a:latin typeface="Microsoft YaHei"/>
                        </a:rPr>
                        <a:t>比较中间表示形态</a:t>
                      </a:r>
                    </a:p>
                  </a:txBody>
                  <a:tcPr marL="36576" marR="36576">
                    <a:solidFill>
                      <a:srgbClr val="F6F8FA"/>
                    </a:solidFill>
                  </a:tcPr>
                </a:tc>
                <a:tc>
                  <a:txBody>
                    <a:bodyPr/>
                    <a:lstStyle/>
                    <a:p>
                      <a:pPr algn="l"/>
                      <a:r>
                        <a:rPr sz="800" b="0">
                          <a:solidFill>
                            <a:srgbClr val="1F2933"/>
                          </a:solidFill>
                          <a:latin typeface="Microsoft YaHei"/>
                        </a:rPr>
                        <a:t>复杂度、转换、生成成本</a:t>
                      </a:r>
                    </a:p>
                  </a:txBody>
                  <a:tcPr marL="36576" marR="36576">
                    <a:solidFill>
                      <a:srgbClr val="F6F8FA"/>
                    </a:solidFill>
                  </a:tcPr>
                </a:tc>
              </a:tr>
              <a:tr h="579120">
                <a:tc>
                  <a:txBody>
                    <a:bodyPr/>
                    <a:lstStyle/>
                    <a:p>
                      <a:pPr algn="l"/>
                      <a:r>
                        <a:rPr sz="800" b="0">
                          <a:solidFill>
                            <a:srgbClr val="1F2933"/>
                          </a:solidFill>
                          <a:latin typeface="Microsoft YaHei"/>
                        </a:rPr>
                        <a:t>whole-query rewrite / single refiner / Router skills</a:t>
                      </a:r>
                    </a:p>
                  </a:txBody>
                  <a:tcPr marL="36576" marR="36576">
                    <a:solidFill>
                      <a:srgbClr val="FFFFFF"/>
                    </a:solidFill>
                  </a:tcPr>
                </a:tc>
                <a:tc>
                  <a:txBody>
                    <a:bodyPr/>
                    <a:lstStyle/>
                    <a:p>
                      <a:pPr algn="l"/>
                      <a:r>
                        <a:rPr sz="800" b="0">
                          <a:solidFill>
                            <a:srgbClr val="1F2933"/>
                          </a:solidFill>
                          <a:latin typeface="Microsoft YaHei"/>
                        </a:rPr>
                        <a:t>比较修复策略</a:t>
                      </a:r>
                    </a:p>
                  </a:txBody>
                  <a:tcPr marL="36576" marR="36576">
                    <a:solidFill>
                      <a:srgbClr val="FFFFFF"/>
                    </a:solidFill>
                  </a:tcPr>
                </a:tc>
                <a:tc>
                  <a:txBody>
                    <a:bodyPr/>
                    <a:lstStyle/>
                    <a:p>
                      <a:pPr algn="l"/>
                      <a:r>
                        <a:rPr sz="800" b="0">
                          <a:solidFill>
                            <a:srgbClr val="1F2933"/>
                          </a:solidFill>
                          <a:latin typeface="Microsoft YaHei"/>
                        </a:rPr>
                        <a:t>repair success、repair rounds、patch minimality</a:t>
                      </a:r>
                    </a:p>
                  </a:txBody>
                  <a:tcPr marL="36576" marR="36576">
                    <a:solidFill>
                      <a:srgbClr val="FFFFFF"/>
                    </a:solidFill>
                  </a:tcPr>
                </a:tc>
              </a:tr>
              <a:tr h="579120">
                <a:tc>
                  <a:txBody>
                    <a:bodyPr/>
                    <a:lstStyle/>
                    <a:p>
                      <a:pPr algn="l"/>
                      <a:r>
                        <a:rPr sz="800" b="0">
                          <a:solidFill>
                            <a:srgbClr val="1F2933"/>
                          </a:solidFill>
                          <a:latin typeface="Microsoft YaHei"/>
                        </a:rPr>
                        <a:t>消融实验</a:t>
                      </a:r>
                    </a:p>
                  </a:txBody>
                  <a:tcPr marL="36576" marR="36576">
                    <a:solidFill>
                      <a:srgbClr val="F6F8FA"/>
                    </a:solidFill>
                  </a:tcPr>
                </a:tc>
                <a:tc>
                  <a:txBody>
                    <a:bodyPr/>
                    <a:lstStyle/>
                    <a:p>
                      <a:pPr algn="l"/>
                      <a:r>
                        <a:rPr sz="800" b="0">
                          <a:solidFill>
                            <a:srgbClr val="1F2933"/>
                          </a:solidFill>
                          <a:latin typeface="Microsoft YaHei"/>
                        </a:rPr>
                        <a:t>去掉 Critic、Router、skill、executor</a:t>
                      </a:r>
                    </a:p>
                  </a:txBody>
                  <a:tcPr marL="36576" marR="36576">
                    <a:solidFill>
                      <a:srgbClr val="F6F8FA"/>
                    </a:solidFill>
                  </a:tcPr>
                </a:tc>
                <a:tc>
                  <a:txBody>
                    <a:bodyPr/>
                    <a:lstStyle/>
                    <a:p>
                      <a:pPr algn="l"/>
                      <a:r>
                        <a:rPr sz="800" b="0">
                          <a:solidFill>
                            <a:srgbClr val="1F2933"/>
                          </a:solidFill>
                          <a:latin typeface="Microsoft YaHei"/>
                        </a:rPr>
                        <a:t>性能下降幅度、错误类型变化</a:t>
                      </a:r>
                    </a:p>
                  </a:txBody>
                  <a:tcPr marL="36576" marR="36576">
                    <a:solidFill>
                      <a:srgbClr val="F6F8FA"/>
                    </a:solidFill>
                  </a:tcPr>
                </a:tc>
              </a:tr>
              <a:tr h="579120">
                <a:tc>
                  <a:txBody>
                    <a:bodyPr/>
                    <a:lstStyle/>
                    <a:p>
                      <a:pPr algn="l"/>
                      <a:r>
                        <a:rPr sz="800" b="0">
                          <a:solidFill>
                            <a:srgbClr val="1F2933"/>
                          </a:solidFill>
                          <a:latin typeface="Microsoft YaHei"/>
                        </a:rPr>
                        <a:t>Spider/BIRD/达梦子集</a:t>
                      </a:r>
                    </a:p>
                  </a:txBody>
                  <a:tcPr marL="36576" marR="36576">
                    <a:solidFill>
                      <a:srgbClr val="FFFFFF"/>
                    </a:solidFill>
                  </a:tcPr>
                </a:tc>
                <a:tc>
                  <a:txBody>
                    <a:bodyPr/>
                    <a:lstStyle/>
                    <a:p>
                      <a:pPr algn="l"/>
                      <a:r>
                        <a:rPr sz="800" b="0">
                          <a:solidFill>
                            <a:srgbClr val="1F2933"/>
                          </a:solidFill>
                          <a:latin typeface="Microsoft YaHei"/>
                        </a:rPr>
                        <a:t>验证迁移和方言适配</a:t>
                      </a:r>
                    </a:p>
                  </a:txBody>
                  <a:tcPr marL="36576" marR="36576">
                    <a:solidFill>
                      <a:srgbClr val="FFFFFF"/>
                    </a:solidFill>
                  </a:tcPr>
                </a:tc>
                <a:tc>
                  <a:txBody>
                    <a:bodyPr/>
                    <a:lstStyle/>
                    <a:p>
                      <a:pPr algn="l"/>
                      <a:r>
                        <a:rPr sz="800" b="0">
                          <a:solidFill>
                            <a:srgbClr val="1F2933"/>
                          </a:solidFill>
                          <a:latin typeface="Microsoft YaHei"/>
                        </a:rPr>
                        <a:t>exec match、方言错误、泛化失败类型</a:t>
                      </a:r>
                    </a:p>
                  </a:txBody>
                  <a:tcPr marL="36576" marR="36576">
                    <a:solidFill>
                      <a:srgbClr val="FFFFFF"/>
                    </a:solidFill>
                  </a:tcPr>
                </a:tc>
              </a:tr>
            </a:tbl>
          </a:graphicData>
        </a:graphic>
      </p:graphicFrame>
      <p:sp>
        <p:nvSpPr>
          <p:cNvPr id="5" name="Rectangle 4"/>
          <p:cNvSpPr/>
          <p:nvPr/>
        </p:nvSpPr>
        <p:spPr>
          <a:xfrm>
            <a:off x="685800" y="4800600"/>
            <a:ext cx="2423160" cy="658368"/>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2933"/>
                </a:solidFill>
                <a:latin typeface="Microsoft YaHei"/>
              </a:rPr>
              <a:t>结果质量
execution accuracy / valid rate</a:t>
            </a:r>
          </a:p>
        </p:txBody>
      </p:sp>
      <p:sp>
        <p:nvSpPr>
          <p:cNvPr id="6" name="Rectangle 5"/>
          <p:cNvSpPr/>
          <p:nvPr/>
        </p:nvSpPr>
        <p:spPr>
          <a:xfrm>
            <a:off x="3310128" y="4800600"/>
            <a:ext cx="2423160" cy="658368"/>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2933"/>
                </a:solidFill>
                <a:latin typeface="Microsoft YaHei"/>
              </a:rPr>
              <a:t>修复能力
localization / router / patch</a:t>
            </a:r>
          </a:p>
        </p:txBody>
      </p:sp>
      <p:sp>
        <p:nvSpPr>
          <p:cNvPr id="7" name="Rectangle 6"/>
          <p:cNvSpPr/>
          <p:nvPr/>
        </p:nvSpPr>
        <p:spPr>
          <a:xfrm>
            <a:off x="5934456" y="4800600"/>
            <a:ext cx="2423160" cy="658368"/>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1F2933"/>
                </a:solidFill>
                <a:latin typeface="Microsoft YaHei"/>
              </a:rPr>
              <a:t>成本效率
token / latency / rounds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当前不足、风险控制与进度安排</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23</a:t>
            </a:r>
          </a:p>
        </p:txBody>
      </p:sp>
      <p:graphicFrame>
        <p:nvGraphicFramePr>
          <p:cNvPr id="4" name="Table 3"/>
          <p:cNvGraphicFramePr>
            <a:graphicFrameLocks noGrp="1"/>
          </p:cNvGraphicFramePr>
          <p:nvPr/>
        </p:nvGraphicFramePr>
        <p:xfrm>
          <a:off x="411480" y="960120"/>
          <a:ext cx="8321040" cy="2788920"/>
        </p:xfrm>
        <a:graphic>
          <a:graphicData uri="http://schemas.openxmlformats.org/drawingml/2006/table">
            <a:tbl>
              <a:tblPr firstRow="1" bandRow="1">
                <a:tableStyleId>{5C22544A-7EE6-4342-B048-85BDC9FD1C3A}</a:tableStyleId>
              </a:tblPr>
              <a:tblGrid>
                <a:gridCol w="2773680"/>
                <a:gridCol w="2773680"/>
                <a:gridCol w="2773680"/>
              </a:tblGrid>
              <a:tr h="557784">
                <a:tc>
                  <a:txBody>
                    <a:bodyPr/>
                    <a:lstStyle/>
                    <a:p>
                      <a:pPr algn="ctr"/>
                      <a:r>
                        <a:rPr sz="900" b="1">
                          <a:solidFill>
                            <a:srgbClr val="FFFFFF"/>
                          </a:solidFill>
                          <a:latin typeface="Microsoft YaHei"/>
                        </a:rPr>
                        <a:t>风险</a:t>
                      </a:r>
                    </a:p>
                  </a:txBody>
                  <a:tcPr marL="36576" marR="36576">
                    <a:solidFill>
                      <a:srgbClr val="18375C"/>
                    </a:solidFill>
                  </a:tcPr>
                </a:tc>
                <a:tc>
                  <a:txBody>
                    <a:bodyPr/>
                    <a:lstStyle/>
                    <a:p>
                      <a:pPr algn="ctr"/>
                      <a:r>
                        <a:rPr sz="900" b="1">
                          <a:solidFill>
                            <a:srgbClr val="FFFFFF"/>
                          </a:solidFill>
                          <a:latin typeface="Microsoft YaHei"/>
                        </a:rPr>
                        <a:t>当前情况</a:t>
                      </a:r>
                    </a:p>
                  </a:txBody>
                  <a:tcPr marL="36576" marR="36576">
                    <a:solidFill>
                      <a:srgbClr val="18375C"/>
                    </a:solidFill>
                  </a:tcPr>
                </a:tc>
                <a:tc>
                  <a:txBody>
                    <a:bodyPr/>
                    <a:lstStyle/>
                    <a:p>
                      <a:pPr algn="ctr"/>
                      <a:r>
                        <a:rPr sz="900" b="1">
                          <a:solidFill>
                            <a:srgbClr val="FFFFFF"/>
                          </a:solidFill>
                          <a:latin typeface="Microsoft YaHei"/>
                        </a:rPr>
                        <a:t>控制方式</a:t>
                      </a:r>
                    </a:p>
                  </a:txBody>
                  <a:tcPr marL="36576" marR="36576">
                    <a:solidFill>
                      <a:srgbClr val="18375C"/>
                    </a:solidFill>
                  </a:tcPr>
                </a:tc>
              </a:tr>
              <a:tr h="557784">
                <a:tc>
                  <a:txBody>
                    <a:bodyPr/>
                    <a:lstStyle/>
                    <a:p>
                      <a:pPr algn="l"/>
                      <a:r>
                        <a:rPr sz="800" b="0">
                          <a:solidFill>
                            <a:srgbClr val="1F2933"/>
                          </a:solidFill>
                          <a:latin typeface="Microsoft YaHei"/>
                        </a:rPr>
                        <a:t>样本规模小</a:t>
                      </a:r>
                    </a:p>
                  </a:txBody>
                  <a:tcPr marL="36576" marR="36576">
                    <a:solidFill>
                      <a:srgbClr val="FFFFFF"/>
                    </a:solidFill>
                  </a:tcPr>
                </a:tc>
                <a:tc>
                  <a:txBody>
                    <a:bodyPr/>
                    <a:lstStyle/>
                    <a:p>
                      <a:pPr algn="l"/>
                      <a:r>
                        <a:rPr sz="800" b="0">
                          <a:solidFill>
                            <a:srgbClr val="1F2933"/>
                          </a:solidFill>
                          <a:latin typeface="Microsoft YaHei"/>
                        </a:rPr>
                        <a:t>known-failure set 和 Spider 子集都较小</a:t>
                      </a:r>
                    </a:p>
                  </a:txBody>
                  <a:tcPr marL="36576" marR="36576">
                    <a:solidFill>
                      <a:srgbClr val="FFFFFF"/>
                    </a:solidFill>
                  </a:tcPr>
                </a:tc>
                <a:tc>
                  <a:txBody>
                    <a:bodyPr/>
                    <a:lstStyle/>
                    <a:p>
                      <a:pPr algn="l"/>
                      <a:r>
                        <a:rPr sz="800" b="0">
                          <a:solidFill>
                            <a:srgbClr val="1F2933"/>
                          </a:solidFill>
                          <a:latin typeface="Microsoft YaHei"/>
                        </a:rPr>
                        <a:t>扩展失败集、Spider 多库和 BIRD 子集</a:t>
                      </a:r>
                    </a:p>
                  </a:txBody>
                  <a:tcPr marL="36576" marR="36576">
                    <a:solidFill>
                      <a:srgbClr val="FFFFFF"/>
                    </a:solidFill>
                  </a:tcPr>
                </a:tc>
              </a:tr>
              <a:tr h="557784">
                <a:tc>
                  <a:txBody>
                    <a:bodyPr/>
                    <a:lstStyle/>
                    <a:p>
                      <a:pPr algn="l"/>
                      <a:r>
                        <a:rPr sz="800" b="0">
                          <a:solidFill>
                            <a:srgbClr val="1F2933"/>
                          </a:solidFill>
                          <a:latin typeface="Microsoft YaHei"/>
                        </a:rPr>
                        <a:t>结果被误读</a:t>
                      </a:r>
                    </a:p>
                  </a:txBody>
                  <a:tcPr marL="36576" marR="36576">
                    <a:solidFill>
                      <a:srgbClr val="F6F8FA"/>
                    </a:solidFill>
                  </a:tcPr>
                </a:tc>
                <a:tc>
                  <a:txBody>
                    <a:bodyPr/>
                    <a:lstStyle/>
                    <a:p>
                      <a:pPr algn="l"/>
                      <a:r>
                        <a:rPr sz="800" b="0">
                          <a:solidFill>
                            <a:srgbClr val="1F2933"/>
                          </a:solidFill>
                          <a:latin typeface="Microsoft YaHei"/>
                        </a:rPr>
                        <a:t>conversion smoke 来自 gold SQL</a:t>
                      </a:r>
                    </a:p>
                  </a:txBody>
                  <a:tcPr marL="36576" marR="36576">
                    <a:solidFill>
                      <a:srgbClr val="F6F8FA"/>
                    </a:solidFill>
                  </a:tcPr>
                </a:tc>
                <a:tc>
                  <a:txBody>
                    <a:bodyPr/>
                    <a:lstStyle/>
                    <a:p>
                      <a:pPr algn="l"/>
                      <a:r>
                        <a:rPr sz="800" b="0">
                          <a:solidFill>
                            <a:srgbClr val="1F2933"/>
                          </a:solidFill>
                          <a:latin typeface="Microsoft YaHei"/>
                        </a:rPr>
                        <a:t>PPT 和论文中始终标注边界</a:t>
                      </a:r>
                    </a:p>
                  </a:txBody>
                  <a:tcPr marL="36576" marR="36576">
                    <a:solidFill>
                      <a:srgbClr val="F6F8FA"/>
                    </a:solidFill>
                  </a:tcPr>
                </a:tc>
              </a:tr>
              <a:tr h="557784">
                <a:tc>
                  <a:txBody>
                    <a:bodyPr/>
                    <a:lstStyle/>
                    <a:p>
                      <a:pPr algn="l"/>
                      <a:r>
                        <a:rPr sz="800" b="0">
                          <a:solidFill>
                            <a:srgbClr val="1F2933"/>
                          </a:solidFill>
                          <a:latin typeface="Microsoft YaHei"/>
                        </a:rPr>
                        <a:t>SQL+ 成本较高</a:t>
                      </a:r>
                    </a:p>
                  </a:txBody>
                  <a:tcPr marL="36576" marR="36576">
                    <a:solidFill>
                      <a:srgbClr val="FFFFFF"/>
                    </a:solidFill>
                  </a:tcPr>
                </a:tc>
                <a:tc>
                  <a:txBody>
                    <a:bodyPr/>
                    <a:lstStyle/>
                    <a:p>
                      <a:pPr algn="l"/>
                      <a:r>
                        <a:rPr sz="800" b="0">
                          <a:solidFill>
                            <a:srgbClr val="1F2933"/>
                          </a:solidFill>
                          <a:latin typeface="Microsoft YaHei"/>
                        </a:rPr>
                        <a:t>token 和 latency 未必占优</a:t>
                      </a:r>
                    </a:p>
                  </a:txBody>
                  <a:tcPr marL="36576" marR="36576">
                    <a:solidFill>
                      <a:srgbClr val="FFFFFF"/>
                    </a:solidFill>
                  </a:tcPr>
                </a:tc>
                <a:tc>
                  <a:txBody>
                    <a:bodyPr/>
                    <a:lstStyle/>
                    <a:p>
                      <a:pPr algn="l"/>
                      <a:r>
                        <a:rPr sz="800" b="0">
                          <a:solidFill>
                            <a:srgbClr val="1F2933"/>
                          </a:solidFill>
                          <a:latin typeface="Microsoft YaHei"/>
                        </a:rPr>
                        <a:t>补齐成本实验，用 repairability 解释收益</a:t>
                      </a:r>
                    </a:p>
                  </a:txBody>
                  <a:tcPr marL="36576" marR="36576">
                    <a:solidFill>
                      <a:srgbClr val="FFFFFF"/>
                    </a:solidFill>
                  </a:tcPr>
                </a:tc>
              </a:tr>
              <a:tr h="557784">
                <a:tc>
                  <a:txBody>
                    <a:bodyPr/>
                    <a:lstStyle/>
                    <a:p>
                      <a:pPr algn="l"/>
                      <a:r>
                        <a:rPr sz="800" b="0">
                          <a:solidFill>
                            <a:srgbClr val="1F2933"/>
                          </a:solidFill>
                          <a:latin typeface="Microsoft YaHei"/>
                        </a:rPr>
                        <a:t>方言适配不足</a:t>
                      </a:r>
                    </a:p>
                  </a:txBody>
                  <a:tcPr marL="36576" marR="36576">
                    <a:solidFill>
                      <a:srgbClr val="F6F8FA"/>
                    </a:solidFill>
                  </a:tcPr>
                </a:tc>
                <a:tc>
                  <a:txBody>
                    <a:bodyPr/>
                    <a:lstStyle/>
                    <a:p>
                      <a:pPr algn="l"/>
                      <a:r>
                        <a:rPr sz="800" b="0">
                          <a:solidFill>
                            <a:srgbClr val="1F2933"/>
                          </a:solidFill>
                          <a:latin typeface="Microsoft YaHei"/>
                        </a:rPr>
                        <a:t>当前主要是 SQLite</a:t>
                      </a:r>
                    </a:p>
                  </a:txBody>
                  <a:tcPr marL="36576" marR="36576">
                    <a:solidFill>
                      <a:srgbClr val="F6F8FA"/>
                    </a:solidFill>
                  </a:tcPr>
                </a:tc>
                <a:tc>
                  <a:txBody>
                    <a:bodyPr/>
                    <a:lstStyle/>
                    <a:p>
                      <a:pPr algn="l"/>
                      <a:r>
                        <a:rPr sz="800" b="0">
                          <a:solidFill>
                            <a:srgbClr val="1F2933"/>
                          </a:solidFill>
                          <a:latin typeface="Microsoft YaHei"/>
                        </a:rPr>
                        <a:t>补达梦日期、分页、类型转换和函数规则</a:t>
                      </a:r>
                    </a:p>
                  </a:txBody>
                  <a:tcPr marL="36576" marR="36576">
                    <a:solidFill>
                      <a:srgbClr val="F6F8FA"/>
                    </a:solidFill>
                  </a:tcPr>
                </a:tc>
              </a:tr>
            </a:tbl>
          </a:graphicData>
        </a:graphic>
      </p:graphicFrame>
      <p:sp>
        <p:nvSpPr>
          <p:cNvPr id="5" name="Rectangle 4"/>
          <p:cNvSpPr/>
          <p:nvPr/>
        </p:nvSpPr>
        <p:spPr>
          <a:xfrm>
            <a:off x="685800" y="4251960"/>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Microsoft YaHei"/>
              </a:rPr>
              <a:t>07-08</a:t>
            </a:r>
          </a:p>
        </p:txBody>
      </p:sp>
      <p:sp>
        <p:nvSpPr>
          <p:cNvPr id="6" name="Rectangle 5"/>
          <p:cNvSpPr/>
          <p:nvPr/>
        </p:nvSpPr>
        <p:spPr>
          <a:xfrm>
            <a:off x="685800" y="4736592"/>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1F2933"/>
                </a:solidFill>
                <a:latin typeface="Microsoft YaHei"/>
              </a:rPr>
              <a:t>统一生成入口
扩充失败集</a:t>
            </a:r>
          </a:p>
        </p:txBody>
      </p:sp>
      <p:sp>
        <p:nvSpPr>
          <p:cNvPr id="7" name="Rectangle 6"/>
          <p:cNvSpPr/>
          <p:nvPr/>
        </p:nvSpPr>
        <p:spPr>
          <a:xfrm>
            <a:off x="2697480" y="4251960"/>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Microsoft YaHei"/>
              </a:rPr>
              <a:t>09-10</a:t>
            </a:r>
          </a:p>
        </p:txBody>
      </p:sp>
      <p:sp>
        <p:nvSpPr>
          <p:cNvPr id="8" name="Rectangle 7"/>
          <p:cNvSpPr/>
          <p:nvPr/>
        </p:nvSpPr>
        <p:spPr>
          <a:xfrm>
            <a:off x="2697480" y="4736592"/>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1F2933"/>
                </a:solidFill>
                <a:latin typeface="Microsoft YaHei"/>
              </a:rPr>
              <a:t>消融实验
公开子集</a:t>
            </a:r>
          </a:p>
        </p:txBody>
      </p:sp>
      <p:sp>
        <p:nvSpPr>
          <p:cNvPr id="9" name="Rectangle 8"/>
          <p:cNvSpPr/>
          <p:nvPr/>
        </p:nvSpPr>
        <p:spPr>
          <a:xfrm>
            <a:off x="4709160" y="4251960"/>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Microsoft YaHei"/>
              </a:rPr>
              <a:t>11-12</a:t>
            </a:r>
          </a:p>
        </p:txBody>
      </p:sp>
      <p:sp>
        <p:nvSpPr>
          <p:cNvPr id="10" name="Rectangle 9"/>
          <p:cNvSpPr/>
          <p:nvPr/>
        </p:nvSpPr>
        <p:spPr>
          <a:xfrm>
            <a:off x="4709160" y="4736592"/>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1F2933"/>
                </a:solidFill>
                <a:latin typeface="Microsoft YaHei"/>
              </a:rPr>
              <a:t>达梦适配
论文初稿</a:t>
            </a:r>
          </a:p>
        </p:txBody>
      </p:sp>
      <p:sp>
        <p:nvSpPr>
          <p:cNvPr id="11" name="Rectangle 10"/>
          <p:cNvSpPr/>
          <p:nvPr/>
        </p:nvSpPr>
        <p:spPr>
          <a:xfrm>
            <a:off x="6720840" y="4251960"/>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Microsoft YaHei"/>
              </a:rPr>
              <a:t>后续</a:t>
            </a:r>
          </a:p>
        </p:txBody>
      </p:sp>
      <p:sp>
        <p:nvSpPr>
          <p:cNvPr id="12" name="Rectangle 11"/>
          <p:cNvSpPr/>
          <p:nvPr/>
        </p:nvSpPr>
        <p:spPr>
          <a:xfrm>
            <a:off x="6720840" y="4736592"/>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1F2933"/>
                </a:solidFill>
                <a:latin typeface="Microsoft YaHei"/>
              </a:rPr>
              <a:t>复现实验
答辩材料</a:t>
            </a:r>
          </a:p>
        </p:txBody>
      </p:sp>
      <p:sp>
        <p:nvSpPr>
          <p:cNvPr id="13" name="Rectangle 12"/>
          <p:cNvSpPr/>
          <p:nvPr/>
        </p:nvSpPr>
        <p:spPr>
          <a:xfrm>
            <a:off x="804672" y="5715000"/>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B22626"/>
                </a:solidFill>
                <a:latin typeface="Microsoft YaHei"/>
              </a:rPr>
              <a:t>后续重点：扩大评测范围，压实泛化边界。</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预期创新点与总结</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24</a:t>
            </a:r>
          </a:p>
        </p:txBody>
      </p:sp>
      <p:sp>
        <p:nvSpPr>
          <p:cNvPr id="4" name="Rectangle 3"/>
          <p:cNvSpPr/>
          <p:nvPr/>
        </p:nvSpPr>
        <p:spPr>
          <a:xfrm>
            <a:off x="685800" y="1143000"/>
            <a:ext cx="3429000" cy="896112"/>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5" name="TextBox 4"/>
          <p:cNvSpPr txBox="1"/>
          <p:nvPr/>
        </p:nvSpPr>
        <p:spPr>
          <a:xfrm>
            <a:off x="868680" y="1271016"/>
            <a:ext cx="2834640" cy="237744"/>
          </a:xfrm>
          <a:prstGeom prst="rect">
            <a:avLst/>
          </a:prstGeom>
          <a:noFill/>
        </p:spPr>
        <p:txBody>
          <a:bodyPr wrap="square" anchor="ctr">
            <a:spAutoFit/>
          </a:bodyPr>
          <a:lstStyle/>
          <a:p>
            <a:pPr algn="l"/>
            <a:r>
              <a:rPr sz="1300" b="1">
                <a:solidFill>
                  <a:srgbClr val="18375C"/>
                </a:solidFill>
                <a:latin typeface="Microsoft YaHei"/>
              </a:rPr>
              <a:t>SQL+ 中间表示</a:t>
            </a:r>
          </a:p>
        </p:txBody>
      </p:sp>
      <p:sp>
        <p:nvSpPr>
          <p:cNvPr id="6" name="TextBox 5"/>
          <p:cNvSpPr txBox="1"/>
          <p:nvPr/>
        </p:nvSpPr>
        <p:spPr>
          <a:xfrm>
            <a:off x="868680" y="1581912"/>
            <a:ext cx="2834640" cy="292608"/>
          </a:xfrm>
          <a:prstGeom prst="rect">
            <a:avLst/>
          </a:prstGeom>
          <a:noFill/>
        </p:spPr>
        <p:txBody>
          <a:bodyPr wrap="square" anchor="ctr">
            <a:spAutoFit/>
          </a:bodyPr>
          <a:lstStyle/>
          <a:p>
            <a:pPr algn="l"/>
            <a:r>
              <a:rPr sz="900" b="0">
                <a:solidFill>
                  <a:srgbClr val="1F2933"/>
                </a:solidFill>
                <a:latin typeface="Microsoft YaHei"/>
              </a:rPr>
              <a:t>面向生成、转换、诊断和局部修复共同设计。</a:t>
            </a:r>
          </a:p>
        </p:txBody>
      </p:sp>
      <p:sp>
        <p:nvSpPr>
          <p:cNvPr id="7" name="Rectangle 6"/>
          <p:cNvSpPr/>
          <p:nvPr/>
        </p:nvSpPr>
        <p:spPr>
          <a:xfrm>
            <a:off x="4663440" y="1143000"/>
            <a:ext cx="3429000" cy="896112"/>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8" name="TextBox 7"/>
          <p:cNvSpPr txBox="1"/>
          <p:nvPr/>
        </p:nvSpPr>
        <p:spPr>
          <a:xfrm>
            <a:off x="4846320" y="1271016"/>
            <a:ext cx="2834640" cy="237744"/>
          </a:xfrm>
          <a:prstGeom prst="rect">
            <a:avLst/>
          </a:prstGeom>
          <a:noFill/>
        </p:spPr>
        <p:txBody>
          <a:bodyPr wrap="square" anchor="ctr">
            <a:spAutoFit/>
          </a:bodyPr>
          <a:lstStyle/>
          <a:p>
            <a:pPr algn="l"/>
            <a:r>
              <a:rPr sz="1300" b="1">
                <a:solidFill>
                  <a:srgbClr val="525C69"/>
                </a:solidFill>
                <a:latin typeface="Microsoft YaHei"/>
              </a:rPr>
              <a:t>多智能体反馈修正框架</a:t>
            </a:r>
          </a:p>
        </p:txBody>
      </p:sp>
      <p:sp>
        <p:nvSpPr>
          <p:cNvPr id="9" name="TextBox 8"/>
          <p:cNvSpPr txBox="1"/>
          <p:nvPr/>
        </p:nvSpPr>
        <p:spPr>
          <a:xfrm>
            <a:off x="4846320" y="1581912"/>
            <a:ext cx="2834640" cy="292608"/>
          </a:xfrm>
          <a:prstGeom prst="rect">
            <a:avLst/>
          </a:prstGeom>
          <a:noFill/>
        </p:spPr>
        <p:txBody>
          <a:bodyPr wrap="square" anchor="ctr">
            <a:spAutoFit/>
          </a:bodyPr>
          <a:lstStyle/>
          <a:p>
            <a:pPr algn="l"/>
            <a:r>
              <a:rPr sz="900" b="0">
                <a:solidFill>
                  <a:srgbClr val="1F2933"/>
                </a:solidFill>
                <a:latin typeface="Microsoft YaHei"/>
              </a:rPr>
              <a:t>Critic、Router、Repair Skill 和 Executor 形成闭环。</a:t>
            </a:r>
          </a:p>
        </p:txBody>
      </p:sp>
      <p:sp>
        <p:nvSpPr>
          <p:cNvPr id="10" name="Rectangle 9"/>
          <p:cNvSpPr/>
          <p:nvPr/>
        </p:nvSpPr>
        <p:spPr>
          <a:xfrm>
            <a:off x="685800" y="2560320"/>
            <a:ext cx="3429000" cy="896112"/>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11" name="TextBox 10"/>
          <p:cNvSpPr txBox="1"/>
          <p:nvPr/>
        </p:nvSpPr>
        <p:spPr>
          <a:xfrm>
            <a:off x="868680" y="2688336"/>
            <a:ext cx="2834640" cy="237744"/>
          </a:xfrm>
          <a:prstGeom prst="rect">
            <a:avLst/>
          </a:prstGeom>
          <a:noFill/>
        </p:spPr>
        <p:txBody>
          <a:bodyPr wrap="square" anchor="ctr">
            <a:spAutoFit/>
          </a:bodyPr>
          <a:lstStyle/>
          <a:p>
            <a:pPr algn="l"/>
            <a:r>
              <a:rPr sz="1300" b="1">
                <a:solidFill>
                  <a:srgbClr val="3A4E5E"/>
                </a:solidFill>
                <a:latin typeface="Microsoft YaHei"/>
              </a:rPr>
              <a:t>repairability 评价视角</a:t>
            </a:r>
          </a:p>
        </p:txBody>
      </p:sp>
      <p:sp>
        <p:nvSpPr>
          <p:cNvPr id="12" name="TextBox 11"/>
          <p:cNvSpPr txBox="1"/>
          <p:nvPr/>
        </p:nvSpPr>
        <p:spPr>
          <a:xfrm>
            <a:off x="868680" y="2999232"/>
            <a:ext cx="2834640" cy="292608"/>
          </a:xfrm>
          <a:prstGeom prst="rect">
            <a:avLst/>
          </a:prstGeom>
          <a:noFill/>
        </p:spPr>
        <p:txBody>
          <a:bodyPr wrap="square" anchor="ctr">
            <a:spAutoFit/>
          </a:bodyPr>
          <a:lstStyle/>
          <a:p>
            <a:pPr algn="l"/>
            <a:r>
              <a:rPr sz="900" b="0">
                <a:solidFill>
                  <a:srgbClr val="1F2933"/>
                </a:solidFill>
                <a:latin typeface="Microsoft YaHei"/>
              </a:rPr>
              <a:t>不只看最终准确率，还看定位、路由、patch 范围和成本。</a:t>
            </a:r>
          </a:p>
        </p:txBody>
      </p:sp>
      <p:sp>
        <p:nvSpPr>
          <p:cNvPr id="13" name="Rectangle 12"/>
          <p:cNvSpPr/>
          <p:nvPr/>
        </p:nvSpPr>
        <p:spPr>
          <a:xfrm>
            <a:off x="4663440" y="2560320"/>
            <a:ext cx="3429000" cy="896112"/>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1F2933"/>
                </a:solidFill>
                <a:latin typeface="Microsoft YaHei"/>
              </a:rPr>
              <a:t/>
            </a:r>
          </a:p>
        </p:txBody>
      </p:sp>
      <p:sp>
        <p:nvSpPr>
          <p:cNvPr id="14" name="TextBox 13"/>
          <p:cNvSpPr txBox="1"/>
          <p:nvPr/>
        </p:nvSpPr>
        <p:spPr>
          <a:xfrm>
            <a:off x="4846320" y="2688336"/>
            <a:ext cx="2834640" cy="237744"/>
          </a:xfrm>
          <a:prstGeom prst="rect">
            <a:avLst/>
          </a:prstGeom>
          <a:noFill/>
        </p:spPr>
        <p:txBody>
          <a:bodyPr wrap="square" anchor="ctr">
            <a:spAutoFit/>
          </a:bodyPr>
          <a:lstStyle/>
          <a:p>
            <a:pPr algn="l"/>
            <a:r>
              <a:rPr sz="1300" b="1">
                <a:solidFill>
                  <a:srgbClr val="B22626"/>
                </a:solidFill>
                <a:latin typeface="Microsoft YaHei"/>
              </a:rPr>
              <a:t>可复现实验体系</a:t>
            </a:r>
          </a:p>
        </p:txBody>
      </p:sp>
      <p:sp>
        <p:nvSpPr>
          <p:cNvPr id="15" name="TextBox 14"/>
          <p:cNvSpPr txBox="1"/>
          <p:nvPr/>
        </p:nvSpPr>
        <p:spPr>
          <a:xfrm>
            <a:off x="4846320" y="2999232"/>
            <a:ext cx="2834640" cy="292608"/>
          </a:xfrm>
          <a:prstGeom prst="rect">
            <a:avLst/>
          </a:prstGeom>
          <a:noFill/>
        </p:spPr>
        <p:txBody>
          <a:bodyPr wrap="square" anchor="ctr">
            <a:spAutoFit/>
          </a:bodyPr>
          <a:lstStyle/>
          <a:p>
            <a:pPr algn="l"/>
            <a:r>
              <a:rPr sz="900" b="0">
                <a:solidFill>
                  <a:srgbClr val="1F2933"/>
                </a:solidFill>
                <a:latin typeface="Microsoft YaHei"/>
              </a:rPr>
              <a:t>脚本、日志、开题材料和后续公开子集评测同步推进。</a:t>
            </a:r>
          </a:p>
        </p:txBody>
      </p:sp>
      <p:sp>
        <p:nvSpPr>
          <p:cNvPr id="16" name="Rectangle 15"/>
          <p:cNvSpPr/>
          <p:nvPr/>
        </p:nvSpPr>
        <p:spPr>
          <a:xfrm>
            <a:off x="804672" y="4645152"/>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B22626"/>
                </a:solidFill>
                <a:latin typeface="Microsoft YaHei"/>
              </a:rPr>
              <a:t>总结：SQL+ 的价值在于把查询计划拆成可检查、可路由、可局部修复的步骤。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92608"/>
            <a:ext cx="8412480" cy="530352"/>
          </a:xfrm>
          <a:prstGeom prst="rect">
            <a:avLst/>
          </a:prstGeom>
          <a:noFill/>
        </p:spPr>
        <p:txBody>
          <a:bodyPr wrap="square" anchor="ctr">
            <a:spAutoFit/>
          </a:bodyPr>
          <a:lstStyle/>
          <a:p>
            <a:pPr algn="l"/>
            <a:r>
              <a:rPr sz="2400" b="1">
                <a:solidFill>
                  <a:srgbClr val="18375C"/>
                </a:solidFill>
                <a:latin typeface="Microsoft YaHei"/>
              </a:rPr>
              <a:t>主要参考文献</a:t>
            </a: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Microsoft YaHei"/>
              </a:rPr>
              <a:t>开题汇报 | SQL+ / Text-to-SQL / Multi-Agent | 25</a:t>
            </a:r>
          </a:p>
        </p:txBody>
      </p:sp>
      <p:sp>
        <p:nvSpPr>
          <p:cNvPr id="4" name="TextBox 3"/>
          <p:cNvSpPr txBox="1"/>
          <p:nvPr/>
        </p:nvSpPr>
        <p:spPr>
          <a:xfrm>
            <a:off x="658368" y="960120"/>
            <a:ext cx="8001000" cy="4983480"/>
          </a:xfrm>
          <a:prstGeom prst="rect">
            <a:avLst/>
          </a:prstGeom>
          <a:noFill/>
        </p:spPr>
        <p:txBody>
          <a:bodyPr wrap="square">
            <a:spAutoFit/>
          </a:bodyPr>
          <a:lstStyle/>
          <a:p>
            <a:pPr>
              <a:spcAft>
                <a:spcPts val="600"/>
              </a:spcAft>
              <a:defRPr sz="900">
                <a:solidFill>
                  <a:srgbClr val="1F2933"/>
                </a:solidFill>
                <a:latin typeface="Microsoft YaHei"/>
              </a:defRPr>
            </a:pPr>
            <a:r>
              <a:t>Yu et al. 2018. Spider: A Large-Scale Human-Labeled Dataset for Complex and Cross-Domain Text-to-SQL.</a:t>
            </a:r>
          </a:p>
          <a:p>
            <a:pPr>
              <a:spcAft>
                <a:spcPts val="600"/>
              </a:spcAft>
              <a:defRPr sz="900">
                <a:solidFill>
                  <a:srgbClr val="1F2933"/>
                </a:solidFill>
                <a:latin typeface="Microsoft YaHei"/>
              </a:defRPr>
            </a:pPr>
            <a:r>
              <a:t>Guo et al. 2019. IRNet: A General Purpose Text-to-SQL Parser with SemQL.</a:t>
            </a:r>
          </a:p>
          <a:p>
            <a:pPr>
              <a:spcAft>
                <a:spcPts val="600"/>
              </a:spcAft>
              <a:defRPr sz="900">
                <a:solidFill>
                  <a:srgbClr val="1F2933"/>
                </a:solidFill>
                <a:latin typeface="Microsoft YaHei"/>
              </a:defRPr>
            </a:pPr>
            <a:r>
              <a:t>Wang et al. 2020. RAT-SQL: Relation-Aware Schema Encoding and Linking.</a:t>
            </a:r>
          </a:p>
          <a:p>
            <a:pPr>
              <a:spcAft>
                <a:spcPts val="600"/>
              </a:spcAft>
              <a:defRPr sz="900">
                <a:solidFill>
                  <a:srgbClr val="1F2933"/>
                </a:solidFill>
                <a:latin typeface="Microsoft YaHei"/>
              </a:defRPr>
            </a:pPr>
            <a:r>
              <a:t>Gan et al. 2021. NatSQL: A Simplified SQL Intermediate Representation.</a:t>
            </a:r>
          </a:p>
          <a:p>
            <a:pPr>
              <a:spcAft>
                <a:spcPts val="600"/>
              </a:spcAft>
              <a:defRPr sz="900">
                <a:solidFill>
                  <a:srgbClr val="1F2933"/>
                </a:solidFill>
                <a:latin typeface="Microsoft YaHei"/>
              </a:defRPr>
            </a:pPr>
            <a:r>
              <a:t>Scholak et al. 2021. PICARD: Parsing Incrementally for Constrained Auto-Regressive Decoding.</a:t>
            </a:r>
          </a:p>
          <a:p>
            <a:pPr>
              <a:spcAft>
                <a:spcPts val="600"/>
              </a:spcAft>
              <a:defRPr sz="900">
                <a:solidFill>
                  <a:srgbClr val="1F2933"/>
                </a:solidFill>
                <a:latin typeface="Microsoft YaHei"/>
              </a:defRPr>
            </a:pPr>
            <a:r>
              <a:t>Li et al. 2023. BIRD: A Big Bench for Large-Scale Database Grounded Text-to-SQLs.</a:t>
            </a:r>
          </a:p>
          <a:p>
            <a:pPr>
              <a:spcAft>
                <a:spcPts val="600"/>
              </a:spcAft>
              <a:defRPr sz="900">
                <a:solidFill>
                  <a:srgbClr val="1F2933"/>
                </a:solidFill>
                <a:latin typeface="Microsoft YaHei"/>
              </a:defRPr>
            </a:pPr>
            <a:r>
              <a:t>Pourreza and Rafiei. 2023. DIN-SQL: Decomposed In-Context Learning of Text-to-SQL.</a:t>
            </a:r>
          </a:p>
          <a:p>
            <a:pPr>
              <a:spcAft>
                <a:spcPts val="600"/>
              </a:spcAft>
              <a:defRPr sz="900">
                <a:solidFill>
                  <a:srgbClr val="1F2933"/>
                </a:solidFill>
                <a:latin typeface="Microsoft YaHei"/>
              </a:defRPr>
            </a:pPr>
            <a:r>
              <a:t>Ni et al. 2023. LEVER: Learning to Verify Language-to-Code Generation.</a:t>
            </a:r>
          </a:p>
          <a:p>
            <a:pPr>
              <a:spcAft>
                <a:spcPts val="600"/>
              </a:spcAft>
              <a:defRPr sz="900">
                <a:solidFill>
                  <a:srgbClr val="1F2933"/>
                </a:solidFill>
                <a:latin typeface="Microsoft YaHei"/>
              </a:defRPr>
            </a:pPr>
            <a:r>
              <a:t>Shute et al. 2024. SQL Has Problems. We Can Fix Them: Pipe Syntax in SQL.</a:t>
            </a:r>
          </a:p>
          <a:p>
            <a:pPr>
              <a:spcAft>
                <a:spcPts val="600"/>
              </a:spcAft>
              <a:defRPr sz="900">
                <a:solidFill>
                  <a:srgbClr val="1F2933"/>
                </a:solidFill>
                <a:latin typeface="Microsoft YaHei"/>
              </a:defRPr>
            </a:pPr>
            <a:r>
              <a:t>Talaei et al. 2024. CHESS: Contextual Harnessing for Efficient SQL Synthesis.</a:t>
            </a:r>
          </a:p>
          <a:p>
            <a:pPr>
              <a:spcAft>
                <a:spcPts val="600"/>
              </a:spcAft>
              <a:defRPr sz="900">
                <a:solidFill>
                  <a:srgbClr val="1F2933"/>
                </a:solidFill>
                <a:latin typeface="Microsoft YaHei"/>
              </a:defRPr>
            </a:pPr>
            <a:r>
              <a:t>Pourreza et al. 2024. CHASE-SQL: Multi-Path Reasoning and Preference Optimized Candidate Selection.</a:t>
            </a:r>
          </a:p>
          <a:p>
            <a:pPr>
              <a:spcAft>
                <a:spcPts val="600"/>
              </a:spcAft>
              <a:defRPr sz="900">
                <a:solidFill>
                  <a:srgbClr val="1F2933"/>
                </a:solidFill>
                <a:latin typeface="Microsoft YaHei"/>
              </a:defRPr>
            </a:pPr>
            <a:r>
              <a:t>Lei et al. 2025. Spider 2.0: Evaluating Language Models on Enterprise Text-to-SQL Workflows.</a:t>
            </a:r>
          </a:p>
          <a:p>
            <a:pPr>
              <a:spcAft>
                <a:spcPts val="600"/>
              </a:spcAft>
              <a:defRPr sz="900">
                <a:solidFill>
                  <a:srgbClr val="1F2933"/>
                </a:solidFill>
                <a:latin typeface="Microsoft YaHei"/>
              </a:defRPr>
            </a:pPr>
            <a:r>
              <a:t>Wang et al. 2025. MAC-SQL: A Multi-Agent Collaborative Framework for Text-to-SQL.</a:t>
            </a:r>
          </a:p>
          <a:p>
            <a:pPr>
              <a:spcAft>
                <a:spcPts val="600"/>
              </a:spcAft>
              <a:defRPr sz="900">
                <a:solidFill>
                  <a:srgbClr val="1F2933"/>
                </a:solidFill>
                <a:latin typeface="Microsoft YaHei"/>
              </a:defRPr>
            </a:pPr>
            <a:r>
              <a:t>Li et al. 2025. SQL-Factory: A Multi-Agent Framework for High-Quality and Large-Scale SQL Generation.</a:t>
            </a:r>
          </a:p>
        </p:txBody>
      </p:sp>
    </p:spTree>
  </p:cSld>
  <p:clrMapOvr>
    <a:masterClrMapping/>
  </p:clrMapOvr>
</p:sld>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Lucida Sans"/>
        <a:ea typeface="黑体"/>
        <a:cs typeface=""/>
      </a:majorFont>
      <a:minorFont>
        <a:latin typeface="Berlin Sans FB"/>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90204" pitchFamily="34" charset="0"/>
            <a:ea typeface="黑体" panose="02010609060101010101" pitchFamily="49" charset="-122"/>
          </a:defRPr>
        </a:defPPr>
      </a:lstStyle>
    </a:spDef>
    <a:ln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90204" pitchFamily="34" charset="0"/>
            <a:ea typeface="黑体" panose="02010609060101010101"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7465</Words>
  <Application>WPS Presentation</Application>
  <PresentationFormat>全屏显示(4:3)</PresentationFormat>
  <Paragraphs>952</Paragraphs>
  <Slides>28</Slides>
  <Notes>39</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28</vt:i4>
      </vt:variant>
    </vt:vector>
  </HeadingPairs>
  <TitlesOfParts>
    <vt:vector size="50" baseType="lpstr">
      <vt:lpstr>Arial</vt:lpstr>
      <vt:lpstr>宋体</vt:lpstr>
      <vt:lpstr>Wingdings</vt:lpstr>
      <vt:lpstr>黑体</vt:lpstr>
      <vt:lpstr>汉仪中黑KW</vt:lpstr>
      <vt:lpstr>汉仪书宋二KW</vt:lpstr>
      <vt:lpstr>Tahoma</vt:lpstr>
      <vt:lpstr>Lucida Sans</vt:lpstr>
      <vt:lpstr>苹方-简</vt:lpstr>
      <vt:lpstr>Comic Sans MS</vt:lpstr>
      <vt:lpstr>楷体_GB2312</vt:lpstr>
      <vt:lpstr>汉仪楷体简</vt:lpstr>
      <vt:lpstr>Times</vt:lpstr>
      <vt:lpstr>Times New Roman</vt:lpstr>
      <vt:lpstr>微软雅黑</vt:lpstr>
      <vt:lpstr>汉仪旗黑</vt:lpstr>
      <vt:lpstr>宋体</vt:lpstr>
      <vt:lpstr>Arial Unicode MS</vt:lpstr>
      <vt:lpstr>Berlin Sans FB</vt:lpstr>
      <vt:lpstr>微软雅黑</vt:lpstr>
      <vt:lpstr>黑体</vt:lpstr>
      <vt:lpstr>1_自定义设计方案</vt:lpstr>
      <vt:lpstr>面向 SQL+ 简化查询表达的多智能体自然语言数据库查询生成与反馈修正方法研究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WNLO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热烈欢迎各位领导莅临指导</dc:title>
  <dc:creator>Yans</dc:creator>
  <cp:lastModifiedBy>艾筠舜</cp:lastModifiedBy>
  <cp:revision>1508</cp:revision>
  <dcterms:created xsi:type="dcterms:W3CDTF">2026-06-27T07:19:45Z</dcterms:created>
  <dcterms:modified xsi:type="dcterms:W3CDTF">2026-06-27T07:19:45Z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1033-7.4.0.8981</vt:lpwstr>
  </property>
  <property fmtid="{D5CDD505-2E9C-101B-9397-08002B2CF9AE}" pid="3" name="ICV">
    <vt:lpwstr>D8EFAD67513A43E4928970E0C1008FEF_12</vt:lpwstr>
  </property>
</Properties>
</file>