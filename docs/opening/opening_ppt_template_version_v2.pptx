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1"/>
  </p:notesMasterIdLst>
  <p:handoutMasterIdLst>
    <p:handoutMasterId r:id="rId32"/>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9144000" cy="6858000" type="screen4x3"/>
  <p:notesSz cx="7099300" cy="10234295"/>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27" userDrawn="1">
          <p15:clr>
            <a:srgbClr val="A4A3A4"/>
          </p15:clr>
        </p15:guide>
        <p15:guide id="2" pos="28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66FF99"/>
    <a:srgbClr val="D9E7FB"/>
    <a:srgbClr val="0033CC"/>
    <a:srgbClr val="004A82"/>
    <a:srgbClr val="9C4A09"/>
    <a:srgbClr val="BF8C61"/>
    <a:srgbClr val="ED7D31"/>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9" autoAdjust="0"/>
    <p:restoredTop sz="71429" autoAdjust="0"/>
  </p:normalViewPr>
  <p:slideViewPr>
    <p:cSldViewPr showGuides="1">
      <p:cViewPr varScale="1">
        <p:scale>
          <a:sx n="66" d="100"/>
          <a:sy n="66" d="100"/>
        </p:scale>
        <p:origin x="1752" y="32"/>
      </p:cViewPr>
      <p:guideLst>
        <p:guide orient="horz" pos="2127"/>
        <p:guide pos="289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1588" y="9525"/>
            <a:ext cx="9144000" cy="6845300"/>
          </a:xfrm>
          <a:prstGeom prst="rect">
            <a:avLst/>
          </a:prstGeom>
          <a:noFill/>
          <a:ln w="9525">
            <a:noFill/>
          </a:ln>
        </p:spPr>
      </p:pic>
      <p:sp>
        <p:nvSpPr>
          <p:cNvPr id="2" name="Rectangle 23"/>
          <p:cNvSpPr>
            <a:spLocks noChangeArrowheads="1"/>
          </p:cNvSpPr>
          <p:nvPr/>
        </p:nvSpPr>
        <p:spPr bwMode="auto">
          <a:xfrm flipV="1">
            <a:off x="315913" y="3589338"/>
            <a:ext cx="8693150"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485775" y="908720"/>
            <a:ext cx="82296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页脚占位符 2"/>
          <p:cNvSpPr>
            <a:spLocks noGrp="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灯片编号占位符 8"/>
          <p:cNvSpPr>
            <a:spLocks noGrp="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4"/>
          <a:stretch>
            <a:fillRect/>
          </a:stretch>
        </p:blipFill>
        <p:spPr>
          <a:xfrm>
            <a:off x="0" y="6350"/>
            <a:ext cx="9144000" cy="6845300"/>
          </a:xfrm>
          <a:prstGeom prst="rect">
            <a:avLst/>
          </a:prstGeom>
          <a:noFill/>
          <a:ln w="9525">
            <a:noFill/>
          </a:ln>
        </p:spPr>
      </p:pic>
      <p:sp>
        <p:nvSpPr>
          <p:cNvPr id="135170" name="Rectangle 2"/>
          <p:cNvSpPr>
            <a:spLocks noGrp="1" noChangeArrowheads="1"/>
          </p:cNvSpPr>
          <p:nvPr>
            <p:ph type="title"/>
          </p:nvPr>
        </p:nvSpPr>
        <p:spPr bwMode="auto">
          <a:xfrm>
            <a:off x="457200" y="836613"/>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endParaRPr lang="en-US" altLang="zh-CN" dirty="0"/>
          </a:p>
        </p:txBody>
      </p:sp>
      <p:sp>
        <p:nvSpPr>
          <p:cNvPr id="1028" name="Rectangle 3"/>
          <p:cNvSpPr>
            <a:spLocks noGrp="1"/>
          </p:cNvSpPr>
          <p:nvPr>
            <p:ph type="body" idx="1"/>
          </p:nvPr>
        </p:nvSpPr>
        <p:spPr>
          <a:xfrm>
            <a:off x="457200" y="1916113"/>
            <a:ext cx="8229600" cy="4525962"/>
          </a:xfrm>
          <a:prstGeom prst="rect">
            <a:avLst/>
          </a:prstGeom>
          <a:noFill/>
          <a:ln w="9525">
            <a:noFill/>
          </a:ln>
        </p:spPr>
        <p:txBody>
          <a:bodyPr/>
          <a:lstStyle/>
          <a:p>
            <a:pPr lvl="0"/>
            <a:r>
              <a:rPr lang="zh-CN" altLang="en-US" dirty="0"/>
              <a:t>第一级</a:t>
            </a:r>
            <a:r>
              <a:rPr lang="en-US" altLang="zh-CN" dirty="0"/>
              <a:t>abcd</a:t>
            </a:r>
            <a:endParaRPr lang="en-US" altLang="zh-CN" dirty="0"/>
          </a:p>
          <a:p>
            <a:pPr lvl="1"/>
            <a:r>
              <a:rPr lang="zh-CN" altLang="en-US" dirty="0"/>
              <a:t>第二级</a:t>
            </a:r>
            <a:r>
              <a:rPr lang="en-US" altLang="zh-CN" dirty="0"/>
              <a:t>adb</a:t>
            </a:r>
            <a:endParaRPr lang="en-US" altLang="zh-CN" dirty="0"/>
          </a:p>
          <a:p>
            <a:pPr lvl="2"/>
            <a:r>
              <a:rPr lang="zh-CN" altLang="en-US" dirty="0"/>
              <a:t>第三级</a:t>
            </a:r>
            <a:r>
              <a:rPr lang="en-US" altLang="zh-CN" dirty="0"/>
              <a:t>kljaskf</a:t>
            </a:r>
            <a:endParaRPr lang="en-US" altLang="zh-CN" dirty="0"/>
          </a:p>
          <a:p>
            <a:pPr lvl="3"/>
            <a:r>
              <a:rPr lang="zh-CN" altLang="en-US" dirty="0"/>
              <a:t>第四级</a:t>
            </a:r>
            <a:endParaRPr lang="zh-CN" altLang="en-US" dirty="0"/>
          </a:p>
          <a:p>
            <a:pPr lvl="4"/>
            <a:r>
              <a:rPr lang="zh-CN" altLang="en-US" dirty="0"/>
              <a:t>第五级</a:t>
            </a:r>
            <a:endParaRPr lang="zh-CN" altLang="en-US" dirty="0"/>
          </a:p>
        </p:txBody>
      </p:sp>
      <p:sp>
        <p:nvSpPr>
          <p:cNvPr id="135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Rectangle 17"/>
          <p:cNvSpPr>
            <a:spLocks noChangeArrowheads="1"/>
          </p:cNvSpPr>
          <p:nvPr/>
        </p:nvSpPr>
        <p:spPr bwMode="gray">
          <a:xfrm>
            <a:off x="442913" y="166846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7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ubtitle 1"/>
          <p:cNvSpPr>
            <a:spLocks noGrp="1"/>
          </p:cNvSpPr>
          <p:nvPr>
            <p:ph type="subTitle" idx="1"/>
          </p:nvPr>
        </p:nvSpPr>
        <p:spPr/>
        <p:txBody>
          <a:bodyPr wrap="square" anchor="ctr"/>
          <a:lstStyle/>
          <a:p>
            <a:pPr algn="ctr"/>
            <a:r>
              <a:rPr sz="1700" b="0">
                <a:solidFill>
                  <a:srgbClr val="282828"/>
                </a:solidFill>
                <a:latin typeface="微软雅黑" panose="020B0503020204020204" charset="-122"/>
              </a:rPr>
              <a:t>研究方向：达梦 SQL+ / Text-to-SQL / 多智能体 / 执行反馈修正
汇报人：待填写    导师：待填写    时间：待填写</a:t>
            </a:r>
            <a:endParaRPr sz="1700" b="0">
              <a:solidFill>
                <a:srgbClr val="282828"/>
              </a:solidFill>
              <a:latin typeface="微软雅黑" panose="020B0503020204020204" charset="-122"/>
            </a:endParaRPr>
          </a:p>
        </p:txBody>
      </p:sp>
      <p:sp>
        <p:nvSpPr>
          <p:cNvPr id="3" name="Title 2"/>
          <p:cNvSpPr>
            <a:spLocks noGrp="1"/>
          </p:cNvSpPr>
          <p:nvPr>
            <p:ph type="title"/>
          </p:nvPr>
        </p:nvSpPr>
        <p:spPr>
          <a:xfrm>
            <a:off x="323850" y="2204755"/>
            <a:ext cx="8229600" cy="863600"/>
          </a:xfrm>
        </p:spPr>
        <p:txBody>
          <a:bodyPr wrap="square" anchor="ctr"/>
          <a:lstStyle/>
          <a:p>
            <a:pPr algn="ctr"/>
            <a:r>
              <a:rPr sz="2800" b="1">
                <a:solidFill>
                  <a:srgbClr val="1F4E79"/>
                </a:solidFill>
                <a:latin typeface="微软雅黑" panose="020B0503020204020204" charset="-122"/>
              </a:rPr>
              <a:t>面向 SQL+ 简化查询表达的多智能体自然语言数据库查询生成与反馈修正方法研究</a:t>
            </a:r>
            <a:endParaRPr sz="2800" b="1">
              <a:solidFill>
                <a:srgbClr val="1F4E79"/>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a:t>
            </a:r>
            <a:endParaRPr sz="800" b="0">
              <a:solidFill>
                <a:srgbClr val="5F5F5F"/>
              </a:solidFill>
              <a:latin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68122" y="1068578"/>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汇报结构</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a:t>
            </a:r>
            <a:endParaRPr sz="800" b="0">
              <a:solidFill>
                <a:srgbClr val="5F5F5F"/>
              </a:solidFill>
              <a:latin typeface="微软雅黑" panose="020B0503020204020204" charset="-122"/>
            </a:endParaRPr>
          </a:p>
        </p:txBody>
      </p:sp>
      <p:sp>
        <p:nvSpPr>
          <p:cNvPr id="4" name="TextBox 3"/>
          <p:cNvSpPr txBox="1"/>
          <p:nvPr/>
        </p:nvSpPr>
        <p:spPr>
          <a:xfrm>
            <a:off x="438658" y="1844675"/>
            <a:ext cx="7955279" cy="4754880"/>
          </a:xfrm>
          <a:prstGeom prst="rect">
            <a:avLst/>
          </a:prstGeom>
          <a:noFill/>
        </p:spPr>
        <p:txBody>
          <a:bodyPr wrap="square">
            <a:spAutoFit/>
          </a:bodyPr>
          <a:lstStyle/>
          <a:p>
            <a:pPr>
              <a:spcAft>
                <a:spcPts val="700"/>
              </a:spcAft>
              <a:defRPr sz="1700">
                <a:solidFill>
                  <a:srgbClr val="282828"/>
                </a:solidFill>
                <a:latin typeface="微软雅黑" panose="020B0503020204020204" charset="-122"/>
              </a:defRPr>
            </a:pPr>
            <a:r>
              <a:t>第一部分：研究背景、问题来源和国内外研究现状。</a:t>
            </a:r>
          </a:p>
          <a:p>
            <a:pPr>
              <a:spcAft>
                <a:spcPts val="700"/>
              </a:spcAft>
              <a:defRPr sz="1700">
                <a:solidFill>
                  <a:srgbClr val="282828"/>
                </a:solidFill>
                <a:latin typeface="微软雅黑" panose="020B0503020204020204" charset="-122"/>
              </a:defRPr>
            </a:pPr>
            <a:r>
              <a:t>第二部分：为什么使用 SQL+，以及它和标准 SQL、SemQL、NatSQL、Pipe-style 表示的区别。</a:t>
            </a:r>
          </a:p>
          <a:p>
            <a:pPr>
              <a:spcAft>
                <a:spcPts val="700"/>
              </a:spcAft>
              <a:defRPr sz="1700">
                <a:solidFill>
                  <a:srgbClr val="282828"/>
                </a:solidFill>
                <a:latin typeface="微软雅黑" panose="020B0503020204020204" charset="-122"/>
              </a:defRPr>
            </a:pPr>
            <a:r>
              <a:t>第三部分：面向 SQL+ 的多智能体生成与反馈修正框架。</a:t>
            </a:r>
          </a:p>
          <a:p>
            <a:pPr>
              <a:spcAft>
                <a:spcPts val="700"/>
              </a:spcAft>
              <a:defRPr sz="1700">
                <a:solidFill>
                  <a:srgbClr val="282828"/>
                </a:solidFill>
                <a:latin typeface="微软雅黑" panose="020B0503020204020204" charset="-122"/>
              </a:defRPr>
            </a:pPr>
            <a:r>
              <a:t>第四部分：初步实验设计、实验条件、核心结果和当前结论。</a:t>
            </a:r>
          </a:p>
          <a:p>
            <a:pPr>
              <a:spcAft>
                <a:spcPts val="700"/>
              </a:spcAft>
              <a:defRPr sz="1700">
                <a:solidFill>
                  <a:srgbClr val="282828"/>
                </a:solidFill>
                <a:latin typeface="微软雅黑" panose="020B0503020204020204" charset="-122"/>
              </a:defRPr>
            </a:pPr>
            <a:r>
              <a:t>第五部分：后续实验计划、风险边界和预期创新点。</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73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传统 Text-to-SQL 流程及其问题</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3</a:t>
            </a:r>
            <a:endParaRPr sz="800" b="0">
              <a:solidFill>
                <a:srgbClr val="5F5F5F"/>
              </a:solidFill>
              <a:latin typeface="微软雅黑" panose="020B0503020204020204" charset="-122"/>
            </a:endParaRPr>
          </a:p>
        </p:txBody>
      </p:sp>
      <p:sp>
        <p:nvSpPr>
          <p:cNvPr id="4" name="Rectangle 3"/>
          <p:cNvSpPr/>
          <p:nvPr/>
        </p:nvSpPr>
        <p:spPr>
          <a:xfrm>
            <a:off x="658495" y="1916430"/>
            <a:ext cx="1234440" cy="68580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自然语言问题</a:t>
            </a:r>
            <a:endParaRPr sz="1200" b="1">
              <a:solidFill>
                <a:srgbClr val="282828"/>
              </a:solidFill>
              <a:latin typeface="微软雅黑" panose="020B0503020204020204" charset="-122"/>
            </a:endParaRPr>
          </a:p>
        </p:txBody>
      </p:sp>
      <p:sp>
        <p:nvSpPr>
          <p:cNvPr id="5" name="TextBox 4"/>
          <p:cNvSpPr txBox="1"/>
          <p:nvPr/>
        </p:nvSpPr>
        <p:spPr>
          <a:xfrm>
            <a:off x="1956943" y="2126742"/>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6" name="Rectangle 5"/>
          <p:cNvSpPr/>
          <p:nvPr/>
        </p:nvSpPr>
        <p:spPr>
          <a:xfrm>
            <a:off x="2212975" y="1916430"/>
            <a:ext cx="1234440" cy="68580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LLM / 解析器</a:t>
            </a:r>
            <a:endParaRPr sz="1200" b="1">
              <a:solidFill>
                <a:srgbClr val="282828"/>
              </a:solidFill>
              <a:latin typeface="微软雅黑" panose="020B0503020204020204" charset="-122"/>
            </a:endParaRPr>
          </a:p>
        </p:txBody>
      </p:sp>
      <p:sp>
        <p:nvSpPr>
          <p:cNvPr id="7" name="TextBox 6"/>
          <p:cNvSpPr txBox="1"/>
          <p:nvPr/>
        </p:nvSpPr>
        <p:spPr>
          <a:xfrm>
            <a:off x="3511423" y="2126742"/>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8" name="Rectangle 7"/>
          <p:cNvSpPr/>
          <p:nvPr/>
        </p:nvSpPr>
        <p:spPr>
          <a:xfrm>
            <a:off x="3767455" y="1916430"/>
            <a:ext cx="1234440" cy="685800"/>
          </a:xfrm>
          <a:prstGeom prst="rect">
            <a:avLst/>
          </a:prstGeom>
          <a:solidFill>
            <a:srgbClr val="FBE5D6"/>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标准 SQL</a:t>
            </a:r>
            <a:endParaRPr sz="1200" b="1">
              <a:solidFill>
                <a:srgbClr val="282828"/>
              </a:solidFill>
              <a:latin typeface="微软雅黑" panose="020B0503020204020204" charset="-122"/>
            </a:endParaRPr>
          </a:p>
        </p:txBody>
      </p:sp>
      <p:sp>
        <p:nvSpPr>
          <p:cNvPr id="9" name="TextBox 8"/>
          <p:cNvSpPr txBox="1"/>
          <p:nvPr/>
        </p:nvSpPr>
        <p:spPr>
          <a:xfrm>
            <a:off x="5065903" y="2126742"/>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0" name="Rectangle 9"/>
          <p:cNvSpPr/>
          <p:nvPr/>
        </p:nvSpPr>
        <p:spPr>
          <a:xfrm>
            <a:off x="5321935" y="1916430"/>
            <a:ext cx="1234440" cy="685800"/>
          </a:xfrm>
          <a:prstGeom prst="rect">
            <a:avLst/>
          </a:prstGeom>
          <a:solidFill>
            <a:srgbClr val="E2EFD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数据库执行</a:t>
            </a:r>
            <a:endParaRPr sz="1200" b="1">
              <a:solidFill>
                <a:srgbClr val="282828"/>
              </a:solidFill>
              <a:latin typeface="微软雅黑" panose="020B0503020204020204" charset="-122"/>
            </a:endParaRPr>
          </a:p>
        </p:txBody>
      </p:sp>
      <p:sp>
        <p:nvSpPr>
          <p:cNvPr id="11" name="TextBox 10"/>
          <p:cNvSpPr txBox="1"/>
          <p:nvPr/>
        </p:nvSpPr>
        <p:spPr>
          <a:xfrm>
            <a:off x="6620383" y="2126742"/>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2" name="Rectangle 11"/>
          <p:cNvSpPr/>
          <p:nvPr/>
        </p:nvSpPr>
        <p:spPr>
          <a:xfrm>
            <a:off x="6876415" y="1916430"/>
            <a:ext cx="1234440" cy="685800"/>
          </a:xfrm>
          <a:prstGeom prst="rect">
            <a:avLst/>
          </a:prstGeom>
          <a:solidFill>
            <a:srgbClr val="E2EFD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查询结果</a:t>
            </a:r>
            <a:endParaRPr sz="1200" b="1">
              <a:solidFill>
                <a:srgbClr val="282828"/>
              </a:solidFill>
              <a:latin typeface="微软雅黑" panose="020B0503020204020204" charset="-122"/>
            </a:endParaRPr>
          </a:p>
        </p:txBody>
      </p:sp>
      <p:sp>
        <p:nvSpPr>
          <p:cNvPr id="13" name="Rectangle 12"/>
          <p:cNvSpPr/>
          <p:nvPr/>
        </p:nvSpPr>
        <p:spPr>
          <a:xfrm>
            <a:off x="2212975" y="3213100"/>
            <a:ext cx="4480560" cy="68580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282828"/>
                </a:solidFill>
                <a:latin typeface="微软雅黑" panose="020B0503020204020204" charset="-122"/>
              </a:rPr>
              <a:t>错误反馈通常只作用在整条 SQL 上</a:t>
            </a:r>
            <a:endParaRPr sz="1300" b="1">
              <a:solidFill>
                <a:srgbClr val="282828"/>
              </a:solidFill>
              <a:latin typeface="微软雅黑" panose="020B0503020204020204" charset="-122"/>
            </a:endParaRPr>
          </a:p>
        </p:txBody>
      </p:sp>
      <p:sp>
        <p:nvSpPr>
          <p:cNvPr id="14" name="TextBox 13"/>
          <p:cNvSpPr txBox="1"/>
          <p:nvPr/>
        </p:nvSpPr>
        <p:spPr>
          <a:xfrm>
            <a:off x="4314825" y="2852928"/>
            <a:ext cx="320040" cy="228600"/>
          </a:xfrm>
          <a:prstGeom prst="rect">
            <a:avLst/>
          </a:prstGeom>
          <a:noFill/>
        </p:spPr>
        <p:txBody>
          <a:bodyPr wrap="square" anchor="ctr">
            <a:spAutoFit/>
          </a:bodyPr>
          <a:lstStyle/>
          <a:p>
            <a:pPr algn="ctr"/>
            <a:r>
              <a:rPr sz="2200" b="1">
                <a:solidFill>
                  <a:srgbClr val="C65911"/>
                </a:solidFill>
                <a:latin typeface="微软雅黑" panose="020B0503020204020204" charset="-122"/>
              </a:rPr>
              <a:t>↓</a:t>
            </a:r>
            <a:endParaRPr sz="2200" b="1">
              <a:solidFill>
                <a:srgbClr val="C65911"/>
              </a:solidFill>
              <a:latin typeface="微软雅黑" panose="020B0503020204020204" charset="-122"/>
            </a:endParaRPr>
          </a:p>
        </p:txBody>
      </p:sp>
      <p:sp>
        <p:nvSpPr>
          <p:cNvPr id="15" name="TextBox 14"/>
          <p:cNvSpPr txBox="1"/>
          <p:nvPr/>
        </p:nvSpPr>
        <p:spPr>
          <a:xfrm>
            <a:off x="611505" y="4364990"/>
            <a:ext cx="7955280" cy="1163320"/>
          </a:xfrm>
          <a:prstGeom prst="rect">
            <a:avLst/>
          </a:prstGeom>
          <a:noFill/>
        </p:spPr>
        <p:txBody>
          <a:bodyPr wrap="square">
            <a:noAutofit/>
          </a:bodyPr>
          <a:lstStyle/>
          <a:p>
            <a:pPr marL="285750" indent="-285750">
              <a:spcAft>
                <a:spcPts val="700"/>
              </a:spcAft>
              <a:buFont typeface="Arial" panose="020B0604020202020204" pitchFamily="34" charset="0"/>
              <a:buChar char="•"/>
              <a:defRPr sz="1500">
                <a:solidFill>
                  <a:srgbClr val="282828"/>
                </a:solidFill>
                <a:latin typeface="微软雅黑" panose="020B0503020204020204" charset="-122"/>
              </a:defRPr>
            </a:pPr>
            <a:r>
              <a:t>标准 SQL 的 SELECT, FROM, WHERE, GROUP BY, HAVING, ORDER BY 相互耦合。</a:t>
            </a:r>
          </a:p>
          <a:p>
            <a:pPr marL="285750" indent="-285750">
              <a:spcAft>
                <a:spcPts val="700"/>
              </a:spcAft>
              <a:buFont typeface="Arial" panose="020B0604020202020204" pitchFamily="34" charset="0"/>
              <a:buChar char="•"/>
              <a:defRPr sz="1500">
                <a:solidFill>
                  <a:srgbClr val="282828"/>
                </a:solidFill>
                <a:latin typeface="微软雅黑" panose="020B0503020204020204" charset="-122"/>
              </a:defRPr>
            </a:pPr>
            <a:r>
              <a:t>复杂查询中的 join path、聚合口径、别名引用和排序条件容易互相影响。</a:t>
            </a:r>
          </a:p>
          <a:p>
            <a:pPr marL="285750" indent="-285750">
              <a:spcAft>
                <a:spcPts val="700"/>
              </a:spcAft>
              <a:buFont typeface="Arial" panose="020B0604020202020204" pitchFamily="34" charset="0"/>
              <a:buChar char="•"/>
              <a:defRPr sz="1500">
                <a:solidFill>
                  <a:srgbClr val="282828"/>
                </a:solidFill>
                <a:latin typeface="微软雅黑" panose="020B0503020204020204" charset="-122"/>
              </a:defRPr>
            </a:pPr>
            <a:r>
              <a:t>报错后直接重写整条 SQL，可能修好一个错误，又破坏原本正确的部分。</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68122" y="1066038"/>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问题背景：Text-to-SQL 在真实场景中仍不稳定</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4</a:t>
            </a:r>
            <a:endParaRPr sz="800" b="0">
              <a:solidFill>
                <a:srgbClr val="5F5F5F"/>
              </a:solidFill>
              <a:latin typeface="微软雅黑" panose="020B0503020204020204" charset="-122"/>
            </a:endParaRPr>
          </a:p>
        </p:txBody>
      </p:sp>
      <p:sp>
        <p:nvSpPr>
          <p:cNvPr id="4" name="TextBox 3"/>
          <p:cNvSpPr txBox="1"/>
          <p:nvPr/>
        </p:nvSpPr>
        <p:spPr>
          <a:xfrm>
            <a:off x="451485" y="1839595"/>
            <a:ext cx="8162290" cy="4058285"/>
          </a:xfrm>
          <a:prstGeom prst="rect">
            <a:avLst/>
          </a:prstGeom>
          <a:noFill/>
        </p:spPr>
        <p:txBody>
          <a:bodyPr wrap="square">
            <a:noAutofit/>
          </a:bodyPr>
          <a:lstStyle/>
          <a:p>
            <a:pPr hangingPunct="1">
              <a:spcAft>
                <a:spcPts val="700"/>
              </a:spcAft>
              <a:defRPr sz="1700">
                <a:solidFill>
                  <a:srgbClr val="282828"/>
                </a:solidFill>
                <a:latin typeface="微软雅黑" panose="020B0503020204020204" charset="-122"/>
              </a:defRPr>
            </a:pPr>
            <a:r>
              <a:t>企业数据库通常存在多表关系、字段别名、业务规则、时间口径和 SQL 方言差异。</a:t>
            </a:r>
          </a:p>
          <a:p>
            <a:pPr hangingPunct="1">
              <a:spcAft>
                <a:spcPts val="700"/>
              </a:spcAft>
              <a:defRPr sz="1700">
                <a:solidFill>
                  <a:srgbClr val="282828"/>
                </a:solidFill>
                <a:latin typeface="微软雅黑" panose="020B0503020204020204" charset="-122"/>
              </a:defRPr>
            </a:pPr>
            <a:r>
              <a:t>LLM 能生成看似合理的 SQL，但语义错误常常不会触发语法报错。</a:t>
            </a:r>
          </a:p>
          <a:p>
            <a:pPr hangingPunct="1">
              <a:spcAft>
                <a:spcPts val="700"/>
              </a:spcAft>
              <a:defRPr sz="1700">
                <a:solidFill>
                  <a:srgbClr val="282828"/>
                </a:solidFill>
                <a:latin typeface="微软雅黑" panose="020B0503020204020204" charset="-122"/>
              </a:defRPr>
            </a:pPr>
            <a:r>
              <a:t>复杂查询中，join、filter、aggregation、projection、order 之间存在强耦合。</a:t>
            </a:r>
          </a:p>
          <a:p>
            <a:pPr hangingPunct="1">
              <a:spcAft>
                <a:spcPts val="700"/>
              </a:spcAft>
              <a:defRPr sz="1700">
                <a:solidFill>
                  <a:srgbClr val="282828"/>
                </a:solidFill>
                <a:latin typeface="微软雅黑" panose="020B0503020204020204" charset="-122"/>
              </a:defRPr>
            </a:pPr>
            <a:r>
              <a:t>因此，研究重点应从“能否生成一条 SQL”转向“能否生成、验证、定位和修复”。</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国内外研究现状：从直接生成到过程化生成</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5</a:t>
            </a:r>
            <a:endParaRPr sz="800" b="0">
              <a:solidFill>
                <a:srgbClr val="5F5F5F"/>
              </a:solidFill>
              <a:latin typeface="微软雅黑" panose="020B0503020204020204" charset="-122"/>
            </a:endParaRPr>
          </a:p>
        </p:txBody>
      </p:sp>
      <p:sp>
        <p:nvSpPr>
          <p:cNvPr id="4" name="TextBox 3"/>
          <p:cNvSpPr txBox="1"/>
          <p:nvPr/>
        </p:nvSpPr>
        <p:spPr>
          <a:xfrm>
            <a:off x="467868" y="1874520"/>
            <a:ext cx="7955279" cy="4754880"/>
          </a:xfrm>
          <a:prstGeom prst="rect">
            <a:avLst/>
          </a:prstGeom>
          <a:noFill/>
        </p:spPr>
        <p:txBody>
          <a:bodyPr wrap="square">
            <a:spAutoFit/>
          </a:bodyPr>
          <a:lstStyle/>
          <a:p>
            <a:pPr>
              <a:spcAft>
                <a:spcPts val="700"/>
              </a:spcAft>
              <a:defRPr sz="1700">
                <a:solidFill>
                  <a:srgbClr val="282828"/>
                </a:solidFill>
                <a:latin typeface="微软雅黑" panose="020B0503020204020204" charset="-122"/>
              </a:defRPr>
            </a:pPr>
            <a:r>
              <a:t>传统 Text-to-SQL 研究关注语义解析、schema linking、语法约束解码和跨数据库泛化。</a:t>
            </a:r>
          </a:p>
          <a:p>
            <a:pPr>
              <a:spcAft>
                <a:spcPts val="700"/>
              </a:spcAft>
              <a:defRPr sz="1700">
                <a:solidFill>
                  <a:srgbClr val="282828"/>
                </a:solidFill>
                <a:latin typeface="微软雅黑" panose="020B0503020204020204" charset="-122"/>
              </a:defRPr>
            </a:pPr>
            <a:r>
              <a:t>LLM 方法引入 few-shot prompting、任务分解、候选生成、执行反馈和 self-correction。</a:t>
            </a:r>
          </a:p>
          <a:p>
            <a:pPr>
              <a:spcAft>
                <a:spcPts val="700"/>
              </a:spcAft>
              <a:defRPr sz="1700">
                <a:solidFill>
                  <a:srgbClr val="282828"/>
                </a:solidFill>
                <a:latin typeface="微软雅黑" panose="020B0503020204020204" charset="-122"/>
              </a:defRPr>
            </a:pPr>
            <a:r>
              <a:t>BIRD、Spider 2.0 等新 benchmark 表明，真实任务还需要外部知识、方言文档和工作流理解。</a:t>
            </a:r>
          </a:p>
          <a:p>
            <a:pPr>
              <a:spcAft>
                <a:spcPts val="700"/>
              </a:spcAft>
              <a:defRPr sz="1700">
                <a:solidFill>
                  <a:srgbClr val="282828"/>
                </a:solidFill>
                <a:latin typeface="微软雅黑" panose="020B0503020204020204" charset="-122"/>
              </a:defRPr>
            </a:pPr>
            <a:r>
              <a:t>已有工作提供了生成和选择机制，但对“可定位、可路由、可局部修复”的中间层研究仍不足。</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73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为什么不是直接采用 SemQL 或 NatSQL</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6</a:t>
            </a:r>
            <a:endParaRPr sz="800" b="0">
              <a:solidFill>
                <a:srgbClr val="5F5F5F"/>
              </a:solidFill>
              <a:latin typeface="微软雅黑" panose="020B0503020204020204" charset="-122"/>
            </a:endParaRPr>
          </a:p>
        </p:txBody>
      </p:sp>
      <p:sp>
        <p:nvSpPr>
          <p:cNvPr id="4" name="TextBox 3"/>
          <p:cNvSpPr txBox="1"/>
          <p:nvPr/>
        </p:nvSpPr>
        <p:spPr>
          <a:xfrm>
            <a:off x="438658" y="1916430"/>
            <a:ext cx="7955279" cy="4754880"/>
          </a:xfrm>
          <a:prstGeom prst="rect">
            <a:avLst/>
          </a:prstGeom>
          <a:noFill/>
        </p:spPr>
        <p:txBody>
          <a:bodyPr wrap="square">
            <a:spAutoFit/>
          </a:bodyPr>
          <a:lstStyle/>
          <a:p>
            <a:pPr>
              <a:spcAft>
                <a:spcPts val="700"/>
              </a:spcAft>
              <a:defRPr sz="1700">
                <a:solidFill>
                  <a:srgbClr val="282828"/>
                </a:solidFill>
                <a:latin typeface="微软雅黑" panose="020B0503020204020204" charset="-122"/>
              </a:defRPr>
            </a:pPr>
            <a:r>
              <a:t>SemQL 更偏语义解析树，结构约束强，利于消除部分 SQL 语法复杂性，但和 SQL 执行链路之间仍需要较重映射。</a:t>
            </a:r>
          </a:p>
          <a:p>
            <a:pPr>
              <a:spcAft>
                <a:spcPts val="700"/>
              </a:spcAft>
              <a:defRPr sz="1700">
                <a:solidFill>
                  <a:srgbClr val="282828"/>
                </a:solidFill>
                <a:latin typeface="微软雅黑" panose="020B0503020204020204" charset="-122"/>
              </a:defRPr>
            </a:pPr>
            <a:r>
              <a:t>NatSQL 更接近自然语言表达，降低部分 SQL 子查询和 join 的书写难度，但局部执行和错误步骤定位并不是其主要目标。</a:t>
            </a:r>
          </a:p>
          <a:p>
            <a:pPr>
              <a:spcAft>
                <a:spcPts val="700"/>
              </a:spcAft>
              <a:defRPr sz="1700">
                <a:solidFill>
                  <a:srgbClr val="282828"/>
                </a:solidFill>
                <a:latin typeface="微软雅黑" panose="020B0503020204020204" charset="-122"/>
              </a:defRPr>
            </a:pPr>
            <a:r>
              <a:t>GoogleSQL Pipe Syntax 证明 SQL 生态内部可以引入线性数据流表达，但它是特定 SQL 方言扩展。</a:t>
            </a:r>
          </a:p>
          <a:p>
            <a:pPr>
              <a:spcAft>
                <a:spcPts val="700"/>
              </a:spcAft>
              <a:defRPr sz="1700">
                <a:solidFill>
                  <a:srgbClr val="282828"/>
                </a:solidFill>
                <a:latin typeface="微软雅黑" panose="020B0503020204020204" charset="-122"/>
              </a:defRPr>
            </a:pPr>
            <a:r>
              <a:t>本课题中的 SQL+ 定位为 NL2SQL 中间表示：保留 SQL 可转换性，同时显式服务于错误定位和 repair skill 路由。</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23977" y="103111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SQL+ 的表达逻辑：把复杂 SQL 拆成可修复步骤</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7</a:t>
            </a:r>
            <a:endParaRPr sz="800" b="0">
              <a:solidFill>
                <a:srgbClr val="5F5F5F"/>
              </a:solidFill>
              <a:latin typeface="微软雅黑" panose="020B0503020204020204" charset="-122"/>
            </a:endParaRPr>
          </a:p>
        </p:txBody>
      </p:sp>
      <p:sp>
        <p:nvSpPr>
          <p:cNvPr id="4" name="Rectangle 3"/>
          <p:cNvSpPr/>
          <p:nvPr/>
        </p:nvSpPr>
        <p:spPr>
          <a:xfrm>
            <a:off x="203200" y="1988820"/>
            <a:ext cx="777240" cy="50292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FROM</a:t>
            </a:r>
            <a:endParaRPr sz="1000" b="1">
              <a:solidFill>
                <a:srgbClr val="FFFFFF"/>
              </a:solidFill>
              <a:latin typeface="微软雅黑" panose="020B0503020204020204" charset="-122"/>
            </a:endParaRPr>
          </a:p>
        </p:txBody>
      </p:sp>
      <p:sp>
        <p:nvSpPr>
          <p:cNvPr id="5" name="TextBox 4"/>
          <p:cNvSpPr txBox="1"/>
          <p:nvPr/>
        </p:nvSpPr>
        <p:spPr>
          <a:xfrm>
            <a:off x="899795" y="2083753"/>
            <a:ext cx="354330" cy="291465"/>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6" name="Rectangle 5"/>
          <p:cNvSpPr/>
          <p:nvPr/>
        </p:nvSpPr>
        <p:spPr>
          <a:xfrm>
            <a:off x="1163320" y="1988820"/>
            <a:ext cx="777240" cy="502920"/>
          </a:xfrm>
          <a:prstGeom prst="rect">
            <a:avLst/>
          </a:prstGeom>
          <a:solidFill>
            <a:srgbClr val="C65911"/>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JOIN</a:t>
            </a:r>
            <a:endParaRPr sz="1000" b="1">
              <a:solidFill>
                <a:srgbClr val="FFFFFF"/>
              </a:solidFill>
              <a:latin typeface="微软雅黑" panose="020B0503020204020204" charset="-122"/>
            </a:endParaRPr>
          </a:p>
        </p:txBody>
      </p:sp>
      <p:sp>
        <p:nvSpPr>
          <p:cNvPr id="7" name="TextBox 6"/>
          <p:cNvSpPr txBox="1"/>
          <p:nvPr/>
        </p:nvSpPr>
        <p:spPr>
          <a:xfrm>
            <a:off x="1850390" y="2076133"/>
            <a:ext cx="326390" cy="291465"/>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8" name="Rectangle 7"/>
          <p:cNvSpPr/>
          <p:nvPr/>
        </p:nvSpPr>
        <p:spPr>
          <a:xfrm>
            <a:off x="2123440" y="1988820"/>
            <a:ext cx="777240" cy="50292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WHERE</a:t>
            </a:r>
            <a:endParaRPr sz="1000" b="1">
              <a:solidFill>
                <a:srgbClr val="FFFFFF"/>
              </a:solidFill>
              <a:latin typeface="微软雅黑" panose="020B0503020204020204" charset="-122"/>
            </a:endParaRPr>
          </a:p>
        </p:txBody>
      </p:sp>
      <p:sp>
        <p:nvSpPr>
          <p:cNvPr id="9" name="TextBox 8"/>
          <p:cNvSpPr txBox="1"/>
          <p:nvPr/>
        </p:nvSpPr>
        <p:spPr>
          <a:xfrm>
            <a:off x="2844292" y="2115312"/>
            <a:ext cx="320040" cy="228600"/>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10" name="Rectangle 9"/>
          <p:cNvSpPr/>
          <p:nvPr/>
        </p:nvSpPr>
        <p:spPr>
          <a:xfrm>
            <a:off x="3083560" y="1988820"/>
            <a:ext cx="777240" cy="502920"/>
          </a:xfrm>
          <a:prstGeom prst="rect">
            <a:avLst/>
          </a:prstGeom>
          <a:solidFill>
            <a:srgbClr val="C65911"/>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GROUP</a:t>
            </a:r>
            <a:endParaRPr sz="1000" b="1">
              <a:solidFill>
                <a:srgbClr val="FFFFFF"/>
              </a:solidFill>
              <a:latin typeface="微软雅黑" panose="020B0503020204020204" charset="-122"/>
            </a:endParaRPr>
          </a:p>
        </p:txBody>
      </p:sp>
      <p:sp>
        <p:nvSpPr>
          <p:cNvPr id="11" name="TextBox 10"/>
          <p:cNvSpPr txBox="1"/>
          <p:nvPr/>
        </p:nvSpPr>
        <p:spPr>
          <a:xfrm>
            <a:off x="3769995" y="2083753"/>
            <a:ext cx="365760" cy="291465"/>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12" name="Rectangle 11"/>
          <p:cNvSpPr/>
          <p:nvPr/>
        </p:nvSpPr>
        <p:spPr>
          <a:xfrm>
            <a:off x="4043680" y="1988820"/>
            <a:ext cx="777240" cy="50292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AGG</a:t>
            </a:r>
            <a:endParaRPr sz="1000" b="1">
              <a:solidFill>
                <a:srgbClr val="FFFFFF"/>
              </a:solidFill>
              <a:latin typeface="微软雅黑" panose="020B0503020204020204" charset="-122"/>
            </a:endParaRPr>
          </a:p>
        </p:txBody>
      </p:sp>
      <p:sp>
        <p:nvSpPr>
          <p:cNvPr id="13" name="TextBox 12"/>
          <p:cNvSpPr txBox="1"/>
          <p:nvPr/>
        </p:nvSpPr>
        <p:spPr>
          <a:xfrm>
            <a:off x="4754372" y="2115312"/>
            <a:ext cx="320040" cy="228600"/>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14" name="Rectangle 13"/>
          <p:cNvSpPr/>
          <p:nvPr/>
        </p:nvSpPr>
        <p:spPr>
          <a:xfrm>
            <a:off x="5003800" y="1988820"/>
            <a:ext cx="777240" cy="502920"/>
          </a:xfrm>
          <a:prstGeom prst="rect">
            <a:avLst/>
          </a:prstGeom>
          <a:solidFill>
            <a:srgbClr val="C65911"/>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HAVING</a:t>
            </a:r>
            <a:endParaRPr sz="1000" b="1">
              <a:solidFill>
                <a:srgbClr val="FFFFFF"/>
              </a:solidFill>
              <a:latin typeface="微软雅黑" panose="020B0503020204020204" charset="-122"/>
            </a:endParaRPr>
          </a:p>
        </p:txBody>
      </p:sp>
      <p:sp>
        <p:nvSpPr>
          <p:cNvPr id="15" name="TextBox 14"/>
          <p:cNvSpPr txBox="1"/>
          <p:nvPr/>
        </p:nvSpPr>
        <p:spPr>
          <a:xfrm>
            <a:off x="5724652" y="2115312"/>
            <a:ext cx="320040" cy="228600"/>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16" name="Rectangle 15"/>
          <p:cNvSpPr/>
          <p:nvPr/>
        </p:nvSpPr>
        <p:spPr>
          <a:xfrm>
            <a:off x="5963920" y="1988820"/>
            <a:ext cx="777240" cy="50292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SELECT</a:t>
            </a:r>
            <a:endParaRPr sz="1000" b="1">
              <a:solidFill>
                <a:srgbClr val="FFFFFF"/>
              </a:solidFill>
              <a:latin typeface="微软雅黑" panose="020B0503020204020204" charset="-122"/>
            </a:endParaRPr>
          </a:p>
        </p:txBody>
      </p:sp>
      <p:sp>
        <p:nvSpPr>
          <p:cNvPr id="17" name="TextBox 16"/>
          <p:cNvSpPr txBox="1"/>
          <p:nvPr/>
        </p:nvSpPr>
        <p:spPr>
          <a:xfrm>
            <a:off x="6687947" y="2115312"/>
            <a:ext cx="320040" cy="228600"/>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18" name="Rectangle 17"/>
          <p:cNvSpPr/>
          <p:nvPr/>
        </p:nvSpPr>
        <p:spPr>
          <a:xfrm>
            <a:off x="6924040" y="1988820"/>
            <a:ext cx="777240" cy="502920"/>
          </a:xfrm>
          <a:prstGeom prst="rect">
            <a:avLst/>
          </a:prstGeom>
          <a:solidFill>
            <a:srgbClr val="C65911"/>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ORDER</a:t>
            </a:r>
            <a:endParaRPr sz="1000" b="1">
              <a:solidFill>
                <a:srgbClr val="FFFFFF"/>
              </a:solidFill>
              <a:latin typeface="微软雅黑" panose="020B0503020204020204" charset="-122"/>
            </a:endParaRPr>
          </a:p>
        </p:txBody>
      </p:sp>
      <p:sp>
        <p:nvSpPr>
          <p:cNvPr id="19" name="TextBox 18"/>
          <p:cNvSpPr txBox="1"/>
          <p:nvPr/>
        </p:nvSpPr>
        <p:spPr>
          <a:xfrm>
            <a:off x="7633462" y="2115312"/>
            <a:ext cx="320040" cy="228600"/>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20" name="Rectangle 19"/>
          <p:cNvSpPr/>
          <p:nvPr/>
        </p:nvSpPr>
        <p:spPr>
          <a:xfrm>
            <a:off x="7884160" y="1988820"/>
            <a:ext cx="777240" cy="50292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LIMIT</a:t>
            </a:r>
            <a:endParaRPr sz="1000" b="1">
              <a:solidFill>
                <a:srgbClr val="FFFFFF"/>
              </a:solidFill>
              <a:latin typeface="微软雅黑" panose="020B0503020204020204" charset="-122"/>
            </a:endParaRPr>
          </a:p>
        </p:txBody>
      </p:sp>
      <p:graphicFrame>
        <p:nvGraphicFramePr>
          <p:cNvPr id="21" name="Table 20"/>
          <p:cNvGraphicFramePr>
            <a:graphicFrameLocks noGrp="1"/>
          </p:cNvGraphicFramePr>
          <p:nvPr/>
        </p:nvGraphicFramePr>
        <p:xfrm>
          <a:off x="395605" y="2924810"/>
          <a:ext cx="8321040" cy="2880360"/>
        </p:xfrm>
        <a:graphic>
          <a:graphicData uri="http://schemas.openxmlformats.org/drawingml/2006/table">
            <a:tbl>
              <a:tblPr firstRow="1" bandRow="1">
                <a:tableStyleId>{5C22544A-7EE6-4342-B048-85BDC9FD1C3A}</a:tableStyleId>
              </a:tblPr>
              <a:tblGrid>
                <a:gridCol w="2773680"/>
                <a:gridCol w="2773680"/>
                <a:gridCol w="2773680"/>
              </a:tblGrid>
              <a:tr h="480060">
                <a:tc>
                  <a:txBody>
                    <a:bodyPr/>
                    <a:lstStyle/>
                    <a:p>
                      <a:pPr algn="ctr"/>
                      <a:r>
                        <a:rPr sz="1100" b="1">
                          <a:solidFill>
                            <a:srgbClr val="FFFFFF"/>
                          </a:solidFill>
                          <a:latin typeface="微软雅黑" panose="020B0503020204020204" charset="-122"/>
                        </a:rPr>
                        <a:t>SQL+ 步骤</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主要诊断对象</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对应 repair skill</a:t>
                      </a:r>
                      <a:endParaRPr sz="1100" b="1">
                        <a:solidFill>
                          <a:srgbClr val="FFFFFF"/>
                        </a:solidFill>
                        <a:latin typeface="微软雅黑" panose="020B0503020204020204" charset="-122"/>
                      </a:endParaRPr>
                    </a:p>
                  </a:txBody>
                  <a:tcPr marL="36576" marR="36576">
                    <a:solidFill>
                      <a:srgbClr val="1F4E79"/>
                    </a:solidFill>
                  </a:tcPr>
                </a:tc>
              </a:tr>
              <a:tr h="480060">
                <a:tc>
                  <a:txBody>
                    <a:bodyPr/>
                    <a:lstStyle/>
                    <a:p>
                      <a:pPr algn="l"/>
                      <a:r>
                        <a:rPr sz="1000" b="0">
                          <a:solidFill>
                            <a:srgbClr val="282828"/>
                          </a:solidFill>
                          <a:latin typeface="微软雅黑" panose="020B0503020204020204" charset="-122"/>
                        </a:rPr>
                        <a:t>WHERE</a:t>
                      </a:r>
                      <a:endParaRPr sz="1000" b="0">
                        <a:solidFill>
                          <a:srgbClr val="282828"/>
                        </a:solidFill>
                        <a:latin typeface="微软雅黑" panose="020B0503020204020204" charset="-122"/>
                      </a:endParaRPr>
                    </a:p>
                  </a:txBody>
                  <a:tcPr marL="36576" marR="36576">
                    <a:solidFill>
                      <a:srgbClr val="FFFFFF"/>
                    </a:solidFill>
                  </a:tcPr>
                </a:tc>
                <a:tc>
                  <a:txBody>
                    <a:bodyPr/>
                    <a:lstStyle/>
                    <a:p>
                      <a:pPr algn="l"/>
                      <a:r>
                        <a:rPr sz="1000" b="0">
                          <a:solidFill>
                            <a:srgbClr val="282828"/>
                          </a:solidFill>
                          <a:latin typeface="微软雅黑" panose="020B0503020204020204" charset="-122"/>
                        </a:rPr>
                        <a:t>值链接、日期边界、隐含过滤</a:t>
                      </a:r>
                      <a:endParaRPr sz="1000" b="0">
                        <a:solidFill>
                          <a:srgbClr val="282828"/>
                        </a:solidFill>
                        <a:latin typeface="微软雅黑" panose="020B0503020204020204" charset="-122"/>
                      </a:endParaRPr>
                    </a:p>
                  </a:txBody>
                  <a:tcPr marL="36576" marR="36576">
                    <a:solidFill>
                      <a:srgbClr val="FFFFFF"/>
                    </a:solidFill>
                  </a:tcPr>
                </a:tc>
                <a:tc>
                  <a:txBody>
                    <a:bodyPr/>
                    <a:lstStyle/>
                    <a:p>
                      <a:pPr algn="l"/>
                      <a:r>
                        <a:rPr sz="1000" b="0">
                          <a:solidFill>
                            <a:srgbClr val="282828"/>
                          </a:solidFill>
                          <a:latin typeface="微软雅黑" panose="020B0503020204020204" charset="-122"/>
                        </a:rPr>
                        <a:t>value-linking skill</a:t>
                      </a:r>
                      <a:endParaRPr sz="1000" b="0">
                        <a:solidFill>
                          <a:srgbClr val="282828"/>
                        </a:solidFill>
                        <a:latin typeface="微软雅黑" panose="020B0503020204020204" charset="-122"/>
                      </a:endParaRPr>
                    </a:p>
                  </a:txBody>
                  <a:tcPr marL="36576" marR="36576">
                    <a:solidFill>
                      <a:srgbClr val="FFFFFF"/>
                    </a:solidFill>
                  </a:tcPr>
                </a:tc>
              </a:tr>
              <a:tr h="480060">
                <a:tc>
                  <a:txBody>
                    <a:bodyPr/>
                    <a:lstStyle/>
                    <a:p>
                      <a:pPr algn="l"/>
                      <a:r>
                        <a:rPr sz="1000" b="0">
                          <a:solidFill>
                            <a:srgbClr val="282828"/>
                          </a:solidFill>
                          <a:latin typeface="微软雅黑" panose="020B0503020204020204" charset="-122"/>
                        </a:rPr>
                        <a:t>JOIN</a:t>
                      </a:r>
                      <a:endParaRPr sz="1000" b="0">
                        <a:solidFill>
                          <a:srgbClr val="282828"/>
                        </a:solidFill>
                        <a:latin typeface="微软雅黑" panose="020B0503020204020204" charset="-122"/>
                      </a:endParaRPr>
                    </a:p>
                  </a:txBody>
                  <a:tcPr marL="36576" marR="36576">
                    <a:solidFill>
                      <a:srgbClr val="EEF2F7"/>
                    </a:solidFill>
                  </a:tcPr>
                </a:tc>
                <a:tc>
                  <a:txBody>
                    <a:bodyPr/>
                    <a:lstStyle/>
                    <a:p>
                      <a:pPr algn="l"/>
                      <a:r>
                        <a:rPr sz="1000" b="0">
                          <a:solidFill>
                            <a:srgbClr val="282828"/>
                          </a:solidFill>
                          <a:latin typeface="微软雅黑" panose="020B0503020204020204" charset="-122"/>
                        </a:rPr>
                        <a:t>连接路径、连接方向、冗余 join</a:t>
                      </a:r>
                      <a:endParaRPr sz="1000" b="0">
                        <a:solidFill>
                          <a:srgbClr val="282828"/>
                        </a:solidFill>
                        <a:latin typeface="微软雅黑" panose="020B0503020204020204" charset="-122"/>
                      </a:endParaRPr>
                    </a:p>
                  </a:txBody>
                  <a:tcPr marL="36576" marR="36576">
                    <a:solidFill>
                      <a:srgbClr val="EEF2F7"/>
                    </a:solidFill>
                  </a:tcPr>
                </a:tc>
                <a:tc>
                  <a:txBody>
                    <a:bodyPr/>
                    <a:lstStyle/>
                    <a:p>
                      <a:pPr algn="l"/>
                      <a:r>
                        <a:rPr sz="1000" b="0">
                          <a:solidFill>
                            <a:srgbClr val="282828"/>
                          </a:solidFill>
                          <a:latin typeface="微软雅黑" panose="020B0503020204020204" charset="-122"/>
                        </a:rPr>
                        <a:t>join repair skill</a:t>
                      </a:r>
                      <a:endParaRPr sz="1000" b="0">
                        <a:solidFill>
                          <a:srgbClr val="282828"/>
                        </a:solidFill>
                        <a:latin typeface="微软雅黑" panose="020B0503020204020204" charset="-122"/>
                      </a:endParaRPr>
                    </a:p>
                  </a:txBody>
                  <a:tcPr marL="36576" marR="36576">
                    <a:solidFill>
                      <a:srgbClr val="EEF2F7"/>
                    </a:solidFill>
                  </a:tcPr>
                </a:tc>
              </a:tr>
              <a:tr h="480060">
                <a:tc>
                  <a:txBody>
                    <a:bodyPr/>
                    <a:lstStyle/>
                    <a:p>
                      <a:pPr algn="l"/>
                      <a:r>
                        <a:rPr sz="1000" b="0">
                          <a:solidFill>
                            <a:srgbClr val="282828"/>
                          </a:solidFill>
                          <a:latin typeface="微软雅黑" panose="020B0503020204020204" charset="-122"/>
                        </a:rPr>
                        <a:t>GROUP / AGG</a:t>
                      </a:r>
                      <a:endParaRPr sz="1000" b="0">
                        <a:solidFill>
                          <a:srgbClr val="282828"/>
                        </a:solidFill>
                        <a:latin typeface="微软雅黑" panose="020B0503020204020204" charset="-122"/>
                      </a:endParaRPr>
                    </a:p>
                  </a:txBody>
                  <a:tcPr marL="36576" marR="36576">
                    <a:solidFill>
                      <a:srgbClr val="FFFFFF"/>
                    </a:solidFill>
                  </a:tcPr>
                </a:tc>
                <a:tc>
                  <a:txBody>
                    <a:bodyPr/>
                    <a:lstStyle/>
                    <a:p>
                      <a:pPr algn="l"/>
                      <a:r>
                        <a:rPr sz="1000" b="0">
                          <a:solidFill>
                            <a:srgbClr val="282828"/>
                          </a:solidFill>
                          <a:latin typeface="微软雅黑" panose="020B0503020204020204" charset="-122"/>
                        </a:rPr>
                        <a:t>聚合口径、别名、HAVING 引用</a:t>
                      </a:r>
                      <a:endParaRPr sz="1000" b="0">
                        <a:solidFill>
                          <a:srgbClr val="282828"/>
                        </a:solidFill>
                        <a:latin typeface="微软雅黑" panose="020B0503020204020204" charset="-122"/>
                      </a:endParaRPr>
                    </a:p>
                  </a:txBody>
                  <a:tcPr marL="36576" marR="36576">
                    <a:solidFill>
                      <a:srgbClr val="FFFFFF"/>
                    </a:solidFill>
                  </a:tcPr>
                </a:tc>
                <a:tc>
                  <a:txBody>
                    <a:bodyPr/>
                    <a:lstStyle/>
                    <a:p>
                      <a:pPr algn="l"/>
                      <a:r>
                        <a:rPr sz="1000" b="0">
                          <a:solidFill>
                            <a:srgbClr val="282828"/>
                          </a:solidFill>
                          <a:latin typeface="微软雅黑" panose="020B0503020204020204" charset="-122"/>
                        </a:rPr>
                        <a:t>aggregation repair skill</a:t>
                      </a:r>
                      <a:endParaRPr sz="1000" b="0">
                        <a:solidFill>
                          <a:srgbClr val="282828"/>
                        </a:solidFill>
                        <a:latin typeface="微软雅黑" panose="020B0503020204020204" charset="-122"/>
                      </a:endParaRPr>
                    </a:p>
                  </a:txBody>
                  <a:tcPr marL="36576" marR="36576">
                    <a:solidFill>
                      <a:srgbClr val="FFFFFF"/>
                    </a:solidFill>
                  </a:tcPr>
                </a:tc>
              </a:tr>
              <a:tr h="480060">
                <a:tc>
                  <a:txBody>
                    <a:bodyPr/>
                    <a:lstStyle/>
                    <a:p>
                      <a:pPr algn="l"/>
                      <a:r>
                        <a:rPr sz="1000" b="0">
                          <a:solidFill>
                            <a:srgbClr val="282828"/>
                          </a:solidFill>
                          <a:latin typeface="微软雅黑" panose="020B0503020204020204" charset="-122"/>
                        </a:rPr>
                        <a:t>SELECT</a:t>
                      </a:r>
                      <a:endParaRPr sz="1000" b="0">
                        <a:solidFill>
                          <a:srgbClr val="282828"/>
                        </a:solidFill>
                        <a:latin typeface="微软雅黑" panose="020B0503020204020204" charset="-122"/>
                      </a:endParaRPr>
                    </a:p>
                  </a:txBody>
                  <a:tcPr marL="36576" marR="36576">
                    <a:solidFill>
                      <a:srgbClr val="EEF2F7"/>
                    </a:solidFill>
                  </a:tcPr>
                </a:tc>
                <a:tc>
                  <a:txBody>
                    <a:bodyPr/>
                    <a:lstStyle/>
                    <a:p>
                      <a:pPr algn="l"/>
                      <a:r>
                        <a:rPr sz="1000" b="0">
                          <a:solidFill>
                            <a:srgbClr val="282828"/>
                          </a:solidFill>
                          <a:latin typeface="微软雅黑" panose="020B0503020204020204" charset="-122"/>
                        </a:rPr>
                        <a:t>输出列、别名、列顺序</a:t>
                      </a:r>
                      <a:endParaRPr sz="1000" b="0">
                        <a:solidFill>
                          <a:srgbClr val="282828"/>
                        </a:solidFill>
                        <a:latin typeface="微软雅黑" panose="020B0503020204020204" charset="-122"/>
                      </a:endParaRPr>
                    </a:p>
                  </a:txBody>
                  <a:tcPr marL="36576" marR="36576">
                    <a:solidFill>
                      <a:srgbClr val="EEF2F7"/>
                    </a:solidFill>
                  </a:tcPr>
                </a:tc>
                <a:tc>
                  <a:txBody>
                    <a:bodyPr/>
                    <a:lstStyle/>
                    <a:p>
                      <a:pPr algn="l"/>
                      <a:r>
                        <a:rPr sz="1000" b="0">
                          <a:solidFill>
                            <a:srgbClr val="282828"/>
                          </a:solidFill>
                          <a:latin typeface="微软雅黑" panose="020B0503020204020204" charset="-122"/>
                        </a:rPr>
                        <a:t>projection repair skill</a:t>
                      </a:r>
                      <a:endParaRPr sz="1000" b="0">
                        <a:solidFill>
                          <a:srgbClr val="282828"/>
                        </a:solidFill>
                        <a:latin typeface="微软雅黑" panose="020B0503020204020204" charset="-122"/>
                      </a:endParaRPr>
                    </a:p>
                  </a:txBody>
                  <a:tcPr marL="36576" marR="36576">
                    <a:solidFill>
                      <a:srgbClr val="EEF2F7"/>
                    </a:solidFill>
                  </a:tcPr>
                </a:tc>
              </a:tr>
              <a:tr h="480060">
                <a:tc>
                  <a:txBody>
                    <a:bodyPr/>
                    <a:lstStyle/>
                    <a:p>
                      <a:pPr algn="l"/>
                      <a:r>
                        <a:rPr sz="1000" b="0">
                          <a:solidFill>
                            <a:srgbClr val="282828"/>
                          </a:solidFill>
                          <a:latin typeface="微软雅黑" panose="020B0503020204020204" charset="-122"/>
                        </a:rPr>
                        <a:t>ORDER / LIMIT</a:t>
                      </a:r>
                      <a:endParaRPr sz="1000" b="0">
                        <a:solidFill>
                          <a:srgbClr val="282828"/>
                        </a:solidFill>
                        <a:latin typeface="微软雅黑" panose="020B0503020204020204" charset="-122"/>
                      </a:endParaRPr>
                    </a:p>
                  </a:txBody>
                  <a:tcPr marL="36576" marR="36576">
                    <a:solidFill>
                      <a:srgbClr val="FFFFFF"/>
                    </a:solidFill>
                  </a:tcPr>
                </a:tc>
                <a:tc>
                  <a:txBody>
                    <a:bodyPr/>
                    <a:lstStyle/>
                    <a:p>
                      <a:pPr algn="l"/>
                      <a:r>
                        <a:rPr sz="1000" b="0">
                          <a:solidFill>
                            <a:srgbClr val="282828"/>
                          </a:solidFill>
                          <a:latin typeface="微软雅黑" panose="020B0503020204020204" charset="-122"/>
                        </a:rPr>
                        <a:t>排序字段、方向、top-k</a:t>
                      </a:r>
                      <a:endParaRPr sz="1000" b="0">
                        <a:solidFill>
                          <a:srgbClr val="282828"/>
                        </a:solidFill>
                        <a:latin typeface="微软雅黑" panose="020B0503020204020204" charset="-122"/>
                      </a:endParaRPr>
                    </a:p>
                  </a:txBody>
                  <a:tcPr marL="36576" marR="36576">
                    <a:solidFill>
                      <a:srgbClr val="FFFFFF"/>
                    </a:solidFill>
                  </a:tcPr>
                </a:tc>
                <a:tc>
                  <a:txBody>
                    <a:bodyPr/>
                    <a:lstStyle/>
                    <a:p>
                      <a:pPr algn="l"/>
                      <a:r>
                        <a:rPr sz="1000" b="0">
                          <a:solidFill>
                            <a:srgbClr val="282828"/>
                          </a:solidFill>
                          <a:latin typeface="微软雅黑" panose="020B0503020204020204" charset="-122"/>
                        </a:rPr>
                        <a:t>order repair skill</a:t>
                      </a:r>
                      <a:endParaRPr sz="1000" b="0">
                        <a:solidFill>
                          <a:srgbClr val="282828"/>
                        </a:solidFill>
                        <a:latin typeface="微软雅黑" panose="020B0503020204020204" charset="-122"/>
                      </a:endParaRPr>
                    </a:p>
                  </a:txBody>
                  <a:tcPr marL="36576" marR="36576">
                    <a:solidFill>
                      <a:srgbClr val="FFFFFF"/>
                    </a:solidFill>
                  </a:tcPr>
                </a:tc>
              </a:tr>
            </a:tbl>
          </a:graphicData>
        </a:graphic>
      </p:graphicFrame>
      <p:sp>
        <p:nvSpPr>
          <p:cNvPr id="22" name="TextBox 21"/>
          <p:cNvSpPr txBox="1"/>
          <p:nvPr/>
        </p:nvSpPr>
        <p:spPr>
          <a:xfrm>
            <a:off x="611505" y="6093460"/>
            <a:ext cx="4929505" cy="260350"/>
          </a:xfrm>
          <a:prstGeom prst="rect">
            <a:avLst/>
          </a:prstGeom>
          <a:noFill/>
        </p:spPr>
        <p:txBody>
          <a:bodyPr wrap="square" anchor="ctr">
            <a:spAutoFit/>
          </a:bodyPr>
          <a:lstStyle/>
          <a:p>
            <a:pPr algn="l"/>
            <a:r>
              <a:rPr sz="1100" b="0">
                <a:solidFill>
                  <a:srgbClr val="C65911"/>
                </a:solidFill>
                <a:latin typeface="微软雅黑" panose="020B0503020204020204" charset="-122"/>
              </a:rPr>
              <a:t>SQL+ 的价值不只在生成阶段，更在于给错误定位和局部修复提供稳定锚点。</a:t>
            </a:r>
            <a:endParaRPr sz="1100" b="0">
              <a:solidFill>
                <a:srgbClr val="C65911"/>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047"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本文拟研究的 SQL+ 多智能体闭环</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8</a:t>
            </a:r>
            <a:endParaRPr sz="800" b="0">
              <a:solidFill>
                <a:srgbClr val="5F5F5F"/>
              </a:solidFill>
              <a:latin typeface="微软雅黑" panose="020B0503020204020204" charset="-122"/>
            </a:endParaRPr>
          </a:p>
        </p:txBody>
      </p:sp>
      <p:sp>
        <p:nvSpPr>
          <p:cNvPr id="4" name="Rectangle 3"/>
          <p:cNvSpPr/>
          <p:nvPr/>
        </p:nvSpPr>
        <p:spPr>
          <a:xfrm>
            <a:off x="546735" y="1874520"/>
            <a:ext cx="1554480" cy="68580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Intent Agent
意图</a:t>
            </a:r>
            <a:endParaRPr sz="1000" b="1">
              <a:solidFill>
                <a:srgbClr val="282828"/>
              </a:solidFill>
              <a:latin typeface="微软雅黑" panose="020B0503020204020204" charset="-122"/>
            </a:endParaRPr>
          </a:p>
        </p:txBody>
      </p:sp>
      <p:sp>
        <p:nvSpPr>
          <p:cNvPr id="5" name="TextBox 4"/>
          <p:cNvSpPr txBox="1"/>
          <p:nvPr/>
        </p:nvSpPr>
        <p:spPr>
          <a:xfrm>
            <a:off x="2128646" y="2075688"/>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6" name="Rectangle 5"/>
          <p:cNvSpPr/>
          <p:nvPr/>
        </p:nvSpPr>
        <p:spPr>
          <a:xfrm>
            <a:off x="2512695" y="1874520"/>
            <a:ext cx="1554480" cy="68580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Schema Agent
表字段</a:t>
            </a:r>
            <a:endParaRPr sz="1000" b="1">
              <a:solidFill>
                <a:srgbClr val="282828"/>
              </a:solidFill>
              <a:latin typeface="微软雅黑" panose="020B0503020204020204" charset="-122"/>
            </a:endParaRPr>
          </a:p>
        </p:txBody>
      </p:sp>
      <p:sp>
        <p:nvSpPr>
          <p:cNvPr id="7" name="TextBox 6"/>
          <p:cNvSpPr txBox="1"/>
          <p:nvPr/>
        </p:nvSpPr>
        <p:spPr>
          <a:xfrm>
            <a:off x="4094606" y="2075688"/>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8" name="Rectangle 7"/>
          <p:cNvSpPr/>
          <p:nvPr/>
        </p:nvSpPr>
        <p:spPr>
          <a:xfrm>
            <a:off x="4478655" y="1874520"/>
            <a:ext cx="1554480" cy="68580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Planner Agent
步骤计划</a:t>
            </a:r>
            <a:endParaRPr sz="1000" b="1">
              <a:solidFill>
                <a:srgbClr val="282828"/>
              </a:solidFill>
              <a:latin typeface="微软雅黑" panose="020B0503020204020204" charset="-122"/>
            </a:endParaRPr>
          </a:p>
        </p:txBody>
      </p:sp>
      <p:sp>
        <p:nvSpPr>
          <p:cNvPr id="9" name="TextBox 8"/>
          <p:cNvSpPr txBox="1"/>
          <p:nvPr/>
        </p:nvSpPr>
        <p:spPr>
          <a:xfrm>
            <a:off x="6060567" y="2075688"/>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0" name="Rectangle 9"/>
          <p:cNvSpPr/>
          <p:nvPr/>
        </p:nvSpPr>
        <p:spPr>
          <a:xfrm>
            <a:off x="6444614" y="1874520"/>
            <a:ext cx="1554480" cy="68580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SQL+ Generator
SQL+</a:t>
            </a:r>
            <a:endParaRPr sz="1000" b="1">
              <a:solidFill>
                <a:srgbClr val="282828"/>
              </a:solidFill>
              <a:latin typeface="微软雅黑" panose="020B0503020204020204" charset="-122"/>
            </a:endParaRPr>
          </a:p>
        </p:txBody>
      </p:sp>
      <p:sp>
        <p:nvSpPr>
          <p:cNvPr id="11" name="Rectangle 10"/>
          <p:cNvSpPr/>
          <p:nvPr/>
        </p:nvSpPr>
        <p:spPr>
          <a:xfrm>
            <a:off x="546735" y="3291840"/>
            <a:ext cx="1554480" cy="68580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Translator
SQL+ → SQL</a:t>
            </a:r>
            <a:endParaRPr sz="1000" b="1">
              <a:solidFill>
                <a:srgbClr val="282828"/>
              </a:solidFill>
              <a:latin typeface="微软雅黑" panose="020B0503020204020204" charset="-122"/>
            </a:endParaRPr>
          </a:p>
        </p:txBody>
      </p:sp>
      <p:sp>
        <p:nvSpPr>
          <p:cNvPr id="12" name="TextBox 11"/>
          <p:cNvSpPr txBox="1"/>
          <p:nvPr/>
        </p:nvSpPr>
        <p:spPr>
          <a:xfrm>
            <a:off x="2128646" y="3493008"/>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3" name="Rectangle 12"/>
          <p:cNvSpPr/>
          <p:nvPr/>
        </p:nvSpPr>
        <p:spPr>
          <a:xfrm>
            <a:off x="2512695" y="3291840"/>
            <a:ext cx="1554480" cy="68580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Executor
执行反馈</a:t>
            </a:r>
            <a:endParaRPr sz="1000" b="1">
              <a:solidFill>
                <a:srgbClr val="282828"/>
              </a:solidFill>
              <a:latin typeface="微软雅黑" panose="020B0503020204020204" charset="-122"/>
            </a:endParaRPr>
          </a:p>
        </p:txBody>
      </p:sp>
      <p:sp>
        <p:nvSpPr>
          <p:cNvPr id="14" name="TextBox 13"/>
          <p:cNvSpPr txBox="1"/>
          <p:nvPr/>
        </p:nvSpPr>
        <p:spPr>
          <a:xfrm>
            <a:off x="4094606" y="3493008"/>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5" name="Rectangle 14"/>
          <p:cNvSpPr/>
          <p:nvPr/>
        </p:nvSpPr>
        <p:spPr>
          <a:xfrm>
            <a:off x="4478655" y="3291840"/>
            <a:ext cx="1554480" cy="68580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Critic Agent
错误定位</a:t>
            </a:r>
            <a:endParaRPr sz="1000" b="1">
              <a:solidFill>
                <a:srgbClr val="282828"/>
              </a:solidFill>
              <a:latin typeface="微软雅黑" panose="020B0503020204020204" charset="-122"/>
            </a:endParaRPr>
          </a:p>
        </p:txBody>
      </p:sp>
      <p:sp>
        <p:nvSpPr>
          <p:cNvPr id="16" name="TextBox 15"/>
          <p:cNvSpPr txBox="1"/>
          <p:nvPr/>
        </p:nvSpPr>
        <p:spPr>
          <a:xfrm>
            <a:off x="6060567" y="3493008"/>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7" name="Rectangle 16"/>
          <p:cNvSpPr/>
          <p:nvPr/>
        </p:nvSpPr>
        <p:spPr>
          <a:xfrm>
            <a:off x="6444614" y="3291840"/>
            <a:ext cx="1554480" cy="68580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Skill Router
技能路由</a:t>
            </a:r>
            <a:endParaRPr sz="1000" b="1">
              <a:solidFill>
                <a:srgbClr val="282828"/>
              </a:solidFill>
              <a:latin typeface="微软雅黑" panose="020B0503020204020204" charset="-122"/>
            </a:endParaRPr>
          </a:p>
        </p:txBody>
      </p:sp>
      <p:sp>
        <p:nvSpPr>
          <p:cNvPr id="18" name="Rectangle 17"/>
          <p:cNvSpPr/>
          <p:nvPr/>
        </p:nvSpPr>
        <p:spPr>
          <a:xfrm>
            <a:off x="2055495" y="4754879"/>
            <a:ext cx="1828800" cy="68580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Repair Skill
局部 patch</a:t>
            </a:r>
            <a:endParaRPr sz="1100" b="1">
              <a:solidFill>
                <a:srgbClr val="282828"/>
              </a:solidFill>
              <a:latin typeface="微软雅黑" panose="020B0503020204020204" charset="-122"/>
            </a:endParaRPr>
          </a:p>
        </p:txBody>
      </p:sp>
      <p:sp>
        <p:nvSpPr>
          <p:cNvPr id="19" name="Rectangle 18"/>
          <p:cNvSpPr/>
          <p:nvPr/>
        </p:nvSpPr>
        <p:spPr>
          <a:xfrm>
            <a:off x="4890135" y="4754879"/>
            <a:ext cx="1828800" cy="68580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SQL+ Patch
重新验证</a:t>
            </a:r>
            <a:endParaRPr sz="1100" b="1">
              <a:solidFill>
                <a:srgbClr val="282828"/>
              </a:solidFill>
              <a:latin typeface="微软雅黑" panose="020B0503020204020204" charset="-122"/>
            </a:endParaRPr>
          </a:p>
        </p:txBody>
      </p:sp>
      <p:sp>
        <p:nvSpPr>
          <p:cNvPr id="20" name="TextBox 19"/>
          <p:cNvSpPr txBox="1"/>
          <p:nvPr/>
        </p:nvSpPr>
        <p:spPr>
          <a:xfrm>
            <a:off x="4112895" y="4937760"/>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21" name="TextBox 20"/>
          <p:cNvSpPr txBox="1"/>
          <p:nvPr/>
        </p:nvSpPr>
        <p:spPr>
          <a:xfrm>
            <a:off x="6764655" y="3657600"/>
            <a:ext cx="320040" cy="228600"/>
          </a:xfrm>
          <a:prstGeom prst="rect">
            <a:avLst/>
          </a:prstGeom>
          <a:noFill/>
        </p:spPr>
        <p:txBody>
          <a:bodyPr wrap="square" anchor="ctr">
            <a:spAutoFit/>
          </a:bodyPr>
          <a:lstStyle/>
          <a:p>
            <a:pPr algn="ctr"/>
            <a:r>
              <a:rPr sz="2400" b="1">
                <a:solidFill>
                  <a:srgbClr val="C65911"/>
                </a:solidFill>
                <a:latin typeface="微软雅黑" panose="020B0503020204020204" charset="-122"/>
              </a:rPr>
              <a:t>↺</a:t>
            </a:r>
            <a:endParaRPr sz="2400" b="1">
              <a:solidFill>
                <a:srgbClr val="C65911"/>
              </a:solidFill>
              <a:latin typeface="微软雅黑" panose="020B0503020204020204" charset="-122"/>
            </a:endParaRPr>
          </a:p>
        </p:txBody>
      </p:sp>
      <p:sp>
        <p:nvSpPr>
          <p:cNvPr id="22" name="TextBox 21"/>
          <p:cNvSpPr txBox="1"/>
          <p:nvPr/>
        </p:nvSpPr>
        <p:spPr>
          <a:xfrm>
            <a:off x="658368" y="5870448"/>
            <a:ext cx="7955279" cy="365760"/>
          </a:xfrm>
          <a:prstGeom prst="rect">
            <a:avLst/>
          </a:prstGeom>
          <a:noFill/>
        </p:spPr>
        <p:txBody>
          <a:bodyPr wrap="square" anchor="ctr">
            <a:spAutoFit/>
          </a:bodyPr>
          <a:lstStyle/>
          <a:p>
            <a:pPr algn="l"/>
            <a:r>
              <a:rPr sz="1100" b="0">
                <a:solidFill>
                  <a:srgbClr val="C65911"/>
                </a:solidFill>
                <a:latin typeface="微软雅黑" panose="020B0503020204020204" charset="-122"/>
              </a:rPr>
              <a:t>关键点：不是把多个 prompt 串起来，而是让每个 Agent 产生可检查的中间产物。</a:t>
            </a:r>
            <a:endParaRPr sz="1100" b="0">
              <a:solidFill>
                <a:srgbClr val="C65911"/>
              </a:solidFill>
              <a:latin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68122" y="1124458"/>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研究问题与评价维度</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9</a:t>
            </a:r>
            <a:endParaRPr sz="800" b="0">
              <a:solidFill>
                <a:srgbClr val="5F5F5F"/>
              </a:solidFill>
              <a:latin typeface="微软雅黑" panose="020B0503020204020204" charset="-122"/>
            </a:endParaRPr>
          </a:p>
        </p:txBody>
      </p:sp>
      <p:sp>
        <p:nvSpPr>
          <p:cNvPr id="4" name="TextBox 3"/>
          <p:cNvSpPr txBox="1"/>
          <p:nvPr/>
        </p:nvSpPr>
        <p:spPr>
          <a:xfrm>
            <a:off x="438658" y="1844675"/>
            <a:ext cx="7955279" cy="4754880"/>
          </a:xfrm>
          <a:prstGeom prst="rect">
            <a:avLst/>
          </a:prstGeom>
          <a:noFill/>
        </p:spPr>
        <p:txBody>
          <a:bodyPr wrap="square">
            <a:spAutoFit/>
          </a:bodyPr>
          <a:lstStyle/>
          <a:p>
            <a:pPr>
              <a:spcAft>
                <a:spcPts val="700"/>
              </a:spcAft>
              <a:defRPr sz="1700">
                <a:solidFill>
                  <a:srgbClr val="282828"/>
                </a:solidFill>
                <a:latin typeface="微软雅黑" panose="020B0503020204020204" charset="-122"/>
              </a:defRPr>
            </a:pPr>
            <a:r>
              <a:t>RQ1：SQL+ 是否能在不脱离 SQL 生态的前提下降低表达耦合。</a:t>
            </a:r>
          </a:p>
          <a:p>
            <a:pPr>
              <a:spcAft>
                <a:spcPts val="700"/>
              </a:spcAft>
              <a:defRPr sz="1700">
                <a:solidFill>
                  <a:srgbClr val="282828"/>
                </a:solidFill>
                <a:latin typeface="微软雅黑" panose="020B0503020204020204" charset="-122"/>
              </a:defRPr>
            </a:pPr>
            <a:r>
              <a:t>RQ2：多智能体是否能把意图理解、schema linking、SQL+ 生成、转换、执行和修复拆成可观察子任务。</a:t>
            </a:r>
          </a:p>
          <a:p>
            <a:pPr>
              <a:spcAft>
                <a:spcPts val="700"/>
              </a:spcAft>
              <a:defRPr sz="1700">
                <a:solidFill>
                  <a:srgbClr val="282828"/>
                </a:solidFill>
                <a:latin typeface="微软雅黑" panose="020B0503020204020204" charset="-122"/>
              </a:defRPr>
            </a:pPr>
            <a:r>
              <a:t>RQ3：执行反馈能否映射回 SQL+ 步骤，并触发局部 repair skill。</a:t>
            </a:r>
          </a:p>
          <a:p>
            <a:pPr>
              <a:spcAft>
                <a:spcPts val="700"/>
              </a:spcAft>
              <a:defRPr sz="1700">
                <a:solidFill>
                  <a:srgbClr val="282828"/>
                </a:solidFill>
                <a:latin typeface="微软雅黑" panose="020B0503020204020204" charset="-122"/>
              </a:defRPr>
            </a:pPr>
            <a:r>
              <a:t>RQ4：SQL+ 修复收益能否抵消生成阶段增加的 token 和 latency 成本。</a:t>
            </a:r>
          </a:p>
          <a:p>
            <a:pPr>
              <a:spcAft>
                <a:spcPts val="700"/>
              </a:spcAft>
              <a:defRPr sz="1700">
                <a:solidFill>
                  <a:srgbClr val="282828"/>
                </a:solidFill>
                <a:latin typeface="微软雅黑" panose="020B0503020204020204" charset="-122"/>
              </a:defRPr>
            </a:pPr>
            <a:r>
              <a:t>评价维度包括 execution accuracy、valid rate、token cost、latency、error localization accuracy、patch minimality 和 repair rounds。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实验组织逻辑：围绕四个研究假设展开</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10</a:t>
            </a:r>
            <a:endParaRPr sz="800" b="0">
              <a:solidFill>
                <a:srgbClr val="5F5F5F"/>
              </a:solidFill>
              <a:latin typeface="微软雅黑" panose="020B0503020204020204" charset="-122"/>
            </a:endParaRPr>
          </a:p>
        </p:txBody>
      </p:sp>
      <p:sp>
        <p:nvSpPr>
          <p:cNvPr id="4" name="Rectangle 3"/>
          <p:cNvSpPr/>
          <p:nvPr/>
        </p:nvSpPr>
        <p:spPr>
          <a:xfrm>
            <a:off x="432435" y="1861185"/>
            <a:ext cx="1325880" cy="658368"/>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H1 表达可行</a:t>
            </a:r>
            <a:endParaRPr sz="1200" b="1">
              <a:solidFill>
                <a:srgbClr val="282828"/>
              </a:solidFill>
              <a:latin typeface="微软雅黑" panose="020B0503020204020204" charset="-122"/>
            </a:endParaRPr>
          </a:p>
        </p:txBody>
      </p:sp>
      <p:sp>
        <p:nvSpPr>
          <p:cNvPr id="5" name="TextBox 4"/>
          <p:cNvSpPr txBox="1"/>
          <p:nvPr/>
        </p:nvSpPr>
        <p:spPr>
          <a:xfrm>
            <a:off x="1895475" y="2062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6" name="Rectangle 5"/>
          <p:cNvSpPr/>
          <p:nvPr/>
        </p:nvSpPr>
        <p:spPr>
          <a:xfrm>
            <a:off x="2261235" y="1861185"/>
            <a:ext cx="2240280" cy="658368"/>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SQL+ 能否稳定转换并执行</a:t>
            </a:r>
            <a:endParaRPr sz="1100" b="0">
              <a:solidFill>
                <a:srgbClr val="282828"/>
              </a:solidFill>
              <a:latin typeface="微软雅黑" panose="020B0503020204020204" charset="-122"/>
            </a:endParaRPr>
          </a:p>
        </p:txBody>
      </p:sp>
      <p:sp>
        <p:nvSpPr>
          <p:cNvPr id="7" name="TextBox 6"/>
          <p:cNvSpPr txBox="1"/>
          <p:nvPr/>
        </p:nvSpPr>
        <p:spPr>
          <a:xfrm>
            <a:off x="4638675" y="2062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8" name="Rectangle 7"/>
          <p:cNvSpPr/>
          <p:nvPr/>
        </p:nvSpPr>
        <p:spPr>
          <a:xfrm>
            <a:off x="5004435" y="1861185"/>
            <a:ext cx="2971800" cy="658368"/>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SQL+ 转换实验
Spider smoke test</a:t>
            </a:r>
            <a:endParaRPr sz="1000" b="1">
              <a:solidFill>
                <a:srgbClr val="282828"/>
              </a:solidFill>
              <a:latin typeface="微软雅黑" panose="020B0503020204020204" charset="-122"/>
            </a:endParaRPr>
          </a:p>
        </p:txBody>
      </p:sp>
      <p:sp>
        <p:nvSpPr>
          <p:cNvPr id="9" name="Rectangle 8"/>
          <p:cNvSpPr/>
          <p:nvPr/>
        </p:nvSpPr>
        <p:spPr>
          <a:xfrm>
            <a:off x="432435" y="3004185"/>
            <a:ext cx="1325880" cy="658368"/>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H2 表达差异</a:t>
            </a:r>
            <a:endParaRPr sz="1200" b="1">
              <a:solidFill>
                <a:srgbClr val="282828"/>
              </a:solidFill>
              <a:latin typeface="微软雅黑" panose="020B0503020204020204" charset="-122"/>
            </a:endParaRPr>
          </a:p>
        </p:txBody>
      </p:sp>
      <p:sp>
        <p:nvSpPr>
          <p:cNvPr id="10" name="TextBox 9"/>
          <p:cNvSpPr txBox="1"/>
          <p:nvPr/>
        </p:nvSpPr>
        <p:spPr>
          <a:xfrm>
            <a:off x="1895475" y="3205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1" name="Rectangle 10"/>
          <p:cNvSpPr/>
          <p:nvPr/>
        </p:nvSpPr>
        <p:spPr>
          <a:xfrm>
            <a:off x="2261235" y="3004185"/>
            <a:ext cx="2240280" cy="658368"/>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SQL+ 与 SQL、SemQL、NatSQL 的区别</a:t>
            </a:r>
            <a:endParaRPr sz="1100" b="0">
              <a:solidFill>
                <a:srgbClr val="282828"/>
              </a:solidFill>
              <a:latin typeface="微软雅黑" panose="020B0503020204020204" charset="-122"/>
            </a:endParaRPr>
          </a:p>
        </p:txBody>
      </p:sp>
      <p:sp>
        <p:nvSpPr>
          <p:cNvPr id="12" name="TextBox 11"/>
          <p:cNvSpPr txBox="1"/>
          <p:nvPr/>
        </p:nvSpPr>
        <p:spPr>
          <a:xfrm>
            <a:off x="4638675" y="3205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3" name="Rectangle 12"/>
          <p:cNvSpPr/>
          <p:nvPr/>
        </p:nvSpPr>
        <p:spPr>
          <a:xfrm>
            <a:off x="5004435" y="3004185"/>
            <a:ext cx="2971800" cy="658368"/>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IR 复杂度实验
IR 生成成本实验</a:t>
            </a:r>
            <a:endParaRPr sz="1000" b="1">
              <a:solidFill>
                <a:srgbClr val="282828"/>
              </a:solidFill>
              <a:latin typeface="微软雅黑" panose="020B0503020204020204" charset="-122"/>
            </a:endParaRPr>
          </a:p>
        </p:txBody>
      </p:sp>
      <p:sp>
        <p:nvSpPr>
          <p:cNvPr id="14" name="Rectangle 13"/>
          <p:cNvSpPr/>
          <p:nvPr/>
        </p:nvSpPr>
        <p:spPr>
          <a:xfrm>
            <a:off x="432435" y="4147185"/>
            <a:ext cx="1325880" cy="658368"/>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H3 生成效果</a:t>
            </a:r>
            <a:endParaRPr sz="1200" b="1">
              <a:solidFill>
                <a:srgbClr val="282828"/>
              </a:solidFill>
              <a:latin typeface="微软雅黑" panose="020B0503020204020204" charset="-122"/>
            </a:endParaRPr>
          </a:p>
        </p:txBody>
      </p:sp>
      <p:sp>
        <p:nvSpPr>
          <p:cNvPr id="15" name="TextBox 14"/>
          <p:cNvSpPr txBox="1"/>
          <p:nvPr/>
        </p:nvSpPr>
        <p:spPr>
          <a:xfrm>
            <a:off x="1895475" y="4348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6" name="Rectangle 15"/>
          <p:cNvSpPr/>
          <p:nvPr/>
        </p:nvSpPr>
        <p:spPr>
          <a:xfrm>
            <a:off x="2261235" y="4147185"/>
            <a:ext cx="2240280" cy="658368"/>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中间表示是否改善初次生成</a:t>
            </a:r>
            <a:endParaRPr sz="1100" b="0">
              <a:solidFill>
                <a:srgbClr val="282828"/>
              </a:solidFill>
              <a:latin typeface="微软雅黑" panose="020B0503020204020204" charset="-122"/>
            </a:endParaRPr>
          </a:p>
        </p:txBody>
      </p:sp>
      <p:sp>
        <p:nvSpPr>
          <p:cNvPr id="17" name="TextBox 16"/>
          <p:cNvSpPr txBox="1"/>
          <p:nvPr/>
        </p:nvSpPr>
        <p:spPr>
          <a:xfrm>
            <a:off x="4638675" y="4348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8" name="Rectangle 17"/>
          <p:cNvSpPr/>
          <p:nvPr/>
        </p:nvSpPr>
        <p:spPr>
          <a:xfrm>
            <a:off x="5004435" y="4147185"/>
            <a:ext cx="2971800" cy="658368"/>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Direct SQL vs SQL+
执行一致率</a:t>
            </a:r>
            <a:endParaRPr sz="1000" b="1">
              <a:solidFill>
                <a:srgbClr val="282828"/>
              </a:solidFill>
              <a:latin typeface="微软雅黑" panose="020B0503020204020204" charset="-122"/>
            </a:endParaRPr>
          </a:p>
        </p:txBody>
      </p:sp>
      <p:sp>
        <p:nvSpPr>
          <p:cNvPr id="19" name="Rectangle 18"/>
          <p:cNvSpPr/>
          <p:nvPr/>
        </p:nvSpPr>
        <p:spPr>
          <a:xfrm>
            <a:off x="432435" y="5290185"/>
            <a:ext cx="1325880" cy="658368"/>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H4 修复收益</a:t>
            </a:r>
            <a:endParaRPr sz="1200" b="1">
              <a:solidFill>
                <a:srgbClr val="282828"/>
              </a:solidFill>
              <a:latin typeface="微软雅黑" panose="020B0503020204020204" charset="-122"/>
            </a:endParaRPr>
          </a:p>
        </p:txBody>
      </p:sp>
      <p:sp>
        <p:nvSpPr>
          <p:cNvPr id="20" name="TextBox 19"/>
          <p:cNvSpPr txBox="1"/>
          <p:nvPr/>
        </p:nvSpPr>
        <p:spPr>
          <a:xfrm>
            <a:off x="1895475" y="5491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21" name="Rectangle 20"/>
          <p:cNvSpPr/>
          <p:nvPr/>
        </p:nvSpPr>
        <p:spPr>
          <a:xfrm>
            <a:off x="2261235" y="5290185"/>
            <a:ext cx="2240280" cy="658368"/>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修复收益能否抵消额外开销</a:t>
            </a:r>
            <a:endParaRPr sz="1100" b="0">
              <a:solidFill>
                <a:srgbClr val="282828"/>
              </a:solidFill>
              <a:latin typeface="微软雅黑" panose="020B0503020204020204" charset="-122"/>
            </a:endParaRPr>
          </a:p>
        </p:txBody>
      </p:sp>
      <p:sp>
        <p:nvSpPr>
          <p:cNvPr id="22" name="TextBox 21"/>
          <p:cNvSpPr txBox="1"/>
          <p:nvPr/>
        </p:nvSpPr>
        <p:spPr>
          <a:xfrm>
            <a:off x="4638675" y="5491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23" name="Rectangle 22"/>
          <p:cNvSpPr/>
          <p:nvPr/>
        </p:nvSpPr>
        <p:spPr>
          <a:xfrm>
            <a:off x="5004435" y="5290185"/>
            <a:ext cx="2971800" cy="658368"/>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repairability 指标
Skill Router 实验</a:t>
            </a:r>
            <a:endParaRPr sz="1000" b="1">
              <a:solidFill>
                <a:srgbClr val="282828"/>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292608"/>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实验设置总览</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11</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nvGraphicFramePr>
        <p:xfrm>
          <a:off x="411480" y="1143000"/>
          <a:ext cx="8321040" cy="4754880"/>
        </p:xfrm>
        <a:graphic>
          <a:graphicData uri="http://schemas.openxmlformats.org/drawingml/2006/table">
            <a:tbl>
              <a:tblPr firstRow="1" bandRow="1">
                <a:tableStyleId>{5C22544A-7EE6-4342-B048-85BDC9FD1C3A}</a:tableStyleId>
              </a:tblPr>
              <a:tblGrid>
                <a:gridCol w="1664208"/>
                <a:gridCol w="1664208"/>
                <a:gridCol w="1664208"/>
                <a:gridCol w="1664208"/>
                <a:gridCol w="1664208"/>
              </a:tblGrid>
              <a:tr h="792480">
                <a:tc>
                  <a:txBody>
                    <a:bodyPr/>
                    <a:lstStyle/>
                    <a:p>
                      <a:pPr algn="ctr"/>
                      <a:r>
                        <a:rPr sz="900" b="1">
                          <a:solidFill>
                            <a:srgbClr val="FFFFFF"/>
                          </a:solidFill>
                          <a:latin typeface="微软雅黑" panose="020B0503020204020204" charset="-122"/>
                        </a:rPr>
                        <a:t>实验</a:t>
                      </a:r>
                      <a:endParaRPr sz="900" b="1">
                        <a:solidFill>
                          <a:srgbClr val="FFFFFF"/>
                        </a:solidFill>
                        <a:latin typeface="微软雅黑" panose="020B0503020204020204" charset="-122"/>
                      </a:endParaRPr>
                    </a:p>
                  </a:txBody>
                  <a:tcPr marL="36576" marR="36576">
                    <a:solidFill>
                      <a:srgbClr val="1F4E79"/>
                    </a:solidFill>
                  </a:tcPr>
                </a:tc>
                <a:tc>
                  <a:txBody>
                    <a:bodyPr/>
                    <a:lstStyle/>
                    <a:p>
                      <a:pPr algn="ctr"/>
                      <a:r>
                        <a:rPr sz="900" b="1">
                          <a:solidFill>
                            <a:srgbClr val="FFFFFF"/>
                          </a:solidFill>
                          <a:latin typeface="微软雅黑" panose="020B0503020204020204" charset="-122"/>
                        </a:rPr>
                        <a:t>目的</a:t>
                      </a:r>
                      <a:endParaRPr sz="900" b="1">
                        <a:solidFill>
                          <a:srgbClr val="FFFFFF"/>
                        </a:solidFill>
                        <a:latin typeface="微软雅黑" panose="020B0503020204020204" charset="-122"/>
                      </a:endParaRPr>
                    </a:p>
                  </a:txBody>
                  <a:tcPr marL="36576" marR="36576">
                    <a:solidFill>
                      <a:srgbClr val="1F4E79"/>
                    </a:solidFill>
                  </a:tcPr>
                </a:tc>
                <a:tc>
                  <a:txBody>
                    <a:bodyPr/>
                    <a:lstStyle/>
                    <a:p>
                      <a:pPr algn="ctr"/>
                      <a:r>
                        <a:rPr sz="900" b="1">
                          <a:solidFill>
                            <a:srgbClr val="FFFFFF"/>
                          </a:solidFill>
                          <a:latin typeface="微软雅黑" panose="020B0503020204020204" charset="-122"/>
                        </a:rPr>
                        <a:t>数据/样例</a:t>
                      </a:r>
                      <a:endParaRPr sz="900" b="1">
                        <a:solidFill>
                          <a:srgbClr val="FFFFFF"/>
                        </a:solidFill>
                        <a:latin typeface="微软雅黑" panose="020B0503020204020204" charset="-122"/>
                      </a:endParaRPr>
                    </a:p>
                  </a:txBody>
                  <a:tcPr marL="36576" marR="36576">
                    <a:solidFill>
                      <a:srgbClr val="1F4E79"/>
                    </a:solidFill>
                  </a:tcPr>
                </a:tc>
                <a:tc>
                  <a:txBody>
                    <a:bodyPr/>
                    <a:lstStyle/>
                    <a:p>
                      <a:pPr algn="ctr"/>
                      <a:r>
                        <a:rPr sz="900" b="1">
                          <a:solidFill>
                            <a:srgbClr val="FFFFFF"/>
                          </a:solidFill>
                          <a:latin typeface="微软雅黑" panose="020B0503020204020204" charset="-122"/>
                        </a:rPr>
                        <a:t>对比对象</a:t>
                      </a:r>
                      <a:endParaRPr sz="900" b="1">
                        <a:solidFill>
                          <a:srgbClr val="FFFFFF"/>
                        </a:solidFill>
                        <a:latin typeface="微软雅黑" panose="020B0503020204020204" charset="-122"/>
                      </a:endParaRPr>
                    </a:p>
                  </a:txBody>
                  <a:tcPr marL="36576" marR="36576">
                    <a:solidFill>
                      <a:srgbClr val="1F4E79"/>
                    </a:solidFill>
                  </a:tcPr>
                </a:tc>
                <a:tc>
                  <a:txBody>
                    <a:bodyPr/>
                    <a:lstStyle/>
                    <a:p>
                      <a:pPr algn="ctr"/>
                      <a:r>
                        <a:rPr sz="900" b="1">
                          <a:solidFill>
                            <a:srgbClr val="FFFFFF"/>
                          </a:solidFill>
                          <a:latin typeface="微软雅黑" panose="020B0503020204020204" charset="-122"/>
                        </a:rPr>
                        <a:t>核心指标</a:t>
                      </a:r>
                      <a:endParaRPr sz="900" b="1">
                        <a:solidFill>
                          <a:srgbClr val="FFFFFF"/>
                        </a:solidFill>
                        <a:latin typeface="微软雅黑" panose="020B0503020204020204" charset="-122"/>
                      </a:endParaRPr>
                    </a:p>
                  </a:txBody>
                  <a:tcPr marL="36576" marR="36576">
                    <a:solidFill>
                      <a:srgbClr val="1F4E79"/>
                    </a:solidFill>
                  </a:tcPr>
                </a:tc>
              </a:tr>
              <a:tr h="792480">
                <a:tc>
                  <a:txBody>
                    <a:bodyPr/>
                    <a:lstStyle/>
                    <a:p>
                      <a:pPr algn="l"/>
                      <a:r>
                        <a:rPr sz="800" b="0">
                          <a:solidFill>
                            <a:srgbClr val="282828"/>
                          </a:solidFill>
                          <a:latin typeface="微软雅黑" panose="020B0503020204020204" charset="-122"/>
                        </a:rPr>
                        <a:t>SQL+ 转换</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验证中间表示可执行</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自建 30 条订单样例</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gold SQL</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转换成功、执行一致</a:t>
                      </a:r>
                      <a:endParaRPr sz="800" b="0">
                        <a:solidFill>
                          <a:srgbClr val="282828"/>
                        </a:solidFill>
                        <a:latin typeface="微软雅黑" panose="020B0503020204020204" charset="-122"/>
                      </a:endParaRPr>
                    </a:p>
                  </a:txBody>
                  <a:tcPr marL="36576" marR="36576">
                    <a:solidFill>
                      <a:srgbClr val="FFFFFF"/>
                    </a:solidFill>
                  </a:tcPr>
                </a:tc>
              </a:tr>
              <a:tr h="792480">
                <a:tc>
                  <a:txBody>
                    <a:bodyPr/>
                    <a:lstStyle/>
                    <a:p>
                      <a:pPr algn="l"/>
                      <a:r>
                        <a:rPr sz="800" b="0">
                          <a:solidFill>
                            <a:srgbClr val="282828"/>
                          </a:solidFill>
                          <a:latin typeface="微软雅黑" panose="020B0503020204020204" charset="-122"/>
                        </a:rPr>
                        <a:t>IR 复杂度</a:t>
                      </a:r>
                      <a:endParaRPr sz="800" b="0">
                        <a:solidFill>
                          <a:srgbClr val="282828"/>
                        </a:solidFill>
                        <a:latin typeface="微软雅黑" panose="020B0503020204020204" charset="-122"/>
                      </a:endParaRPr>
                    </a:p>
                  </a:txBody>
                  <a:tcPr marL="36576" marR="36576">
                    <a:solidFill>
                      <a:srgbClr val="EEF2F7"/>
                    </a:solidFill>
                  </a:tcPr>
                </a:tc>
                <a:tc>
                  <a:txBody>
                    <a:bodyPr/>
                    <a:lstStyle/>
                    <a:p>
                      <a:pPr algn="l"/>
                      <a:r>
                        <a:rPr sz="800" b="0">
                          <a:solidFill>
                            <a:srgbClr val="282828"/>
                          </a:solidFill>
                          <a:latin typeface="微软雅黑" panose="020B0503020204020204" charset="-122"/>
                        </a:rPr>
                        <a:t>解释为什么使用 SQL+</a:t>
                      </a:r>
                      <a:endParaRPr sz="800" b="0">
                        <a:solidFill>
                          <a:srgbClr val="282828"/>
                        </a:solidFill>
                        <a:latin typeface="微软雅黑" panose="020B0503020204020204" charset="-122"/>
                      </a:endParaRPr>
                    </a:p>
                  </a:txBody>
                  <a:tcPr marL="36576" marR="36576">
                    <a:solidFill>
                      <a:srgbClr val="EEF2F7"/>
                    </a:solidFill>
                  </a:tcPr>
                </a:tc>
                <a:tc>
                  <a:txBody>
                    <a:bodyPr/>
                    <a:lstStyle/>
                    <a:p>
                      <a:pPr algn="l"/>
                      <a:r>
                        <a:rPr sz="800" b="0">
                          <a:solidFill>
                            <a:srgbClr val="282828"/>
                          </a:solidFill>
                          <a:latin typeface="微软雅黑" panose="020B0503020204020204" charset="-122"/>
                        </a:rPr>
                        <a:t>同一批 30 条查询</a:t>
                      </a:r>
                      <a:endParaRPr sz="800" b="0">
                        <a:solidFill>
                          <a:srgbClr val="282828"/>
                        </a:solidFill>
                        <a:latin typeface="微软雅黑" panose="020B0503020204020204" charset="-122"/>
                      </a:endParaRPr>
                    </a:p>
                  </a:txBody>
                  <a:tcPr marL="36576" marR="36576">
                    <a:solidFill>
                      <a:srgbClr val="EEF2F7"/>
                    </a:solidFill>
                  </a:tcPr>
                </a:tc>
                <a:tc>
                  <a:txBody>
                    <a:bodyPr/>
                    <a:lstStyle/>
                    <a:p>
                      <a:pPr algn="l"/>
                      <a:r>
                        <a:rPr sz="800" b="0">
                          <a:solidFill>
                            <a:srgbClr val="282828"/>
                          </a:solidFill>
                          <a:latin typeface="微软雅黑" panose="020B0503020204020204" charset="-122"/>
                        </a:rPr>
                        <a:t>SQL、SQL+、SemQL-style、NatSQL-style、Pipe-style</a:t>
                      </a:r>
                      <a:endParaRPr sz="800" b="0">
                        <a:solidFill>
                          <a:srgbClr val="282828"/>
                        </a:solidFill>
                        <a:latin typeface="微软雅黑" panose="020B0503020204020204" charset="-122"/>
                      </a:endParaRPr>
                    </a:p>
                  </a:txBody>
                  <a:tcPr marL="36576" marR="36576">
                    <a:solidFill>
                      <a:srgbClr val="EEF2F7"/>
                    </a:solidFill>
                  </a:tcPr>
                </a:tc>
                <a:tc>
                  <a:txBody>
                    <a:bodyPr/>
                    <a:lstStyle/>
                    <a:p>
                      <a:pPr algn="l"/>
                      <a:r>
                        <a:rPr sz="800" b="0">
                          <a:solidFill>
                            <a:srgbClr val="282828"/>
                          </a:solidFill>
                          <a:latin typeface="微软雅黑" panose="020B0503020204020204" charset="-122"/>
                        </a:rPr>
                        <a:t>token、步骤、嵌套、别名依赖</a:t>
                      </a:r>
                      <a:endParaRPr sz="800" b="0">
                        <a:solidFill>
                          <a:srgbClr val="282828"/>
                        </a:solidFill>
                        <a:latin typeface="微软雅黑" panose="020B0503020204020204" charset="-122"/>
                      </a:endParaRPr>
                    </a:p>
                  </a:txBody>
                  <a:tcPr marL="36576" marR="36576">
                    <a:solidFill>
                      <a:srgbClr val="EEF2F7"/>
                    </a:solidFill>
                  </a:tcPr>
                </a:tc>
              </a:tr>
              <a:tr h="792480">
                <a:tc>
                  <a:txBody>
                    <a:bodyPr/>
                    <a:lstStyle/>
                    <a:p>
                      <a:pPr algn="l"/>
                      <a:r>
                        <a:rPr sz="800" b="0">
                          <a:solidFill>
                            <a:srgbClr val="282828"/>
                          </a:solidFill>
                          <a:latin typeface="微软雅黑" panose="020B0503020204020204" charset="-122"/>
                        </a:rPr>
                        <a:t>IR 生成成本</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比较初次生成代价</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同一批 30 条查询</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Direct SQL、SQL+、NatSQL-style、SemQL-style</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token、latency、valid rate、accuracy</a:t>
                      </a:r>
                      <a:endParaRPr sz="800" b="0">
                        <a:solidFill>
                          <a:srgbClr val="282828"/>
                        </a:solidFill>
                        <a:latin typeface="微软雅黑" panose="020B0503020204020204" charset="-122"/>
                      </a:endParaRPr>
                    </a:p>
                  </a:txBody>
                  <a:tcPr marL="36576" marR="36576">
                    <a:solidFill>
                      <a:srgbClr val="FFFFFF"/>
                    </a:solidFill>
                  </a:tcPr>
                </a:tc>
              </a:tr>
              <a:tr h="792480">
                <a:tc>
                  <a:txBody>
                    <a:bodyPr/>
                    <a:lstStyle/>
                    <a:p>
                      <a:pPr algn="l"/>
                      <a:r>
                        <a:rPr sz="800" b="0">
                          <a:solidFill>
                            <a:srgbClr val="282828"/>
                          </a:solidFill>
                          <a:latin typeface="微软雅黑" panose="020B0503020204020204" charset="-122"/>
                        </a:rPr>
                        <a:t>反馈修复</a:t>
                      </a:r>
                      <a:endParaRPr sz="800" b="0">
                        <a:solidFill>
                          <a:srgbClr val="282828"/>
                        </a:solidFill>
                        <a:latin typeface="微软雅黑" panose="020B0503020204020204" charset="-122"/>
                      </a:endParaRPr>
                    </a:p>
                  </a:txBody>
                  <a:tcPr marL="36576" marR="36576">
                    <a:solidFill>
                      <a:srgbClr val="EEF2F7"/>
                    </a:solidFill>
                  </a:tcPr>
                </a:tc>
                <a:tc>
                  <a:txBody>
                    <a:bodyPr/>
                    <a:lstStyle/>
                    <a:p>
                      <a:pPr algn="l"/>
                      <a:r>
                        <a:rPr sz="800" b="0">
                          <a:solidFill>
                            <a:srgbClr val="282828"/>
                          </a:solidFill>
                          <a:latin typeface="微软雅黑" panose="020B0503020204020204" charset="-122"/>
                        </a:rPr>
                        <a:t>验证局部修复价值</a:t>
                      </a:r>
                      <a:endParaRPr sz="800" b="0">
                        <a:solidFill>
                          <a:srgbClr val="282828"/>
                        </a:solidFill>
                        <a:latin typeface="微软雅黑" panose="020B0503020204020204" charset="-122"/>
                      </a:endParaRPr>
                    </a:p>
                  </a:txBody>
                  <a:tcPr marL="36576" marR="36576">
                    <a:solidFill>
                      <a:srgbClr val="EEF2F7"/>
                    </a:solidFill>
                  </a:tcPr>
                </a:tc>
                <a:tc>
                  <a:txBody>
                    <a:bodyPr/>
                    <a:lstStyle/>
                    <a:p>
                      <a:pPr algn="l"/>
                      <a:r>
                        <a:rPr sz="800" b="0">
                          <a:solidFill>
                            <a:srgbClr val="282828"/>
                          </a:solidFill>
                          <a:latin typeface="微软雅黑" panose="020B0503020204020204" charset="-122"/>
                        </a:rPr>
                        <a:t>SQL+ 已知失败集</a:t>
                      </a:r>
                      <a:endParaRPr sz="800" b="0">
                        <a:solidFill>
                          <a:srgbClr val="282828"/>
                        </a:solidFill>
                        <a:latin typeface="微软雅黑" panose="020B0503020204020204" charset="-122"/>
                      </a:endParaRPr>
                    </a:p>
                  </a:txBody>
                  <a:tcPr marL="36576" marR="36576">
                    <a:solidFill>
                      <a:srgbClr val="EEF2F7"/>
                    </a:solidFill>
                  </a:tcPr>
                </a:tc>
                <a:tc>
                  <a:txBody>
                    <a:bodyPr/>
                    <a:lstStyle/>
                    <a:p>
                      <a:pPr algn="l"/>
                      <a:r>
                        <a:rPr sz="800" b="0">
                          <a:solidFill>
                            <a:srgbClr val="282828"/>
                          </a:solidFill>
                          <a:latin typeface="微软雅黑" panose="020B0503020204020204" charset="-122"/>
                        </a:rPr>
                        <a:t>SQL Refiner、SQL+ Refiner、Skill Router</a:t>
                      </a:r>
                      <a:endParaRPr sz="800" b="0">
                        <a:solidFill>
                          <a:srgbClr val="282828"/>
                        </a:solidFill>
                        <a:latin typeface="微软雅黑" panose="020B0503020204020204" charset="-122"/>
                      </a:endParaRPr>
                    </a:p>
                  </a:txBody>
                  <a:tcPr marL="36576" marR="36576">
                    <a:solidFill>
                      <a:srgbClr val="EEF2F7"/>
                    </a:solidFill>
                  </a:tcPr>
                </a:tc>
                <a:tc>
                  <a:txBody>
                    <a:bodyPr/>
                    <a:lstStyle/>
                    <a:p>
                      <a:pPr algn="l"/>
                      <a:r>
                        <a:rPr sz="800" b="0">
                          <a:solidFill>
                            <a:srgbClr val="282828"/>
                          </a:solidFill>
                          <a:latin typeface="微软雅黑" panose="020B0503020204020204" charset="-122"/>
                        </a:rPr>
                        <a:t>repair success、patch minimality</a:t>
                      </a:r>
                      <a:endParaRPr sz="800" b="0">
                        <a:solidFill>
                          <a:srgbClr val="282828"/>
                        </a:solidFill>
                        <a:latin typeface="微软雅黑" panose="020B0503020204020204" charset="-122"/>
                      </a:endParaRPr>
                    </a:p>
                  </a:txBody>
                  <a:tcPr marL="36576" marR="36576">
                    <a:solidFill>
                      <a:srgbClr val="EEF2F7"/>
                    </a:solidFill>
                  </a:tcPr>
                </a:tc>
              </a:tr>
              <a:tr h="792480">
                <a:tc>
                  <a:txBody>
                    <a:bodyPr/>
                    <a:lstStyle/>
                    <a:p>
                      <a:pPr algn="l"/>
                      <a:r>
                        <a:rPr sz="800" b="0">
                          <a:solidFill>
                            <a:srgbClr val="282828"/>
                          </a:solidFill>
                          <a:latin typeface="微软雅黑" panose="020B0503020204020204" charset="-122"/>
                        </a:rPr>
                        <a:t>Spider smoke</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验证公开数据集迁移</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Spider dev concert_singer 20 条</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gold SQL</a:t>
                      </a:r>
                      <a:endParaRPr sz="800" b="0">
                        <a:solidFill>
                          <a:srgbClr val="282828"/>
                        </a:solidFill>
                        <a:latin typeface="微软雅黑" panose="020B0503020204020204" charset="-122"/>
                      </a:endParaRPr>
                    </a:p>
                  </a:txBody>
                  <a:tcPr marL="36576" marR="36576">
                    <a:solidFill>
                      <a:srgbClr val="FFFFFF"/>
                    </a:solidFill>
                  </a:tcPr>
                </a:tc>
                <a:tc>
                  <a:txBody>
                    <a:bodyPr/>
                    <a:lstStyle/>
                    <a:p>
                      <a:pPr algn="l"/>
                      <a:r>
                        <a:rPr sz="800" b="0">
                          <a:solidFill>
                            <a:srgbClr val="282828"/>
                          </a:solidFill>
                          <a:latin typeface="微软雅黑" panose="020B0503020204020204" charset="-122"/>
                        </a:rPr>
                        <a:t>SQL+ 有效、SQL 可执行、执行一致</a:t>
                      </a:r>
                      <a:endParaRPr sz="800" b="0">
                        <a:solidFill>
                          <a:srgbClr val="282828"/>
                        </a:solidFill>
                        <a:latin typeface="微软雅黑" panose="020B0503020204020204" charset="-122"/>
                      </a:endParaRPr>
                    </a:p>
                  </a:txBody>
                  <a:tcPr marL="36576" marR="36576">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21588"/>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实验一：SQL+ 转换可行性</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12</a:t>
            </a:r>
            <a:endParaRPr sz="800" b="0">
              <a:solidFill>
                <a:srgbClr val="5F5F5F"/>
              </a:solidFill>
              <a:latin typeface="微软雅黑" panose="020B0503020204020204" charset="-122"/>
            </a:endParaRPr>
          </a:p>
        </p:txBody>
      </p:sp>
      <p:sp>
        <p:nvSpPr>
          <p:cNvPr id="4" name="Rectangle 3"/>
          <p:cNvSpPr/>
          <p:nvPr/>
        </p:nvSpPr>
        <p:spPr>
          <a:xfrm>
            <a:off x="476885" y="1844675"/>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验证 SQL+ 不是只停留在表示层，而是能稳定转换为可执行 SQL。</a:t>
            </a:r>
            <a:endParaRPr sz="1100" b="1">
              <a:solidFill>
                <a:srgbClr val="282828"/>
              </a:solidFill>
              <a:latin typeface="微软雅黑" panose="020B0503020204020204" charset="-122"/>
            </a:endParaRPr>
          </a:p>
        </p:txBody>
      </p:sp>
      <p:sp>
        <p:nvSpPr>
          <p:cNvPr id="5" name="Rectangle 4"/>
          <p:cNvSpPr/>
          <p:nvPr/>
        </p:nvSpPr>
        <p:spPr>
          <a:xfrm>
            <a:off x="4500245" y="1844675"/>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自建订单分析数据集，30 条自然语言问题、SQL+、gold SQL 配对。</a:t>
            </a:r>
            <a:endParaRPr sz="1100" b="0">
              <a:solidFill>
                <a:srgbClr val="282828"/>
              </a:solidFill>
              <a:latin typeface="微软雅黑" panose="020B0503020204020204" charset="-122"/>
            </a:endParaRPr>
          </a:p>
        </p:txBody>
      </p:sp>
      <p:sp>
        <p:nvSpPr>
          <p:cNvPr id="6" name="Rectangle 5"/>
          <p:cNvSpPr/>
          <p:nvPr/>
        </p:nvSpPr>
        <p:spPr>
          <a:xfrm>
            <a:off x="476885" y="3170555"/>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SQL+ valid rate、SQL executable rate、execution match。</a:t>
            </a:r>
            <a:endParaRPr sz="1100" b="0">
              <a:solidFill>
                <a:srgbClr val="282828"/>
              </a:solidFill>
              <a:latin typeface="微软雅黑" panose="020B0503020204020204" charset="-122"/>
            </a:endParaRPr>
          </a:p>
        </p:txBody>
      </p:sp>
      <p:sp>
        <p:nvSpPr>
          <p:cNvPr id="7" name="Rectangle 6"/>
          <p:cNvSpPr/>
          <p:nvPr/>
        </p:nvSpPr>
        <p:spPr>
          <a:xfrm>
            <a:off x="4500245" y="3170555"/>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30/30 SQL+ 可解析，30/30 SQL 可执行，30/30 与 gold SQL 执行一致。</a:t>
            </a:r>
            <a:endParaRPr sz="1100" b="1">
              <a:solidFill>
                <a:srgbClr val="282828"/>
              </a:solidFill>
              <a:latin typeface="微软雅黑" panose="020B0503020204020204" charset="-122"/>
            </a:endParaRPr>
          </a:p>
        </p:txBody>
      </p:sp>
      <p:sp>
        <p:nvSpPr>
          <p:cNvPr id="8" name="Rectangle 7"/>
          <p:cNvSpPr/>
          <p:nvPr/>
        </p:nvSpPr>
        <p:spPr>
          <a:xfrm>
            <a:off x="476885" y="4542155"/>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SQL+ 最小闭环成立。后续实验可以把问题转向生成质量和修复能力。</a:t>
            </a:r>
            <a:endParaRPr sz="1100" b="0">
              <a:solidFill>
                <a:srgbClr val="282828"/>
              </a:solidFill>
              <a:latin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21588"/>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实验二：IR 表达复杂度对比</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13</a:t>
            </a:r>
            <a:endParaRPr sz="800" b="0">
              <a:solidFill>
                <a:srgbClr val="5F5F5F"/>
              </a:solidFill>
              <a:latin typeface="微软雅黑" panose="020B0503020204020204" charset="-122"/>
            </a:endParaRPr>
          </a:p>
        </p:txBody>
      </p:sp>
      <p:sp>
        <p:nvSpPr>
          <p:cNvPr id="4" name="Rectangle 3"/>
          <p:cNvSpPr/>
          <p:nvPr/>
        </p:nvSpPr>
        <p:spPr>
          <a:xfrm>
            <a:off x="476885" y="1844675"/>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回答为什么使用 SQL+，而不是直接 SQL 或其它中间表示。</a:t>
            </a:r>
            <a:endParaRPr sz="1100" b="1">
              <a:solidFill>
                <a:srgbClr val="282828"/>
              </a:solidFill>
              <a:latin typeface="微软雅黑" panose="020B0503020204020204" charset="-122"/>
            </a:endParaRPr>
          </a:p>
        </p:txBody>
      </p:sp>
      <p:sp>
        <p:nvSpPr>
          <p:cNvPr id="5" name="Rectangle 4"/>
          <p:cNvSpPr/>
          <p:nvPr/>
        </p:nvSpPr>
        <p:spPr>
          <a:xfrm>
            <a:off x="4500245" y="1844675"/>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同一批 30 条查询构造 Standard SQL、SQL+、SemQL-style、NatSQL-style、Pipe-style proxy。proxy 仅用于受控比较表达形态。</a:t>
            </a:r>
            <a:endParaRPr sz="1100" b="0">
              <a:solidFill>
                <a:srgbClr val="282828"/>
              </a:solidFill>
              <a:latin typeface="微软雅黑" panose="020B0503020204020204" charset="-122"/>
            </a:endParaRPr>
          </a:p>
        </p:txBody>
      </p:sp>
      <p:sp>
        <p:nvSpPr>
          <p:cNvPr id="6" name="Rectangle 5"/>
          <p:cNvSpPr/>
          <p:nvPr/>
        </p:nvSpPr>
        <p:spPr>
          <a:xfrm>
            <a:off x="476885" y="3170555"/>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平均 token、步骤/子句数、嵌套深度、别名依赖、跨子句引用、转换成功。</a:t>
            </a:r>
            <a:endParaRPr sz="1100" b="0">
              <a:solidFill>
                <a:srgbClr val="282828"/>
              </a:solidFill>
              <a:latin typeface="微软雅黑" panose="020B0503020204020204" charset="-122"/>
            </a:endParaRPr>
          </a:p>
        </p:txBody>
      </p:sp>
      <p:sp>
        <p:nvSpPr>
          <p:cNvPr id="7" name="Rectangle 6"/>
          <p:cNvSpPr/>
          <p:nvPr/>
        </p:nvSpPr>
        <p:spPr>
          <a:xfrm>
            <a:off x="4500245" y="3170555"/>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SQL+ 平均 token 35.03，高于 SQL 31.53，但别名依赖 0.70、跨子句引用 1.00，低于标准 SQL 的 2.03 和 2.33。</a:t>
            </a:r>
            <a:endParaRPr sz="1100" b="1">
              <a:solidFill>
                <a:srgbClr val="282828"/>
              </a:solidFill>
              <a:latin typeface="微软雅黑" panose="020B0503020204020204" charset="-122"/>
            </a:endParaRPr>
          </a:p>
        </p:txBody>
      </p:sp>
      <p:sp>
        <p:nvSpPr>
          <p:cNvPr id="8" name="Rectangle 7"/>
          <p:cNvSpPr/>
          <p:nvPr/>
        </p:nvSpPr>
        <p:spPr>
          <a:xfrm>
            <a:off x="476885" y="4542155"/>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SQL+ 不应被表述为更短，而应表述为依赖更少、步骤更清晰，更适合定位和局部修复。</a:t>
            </a:r>
            <a:endParaRPr sz="1100" b="0">
              <a:solidFill>
                <a:srgbClr val="282828"/>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605" y="1066483"/>
            <a:ext cx="4185285"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实验二结果：IR 表达复杂度</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14</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custDataLst>
              <p:tags r:id="rId1"/>
            </p:custDataLst>
          </p:nvPr>
        </p:nvGraphicFramePr>
        <p:xfrm>
          <a:off x="395605" y="1916430"/>
          <a:ext cx="8321040" cy="3755390"/>
        </p:xfrm>
        <a:graphic>
          <a:graphicData uri="http://schemas.openxmlformats.org/drawingml/2006/table">
            <a:tbl>
              <a:tblPr firstRow="1" bandRow="1">
                <a:tableStyleId>{5C22544A-7EE6-4342-B048-85BDC9FD1C3A}</a:tableStyleId>
              </a:tblPr>
              <a:tblGrid>
                <a:gridCol w="1188720"/>
                <a:gridCol w="1188720"/>
                <a:gridCol w="1188720"/>
                <a:gridCol w="1188720"/>
                <a:gridCol w="1188720"/>
                <a:gridCol w="1188720"/>
                <a:gridCol w="1188720"/>
              </a:tblGrid>
              <a:tr h="439420">
                <a:tc>
                  <a:txBody>
                    <a:bodyPr/>
                    <a:lstStyle/>
                    <a:p>
                      <a:pPr algn="ctr"/>
                      <a:r>
                        <a:rPr sz="1000" b="1">
                          <a:solidFill>
                            <a:srgbClr val="FFFFFF"/>
                          </a:solidFill>
                          <a:latin typeface="微软雅黑" panose="020B0503020204020204" charset="-122"/>
                        </a:rPr>
                        <a:t>表示形式</a:t>
                      </a:r>
                      <a:endParaRPr sz="1000" b="1">
                        <a:solidFill>
                          <a:srgbClr val="FFFFFF"/>
                        </a:solidFill>
                        <a:latin typeface="微软雅黑" panose="020B0503020204020204" charset="-122"/>
                      </a:endParaRPr>
                    </a:p>
                  </a:txBody>
                  <a:tcPr marL="36576" marR="36576">
                    <a:solidFill>
                      <a:srgbClr val="1F4E79"/>
                    </a:solidFill>
                  </a:tcPr>
                </a:tc>
                <a:tc>
                  <a:txBody>
                    <a:bodyPr/>
                    <a:lstStyle/>
                    <a:p>
                      <a:pPr algn="ctr"/>
                      <a:r>
                        <a:rPr sz="1000" b="1">
                          <a:solidFill>
                            <a:srgbClr val="FFFFFF"/>
                          </a:solidFill>
                          <a:latin typeface="微软雅黑" panose="020B0503020204020204" charset="-122"/>
                        </a:rPr>
                        <a:t>平均 token</a:t>
                      </a:r>
                      <a:endParaRPr sz="1000" b="1">
                        <a:solidFill>
                          <a:srgbClr val="FFFFFF"/>
                        </a:solidFill>
                        <a:latin typeface="微软雅黑" panose="020B0503020204020204" charset="-122"/>
                      </a:endParaRPr>
                    </a:p>
                  </a:txBody>
                  <a:tcPr marL="36576" marR="36576">
                    <a:solidFill>
                      <a:srgbClr val="1F4E79"/>
                    </a:solidFill>
                  </a:tcPr>
                </a:tc>
                <a:tc>
                  <a:txBody>
                    <a:bodyPr/>
                    <a:lstStyle/>
                    <a:p>
                      <a:pPr algn="ctr"/>
                      <a:r>
                        <a:rPr sz="1000" b="1">
                          <a:solidFill>
                            <a:srgbClr val="FFFFFF"/>
                          </a:solidFill>
                          <a:latin typeface="微软雅黑" panose="020B0503020204020204" charset="-122"/>
                        </a:rPr>
                        <a:t>步骤/子句</a:t>
                      </a:r>
                      <a:endParaRPr sz="1000" b="1">
                        <a:solidFill>
                          <a:srgbClr val="FFFFFF"/>
                        </a:solidFill>
                        <a:latin typeface="微软雅黑" panose="020B0503020204020204" charset="-122"/>
                      </a:endParaRPr>
                    </a:p>
                  </a:txBody>
                  <a:tcPr marL="36576" marR="36576">
                    <a:solidFill>
                      <a:srgbClr val="1F4E79"/>
                    </a:solidFill>
                  </a:tcPr>
                </a:tc>
                <a:tc>
                  <a:txBody>
                    <a:bodyPr/>
                    <a:lstStyle/>
                    <a:p>
                      <a:pPr algn="ctr"/>
                      <a:r>
                        <a:rPr sz="1000" b="1">
                          <a:solidFill>
                            <a:srgbClr val="FFFFFF"/>
                          </a:solidFill>
                          <a:latin typeface="微软雅黑" panose="020B0503020204020204" charset="-122"/>
                        </a:rPr>
                        <a:t>嵌套深度</a:t>
                      </a:r>
                      <a:endParaRPr sz="1000" b="1">
                        <a:solidFill>
                          <a:srgbClr val="FFFFFF"/>
                        </a:solidFill>
                        <a:latin typeface="微软雅黑" panose="020B0503020204020204" charset="-122"/>
                      </a:endParaRPr>
                    </a:p>
                  </a:txBody>
                  <a:tcPr marL="36576" marR="36576">
                    <a:solidFill>
                      <a:srgbClr val="1F4E79"/>
                    </a:solidFill>
                  </a:tcPr>
                </a:tc>
                <a:tc>
                  <a:txBody>
                    <a:bodyPr/>
                    <a:lstStyle/>
                    <a:p>
                      <a:pPr algn="ctr"/>
                      <a:r>
                        <a:rPr sz="1000" b="1">
                          <a:solidFill>
                            <a:srgbClr val="FFFFFF"/>
                          </a:solidFill>
                          <a:latin typeface="微软雅黑" panose="020B0503020204020204" charset="-122"/>
                        </a:rPr>
                        <a:t>别名依赖</a:t>
                      </a:r>
                      <a:endParaRPr sz="1000" b="1">
                        <a:solidFill>
                          <a:srgbClr val="FFFFFF"/>
                        </a:solidFill>
                        <a:latin typeface="微软雅黑" panose="020B0503020204020204" charset="-122"/>
                      </a:endParaRPr>
                    </a:p>
                  </a:txBody>
                  <a:tcPr marL="36576" marR="36576">
                    <a:solidFill>
                      <a:srgbClr val="1F4E79"/>
                    </a:solidFill>
                  </a:tcPr>
                </a:tc>
                <a:tc>
                  <a:txBody>
                    <a:bodyPr/>
                    <a:lstStyle/>
                    <a:p>
                      <a:pPr algn="ctr"/>
                      <a:r>
                        <a:rPr sz="1000" b="1">
                          <a:solidFill>
                            <a:srgbClr val="FFFFFF"/>
                          </a:solidFill>
                          <a:latin typeface="微软雅黑" panose="020B0503020204020204" charset="-122"/>
                        </a:rPr>
                        <a:t>跨子句引用</a:t>
                      </a:r>
                      <a:endParaRPr sz="1000" b="1">
                        <a:solidFill>
                          <a:srgbClr val="FFFFFF"/>
                        </a:solidFill>
                        <a:latin typeface="微软雅黑" panose="020B0503020204020204" charset="-122"/>
                      </a:endParaRPr>
                    </a:p>
                  </a:txBody>
                  <a:tcPr marL="36576" marR="36576">
                    <a:solidFill>
                      <a:srgbClr val="1F4E79"/>
                    </a:solidFill>
                  </a:tcPr>
                </a:tc>
                <a:tc>
                  <a:txBody>
                    <a:bodyPr/>
                    <a:lstStyle/>
                    <a:p>
                      <a:pPr algn="ctr"/>
                      <a:r>
                        <a:rPr sz="1000" b="1">
                          <a:solidFill>
                            <a:srgbClr val="FFFFFF"/>
                          </a:solidFill>
                          <a:latin typeface="微软雅黑" panose="020B0503020204020204" charset="-122"/>
                        </a:rPr>
                        <a:t>转换成功</a:t>
                      </a:r>
                      <a:endParaRPr sz="1000" b="1">
                        <a:solidFill>
                          <a:srgbClr val="FFFFFF"/>
                        </a:solidFill>
                        <a:latin typeface="微软雅黑" panose="020B0503020204020204" charset="-122"/>
                      </a:endParaRPr>
                    </a:p>
                  </a:txBody>
                  <a:tcPr marL="36576" marR="36576">
                    <a:solidFill>
                      <a:srgbClr val="1F4E79"/>
                    </a:solidFill>
                  </a:tcPr>
                </a:tc>
              </a:tr>
              <a:tr h="542290">
                <a:tc>
                  <a:txBody>
                    <a:bodyPr/>
                    <a:lstStyle/>
                    <a:p>
                      <a:pPr algn="l"/>
                      <a:r>
                        <a:rPr sz="900" b="0">
                          <a:solidFill>
                            <a:srgbClr val="282828"/>
                          </a:solidFill>
                          <a:latin typeface="微软雅黑" panose="020B0503020204020204" charset="-122"/>
                        </a:rPr>
                        <a:t>Standard SQL</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31.5333</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5.9</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0.6667</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2.0333</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2.3333</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30/30</a:t>
                      </a:r>
                      <a:endParaRPr sz="900" b="0">
                        <a:solidFill>
                          <a:srgbClr val="282828"/>
                        </a:solidFill>
                        <a:latin typeface="微软雅黑" panose="020B0503020204020204" charset="-122"/>
                      </a:endParaRPr>
                    </a:p>
                  </a:txBody>
                  <a:tcPr marL="36576" marR="36576">
                    <a:solidFill>
                      <a:srgbClr val="FFFFFF"/>
                    </a:solidFill>
                  </a:tcPr>
                </a:tc>
              </a:tr>
              <a:tr h="693420">
                <a:tc>
                  <a:txBody>
                    <a:bodyPr/>
                    <a:lstStyle/>
                    <a:p>
                      <a:pPr algn="l"/>
                      <a:r>
                        <a:rPr sz="900" b="0">
                          <a:solidFill>
                            <a:srgbClr val="282828"/>
                          </a:solidFill>
                          <a:latin typeface="微软雅黑" panose="020B0503020204020204" charset="-122"/>
                        </a:rPr>
                        <a:t>SQL+</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35.0333</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6.1333</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0.6667</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0.7</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1.0</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30/30</a:t>
                      </a:r>
                      <a:endParaRPr sz="900" b="0">
                        <a:solidFill>
                          <a:srgbClr val="282828"/>
                        </a:solidFill>
                        <a:latin typeface="微软雅黑" panose="020B0503020204020204" charset="-122"/>
                      </a:endParaRPr>
                    </a:p>
                  </a:txBody>
                  <a:tcPr marL="36576" marR="36576">
                    <a:solidFill>
                      <a:srgbClr val="EEF2F7"/>
                    </a:solidFill>
                  </a:tcPr>
                </a:tc>
              </a:tr>
              <a:tr h="693420">
                <a:tc>
                  <a:txBody>
                    <a:bodyPr/>
                    <a:lstStyle/>
                    <a:p>
                      <a:pPr algn="l"/>
                      <a:r>
                        <a:rPr sz="900" b="0">
                          <a:solidFill>
                            <a:srgbClr val="282828"/>
                          </a:solidFill>
                          <a:latin typeface="微软雅黑" panose="020B0503020204020204" charset="-122"/>
                        </a:rPr>
                        <a:t>SemQL-style proxy</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50.5667</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10.7333</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3.6667</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0.9</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1.2</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N/A</a:t>
                      </a:r>
                      <a:endParaRPr sz="900" b="0">
                        <a:solidFill>
                          <a:srgbClr val="282828"/>
                        </a:solidFill>
                        <a:latin typeface="微软雅黑" panose="020B0503020204020204" charset="-122"/>
                      </a:endParaRPr>
                    </a:p>
                  </a:txBody>
                  <a:tcPr marL="36576" marR="36576">
                    <a:solidFill>
                      <a:srgbClr val="FFFFFF"/>
                    </a:solidFill>
                  </a:tcPr>
                </a:tc>
              </a:tr>
              <a:tr h="693420">
                <a:tc>
                  <a:txBody>
                    <a:bodyPr/>
                    <a:lstStyle/>
                    <a:p>
                      <a:pPr algn="l"/>
                      <a:r>
                        <a:rPr sz="900" b="0">
                          <a:solidFill>
                            <a:srgbClr val="282828"/>
                          </a:solidFill>
                          <a:latin typeface="微软雅黑" panose="020B0503020204020204" charset="-122"/>
                        </a:rPr>
                        <a:t>NatSQL-style proxy</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31.5</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5.4333</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0.9667</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1.3667</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1.6667</a:t>
                      </a:r>
                      <a:endParaRPr sz="900" b="0">
                        <a:solidFill>
                          <a:srgbClr val="282828"/>
                        </a:solidFill>
                        <a:latin typeface="微软雅黑" panose="020B0503020204020204" charset="-122"/>
                      </a:endParaRPr>
                    </a:p>
                  </a:txBody>
                  <a:tcPr marL="36576" marR="36576">
                    <a:solidFill>
                      <a:srgbClr val="EEF2F7"/>
                    </a:solidFill>
                  </a:tcPr>
                </a:tc>
                <a:tc>
                  <a:txBody>
                    <a:bodyPr/>
                    <a:lstStyle/>
                    <a:p>
                      <a:pPr algn="l"/>
                      <a:r>
                        <a:rPr sz="900" b="0">
                          <a:solidFill>
                            <a:srgbClr val="282828"/>
                          </a:solidFill>
                          <a:latin typeface="微软雅黑" panose="020B0503020204020204" charset="-122"/>
                        </a:rPr>
                        <a:t>N/A</a:t>
                      </a:r>
                      <a:endParaRPr sz="900" b="0">
                        <a:solidFill>
                          <a:srgbClr val="282828"/>
                        </a:solidFill>
                        <a:latin typeface="微软雅黑" panose="020B0503020204020204" charset="-122"/>
                      </a:endParaRPr>
                    </a:p>
                  </a:txBody>
                  <a:tcPr marL="36576" marR="36576">
                    <a:solidFill>
                      <a:srgbClr val="EEF2F7"/>
                    </a:solidFill>
                  </a:tcPr>
                </a:tc>
              </a:tr>
              <a:tr h="693420">
                <a:tc>
                  <a:txBody>
                    <a:bodyPr/>
                    <a:lstStyle/>
                    <a:p>
                      <a:pPr algn="l"/>
                      <a:r>
                        <a:rPr sz="900" b="0">
                          <a:solidFill>
                            <a:srgbClr val="282828"/>
                          </a:solidFill>
                          <a:latin typeface="微软雅黑" panose="020B0503020204020204" charset="-122"/>
                        </a:rPr>
                        <a:t>Pipe-style proxy</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40.8</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6.1333</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0.6667</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1.3667</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1.6667</a:t>
                      </a:r>
                      <a:endParaRPr sz="900" b="0">
                        <a:solidFill>
                          <a:srgbClr val="282828"/>
                        </a:solidFill>
                        <a:latin typeface="微软雅黑" panose="020B0503020204020204" charset="-122"/>
                      </a:endParaRPr>
                    </a:p>
                  </a:txBody>
                  <a:tcPr marL="36576" marR="36576">
                    <a:solidFill>
                      <a:srgbClr val="FFFFFF"/>
                    </a:solidFill>
                  </a:tcPr>
                </a:tc>
                <a:tc>
                  <a:txBody>
                    <a:bodyPr/>
                    <a:lstStyle/>
                    <a:p>
                      <a:pPr algn="l"/>
                      <a:r>
                        <a:rPr sz="900" b="0">
                          <a:solidFill>
                            <a:srgbClr val="282828"/>
                          </a:solidFill>
                          <a:latin typeface="微软雅黑" panose="020B0503020204020204" charset="-122"/>
                        </a:rPr>
                        <a:t>N/A</a:t>
                      </a:r>
                      <a:endParaRPr sz="900" b="0">
                        <a:solidFill>
                          <a:srgbClr val="282828"/>
                        </a:solidFill>
                        <a:latin typeface="微软雅黑" panose="020B0503020204020204" charset="-122"/>
                      </a:endParaRPr>
                    </a:p>
                  </a:txBody>
                  <a:tcPr marL="36576" marR="36576">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20040" y="1035368"/>
            <a:ext cx="5015230"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实验三：IR 生成成本与执行效果</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15</a:t>
            </a:r>
            <a:endParaRPr sz="800" b="0">
              <a:solidFill>
                <a:srgbClr val="5F5F5F"/>
              </a:solidFill>
              <a:latin typeface="微软雅黑" panose="020B0503020204020204" charset="-122"/>
            </a:endParaRPr>
          </a:p>
        </p:txBody>
      </p:sp>
      <p:sp>
        <p:nvSpPr>
          <p:cNvPr id="4" name="Rectangle 3"/>
          <p:cNvSpPr/>
          <p:nvPr/>
        </p:nvSpPr>
        <p:spPr>
          <a:xfrm>
            <a:off x="404495" y="1844675"/>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判断 SQL+ 初次生成是否更省成本、更准确。</a:t>
            </a:r>
            <a:endParaRPr sz="1100" b="1">
              <a:solidFill>
                <a:srgbClr val="282828"/>
              </a:solidFill>
              <a:latin typeface="微软雅黑" panose="020B0503020204020204" charset="-122"/>
            </a:endParaRPr>
          </a:p>
        </p:txBody>
      </p:sp>
      <p:sp>
        <p:nvSpPr>
          <p:cNvPr id="5" name="Rectangle 4"/>
          <p:cNvSpPr/>
          <p:nvPr/>
        </p:nvSpPr>
        <p:spPr>
          <a:xfrm>
            <a:off x="4427855" y="1844675"/>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同一批 30 条查询，统一模型和 prompt 框架，比较 Direct SQL、SQL+、NatSQL-style、SemQL-style。</a:t>
            </a:r>
            <a:endParaRPr sz="1100" b="0">
              <a:solidFill>
                <a:srgbClr val="282828"/>
              </a:solidFill>
              <a:latin typeface="微软雅黑" panose="020B0503020204020204" charset="-122"/>
            </a:endParaRPr>
          </a:p>
        </p:txBody>
      </p:sp>
      <p:sp>
        <p:nvSpPr>
          <p:cNvPr id="6" name="Rectangle 5"/>
          <p:cNvSpPr/>
          <p:nvPr/>
        </p:nvSpPr>
        <p:spPr>
          <a:xfrm>
            <a:off x="404495" y="3170555"/>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valid rate、SQL executable rate、execution accuracy、平均 token、latency。</a:t>
            </a:r>
            <a:endParaRPr sz="1100" b="0">
              <a:solidFill>
                <a:srgbClr val="282828"/>
              </a:solidFill>
              <a:latin typeface="微软雅黑" panose="020B0503020204020204" charset="-122"/>
            </a:endParaRPr>
          </a:p>
        </p:txBody>
      </p:sp>
      <p:sp>
        <p:nvSpPr>
          <p:cNvPr id="7" name="Rectangle 6"/>
          <p:cNvSpPr/>
          <p:nvPr/>
        </p:nvSpPr>
        <p:spPr>
          <a:xfrm>
            <a:off x="4427855" y="3170555"/>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SQL+ 执行一致 14/30，Direct SQL 为 12/30；SQL+ 平均 token 813.03，latency 9.22s，高于 Direct SQL 的 599.17 和 6.59s。</a:t>
            </a:r>
            <a:endParaRPr sz="1100" b="1">
              <a:solidFill>
                <a:srgbClr val="282828"/>
              </a:solidFill>
              <a:latin typeface="微软雅黑" panose="020B0503020204020204" charset="-122"/>
            </a:endParaRPr>
          </a:p>
        </p:txBody>
      </p:sp>
      <p:sp>
        <p:nvSpPr>
          <p:cNvPr id="8" name="Rectangle 7"/>
          <p:cNvSpPr/>
          <p:nvPr/>
        </p:nvSpPr>
        <p:spPr>
          <a:xfrm>
            <a:off x="404495" y="4542155"/>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SQL+ 在初次生成阶段没有明显成本优势，研究重点应放在修复收益是否能抵消额外开销。</a:t>
            </a:r>
            <a:endParaRPr sz="1100" b="0">
              <a:solidFill>
                <a:srgbClr val="282828"/>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20040" y="994093"/>
            <a:ext cx="5114925"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实验三结果：生成成本与执行效果</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16</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custDataLst>
              <p:tags r:id="rId1"/>
            </p:custDataLst>
          </p:nvPr>
        </p:nvGraphicFramePr>
        <p:xfrm>
          <a:off x="323215" y="1844675"/>
          <a:ext cx="8321040" cy="3383280"/>
        </p:xfrm>
        <a:graphic>
          <a:graphicData uri="http://schemas.openxmlformats.org/drawingml/2006/table">
            <a:tbl>
              <a:tblPr firstRow="1" bandRow="1">
                <a:tableStyleId>{5C22544A-7EE6-4342-B048-85BDC9FD1C3A}</a:tableStyleId>
              </a:tblPr>
              <a:tblGrid>
                <a:gridCol w="1386840"/>
                <a:gridCol w="1386840"/>
                <a:gridCol w="1386840"/>
                <a:gridCol w="1386840"/>
                <a:gridCol w="1386840"/>
                <a:gridCol w="1386840"/>
              </a:tblGrid>
              <a:tr h="365760">
                <a:tc>
                  <a:txBody>
                    <a:bodyPr/>
                    <a:lstStyle/>
                    <a:p>
                      <a:pPr algn="ctr"/>
                      <a:r>
                        <a:rPr sz="1100" b="1">
                          <a:solidFill>
                            <a:srgbClr val="FFFFFF"/>
                          </a:solidFill>
                          <a:latin typeface="微软雅黑" panose="020B0503020204020204" charset="-122"/>
                        </a:rPr>
                        <a:t>方法</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表示有效</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SQL 可执行</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执行一致</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平均总 token</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平均延迟</a:t>
                      </a:r>
                      <a:endParaRPr sz="1100" b="1">
                        <a:solidFill>
                          <a:srgbClr val="FFFFFF"/>
                        </a:solidFill>
                        <a:latin typeface="微软雅黑" panose="020B0503020204020204" charset="-122"/>
                      </a:endParaRPr>
                    </a:p>
                  </a:txBody>
                  <a:tcPr marL="36576" marR="36576">
                    <a:solidFill>
                      <a:srgbClr val="1F4E79"/>
                    </a:solidFill>
                  </a:tcPr>
                </a:tc>
              </a:tr>
              <a:tr h="592455">
                <a:tc>
                  <a:txBody>
                    <a:bodyPr/>
                    <a:lstStyle/>
                    <a:p>
                      <a:pPr algn="ctr"/>
                      <a:r>
                        <a:rPr sz="1000" b="0">
                          <a:solidFill>
                            <a:srgbClr val="282828"/>
                          </a:solidFill>
                          <a:latin typeface="微软雅黑" panose="020B0503020204020204" charset="-122"/>
                        </a:rPr>
                        <a:t>Direct SQL</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12/30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599.1667</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6.5851s</a:t>
                      </a:r>
                      <a:endParaRPr sz="1000" b="0">
                        <a:solidFill>
                          <a:srgbClr val="282828"/>
                        </a:solidFill>
                        <a:latin typeface="微软雅黑" panose="020B0503020204020204" charset="-122"/>
                      </a:endParaRPr>
                    </a:p>
                  </a:txBody>
                  <a:tcPr marL="36576" marR="36576">
                    <a:solidFill>
                      <a:srgbClr val="FFFFFF"/>
                    </a:solidFill>
                  </a:tcPr>
                </a:tc>
              </a:tr>
              <a:tr h="763270">
                <a:tc>
                  <a:txBody>
                    <a:bodyPr/>
                    <a:lstStyle/>
                    <a:p>
                      <a:pPr algn="ctr"/>
                      <a:r>
                        <a:rPr sz="1000" b="0">
                          <a:solidFill>
                            <a:srgbClr val="282828"/>
                          </a:solidFill>
                          <a:latin typeface="微软雅黑" panose="020B0503020204020204" charset="-122"/>
                        </a:rPr>
                        <a:t>SQL+</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28/30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28/30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14/30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813.0333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9.2197s</a:t>
                      </a:r>
                      <a:endParaRPr sz="1000" b="0">
                        <a:solidFill>
                          <a:srgbClr val="282828"/>
                        </a:solidFill>
                        <a:latin typeface="微软雅黑" panose="020B0503020204020204" charset="-122"/>
                      </a:endParaRPr>
                    </a:p>
                  </a:txBody>
                  <a:tcPr marL="36576" marR="36576">
                    <a:solidFill>
                      <a:srgbClr val="EEF2F7"/>
                    </a:solidFill>
                  </a:tcPr>
                </a:tc>
              </a:tr>
              <a:tr h="801370">
                <a:tc>
                  <a:txBody>
                    <a:bodyPr/>
                    <a:lstStyle/>
                    <a:p>
                      <a:pPr algn="ctr"/>
                      <a:r>
                        <a:rPr sz="1000" b="0">
                          <a:solidFill>
                            <a:srgbClr val="282828"/>
                          </a:solidFill>
                          <a:latin typeface="微软雅黑" panose="020B0503020204020204" charset="-122"/>
                        </a:rPr>
                        <a:t>NatSQL-style proxy</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740.7667</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6.2802s</a:t>
                      </a:r>
                      <a:endParaRPr sz="1000" b="0">
                        <a:solidFill>
                          <a:srgbClr val="282828"/>
                        </a:solidFill>
                        <a:latin typeface="微软雅黑" panose="020B0503020204020204" charset="-122"/>
                      </a:endParaRPr>
                    </a:p>
                  </a:txBody>
                  <a:tcPr marL="36576" marR="36576">
                    <a:solidFill>
                      <a:srgbClr val="FFFFFF"/>
                    </a:solidFill>
                  </a:tcPr>
                </a:tc>
              </a:tr>
              <a:tr h="860425">
                <a:tc>
                  <a:txBody>
                    <a:bodyPr/>
                    <a:lstStyle/>
                    <a:p>
                      <a:pPr algn="ctr"/>
                      <a:r>
                        <a:rPr sz="1000" b="0">
                          <a:solidFill>
                            <a:srgbClr val="282828"/>
                          </a:solidFill>
                          <a:latin typeface="微软雅黑" panose="020B0503020204020204" charset="-122"/>
                        </a:rPr>
                        <a:t>SemQL-style proxy</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25/30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12/30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1028.9667</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9.9684s</a:t>
                      </a:r>
                      <a:endParaRPr sz="1000" b="0">
                        <a:solidFill>
                          <a:srgbClr val="282828"/>
                        </a:solidFill>
                        <a:latin typeface="微软雅黑" panose="020B0503020204020204" charset="-122"/>
                      </a:endParaRPr>
                    </a:p>
                  </a:txBody>
                  <a:tcPr marL="36576" marR="36576">
                    <a:solidFill>
                      <a:srgbClr val="EEF2F7"/>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785" y="1061403"/>
            <a:ext cx="6731635"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实验四：Direct SQL 与 NL2SQL+ baseline</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17</a:t>
            </a:r>
            <a:endParaRPr sz="800" b="0">
              <a:solidFill>
                <a:srgbClr val="5F5F5F"/>
              </a:solidFill>
              <a:latin typeface="微软雅黑" panose="020B0503020204020204" charset="-122"/>
            </a:endParaRPr>
          </a:p>
        </p:txBody>
      </p:sp>
      <p:sp>
        <p:nvSpPr>
          <p:cNvPr id="4" name="Rectangle 3"/>
          <p:cNvSpPr/>
          <p:nvPr/>
        </p:nvSpPr>
        <p:spPr>
          <a:xfrm>
            <a:off x="476885" y="1870710"/>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观察单 Agent 条件下 SQL+ 是否改善初次生成。</a:t>
            </a:r>
            <a:endParaRPr sz="1100" b="1">
              <a:solidFill>
                <a:srgbClr val="282828"/>
              </a:solidFill>
              <a:latin typeface="微软雅黑" panose="020B0503020204020204" charset="-122"/>
            </a:endParaRPr>
          </a:p>
        </p:txBody>
      </p:sp>
      <p:sp>
        <p:nvSpPr>
          <p:cNvPr id="5" name="Rectangle 4"/>
          <p:cNvSpPr/>
          <p:nvPr/>
        </p:nvSpPr>
        <p:spPr>
          <a:xfrm>
            <a:off x="4500245" y="1870710"/>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自建 30 条订单查询样例，使用 Direct NL2SQL prompt 与 NL2SQL+ prompt v2。</a:t>
            </a:r>
            <a:endParaRPr sz="1100" b="0">
              <a:solidFill>
                <a:srgbClr val="282828"/>
              </a:solidFill>
              <a:latin typeface="微软雅黑" panose="020B0503020204020204" charset="-122"/>
            </a:endParaRPr>
          </a:p>
        </p:txBody>
      </p:sp>
      <p:sp>
        <p:nvSpPr>
          <p:cNvPr id="6" name="Rectangle 5"/>
          <p:cNvSpPr/>
          <p:nvPr/>
        </p:nvSpPr>
        <p:spPr>
          <a:xfrm>
            <a:off x="476885" y="3196590"/>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SQL 可执行率、执行一致率、失败类型。</a:t>
            </a:r>
            <a:endParaRPr sz="1100" b="0">
              <a:solidFill>
                <a:srgbClr val="282828"/>
              </a:solidFill>
              <a:latin typeface="微软雅黑" panose="020B0503020204020204" charset="-122"/>
            </a:endParaRPr>
          </a:p>
        </p:txBody>
      </p:sp>
      <p:sp>
        <p:nvSpPr>
          <p:cNvPr id="7" name="Rectangle 6"/>
          <p:cNvSpPr/>
          <p:nvPr/>
        </p:nvSpPr>
        <p:spPr>
          <a:xfrm>
            <a:off x="4500245" y="3196590"/>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Direct NL2SQL 为 16/30，NL2SQL+ prompt v2 为 17/30。</a:t>
            </a:r>
            <a:endParaRPr sz="1100" b="1">
              <a:solidFill>
                <a:srgbClr val="282828"/>
              </a:solidFill>
              <a:latin typeface="微软雅黑" panose="020B0503020204020204" charset="-122"/>
            </a:endParaRPr>
          </a:p>
        </p:txBody>
      </p:sp>
      <p:sp>
        <p:nvSpPr>
          <p:cNvPr id="8" name="Rectangle 7"/>
          <p:cNvSpPr/>
          <p:nvPr/>
        </p:nvSpPr>
        <p:spPr>
          <a:xfrm>
            <a:off x="476885" y="4568190"/>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仅替换输出形式收益有限。后续必须引入 schema、critic、router 和 repair skill，而不是只优化 prompt。</a:t>
            </a:r>
            <a:endParaRPr sz="1100" b="0">
              <a:solidFill>
                <a:srgbClr val="282828"/>
              </a:solidFill>
              <a:latin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605" y="994093"/>
            <a:ext cx="5350510"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实验五：反馈修复与 Skill Router</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18</a:t>
            </a:r>
            <a:endParaRPr sz="800" b="0">
              <a:solidFill>
                <a:srgbClr val="5F5F5F"/>
              </a:solidFill>
              <a:latin typeface="微软雅黑" panose="020B0503020204020204" charset="-122"/>
            </a:endParaRPr>
          </a:p>
        </p:txBody>
      </p:sp>
      <p:sp>
        <p:nvSpPr>
          <p:cNvPr id="4" name="Rectangle 3"/>
          <p:cNvSpPr/>
          <p:nvPr/>
        </p:nvSpPr>
        <p:spPr>
          <a:xfrm>
            <a:off x="476885" y="1916430"/>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验证 SQL+ 层局部修复是否优于整条 SQL 重写。</a:t>
            </a:r>
            <a:endParaRPr sz="1100" b="1">
              <a:solidFill>
                <a:srgbClr val="282828"/>
              </a:solidFill>
              <a:latin typeface="微软雅黑" panose="020B0503020204020204" charset="-122"/>
            </a:endParaRPr>
          </a:p>
        </p:txBody>
      </p:sp>
      <p:sp>
        <p:nvSpPr>
          <p:cNvPr id="5" name="Rectangle 4"/>
          <p:cNvSpPr/>
          <p:nvPr/>
        </p:nvSpPr>
        <p:spPr>
          <a:xfrm>
            <a:off x="4500245" y="1916430"/>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当前 SQL+ 已知失败集 13 条，包含 value、ORDER、aggregation、join、projection 等错误。</a:t>
            </a:r>
            <a:endParaRPr sz="1100" b="0">
              <a:solidFill>
                <a:srgbClr val="282828"/>
              </a:solidFill>
              <a:latin typeface="微软雅黑" panose="020B0503020204020204" charset="-122"/>
            </a:endParaRPr>
          </a:p>
        </p:txBody>
      </p:sp>
      <p:sp>
        <p:nvSpPr>
          <p:cNvPr id="6" name="Rectangle 5"/>
          <p:cNvSpPr/>
          <p:nvPr/>
        </p:nvSpPr>
        <p:spPr>
          <a:xfrm>
            <a:off x="476885" y="3242310"/>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repair success、SQL+ valid、SQL executable、error localization、patch minimality。</a:t>
            </a:r>
            <a:endParaRPr sz="1100" b="0">
              <a:solidFill>
                <a:srgbClr val="282828"/>
              </a:solidFill>
              <a:latin typeface="微软雅黑" panose="020B0503020204020204" charset="-122"/>
            </a:endParaRPr>
          </a:p>
        </p:txBody>
      </p:sp>
      <p:sp>
        <p:nvSpPr>
          <p:cNvPr id="7" name="Rectangle 6"/>
          <p:cNvSpPr/>
          <p:nvPr/>
        </p:nvSpPr>
        <p:spPr>
          <a:xfrm>
            <a:off x="4500245" y="3242310"/>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SQL+ 非 gold 单 Refiner 为 4/13，Direct SQL Refiner 为 6/14，SQL+ Skill Router + Repair Skills v3 为 13/13。</a:t>
            </a:r>
            <a:endParaRPr sz="1100" b="1">
              <a:solidFill>
                <a:srgbClr val="282828"/>
              </a:solidFill>
              <a:latin typeface="微软雅黑" panose="020B0503020204020204" charset="-122"/>
            </a:endParaRPr>
          </a:p>
        </p:txBody>
      </p:sp>
      <p:sp>
        <p:nvSpPr>
          <p:cNvPr id="8" name="Rectangle 7"/>
          <p:cNvSpPr/>
          <p:nvPr/>
        </p:nvSpPr>
        <p:spPr>
          <a:xfrm>
            <a:off x="476885" y="4613910"/>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多 Agent 简单串联不必然有效。错误分类、技能路由和局部 patch 是当前更有效的修复路线。</a:t>
            </a:r>
            <a:endParaRPr sz="1100" b="0">
              <a:solidFill>
                <a:srgbClr val="282828"/>
              </a:solidFill>
              <a:latin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23850" y="1066800"/>
            <a:ext cx="3737610"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实验五结果：反馈修复</a:t>
            </a:r>
            <a:endParaRPr sz="2500" b="1">
              <a:solidFill>
                <a:srgbClr val="1F4E79"/>
              </a:solidFill>
              <a:latin typeface="微软雅黑" panose="020B0503020204020204" charset="-122"/>
            </a:endParaRPr>
          </a:p>
        </p:txBody>
      </p:sp>
      <p:sp>
        <p:nvSpPr>
          <p:cNvPr id="3" name="TextBox 2"/>
          <p:cNvSpPr txBox="1"/>
          <p:nvPr/>
        </p:nvSpPr>
        <p:spPr>
          <a:xfrm>
            <a:off x="502920" y="659714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19</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custDataLst>
              <p:tags r:id="rId1"/>
            </p:custDataLst>
          </p:nvPr>
        </p:nvGraphicFramePr>
        <p:xfrm>
          <a:off x="323850" y="1924050"/>
          <a:ext cx="8321040" cy="3009900"/>
        </p:xfrm>
        <a:graphic>
          <a:graphicData uri="http://schemas.openxmlformats.org/drawingml/2006/table">
            <a:tbl>
              <a:tblPr firstRow="1" bandRow="1">
                <a:tableStyleId>{5C22544A-7EE6-4342-B048-85BDC9FD1C3A}</a:tableStyleId>
              </a:tblPr>
              <a:tblGrid>
                <a:gridCol w="2352675"/>
                <a:gridCol w="975995"/>
                <a:gridCol w="1663700"/>
                <a:gridCol w="1664335"/>
                <a:gridCol w="1664335"/>
              </a:tblGrid>
              <a:tr h="434340">
                <a:tc>
                  <a:txBody>
                    <a:bodyPr/>
                    <a:lstStyle/>
                    <a:p>
                      <a:pPr algn="ctr"/>
                      <a:r>
                        <a:rPr sz="1200" b="1">
                          <a:solidFill>
                            <a:srgbClr val="FFFFFF"/>
                          </a:solidFill>
                          <a:latin typeface="微软雅黑" panose="020B0503020204020204" charset="-122"/>
                        </a:rPr>
                        <a:t>方法</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样例</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SQL+ 有效</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SQL 可执行</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修复成功</a:t>
                      </a:r>
                      <a:endParaRPr sz="1200" b="1">
                        <a:solidFill>
                          <a:srgbClr val="FFFFFF"/>
                        </a:solidFill>
                        <a:latin typeface="微软雅黑" panose="020B0503020204020204" charset="-122"/>
                      </a:endParaRPr>
                    </a:p>
                  </a:txBody>
                  <a:tcPr marL="36576" marR="36576">
                    <a:solidFill>
                      <a:srgbClr val="1F4E79"/>
                    </a:solidFill>
                  </a:tcPr>
                </a:tc>
              </a:tr>
              <a:tr h="460375">
                <a:tc>
                  <a:txBody>
                    <a:bodyPr/>
                    <a:lstStyle/>
                    <a:p>
                      <a:pPr algn="ctr"/>
                      <a:r>
                        <a:rPr sz="1000" b="0">
                          <a:solidFill>
                            <a:srgbClr val="282828"/>
                          </a:solidFill>
                          <a:latin typeface="微软雅黑" panose="020B0503020204020204" charset="-122"/>
                        </a:rPr>
                        <a:t>SQL+ 非 gold 单 Refiner v2</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12/13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4/13</a:t>
                      </a:r>
                      <a:endParaRPr sz="1000" b="0">
                        <a:solidFill>
                          <a:srgbClr val="282828"/>
                        </a:solidFill>
                        <a:latin typeface="微软雅黑" panose="020B0503020204020204" charset="-122"/>
                      </a:endParaRPr>
                    </a:p>
                  </a:txBody>
                  <a:tcPr marL="36576" marR="36576">
                    <a:solidFill>
                      <a:srgbClr val="FFFFFF"/>
                    </a:solidFill>
                  </a:tcPr>
                </a:tc>
              </a:tr>
              <a:tr h="442595">
                <a:tc>
                  <a:txBody>
                    <a:bodyPr/>
                    <a:lstStyle/>
                    <a:p>
                      <a:pPr algn="ctr"/>
                      <a:r>
                        <a:rPr sz="1000" b="0">
                          <a:solidFill>
                            <a:srgbClr val="282828"/>
                          </a:solidFill>
                          <a:latin typeface="微软雅黑" panose="020B0503020204020204" charset="-122"/>
                        </a:rPr>
                        <a:t>Direct SQL 非 gold Refiner</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14</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14/14</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6/14</a:t>
                      </a:r>
                      <a:endParaRPr sz="1000" b="0">
                        <a:solidFill>
                          <a:srgbClr val="282828"/>
                        </a:solidFill>
                        <a:latin typeface="微软雅黑" panose="020B0503020204020204" charset="-122"/>
                      </a:endParaRPr>
                    </a:p>
                  </a:txBody>
                  <a:tcPr marL="36576" marR="36576">
                    <a:solidFill>
                      <a:srgbClr val="EEF2F7"/>
                    </a:solidFill>
                  </a:tcPr>
                </a:tc>
              </a:tr>
              <a:tr h="389890">
                <a:tc>
                  <a:txBody>
                    <a:bodyPr/>
                    <a:lstStyle/>
                    <a:p>
                      <a:pPr algn="ctr"/>
                      <a:r>
                        <a:rPr sz="1000" b="0">
                          <a:solidFill>
                            <a:srgbClr val="282828"/>
                          </a:solidFill>
                          <a:latin typeface="微软雅黑" panose="020B0503020204020204" charset="-122"/>
                        </a:rPr>
                        <a:t>SQL+ Schema-Critic-Refiner</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3/13</a:t>
                      </a:r>
                      <a:endParaRPr sz="1000" b="0">
                        <a:solidFill>
                          <a:srgbClr val="282828"/>
                        </a:solidFill>
                        <a:latin typeface="微软雅黑" panose="020B0503020204020204" charset="-122"/>
                      </a:endParaRPr>
                    </a:p>
                  </a:txBody>
                  <a:tcPr marL="36576" marR="36576">
                    <a:solidFill>
                      <a:srgbClr val="FFFFFF"/>
                    </a:solidFill>
                  </a:tcPr>
                </a:tc>
              </a:tr>
              <a:tr h="539750">
                <a:tc>
                  <a:txBody>
                    <a:bodyPr/>
                    <a:lstStyle/>
                    <a:p>
                      <a:pPr algn="ctr"/>
                      <a:r>
                        <a:rPr sz="1000" b="0">
                          <a:solidFill>
                            <a:srgbClr val="282828"/>
                          </a:solidFill>
                          <a:latin typeface="微软雅黑" panose="020B0503020204020204" charset="-122"/>
                        </a:rPr>
                        <a:t>SQL+ Step-wise Critic-Refiner</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12/13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3/13</a:t>
                      </a:r>
                      <a:endParaRPr sz="1000" b="0">
                        <a:solidFill>
                          <a:srgbClr val="282828"/>
                        </a:solidFill>
                        <a:latin typeface="微软雅黑" panose="020B0503020204020204" charset="-122"/>
                      </a:endParaRPr>
                    </a:p>
                  </a:txBody>
                  <a:tcPr marL="36576" marR="36576">
                    <a:solidFill>
                      <a:srgbClr val="EEF2F7"/>
                    </a:solidFill>
                  </a:tcPr>
                </a:tc>
              </a:tr>
              <a:tr h="742950">
                <a:tc>
                  <a:txBody>
                    <a:bodyPr/>
                    <a:lstStyle/>
                    <a:p>
                      <a:pPr algn="ctr"/>
                      <a:r>
                        <a:rPr sz="1000" b="0">
                          <a:solidFill>
                            <a:srgbClr val="282828"/>
                          </a:solidFill>
                          <a:latin typeface="微软雅黑" panose="020B0503020204020204" charset="-122"/>
                        </a:rPr>
                        <a:t>SQL+ Skill Router + Repair Skills v3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73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实验六：repairability 指标</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20</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custDataLst>
              <p:tags r:id="rId1"/>
            </p:custDataLst>
          </p:nvPr>
        </p:nvGraphicFramePr>
        <p:xfrm>
          <a:off x="395605" y="1916430"/>
          <a:ext cx="8321040" cy="3395980"/>
        </p:xfrm>
        <a:graphic>
          <a:graphicData uri="http://schemas.openxmlformats.org/drawingml/2006/table">
            <a:tbl>
              <a:tblPr firstRow="1" bandRow="1">
                <a:tableStyleId>{5C22544A-7EE6-4342-B048-85BDC9FD1C3A}</a:tableStyleId>
              </a:tblPr>
              <a:tblGrid>
                <a:gridCol w="1386840"/>
                <a:gridCol w="1386840"/>
                <a:gridCol w="1386840"/>
                <a:gridCol w="1386840"/>
                <a:gridCol w="1386840"/>
                <a:gridCol w="1386840"/>
              </a:tblGrid>
              <a:tr h="684530">
                <a:tc>
                  <a:txBody>
                    <a:bodyPr/>
                    <a:lstStyle/>
                    <a:p>
                      <a:pPr algn="ctr"/>
                      <a:r>
                        <a:rPr sz="1100" b="1">
                          <a:solidFill>
                            <a:srgbClr val="FFFFFF"/>
                          </a:solidFill>
                          <a:latin typeface="微软雅黑" panose="020B0503020204020204" charset="-122"/>
                        </a:rPr>
                        <a:t>方法</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样例</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修复成功</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定位准确率</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最小 patch 率</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平均 repair token</a:t>
                      </a:r>
                      <a:endParaRPr sz="1100" b="1">
                        <a:solidFill>
                          <a:srgbClr val="FFFFFF"/>
                        </a:solidFill>
                        <a:latin typeface="微软雅黑" panose="020B0503020204020204" charset="-122"/>
                      </a:endParaRPr>
                    </a:p>
                  </a:txBody>
                  <a:tcPr marL="36576" marR="36576">
                    <a:solidFill>
                      <a:srgbClr val="1F4E79"/>
                    </a:solidFill>
                  </a:tcPr>
                </a:tc>
              </a:tr>
              <a:tr h="678180">
                <a:tc>
                  <a:txBody>
                    <a:bodyPr/>
                    <a:lstStyle/>
                    <a:p>
                      <a:pPr algn="ctr"/>
                      <a:r>
                        <a:rPr sz="1000" b="0">
                          <a:solidFill>
                            <a:srgbClr val="282828"/>
                          </a:solidFill>
                          <a:latin typeface="微软雅黑" panose="020B0503020204020204" charset="-122"/>
                        </a:rPr>
                        <a:t>Direct SQL Refiner</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14</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6/14</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0.8571</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0.8571</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1609.3571</a:t>
                      </a:r>
                      <a:endParaRPr sz="1000" b="0">
                        <a:solidFill>
                          <a:srgbClr val="282828"/>
                        </a:solidFill>
                        <a:latin typeface="微软雅黑" panose="020B0503020204020204" charset="-122"/>
                      </a:endParaRPr>
                    </a:p>
                  </a:txBody>
                  <a:tcPr marL="36576" marR="36576">
                    <a:solidFill>
                      <a:srgbClr val="FFFFFF"/>
                    </a:solidFill>
                  </a:tcPr>
                </a:tc>
              </a:tr>
              <a:tr h="677545">
                <a:tc>
                  <a:txBody>
                    <a:bodyPr/>
                    <a:lstStyle/>
                    <a:p>
                      <a:pPr algn="ctr"/>
                      <a:r>
                        <a:rPr sz="1000" b="0">
                          <a:solidFill>
                            <a:srgbClr val="282828"/>
                          </a:solidFill>
                          <a:latin typeface="微软雅黑" panose="020B0503020204020204" charset="-122"/>
                        </a:rPr>
                        <a:t>SQL+ Critic Router Skills</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0.7692</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0.9231</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3813.9231</a:t>
                      </a:r>
                      <a:endParaRPr sz="1000" b="0">
                        <a:solidFill>
                          <a:srgbClr val="282828"/>
                        </a:solidFill>
                        <a:latin typeface="微软雅黑" panose="020B0503020204020204" charset="-122"/>
                      </a:endParaRPr>
                    </a:p>
                  </a:txBody>
                  <a:tcPr marL="36576" marR="36576">
                    <a:solidFill>
                      <a:srgbClr val="EEF2F7"/>
                    </a:solidFill>
                  </a:tcPr>
                </a:tc>
              </a:tr>
              <a:tr h="678180">
                <a:tc>
                  <a:txBody>
                    <a:bodyPr/>
                    <a:lstStyle/>
                    <a:p>
                      <a:pPr algn="ctr"/>
                      <a:r>
                        <a:rPr sz="1000" b="0">
                          <a:solidFill>
                            <a:srgbClr val="282828"/>
                          </a:solidFill>
                          <a:latin typeface="微软雅黑" panose="020B0503020204020204" charset="-122"/>
                        </a:rPr>
                        <a:t>Direct SQL overlap</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9</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4/9</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0.8889</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0.8889</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1583.2222</a:t>
                      </a:r>
                      <a:endParaRPr sz="1000" b="0">
                        <a:solidFill>
                          <a:srgbClr val="282828"/>
                        </a:solidFill>
                        <a:latin typeface="微软雅黑" panose="020B0503020204020204" charset="-122"/>
                      </a:endParaRPr>
                    </a:p>
                  </a:txBody>
                  <a:tcPr marL="36576" marR="36576">
                    <a:solidFill>
                      <a:srgbClr val="FFFFFF"/>
                    </a:solidFill>
                  </a:tcPr>
                </a:tc>
              </a:tr>
              <a:tr h="677545">
                <a:tc>
                  <a:txBody>
                    <a:bodyPr/>
                    <a:lstStyle/>
                    <a:p>
                      <a:pPr algn="ctr"/>
                      <a:r>
                        <a:rPr sz="1000" b="0">
                          <a:solidFill>
                            <a:srgbClr val="282828"/>
                          </a:solidFill>
                          <a:latin typeface="微软雅黑" panose="020B0503020204020204" charset="-122"/>
                        </a:rPr>
                        <a:t>SQL+ Router overlap</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9</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9/9</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0.7778</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0.8889</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4001.7778</a:t>
                      </a:r>
                      <a:endParaRPr sz="1000" b="0">
                        <a:solidFill>
                          <a:srgbClr val="282828"/>
                        </a:solidFill>
                        <a:latin typeface="微软雅黑" panose="020B0503020204020204" charset="-122"/>
                      </a:endParaRPr>
                    </a:p>
                  </a:txBody>
                  <a:tcPr marL="36576" marR="36576">
                    <a:solidFill>
                      <a:srgbClr val="EEF2F7"/>
                    </a:solidFill>
                  </a:tcPr>
                </a:tc>
              </a:tr>
            </a:tbl>
          </a:graphicData>
        </a:graphic>
      </p:graphicFrame>
      <p:sp>
        <p:nvSpPr>
          <p:cNvPr id="5" name="TextBox 4"/>
          <p:cNvSpPr txBox="1"/>
          <p:nvPr/>
        </p:nvSpPr>
        <p:spPr>
          <a:xfrm>
            <a:off x="658368" y="5870448"/>
            <a:ext cx="7955279" cy="365760"/>
          </a:xfrm>
          <a:prstGeom prst="rect">
            <a:avLst/>
          </a:prstGeom>
          <a:noFill/>
        </p:spPr>
        <p:txBody>
          <a:bodyPr wrap="square" anchor="ctr">
            <a:spAutoFit/>
          </a:bodyPr>
          <a:lstStyle/>
          <a:p>
            <a:pPr algn="l"/>
            <a:r>
              <a:rPr sz="1100" b="0">
                <a:solidFill>
                  <a:srgbClr val="C65911"/>
                </a:solidFill>
                <a:latin typeface="微软雅黑" panose="020B0503020204020204" charset="-122"/>
              </a:rPr>
              <a:t>解释：SQL+ 的修复成功率更高，patch 更可控，但 Critic 与 Router 引入了更高 token 成本。</a:t>
            </a:r>
            <a:endParaRPr sz="1100" b="0">
              <a:solidFill>
                <a:srgbClr val="C65911"/>
              </a:solidFill>
              <a:latin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73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实验七：repair skill 分治结果</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21</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custDataLst>
              <p:tags r:id="rId1"/>
            </p:custDataLst>
          </p:nvPr>
        </p:nvGraphicFramePr>
        <p:xfrm>
          <a:off x="395605" y="1934845"/>
          <a:ext cx="8321040" cy="3105150"/>
        </p:xfrm>
        <a:graphic>
          <a:graphicData uri="http://schemas.openxmlformats.org/drawingml/2006/table">
            <a:tbl>
              <a:tblPr firstRow="1" bandRow="1">
                <a:tableStyleId>{5C22544A-7EE6-4342-B048-85BDC9FD1C3A}</a:tableStyleId>
              </a:tblPr>
              <a:tblGrid>
                <a:gridCol w="2080260"/>
                <a:gridCol w="2080260"/>
                <a:gridCol w="2080260"/>
                <a:gridCol w="2080260"/>
              </a:tblGrid>
              <a:tr h="622300">
                <a:tc>
                  <a:txBody>
                    <a:bodyPr/>
                    <a:lstStyle/>
                    <a:p>
                      <a:pPr algn="ctr"/>
                      <a:r>
                        <a:rPr sz="1100" b="1">
                          <a:solidFill>
                            <a:srgbClr val="FFFFFF"/>
                          </a:solidFill>
                          <a:latin typeface="微软雅黑" panose="020B0503020204020204" charset="-122"/>
                        </a:rPr>
                        <a:t>Repair Skill</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样例数</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修复成功</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覆盖问题</a:t>
                      </a:r>
                      <a:endParaRPr sz="1100" b="1">
                        <a:solidFill>
                          <a:srgbClr val="FFFFFF"/>
                        </a:solidFill>
                        <a:latin typeface="微软雅黑" panose="020B0503020204020204" charset="-122"/>
                      </a:endParaRPr>
                    </a:p>
                  </a:txBody>
                  <a:tcPr marL="36576" marR="36576">
                    <a:solidFill>
                      <a:srgbClr val="1F4E79"/>
                    </a:solidFill>
                  </a:tcPr>
                </a:tc>
              </a:tr>
              <a:tr h="496570">
                <a:tc>
                  <a:txBody>
                    <a:bodyPr/>
                    <a:lstStyle/>
                    <a:p>
                      <a:pPr algn="ctr"/>
                      <a:r>
                        <a:rPr sz="1000" b="0">
                          <a:solidFill>
                            <a:srgbClr val="282828"/>
                          </a:solidFill>
                          <a:latin typeface="微软雅黑" panose="020B0503020204020204" charset="-122"/>
                        </a:rPr>
                        <a:t>value-linking</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值、日期边界、状态过滤</a:t>
                      </a:r>
                      <a:endParaRPr sz="1000" b="0">
                        <a:solidFill>
                          <a:srgbClr val="282828"/>
                        </a:solidFill>
                        <a:latin typeface="微软雅黑" panose="020B0503020204020204" charset="-122"/>
                      </a:endParaRPr>
                    </a:p>
                  </a:txBody>
                  <a:tcPr marL="36576" marR="36576">
                    <a:solidFill>
                      <a:srgbClr val="FFFFFF"/>
                    </a:solidFill>
                  </a:tcPr>
                </a:tc>
              </a:tr>
              <a:tr h="496570">
                <a:tc>
                  <a:txBody>
                    <a:bodyPr/>
                    <a:lstStyle/>
                    <a:p>
                      <a:pPr algn="ctr"/>
                      <a:r>
                        <a:rPr sz="1000" b="0">
                          <a:solidFill>
                            <a:srgbClr val="282828"/>
                          </a:solidFill>
                          <a:latin typeface="微软雅黑" panose="020B0503020204020204" charset="-122"/>
                        </a:rPr>
                        <a:t>ORDER</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排序字段、方向、LIMIT</a:t>
                      </a:r>
                      <a:endParaRPr sz="1000" b="0">
                        <a:solidFill>
                          <a:srgbClr val="282828"/>
                        </a:solidFill>
                        <a:latin typeface="微软雅黑" panose="020B0503020204020204" charset="-122"/>
                      </a:endParaRPr>
                    </a:p>
                  </a:txBody>
                  <a:tcPr marL="36576" marR="36576">
                    <a:solidFill>
                      <a:srgbClr val="EEF2F7"/>
                    </a:solidFill>
                  </a:tcPr>
                </a:tc>
              </a:tr>
              <a:tr h="496570">
                <a:tc>
                  <a:txBody>
                    <a:bodyPr/>
                    <a:lstStyle/>
                    <a:p>
                      <a:pPr algn="ctr"/>
                      <a:r>
                        <a:rPr sz="1000" b="0">
                          <a:solidFill>
                            <a:srgbClr val="282828"/>
                          </a:solidFill>
                          <a:latin typeface="微软雅黑" panose="020B0503020204020204" charset="-122"/>
                        </a:rPr>
                        <a:t>aggregation</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聚合口径、AGG 别名、HAVING/ORDER 引用</a:t>
                      </a:r>
                      <a:endParaRPr sz="1000" b="0">
                        <a:solidFill>
                          <a:srgbClr val="282828"/>
                        </a:solidFill>
                        <a:latin typeface="微软雅黑" panose="020B0503020204020204" charset="-122"/>
                      </a:endParaRPr>
                    </a:p>
                  </a:txBody>
                  <a:tcPr marL="36576" marR="36576">
                    <a:solidFill>
                      <a:srgbClr val="FFFFFF"/>
                    </a:solidFill>
                  </a:tcPr>
                </a:tc>
              </a:tr>
              <a:tr h="496570">
                <a:tc>
                  <a:txBody>
                    <a:bodyPr/>
                    <a:lstStyle/>
                    <a:p>
                      <a:pPr algn="ctr"/>
                      <a:r>
                        <a:rPr sz="1000" b="0">
                          <a:solidFill>
                            <a:srgbClr val="282828"/>
                          </a:solidFill>
                          <a:latin typeface="微软雅黑" panose="020B0503020204020204" charset="-122"/>
                        </a:rPr>
                        <a:t>join</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join 路径、冗余 join、缺少 paid 过滤、连接方向</a:t>
                      </a:r>
                      <a:endParaRPr sz="1000" b="0">
                        <a:solidFill>
                          <a:srgbClr val="282828"/>
                        </a:solidFill>
                        <a:latin typeface="微软雅黑" panose="020B0503020204020204" charset="-122"/>
                      </a:endParaRPr>
                    </a:p>
                  </a:txBody>
                  <a:tcPr marL="36576" marR="36576">
                    <a:solidFill>
                      <a:srgbClr val="EEF2F7"/>
                    </a:solidFill>
                  </a:tcPr>
                </a:tc>
              </a:tr>
              <a:tr h="496570">
                <a:tc>
                  <a:txBody>
                    <a:bodyPr/>
                    <a:lstStyle/>
                    <a:p>
                      <a:pPr algn="ctr"/>
                      <a:r>
                        <a:rPr sz="1000" b="0">
                          <a:solidFill>
                            <a:srgbClr val="282828"/>
                          </a:solidFill>
                          <a:latin typeface="微软雅黑" panose="020B0503020204020204" charset="-122"/>
                        </a:rPr>
                        <a:t>projection</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1/1</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输出列多、少或顺序错误</a:t>
                      </a:r>
                      <a:endParaRPr sz="1000" b="0">
                        <a:solidFill>
                          <a:srgbClr val="282828"/>
                        </a:solidFill>
                        <a:latin typeface="微软雅黑" panose="020B0503020204020204" charset="-122"/>
                      </a:endParaRPr>
                    </a:p>
                  </a:txBody>
                  <a:tcPr marL="36576" marR="36576">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732" y="98031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实验八：Spider smoke test</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22</a:t>
            </a:r>
            <a:endParaRPr sz="800" b="0">
              <a:solidFill>
                <a:srgbClr val="5F5F5F"/>
              </a:solidFill>
              <a:latin typeface="微软雅黑" panose="020B0503020204020204" charset="-122"/>
            </a:endParaRPr>
          </a:p>
        </p:txBody>
      </p:sp>
      <p:sp>
        <p:nvSpPr>
          <p:cNvPr id="4" name="Rectangle 3"/>
          <p:cNvSpPr/>
          <p:nvPr/>
        </p:nvSpPr>
        <p:spPr>
          <a:xfrm>
            <a:off x="404495" y="1916430"/>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验证 SQL+ 转换链路能否迁移到公开 Text-to-SQL 数据集子集。</a:t>
            </a:r>
            <a:endParaRPr sz="1100" b="1">
              <a:solidFill>
                <a:srgbClr val="282828"/>
              </a:solidFill>
              <a:latin typeface="微软雅黑" panose="020B0503020204020204" charset="-122"/>
            </a:endParaRPr>
          </a:p>
        </p:txBody>
      </p:sp>
      <p:sp>
        <p:nvSpPr>
          <p:cNvPr id="5" name="Rectangle 4"/>
          <p:cNvSpPr/>
          <p:nvPr/>
        </p:nvSpPr>
        <p:spPr>
          <a:xfrm>
            <a:off x="4427855" y="1916430"/>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Spider dev 中 concert_singer 数据库的 20 条受支持样例。</a:t>
            </a:r>
            <a:endParaRPr sz="1100" b="0">
              <a:solidFill>
                <a:srgbClr val="282828"/>
              </a:solidFill>
              <a:latin typeface="微软雅黑" panose="020B0503020204020204" charset="-122"/>
            </a:endParaRPr>
          </a:p>
        </p:txBody>
      </p:sp>
      <p:sp>
        <p:nvSpPr>
          <p:cNvPr id="6" name="Rectangle 5"/>
          <p:cNvSpPr/>
          <p:nvPr/>
        </p:nvSpPr>
        <p:spPr>
          <a:xfrm>
            <a:off x="404495" y="3242310"/>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SQL+ valid、SQL executable、execution match。</a:t>
            </a:r>
            <a:endParaRPr sz="1100" b="0">
              <a:solidFill>
                <a:srgbClr val="282828"/>
              </a:solidFill>
              <a:latin typeface="微软雅黑" panose="020B0503020204020204" charset="-122"/>
            </a:endParaRPr>
          </a:p>
        </p:txBody>
      </p:sp>
      <p:sp>
        <p:nvSpPr>
          <p:cNvPr id="7" name="Rectangle 6"/>
          <p:cNvSpPr/>
          <p:nvPr/>
        </p:nvSpPr>
        <p:spPr>
          <a:xfrm>
            <a:off x="4427855" y="3242310"/>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20/20 SQL+ 有效，20/20 SQL 可执行，20/20 与 gold SQL 执行一致。</a:t>
            </a:r>
            <a:endParaRPr sz="1100" b="1">
              <a:solidFill>
                <a:srgbClr val="282828"/>
              </a:solidFill>
              <a:latin typeface="微软雅黑" panose="020B0503020204020204" charset="-122"/>
            </a:endParaRPr>
          </a:p>
        </p:txBody>
      </p:sp>
      <p:sp>
        <p:nvSpPr>
          <p:cNvPr id="8" name="Rectangle 7"/>
          <p:cNvSpPr/>
          <p:nvPr/>
        </p:nvSpPr>
        <p:spPr>
          <a:xfrm>
            <a:off x="404495" y="4613910"/>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该结果只说明小规模公开子集可迁移，不能作为完整 Spider benchmark 分数。</a:t>
            </a:r>
            <a:endParaRPr sz="1100" b="0">
              <a:solidFill>
                <a:srgbClr val="282828"/>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6812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初步实验的综合判断</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23</a:t>
            </a:r>
            <a:endParaRPr sz="800" b="0">
              <a:solidFill>
                <a:srgbClr val="5F5F5F"/>
              </a:solidFill>
              <a:latin typeface="微软雅黑" panose="020B0503020204020204" charset="-122"/>
            </a:endParaRPr>
          </a:p>
        </p:txBody>
      </p:sp>
      <p:sp>
        <p:nvSpPr>
          <p:cNvPr id="4" name="TextBox 3"/>
          <p:cNvSpPr txBox="1"/>
          <p:nvPr/>
        </p:nvSpPr>
        <p:spPr>
          <a:xfrm>
            <a:off x="467868" y="1874520"/>
            <a:ext cx="7955279" cy="4754880"/>
          </a:xfrm>
          <a:prstGeom prst="rect">
            <a:avLst/>
          </a:prstGeom>
          <a:noFill/>
        </p:spPr>
        <p:txBody>
          <a:bodyPr wrap="square">
            <a:spAutoFit/>
          </a:bodyPr>
          <a:lstStyle/>
          <a:p>
            <a:pPr>
              <a:spcAft>
                <a:spcPts val="700"/>
              </a:spcAft>
              <a:defRPr sz="1700">
                <a:solidFill>
                  <a:srgbClr val="282828"/>
                </a:solidFill>
                <a:latin typeface="微软雅黑" panose="020B0503020204020204" charset="-122"/>
              </a:defRPr>
            </a:pPr>
            <a:r>
              <a:t>SQL+ 的基本转换链路已经可用，具备继续研究的工程基础。</a:t>
            </a:r>
          </a:p>
          <a:p>
            <a:pPr>
              <a:spcAft>
                <a:spcPts val="700"/>
              </a:spcAft>
              <a:defRPr sz="1700">
                <a:solidFill>
                  <a:srgbClr val="282828"/>
                </a:solidFill>
                <a:latin typeface="微软雅黑" panose="020B0503020204020204" charset="-122"/>
              </a:defRPr>
            </a:pPr>
            <a:r>
              <a:t>SQL+ 初次生成并不天然更便宜，也不应被包装成“显著提高准确率”。</a:t>
            </a:r>
          </a:p>
          <a:p>
            <a:pPr>
              <a:spcAft>
                <a:spcPts val="700"/>
              </a:spcAft>
              <a:defRPr sz="1700">
                <a:solidFill>
                  <a:srgbClr val="282828"/>
                </a:solidFill>
                <a:latin typeface="微软雅黑" panose="020B0503020204020204" charset="-122"/>
              </a:defRPr>
            </a:pPr>
            <a:r>
              <a:t>SQL+ 的阶段性价值主要体现在错误定位、局部 patch 和 repair skill 路由。</a:t>
            </a:r>
          </a:p>
          <a:p>
            <a:pPr>
              <a:spcAft>
                <a:spcPts val="700"/>
              </a:spcAft>
              <a:defRPr sz="1700">
                <a:solidFill>
                  <a:srgbClr val="282828"/>
                </a:solidFill>
                <a:latin typeface="微软雅黑" panose="020B0503020204020204" charset="-122"/>
              </a:defRPr>
            </a:pPr>
            <a:r>
              <a:t>当前最需要补齐的是更大规模的非 gold 诊断实验、端到端 latency、token 成本和达梦 SQL 方言适配。</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后续实验计划</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24</a:t>
            </a:r>
            <a:endParaRPr sz="800" b="0">
              <a:solidFill>
                <a:srgbClr val="5F5F5F"/>
              </a:solidFill>
              <a:latin typeface="微软雅黑" panose="020B0503020204020204" charset="-122"/>
            </a:endParaRPr>
          </a:p>
        </p:txBody>
      </p:sp>
      <p:sp>
        <p:nvSpPr>
          <p:cNvPr id="4" name="TextBox 3"/>
          <p:cNvSpPr txBox="1"/>
          <p:nvPr/>
        </p:nvSpPr>
        <p:spPr>
          <a:xfrm>
            <a:off x="438658" y="1844675"/>
            <a:ext cx="7955279" cy="4754880"/>
          </a:xfrm>
          <a:prstGeom prst="rect">
            <a:avLst/>
          </a:prstGeom>
          <a:noFill/>
        </p:spPr>
        <p:txBody>
          <a:bodyPr wrap="square">
            <a:spAutoFit/>
          </a:bodyPr>
          <a:lstStyle/>
          <a:p>
            <a:pPr hangingPunct="1">
              <a:spcAft>
                <a:spcPts val="700"/>
              </a:spcAft>
              <a:defRPr sz="1700">
                <a:solidFill>
                  <a:srgbClr val="282828"/>
                </a:solidFill>
                <a:latin typeface="微软雅黑" panose="020B0503020204020204" charset="-122"/>
              </a:defRPr>
            </a:pPr>
            <a:r>
              <a:t>扩展 Spider 子集：从单数据库 smoke test 扩展到多数据库、多难度、多类型查询。</a:t>
            </a:r>
          </a:p>
          <a:p>
            <a:pPr hangingPunct="1">
              <a:spcAft>
                <a:spcPts val="700"/>
              </a:spcAft>
              <a:defRPr sz="1700">
                <a:solidFill>
                  <a:srgbClr val="282828"/>
                </a:solidFill>
                <a:latin typeface="微软雅黑" panose="020B0503020204020204" charset="-122"/>
              </a:defRPr>
            </a:pPr>
            <a:r>
              <a:t>补齐端到端修复成本：重新记录 Critic、Router、Repair、Executor 各阶段 latency 和 token。</a:t>
            </a:r>
          </a:p>
          <a:p>
            <a:pPr hangingPunct="1">
              <a:spcAft>
                <a:spcPts val="700"/>
              </a:spcAft>
              <a:defRPr sz="1700">
                <a:solidFill>
                  <a:srgbClr val="282828"/>
                </a:solidFill>
                <a:latin typeface="微软雅黑" panose="020B0503020204020204" charset="-122"/>
              </a:defRPr>
            </a:pPr>
            <a:r>
              <a:t>做无 gold 语义错诊断：不依赖 gold SQL，观察 Critic Agent 能否定位结果为空、聚合口径错、projection 错。</a:t>
            </a:r>
          </a:p>
          <a:p>
            <a:pPr hangingPunct="1">
              <a:spcAft>
                <a:spcPts val="700"/>
              </a:spcAft>
              <a:defRPr sz="1700">
                <a:solidFill>
                  <a:srgbClr val="282828"/>
                </a:solidFill>
                <a:latin typeface="微软雅黑" panose="020B0503020204020204" charset="-122"/>
              </a:defRPr>
            </a:pPr>
            <a:r>
              <a:t>适配达梦 SQL：补充日期函数、分页、类型转换、字符串函数和方言兼容测试。</a:t>
            </a:r>
          </a:p>
          <a:p>
            <a:pPr hangingPunct="1">
              <a:spcAft>
                <a:spcPts val="700"/>
              </a:spcAft>
              <a:defRPr sz="1700">
                <a:solidFill>
                  <a:srgbClr val="282828"/>
                </a:solidFill>
                <a:latin typeface="微软雅黑" panose="020B0503020204020204" charset="-122"/>
              </a:defRPr>
            </a:pPr>
            <a:r>
              <a:t>与 SemQL/NatSQL 的对比保持边界：开题阶段先做 controlled proxy，后续若时间允许再接入原系统代码。</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预期创新点</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25</a:t>
            </a:r>
            <a:endParaRPr sz="800" b="0">
              <a:solidFill>
                <a:srgbClr val="5F5F5F"/>
              </a:solidFill>
              <a:latin typeface="微软雅黑" panose="020B0503020204020204" charset="-122"/>
            </a:endParaRPr>
          </a:p>
        </p:txBody>
      </p:sp>
      <p:sp>
        <p:nvSpPr>
          <p:cNvPr id="4" name="TextBox 3"/>
          <p:cNvSpPr txBox="1"/>
          <p:nvPr/>
        </p:nvSpPr>
        <p:spPr>
          <a:xfrm>
            <a:off x="438658" y="1988820"/>
            <a:ext cx="7955279" cy="4754880"/>
          </a:xfrm>
          <a:prstGeom prst="rect">
            <a:avLst/>
          </a:prstGeom>
          <a:noFill/>
        </p:spPr>
        <p:txBody>
          <a:bodyPr wrap="square">
            <a:spAutoFit/>
          </a:bodyPr>
          <a:lstStyle/>
          <a:p>
            <a:pPr>
              <a:spcAft>
                <a:spcPts val="700"/>
              </a:spcAft>
              <a:defRPr sz="1700">
                <a:solidFill>
                  <a:srgbClr val="282828"/>
                </a:solidFill>
                <a:latin typeface="微软雅黑" panose="020B0503020204020204" charset="-122"/>
              </a:defRPr>
            </a:pPr>
            <a:r>
              <a:t>面向生成和修复的 SQL+ 中间表示：重点不是更短，而是步骤化、可转换、可定位、可 patch。</a:t>
            </a:r>
          </a:p>
          <a:p>
            <a:pPr>
              <a:spcAft>
                <a:spcPts val="700"/>
              </a:spcAft>
              <a:defRPr sz="1700">
                <a:solidFill>
                  <a:srgbClr val="282828"/>
                </a:solidFill>
                <a:latin typeface="微软雅黑" panose="020B0503020204020204" charset="-122"/>
              </a:defRPr>
            </a:pPr>
            <a:r>
              <a:t>面向 SQL+ 的多智能体反馈闭环：把 schema、planning、translation、critic、router、repair skill 和 executor 组织成可检查流程。</a:t>
            </a:r>
          </a:p>
          <a:p>
            <a:pPr>
              <a:spcAft>
                <a:spcPts val="700"/>
              </a:spcAft>
              <a:defRPr sz="1700">
                <a:solidFill>
                  <a:srgbClr val="282828"/>
                </a:solidFill>
                <a:latin typeface="微软雅黑" panose="020B0503020204020204" charset="-122"/>
              </a:defRPr>
            </a:pPr>
            <a:r>
              <a:t>面向 repairability 的评价体系：在 execution accuracy 之外，引入错误定位、技能路由、最小 patch、修复轮数、token 和 latency。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当前风险与应对</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26</a:t>
            </a:r>
            <a:endParaRPr sz="800" b="0">
              <a:solidFill>
                <a:srgbClr val="5F5F5F"/>
              </a:solidFill>
              <a:latin typeface="微软雅黑" panose="020B0503020204020204" charset="-122"/>
            </a:endParaRPr>
          </a:p>
        </p:txBody>
      </p:sp>
      <p:sp>
        <p:nvSpPr>
          <p:cNvPr id="4" name="TextBox 3"/>
          <p:cNvSpPr txBox="1"/>
          <p:nvPr/>
        </p:nvSpPr>
        <p:spPr>
          <a:xfrm>
            <a:off x="438658" y="1874520"/>
            <a:ext cx="7955279" cy="4754880"/>
          </a:xfrm>
          <a:prstGeom prst="rect">
            <a:avLst/>
          </a:prstGeom>
          <a:noFill/>
        </p:spPr>
        <p:txBody>
          <a:bodyPr wrap="square">
            <a:spAutoFit/>
          </a:bodyPr>
          <a:lstStyle/>
          <a:p>
            <a:pPr>
              <a:spcAft>
                <a:spcPts val="700"/>
              </a:spcAft>
              <a:defRPr sz="1700">
                <a:solidFill>
                  <a:srgbClr val="282828"/>
                </a:solidFill>
                <a:latin typeface="微软雅黑" panose="020B0503020204020204" charset="-122"/>
              </a:defRPr>
            </a:pPr>
            <a:r>
              <a:t>样例规模偏小：后续用 Spider 多数据库子集和 BIRD 子集补充外部有效性。</a:t>
            </a:r>
          </a:p>
          <a:p>
            <a:pPr>
              <a:spcAft>
                <a:spcPts val="700"/>
              </a:spcAft>
              <a:defRPr sz="1700">
                <a:solidFill>
                  <a:srgbClr val="282828"/>
                </a:solidFill>
                <a:latin typeface="微软雅黑" panose="020B0503020204020204" charset="-122"/>
              </a:defRPr>
            </a:pPr>
            <a:r>
              <a:t>proxy 对比不能替代完整复现：PPT 和开题报告中明确标注 controlled proxy，避免夸大。</a:t>
            </a:r>
          </a:p>
          <a:p>
            <a:pPr>
              <a:spcAft>
                <a:spcPts val="700"/>
              </a:spcAft>
              <a:defRPr sz="1700">
                <a:solidFill>
                  <a:srgbClr val="282828"/>
                </a:solidFill>
                <a:latin typeface="微软雅黑" panose="020B0503020204020204" charset="-122"/>
              </a:defRPr>
            </a:pPr>
            <a:r>
              <a:t>Skill Router 当前依赖已知失败集：后续要增加自动诊断和未知错误样例。</a:t>
            </a:r>
          </a:p>
          <a:p>
            <a:pPr>
              <a:spcAft>
                <a:spcPts val="700"/>
              </a:spcAft>
              <a:defRPr sz="1700">
                <a:solidFill>
                  <a:srgbClr val="282828"/>
                </a:solidFill>
                <a:latin typeface="微软雅黑" panose="020B0503020204020204" charset="-122"/>
              </a:defRPr>
            </a:pPr>
            <a:r>
              <a:t>SQL+ 成本更高：后续实验重点比较修复收益，而不是单纯比较初次生成。</a:t>
            </a:r>
          </a:p>
          <a:p>
            <a:pPr>
              <a:spcAft>
                <a:spcPts val="700"/>
              </a:spcAft>
              <a:defRPr sz="1700">
                <a:solidFill>
                  <a:srgbClr val="282828"/>
                </a:solidFill>
                <a:latin typeface="微软雅黑" panose="020B0503020204020204" charset="-122"/>
              </a:defRPr>
            </a:pPr>
            <a:r>
              <a:t>达梦方言尚未充分验证：后续增加方言转换层和兼容性测试集。</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68578"/>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总结</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27</a:t>
            </a:r>
            <a:endParaRPr sz="800" b="0">
              <a:solidFill>
                <a:srgbClr val="5F5F5F"/>
              </a:solidFill>
              <a:latin typeface="微软雅黑" panose="020B0503020204020204" charset="-122"/>
            </a:endParaRPr>
          </a:p>
        </p:txBody>
      </p:sp>
      <p:sp>
        <p:nvSpPr>
          <p:cNvPr id="4" name="TextBox 3"/>
          <p:cNvSpPr txBox="1"/>
          <p:nvPr/>
        </p:nvSpPr>
        <p:spPr>
          <a:xfrm>
            <a:off x="438658" y="1844675"/>
            <a:ext cx="7955279" cy="4754880"/>
          </a:xfrm>
          <a:prstGeom prst="rect">
            <a:avLst/>
          </a:prstGeom>
          <a:noFill/>
        </p:spPr>
        <p:txBody>
          <a:bodyPr wrap="square">
            <a:spAutoFit/>
          </a:bodyPr>
          <a:lstStyle/>
          <a:p>
            <a:pPr>
              <a:spcAft>
                <a:spcPts val="700"/>
              </a:spcAft>
              <a:defRPr sz="1700">
                <a:solidFill>
                  <a:srgbClr val="282828"/>
                </a:solidFill>
                <a:latin typeface="微软雅黑" panose="020B0503020204020204" charset="-122"/>
              </a:defRPr>
            </a:pPr>
            <a:r>
              <a:t>本课题不是单纯做 Text-to-SQL demo，而是研究 SQL+ 中间表示与多智能体反馈修正机制。</a:t>
            </a:r>
          </a:p>
          <a:p>
            <a:pPr>
              <a:spcAft>
                <a:spcPts val="700"/>
              </a:spcAft>
              <a:defRPr sz="1700">
                <a:solidFill>
                  <a:srgbClr val="282828"/>
                </a:solidFill>
                <a:latin typeface="微软雅黑" panose="020B0503020204020204" charset="-122"/>
              </a:defRPr>
            </a:pPr>
            <a:r>
              <a:t>已有实验支持 SQL+ 转换可行、公开小子集可迁移、局部 repair skill 对已知失败集有效。</a:t>
            </a:r>
          </a:p>
          <a:p>
            <a:pPr>
              <a:spcAft>
                <a:spcPts val="700"/>
              </a:spcAft>
              <a:defRPr sz="1700">
                <a:solidFill>
                  <a:srgbClr val="282828"/>
                </a:solidFill>
                <a:latin typeface="微软雅黑" panose="020B0503020204020204" charset="-122"/>
              </a:defRPr>
            </a:pPr>
            <a:r>
              <a:t>已有实验也提示 SQL+ 不应被简单表述为更省 token 或初次生成更准。</a:t>
            </a:r>
          </a:p>
          <a:p>
            <a:pPr>
              <a:spcAft>
                <a:spcPts val="700"/>
              </a:spcAft>
              <a:defRPr sz="1700">
                <a:solidFill>
                  <a:srgbClr val="282828"/>
                </a:solidFill>
                <a:latin typeface="微软雅黑" panose="020B0503020204020204" charset="-122"/>
              </a:defRPr>
            </a:pPr>
            <a:r>
              <a:t>后续研究重点是扩大样例、强化无 gold 诊断、补齐成本指标，并验证 SQL+ 修复收益是否稳定存在。</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83818"/>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主要参考文献</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28</a:t>
            </a:r>
            <a:endParaRPr sz="800" b="0">
              <a:solidFill>
                <a:srgbClr val="5F5F5F"/>
              </a:solidFill>
              <a:latin typeface="微软雅黑" panose="020B0503020204020204" charset="-122"/>
            </a:endParaRPr>
          </a:p>
        </p:txBody>
      </p:sp>
      <p:sp>
        <p:nvSpPr>
          <p:cNvPr id="4" name="TextBox 3"/>
          <p:cNvSpPr txBox="1"/>
          <p:nvPr/>
        </p:nvSpPr>
        <p:spPr>
          <a:xfrm>
            <a:off x="438658" y="1874520"/>
            <a:ext cx="7955279" cy="4754880"/>
          </a:xfrm>
          <a:prstGeom prst="rect">
            <a:avLst/>
          </a:prstGeom>
          <a:noFill/>
        </p:spPr>
        <p:txBody>
          <a:bodyPr wrap="square">
            <a:spAutoFit/>
          </a:bodyPr>
          <a:lstStyle/>
          <a:p>
            <a:pPr>
              <a:spcAft>
                <a:spcPts val="700"/>
              </a:spcAft>
              <a:defRPr sz="1700">
                <a:solidFill>
                  <a:srgbClr val="282828"/>
                </a:solidFill>
                <a:latin typeface="微软雅黑" panose="020B0503020204020204" charset="-122"/>
              </a:defRPr>
            </a:pPr>
            <a:r>
              <a:t>Spider, BIRD, Spider 2.0：Text-to-SQL benchmark 与真实场景评估。</a:t>
            </a:r>
          </a:p>
          <a:p>
            <a:pPr>
              <a:spcAft>
                <a:spcPts val="700"/>
              </a:spcAft>
              <a:defRPr sz="1700">
                <a:solidFill>
                  <a:srgbClr val="282828"/>
                </a:solidFill>
                <a:latin typeface="微软雅黑" panose="020B0503020204020204" charset="-122"/>
              </a:defRPr>
            </a:pPr>
            <a:r>
              <a:t>IRNet/SemQL, NatSQL：Text-to-SQL 中间表示研究。</a:t>
            </a:r>
          </a:p>
          <a:p>
            <a:pPr>
              <a:spcAft>
                <a:spcPts val="700"/>
              </a:spcAft>
              <a:defRPr sz="1700">
                <a:solidFill>
                  <a:srgbClr val="282828"/>
                </a:solidFill>
                <a:latin typeface="微软雅黑" panose="020B0503020204020204" charset="-122"/>
              </a:defRPr>
            </a:pPr>
            <a:r>
              <a:t>RAT-SQL, PICARD, RESDSQL：schema linking、语法约束与结构化解码。</a:t>
            </a:r>
          </a:p>
          <a:p>
            <a:pPr>
              <a:spcAft>
                <a:spcPts val="700"/>
              </a:spcAft>
              <a:defRPr sz="1700">
                <a:solidFill>
                  <a:srgbClr val="282828"/>
                </a:solidFill>
                <a:latin typeface="微软雅黑" panose="020B0503020204020204" charset="-122"/>
              </a:defRPr>
            </a:pPr>
            <a:r>
              <a:t>DAIL-SQL, DIN-SQL, CHESS, CHASE-SQL：LLM-based Text-to-SQL、任务分解与候选选择。</a:t>
            </a:r>
          </a:p>
          <a:p>
            <a:pPr>
              <a:spcAft>
                <a:spcPts val="700"/>
              </a:spcAft>
              <a:defRPr sz="1700">
                <a:solidFill>
                  <a:srgbClr val="282828"/>
                </a:solidFill>
                <a:latin typeface="微软雅黑" panose="020B0503020204020204" charset="-122"/>
              </a:defRPr>
            </a:pPr>
            <a:r>
              <a:t>MAC-SQL, SQLCritic, Tool-Assisted Agent, LEVER：多智能体、执行反馈和修复评估。</a:t>
            </a:r>
          </a:p>
          <a:p>
            <a:pPr>
              <a:spcAft>
                <a:spcPts val="700"/>
              </a:spcAft>
              <a:defRPr sz="1700">
                <a:solidFill>
                  <a:srgbClr val="282828"/>
                </a:solidFill>
                <a:latin typeface="微软雅黑" panose="020B0503020204020204" charset="-122"/>
              </a:defRPr>
            </a:pPr>
            <a:r>
              <a:t>GoogleSQL Pipe Syntax：SQL 线性表达与 SQL 语言扩展。</a:t>
            </a:r>
          </a:p>
        </p:txBody>
      </p:sp>
    </p:spTree>
  </p:cSld>
  <p:clrMapOvr>
    <a:masterClrMapping/>
  </p:clrMapOvr>
</p:sld>
</file>

<file path=ppt/tags/tag1.xml><?xml version="1.0" encoding="utf-8"?>
<p:tagLst xmlns:p="http://schemas.openxmlformats.org/presentationml/2006/main">
  <p:tag name="TABLE_ENDDRAG_ORIGIN_RECT" val="655*327"/>
  <p:tag name="TABLE_ENDDRAG_RECT" val="32*136*655*327"/>
</p:tagLst>
</file>

<file path=ppt/tags/tag2.xml><?xml version="1.0" encoding="utf-8"?>
<p:tagLst xmlns:p="http://schemas.openxmlformats.org/presentationml/2006/main">
  <p:tag name="TABLE_ENDDRAG_ORIGIN_RECT" val="655*215"/>
  <p:tag name="TABLE_ENDDRAG_RECT" val="25*145*655*215"/>
</p:tagLst>
</file>

<file path=ppt/tags/tag3.xml><?xml version="1.0" encoding="utf-8"?>
<p:tagLst xmlns:p="http://schemas.openxmlformats.org/presentationml/2006/main">
  <p:tag name="TABLE_ENDDRAG_ORIGIN_RECT" val="655*248"/>
  <p:tag name="TABLE_ENDDRAG_RECT" val="32*90*655*248"/>
</p:tagLst>
</file>

<file path=ppt/tags/tag4.xml><?xml version="1.0" encoding="utf-8"?>
<p:tagLst xmlns:p="http://schemas.openxmlformats.org/presentationml/2006/main">
  <p:tag name="TABLE_ENDDRAG_ORIGIN_RECT" val="655*267"/>
  <p:tag name="TABLE_ENDDRAG_RECT" val="32*89*655*267"/>
</p:tagLst>
</file>

<file path=ppt/tags/tag5.xml><?xml version="1.0" encoding="utf-8"?>
<p:tagLst xmlns:p="http://schemas.openxmlformats.org/presentationml/2006/main">
  <p:tag name="TABLE_ENDDRAG_ORIGIN_RECT" val="655*234"/>
  <p:tag name="TABLE_ENDDRAG_RECT" val="32*229*655*234"/>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8415</Words>
  <Application>WPS 演示</Application>
  <PresentationFormat>全屏显示(4:3)</PresentationFormat>
  <Paragraphs>784</Paragraphs>
  <Slides>28</Slides>
  <Notes>39</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28</vt:i4>
      </vt:variant>
    </vt:vector>
  </HeadingPairs>
  <TitlesOfParts>
    <vt:vector size="47" baseType="lpstr">
      <vt:lpstr>Arial</vt:lpstr>
      <vt:lpstr>宋体</vt:lpstr>
      <vt:lpstr>Wingdings</vt:lpstr>
      <vt:lpstr>黑体</vt:lpstr>
      <vt:lpstr>Tahoma</vt:lpstr>
      <vt:lpstr>Lucida Sans</vt:lpstr>
      <vt:lpstr>Comic Sans MS</vt:lpstr>
      <vt:lpstr>楷体_GB2312</vt:lpstr>
      <vt:lpstr>新宋体</vt:lpstr>
      <vt:lpstr>Times</vt:lpstr>
      <vt:lpstr>Times New Roman</vt:lpstr>
      <vt:lpstr>微软雅黑</vt:lpstr>
      <vt:lpstr>Arial Unicode MS</vt:lpstr>
      <vt:lpstr>Berlin Sans FB</vt:lpstr>
      <vt:lpstr>Wingdings</vt:lpstr>
      <vt:lpstr>楷体_GB2312</vt:lpstr>
      <vt:lpstr>方正楷体_GB2312</vt:lpstr>
      <vt:lpstr>Good Times</vt:lpstr>
      <vt:lpstr>1_自定义设计方案</vt:lpstr>
      <vt:lpstr>面向 SQL+ 简化查询表达的多智能体自然语言数据库查询生成与反馈修正方法研究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WNLO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Yans</dc:creator>
  <cp:lastModifiedBy>艾筠舜</cp:lastModifiedBy>
  <cp:revision>1490</cp:revision>
  <dcterms:created xsi:type="dcterms:W3CDTF">2007-06-21T01:14:00Z</dcterms:created>
  <dcterms:modified xsi:type="dcterms:W3CDTF">2026-06-17T10:58:15Z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D8EFAD67513A43E4928970E0C1008FEF_12</vt:lpwstr>
  </property>
</Properties>
</file>