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2"/>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9144000" cy="6858000" type="screen4x3"/>
  <p:notesSz cx="7099300" cy="10234295"/>
  <p:defaultTextStyle>
    <a:defPPr>
      <a:defRPr lang="zh-CN"/>
    </a:defPPr>
    <a:lvl1pPr marL="0" lvl="0"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1pPr>
    <a:lvl2pPr marL="457200" lvl="1"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2pPr>
    <a:lvl3pPr marL="914400" lvl="2"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3pPr>
    <a:lvl4pPr marL="1371600" lvl="3"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4pPr>
    <a:lvl5pPr marL="1828800" lvl="4"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5pPr>
    <a:lvl6pPr marL="2286000" lvl="5"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6pPr>
    <a:lvl7pPr marL="2743200" lvl="6"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7pPr>
    <a:lvl8pPr marL="3200400" lvl="7"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8pPr>
    <a:lvl9pPr marL="3657600" lvl="8" indent="0" algn="l" defTabSz="914400" rtl="0" eaLnBrk="0" fontAlgn="base" latinLnBrk="0" hangingPunct="0">
      <a:lnSpc>
        <a:spcPct val="100000"/>
      </a:lnSpc>
      <a:spcBef>
        <a:spcPct val="0"/>
      </a:spcBef>
      <a:spcAft>
        <a:spcPct val="0"/>
      </a:spcAft>
      <a:buNone/>
      <a:defRPr sz="2000" b="0" i="0" u="none" kern="1200" baseline="0">
        <a:solidFill>
          <a:srgbClr val="FF3300"/>
        </a:solidFill>
        <a:latin typeface="Arial" panose="020B0604020202090204" pitchFamily="34" charset="0"/>
        <a:ea typeface="黑体" panose="02010609060101010101" pitchFamily="49" charset="-122"/>
        <a:cs typeface="+mn-cs"/>
      </a:defRPr>
    </a:lvl9pPr>
  </p:defaultTextStyle>
  <p:extLst>
    <p:ext uri="{EFAFB233-063F-42B5-8137-9DF3F51BA10A}">
      <p15:sldGuideLst xmlns:p15="http://schemas.microsoft.com/office/powerpoint/2012/main">
        <p15:guide id="1" orient="horz" pos="212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99"/>
    <a:srgbClr val="CCFF99"/>
    <a:srgbClr val="66FF99"/>
    <a:srgbClr val="D9E7FB"/>
    <a:srgbClr val="0033CC"/>
    <a:srgbClr val="004A82"/>
    <a:srgbClr val="9C4A09"/>
    <a:srgbClr val="BF8C61"/>
    <a:srgbClr val="ED7D31"/>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99" autoAdjust="0"/>
    <p:restoredTop sz="71429" autoAdjust="0"/>
  </p:normalViewPr>
  <p:slideViewPr>
    <p:cSldViewPr showGuides="1">
      <p:cViewPr varScale="1">
        <p:scale>
          <a:sx n="66" d="100"/>
          <a:sy n="66" d="100"/>
        </p:scale>
        <p:origin x="1752" y="32"/>
      </p:cViewPr>
      <p:guideLst>
        <p:guide orient="horz" pos="212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3" name="Rectangle 3"/>
          <p:cNvSpPr>
            <a:spLocks noGrp="1" noChangeArrowheads="1"/>
          </p:cNvSpPr>
          <p:nvPr>
            <p:ph type="dt" sz="quarter"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4" name="Rectangle 4"/>
          <p:cNvSpPr>
            <a:spLocks noGrp="1" noChangeArrowheads="1"/>
          </p:cNvSpPr>
          <p:nvPr>
            <p:ph type="ftr" sz="quarter" idx="2"/>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6325" name="Rectangle 5"/>
          <p:cNvSpPr>
            <a:spLocks noGrp="1" noChangeArrowheads="1"/>
          </p:cNvSpPr>
          <p:nvPr>
            <p:ph type="sldNum" sz="quarter" idx="3"/>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51542B31-73EC-40E4-BA2E-3718341A1938}"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5" name="Rectangle 3"/>
          <p:cNvSpPr>
            <a:spLocks noGrp="1" noChangeArrowheads="1"/>
          </p:cNvSpPr>
          <p:nvPr>
            <p:ph type="dt" idx="1"/>
          </p:nvPr>
        </p:nvSpPr>
        <p:spPr bwMode="auto">
          <a:xfrm>
            <a:off x="4021138" y="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6" name="Rectangle 4"/>
          <p:cNvSpPr>
            <a:spLocks noGrp="1" noRot="1" noChangeAspect="1" noTextEdit="1"/>
          </p:cNvSpPr>
          <p:nvPr>
            <p:ph type="sldImg" idx="2"/>
          </p:nvPr>
        </p:nvSpPr>
        <p:spPr>
          <a:xfrm>
            <a:off x="990600" y="768350"/>
            <a:ext cx="5118100" cy="3836988"/>
          </a:xfrm>
          <a:prstGeom prst="rect">
            <a:avLst/>
          </a:prstGeom>
          <a:noFill/>
          <a:ln w="9525" cap="flat" cmpd="sng">
            <a:solidFill>
              <a:srgbClr val="000000"/>
            </a:solidFill>
            <a:prstDash val="solid"/>
            <a:miter/>
            <a:headEnd type="none" w="med" len="med"/>
            <a:tailEnd type="none" w="med" len="med"/>
          </a:ln>
        </p:spPr>
      </p:sp>
      <p:sp>
        <p:nvSpPr>
          <p:cNvPr id="3077" name="Rectangle 5"/>
          <p:cNvSpPr>
            <a:spLocks noGrp="1" noChangeArrowheads="1"/>
          </p:cNvSpPr>
          <p:nvPr>
            <p:ph type="body" sz="quarter" idx="3"/>
          </p:nvPr>
        </p:nvSpPr>
        <p:spPr bwMode="auto">
          <a:xfrm>
            <a:off x="709613" y="4860925"/>
            <a:ext cx="5680075" cy="460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8" name="Rectangle 6"/>
          <p:cNvSpPr>
            <a:spLocks noGrp="1" noChangeArrowheads="1"/>
          </p:cNvSpPr>
          <p:nvPr>
            <p:ph type="ftr" sz="quarter" idx="4"/>
          </p:nvPr>
        </p:nvSpPr>
        <p:spPr bwMode="auto">
          <a:xfrm>
            <a:off x="0"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l" defTabSz="990600" rtl="0" eaLnBrk="1" fontAlgn="base" latinLnBrk="0" hangingPunct="1">
              <a:lnSpc>
                <a:spcPct val="100000"/>
              </a:lnSpc>
              <a:spcBef>
                <a:spcPct val="0"/>
              </a:spcBef>
              <a:spcAft>
                <a:spcPct val="0"/>
              </a:spcAft>
              <a:buClrTx/>
              <a:buSzTx/>
              <a:buFontTx/>
              <a:buNone/>
              <a:defRPr/>
            </a:pPr>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079" name="Rectangle 7"/>
          <p:cNvSpPr>
            <a:spLocks noGrp="1" noChangeArrowheads="1"/>
          </p:cNvSpPr>
          <p:nvPr>
            <p:ph type="sldNum" sz="quarter" idx="5"/>
          </p:nvPr>
        </p:nvSpPr>
        <p:spPr bwMode="auto">
          <a:xfrm>
            <a:off x="4021138" y="9721850"/>
            <a:ext cx="3076575" cy="51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48" tIns="49524" rIns="99048" bIns="49524" numCol="1" anchor="b" anchorCtr="0" compatLnSpc="1"/>
          <a:lstStyle>
            <a:lvl1pPr algn="r" defTabSz="990600" eaLnBrk="1" hangingPunct="1">
              <a:lnSpc>
                <a:spcPct val="100000"/>
              </a:lnSpc>
              <a:spcBef>
                <a:spcPct val="0"/>
              </a:spcBef>
              <a:buClrTx/>
              <a:buSzTx/>
              <a:buFontTx/>
              <a:buNone/>
              <a:defRPr kumimoji="0" sz="1300">
                <a:solidFill>
                  <a:schemeClr val="tx1"/>
                </a:solidFill>
                <a:ea typeface="宋体" pitchFamily="2" charset="-122"/>
              </a:defRPr>
            </a:lvl1pPr>
          </a:lstStyle>
          <a:p>
            <a:pPr marL="0" marR="0" lvl="0" indent="0" algn="r" defTabSz="990600" rtl="0" eaLnBrk="1" fontAlgn="base" latinLnBrk="0" hangingPunct="1">
              <a:lnSpc>
                <a:spcPct val="100000"/>
              </a:lnSpc>
              <a:spcBef>
                <a:spcPct val="0"/>
              </a:spcBef>
              <a:spcAft>
                <a:spcPct val="0"/>
              </a:spcAft>
              <a:buClrTx/>
              <a:buSzTx/>
              <a:buFontTx/>
              <a:buNone/>
              <a:defRPr/>
            </a:pPr>
            <a:fld id="{989180F7-3713-4556-8363-0F6EEBB166EB}" type="slidenum">
              <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3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90204"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这一页先说明课题定位。我的题目聚焦 SQL+、Text-to-SQL、多智能体和执行反馈修正。这里需要强调，本课题不是做一个单轮自然语言转 SQL 的工程 demo，而是研究如何通过一个更适合生成和修复的中间表示，把查询生成、SQL 转换、执行验证和错误修正连接成闭环。课题背景一方面来自达梦 SQL+ 的扩展语法需求，另一方面来自真实数据库自然语言查询中“能生成但难验证、难定位、难修复”的问题。</a:t>
            </a:r>
          </a:p>
          <a:p>
            <a:r>
              <a:t>【答辩备注】</a:t>
            </a:r>
          </a:p>
          <a:p>
            <a:r>
              <a:t>如果老师问“SQL+ 是不是重新发明 SQL”，回答：不是。SQL+ 在本课题中是 NL2SQL 的中间表示层，目标是降低表达耦合和提高可修复性，最终仍要转换成标准 SQL 或达梦 SQL 执行。</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这一页介绍汇报结构。我会按五个部分展开：第一，问题来源和研究背景；第二，已有研究和研究空间；第三，本文方法，包括 SQL+ 和多智能体闭环；第四，初步实验，重点说明实验目的、数据集、评价指标和当前结果；第五，后续计划、风险边界和预期创新点。这个顺序的目的，是先说明为什么需要这个课题，再说明我准备怎么做，最后用初步实验说明它是可落地的。</a:t>
            </a:r>
          </a:p>
          <a:p>
            <a:r>
              <a:t>【答辩备注】</a:t>
            </a:r>
          </a:p>
          <a:p>
            <a:r>
              <a:t>这一页不要展开讲技术细节，控制在 30 秒左右。重点是让老师知道实验部分不是单独堆结果，而是围绕研究问题设计。</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这一页讲传统 Text-to-SQL 的基本流程。自然语言问题经过模型或解析器生成标准 SQL，再交给数据库执行，最后返回查询结果。这个流程很直接，但问题是反馈通常只落在最终 SQL 上。SQL 一旦出错，很难判断是表选错、字段选错、join 错、聚合错，还是排序和过滤条件错。复杂查询不是一个简单的句子生成问题，而是多个相互耦合的查询决策问题。</a:t>
            </a:r>
          </a:p>
          <a:p>
            <a:r>
              <a:t>【答辩备注】</a:t>
            </a:r>
          </a:p>
          <a:p>
            <a:r>
              <a:t>这一页是后面引出 SQL+ 的铺垫。可以补充一个例子：同样是“销售额最高的客户”，错误可能来自 paid 过滤缺失，也可能来自 SUM 口径错误，还可能来自 ORDER BY 字段错误。最终 SQL 层只能看到结果错，不容易定位步骤。</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这一页补充真实场景中的困难。企业数据库中常见多表关系、字段别名、时间口径和 SQL 方言差异。大模型生成的 SQL 即使能执行，也可能在语义上不符合用户意图，比如统计口径错、过滤条件漏掉、join 路径不合理。这些错误不会一定报语法错。因此本课题关注的不只是“生成 SQL”，而是生成之后能不能执行、诊断和修复。</a:t>
            </a:r>
          </a:p>
          <a:p>
            <a:r>
              <a:t>【答辩备注】</a:t>
            </a:r>
          </a:p>
          <a:p>
            <a:r>
              <a:t>这一页可以强调四类难点：schema 复杂、方言差异、可执行但语义错误、整条重写修复不稳定。它们对应后续 SQL+ 的四个价值：步骤化、可转换、可定位、可局部 patch。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这一页概括国内外研究现状。传统方法强调语义解析、schema linking 和语法约束；LLM 方法进一步引入 few-shot、任务分解和执行反馈；Spider、BIRD、Spider 2.0 等 benchmark 说明任务越来越接近真实数据分析场景。这里的“当前缺口”不是说已有工作没有价值，而是说已有工作多数仍围绕最终 SQL 进行生成、选择或修复，对中间查询步骤级错误定位、repair skill 路由和局部修复研究还不充分。</a:t>
            </a:r>
          </a:p>
          <a:p>
            <a:r>
              <a:t>【答辩备注】</a:t>
            </a:r>
          </a:p>
          <a:p>
            <a:r>
              <a:t>“已有工作已证明过程化生成和执行反馈有效”可以具体指 DIN-SQL、MAC-SQL、CHASE-SQL、SQLCritic 等。DIN-SQL 支持任务分解，MAC-SQL 支持多智能体协作，CHASE-SQL 支持候选生成与选择，SQLCritic 支持分子句 critic 和反馈修正。</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这一页回答为什么不直接采用 SemQL、NatSQL 或 Pipe Syntax。SemQL 更像语义解析树，结构约束强；NatSQL 更接近自然语言化 SQL，降低部分 SQL 书写难度；GoogleSQL Pipe Syntax 是 SQL 生态中的线性数据流扩展。但本课题需要的是面向 NL2SQL 生成、执行反馈和局部修复的中间表示。SQL+ 的设计重点不是最短表达，而是保留 SQL 可转换性，同时让错误可以映射到具体查询步骤上。</a:t>
            </a:r>
          </a:p>
          <a:p>
            <a:r>
              <a:t>【答辩备注】</a:t>
            </a:r>
          </a:p>
          <a:p>
            <a:r>
              <a:t>如果老师问“为什么不复现 SemQL/NatSQL”，回答：开题阶段先做 controlled proxy 对比，用来说明表达形态差异，不声称完整复现原系统。后续如果时间允许，可以接入原系统代码做更严格对比。</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这一页说明 SQL+ 的基本表达逻辑。SQL+ 按 FROM、JOIN、WHERE、GROUP、AGG、HAVING、SELECT、ORDER、LIMIT 组织查询步骤。每个步骤都对应一类常见错误和修复技能。例如 WHERE 对应值链接和过滤条件错误，JOIN 对应连接路径错误，AGG 对应聚合口径和别名引用错误，SELECT 对应投影列错误，ORDER 对应排序字段和 top-k 错误。</a:t>
            </a:r>
          </a:p>
          <a:p>
            <a:r>
              <a:t>【答辩备注】</a:t>
            </a:r>
          </a:p>
          <a:p>
            <a:r>
              <a:t>这一页要强调 SQL+ 的步骤不是展示标签，而是后续 Critic Agent 定位、Skill Router 路由和 Repair Skill 局部 patch 的操作单元。</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这一页讲本文拟研究的多智能体闭环。前半部分是生成链路：用户问题经过 Intent Agent、Schema Agent 和 Planner Agent，生成 SQL+ 表达。随后 Translator 将 SQL+ 转换成 SQL，Executor 执行 SQL。如果执行失败或者结果异常，反馈进入 Critic Agent，Critic 输出错误类型和可疑 SQL+ 步骤，Skill Router 再把错误路由给对应的 Repair Skill。Repair Skill 只修改 SQL+ 的局部步骤，形成 SQL+ Patch，然后回到 Translator 和 Executor 重新转换、重新执行。</a:t>
            </a:r>
          </a:p>
          <a:p>
            <a:r>
              <a:t>【答辩备注】</a:t>
            </a:r>
          </a:p>
          <a:p>
            <a:r>
              <a:t>新版图的关键是循环位置：`Repair Skill -&gt; SQL+ Patch -&gt; Translator -&gt; Executor`。这里不能画成 Router 到 Repair 后结束。要说明本方法不是多个 prompt 串联，而是每个环节都有可检查中间产物。</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这一页提出研究问题和评价维度。RQ1 关注 SQL+ 是否降低表达耦合；RQ2 关注多智能体是否能拆分成可观察子任务；RQ3 关注执行反馈能否映射到 SQL+ 步骤；RQ4 关注修复收益能否抵消额外成本。评价不只看 execution accuracy，还包括 valid rate、token、latency、error localization accuracy、patch minimality 和 repair rounds。</a:t>
            </a:r>
          </a:p>
          <a:p>
            <a:r>
              <a:t>【答辩备注】</a:t>
            </a:r>
          </a:p>
          <a:p>
            <a:r>
              <a:t>这页回应导师反馈：研究内容不能只写“先做 parser，再做 agent”，而要写可验证问题、技术难点和评价指标。</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这一页把实验和研究假设对应起来。H1 验证 SQL+ 表达和转换是否可行；H2 比较 SQL+ 与标准 SQL、SemQL-style、NatSQL-style、Pipe-style 的表达差异；H3 看初次生成是否有收益；H4 看修复收益是否成立。后面的实验不是单独堆结果，而是逐步回答为什么要 SQL+、它的代价是什么，以及它是否能在修复阶段体现价值。</a:t>
            </a:r>
          </a:p>
          <a:p>
            <a:r>
              <a:t>【答辩备注】</a:t>
            </a:r>
          </a:p>
          <a:p>
            <a:r>
              <a:t>如果老师问“为什么实验这么多”，回答：因为本课题不是只优化 accuracy，而是同时研究表达复杂度、生成成本、执行一致性和 repairability。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这一页先说明当前实验的总体设置。现在实验不是完整的大规模 benchmark，而是开题阶段用于验证研究路线是否成立的几组小规模实验。数据主要有三类：第一类是自建订单分析数据集，共 30 条样例，每条样例包含自然语言问题、gold SQL 和人工整理的 gold SQL+，用于验证 SQL+ 转换、IR 表达复杂度和初步生成效果。第二类是 SQL+ 已知失败集，来自 SQL+ prompt v2 在这 30 条样例中的失败案例，用来观察错误类型、反馈修复和 repair skill 是否有效。第三类是 Spider dev 中 `concert_singer` 数据库的 20 条受支持样例，用来做公开数据集上的 smoke test。</a:t>
            </a:r>
          </a:p>
          <a:p>
            <a:r>
              <a:t>这里的 gold 指的是实验中作为参考答案的标准结果。gold SQL 是人工确认或数据集提供的目标 SQL；gold SQL+ 是为了验证 SQL+ 转换和修复机制而整理出的中间表示参考答案。它们的作用不是让系统作弊，而是在开题阶段提供一个可比对的参照，用来判断转换后的 SQL 执行结果是否正确、修复后的结果是否恢复到目标语义。</a:t>
            </a:r>
          </a:p>
          <a:p>
            <a:r>
              <a:t>另外，这页出现的 SemQL-style、NatSQL-style 和 Pipe-style 都是 proxy，也就是“代理表示”或“近似表示”。它们不是原论文系统的完整实现，也不包含原系统的训练、解码、搜索或专门优化逻辑。这样设计的原因是，当前实验的目标不是评测 SemQL 或 NatSQL 系统性能，而是控制住其它变量，在同一批查询上比较几类中间表示的表达形态。例如 SemQL-style proxy 用括号树模拟语义树结构，NatSQL-style proxy 用更接近自然语言顺序的 SQL-like 形式，Pipe-style proxy 用 `|&gt;` 模拟管道式数据流。这样可以初步观察 SQL+ 相比这些表示在步骤边界、依赖关系和修复粒度上的差异。</a:t>
            </a:r>
          </a:p>
          <a:p>
            <a:r>
              <a:t>【答辩备注】</a:t>
            </a:r>
          </a:p>
          <a:p>
            <a:r>
              <a:t>如果老师问“为什么不用原生 SemQL/NatSQL 系统”，回答：开题阶段先做 controlled proxy 对比，目的是隔离“表示形式”这个变量。原生 SemQL/NatSQL 涉及专门 parser、模型、搜索空间和数据处理流程，如果直接混在一起，结果既受表示影响，也受系统实现影响，不利于说明 SQL+ 本身的设计价值。后续如果时间允许，可以再接入原系统代码或公开实现做更严格的系统级对比。</a:t>
            </a:r>
          </a:p>
          <a:p>
            <a:r>
              <a:t>需要强调边界：proxy 结果只能说明表达形态差异，不能宣称完整 SemQL、NatSQL 或 GoogleSQL Pipe Syntax 的真实性能。Spider smoke test 也只是小规模迁移验证，不是完整 Spider benchmark 分数。</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实验一验证 SQL+ 表达和转换链路是否可行。样例来自自建订单分析数据集，共 30 条查询。每条样例都有自然语言问题、作为参考答案的 gold SQL，以及人工整理的 gold SQL+。这些查询覆盖单表过滤、多表 join、聚合、分组、HAVING、ORDER BY 和 top-k 等常见分析场景。</a:t>
            </a:r>
          </a:p>
          <a:p>
            <a:r>
              <a:t>实验方法是：先把每条 gold SQL+ 输入本地 SQL+ parser，判断它是否符合当前定义的 SQL+ 子集；解析成功后，再通过 SQL+ 到 SQL 的转换器生成标准 SQL；最后把生成 SQL 和 gold SQL 分别放到同一个 SQLite 测试数据库中执行，比较两边返回的结果是否完全一致。这样可以排除人工主观判断，直接用执行结果验证 SQL+ 转换是否保持查询语义。</a:t>
            </a:r>
          </a:p>
          <a:p>
            <a:r>
              <a:t>这里的三个指标分别是：SQL+ valid rate 表示 SQL+ 是否能被 parser 正确解析；SQL executable rate 表示转换后的 SQL 是否能在数据库中执行；execution match 表示转换 SQL 和 gold SQL 的执行结果是否一致。当前结果是 30/30 SQL+ 可解析，30/30 SQL 可执行，30/30 执行结果一致。</a:t>
            </a:r>
          </a:p>
          <a:p>
            <a:r>
              <a:t>【答辩备注】</a:t>
            </a:r>
          </a:p>
          <a:p>
            <a:r>
              <a:t>这项实验的意义是证明 SQL+ 不是只停留在表示层，而是能形成 `SQL+ -&gt; SQL -&gt; 执行结果` 的最小闭环。它不能证明模型生成一定准确，但证明后续做 NL2SQL+、反馈修复和 Spider 子集迁移有基础。若老师问“为什么用 SQLite”，可以说明开题阶段先用 SQLite 做可复现实验，后续再补达梦 SQL 方言适配。</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实验二是 IR 表达复杂度对比，目的是回答“为什么使用 SQL+”。这组实验不直接比较模型能力，而是把同一批 30 条自建订单分析查询，分别表示成 Standard SQL、SQL+、SemQL-style proxy、NatSQL-style proxy 和 Pipe-style proxy，然后统计这些表示本身的结构复杂度。这里的 proxy 只是受控代理表示，用来比较表达形态，不代表完整复现 SemQL、NatSQL 或 GoogleSQL Pipe Syntax。</a:t>
            </a:r>
          </a:p>
          <a:p>
            <a:r>
              <a:t>具体计算方式是：每条样例都包含自然语言问题、gold SQL 和 gold SQL+。Standard SQL 直接取 gold SQL；SQL+ 直接取 gold SQL+；SemQL-style proxy 是根据 SQL+ AST 构造类似语义树的括号表达；NatSQL-style proxy 是把查询改写成更接近自然语言顺序的 SQL-like 表达；Pipe-style proxy 是把 SQL+ 步骤改写成管道式 `|&gt;` 表达。之后对每种表示逐条计算 token 数、步骤或子句数、嵌套深度、别名依赖和跨子句引用，再对 30 条样例取平均值。</a:t>
            </a:r>
          </a:p>
          <a:p>
            <a:r>
              <a:t>这些指标的含义分别是：token 数近似表示输入输出文本长度和模型生成成本；步骤或子句数表示查询被拆成多少个可观察单元；嵌套深度表示括号、子查询或树形结构的层级复杂度；别名依赖表示 `AS` 产生的别名在后续 SELECT、HAVING、ORDER 等区域被再次引用的次数；跨子句引用表示一个查询决策是否需要跨越多个区域才能理解。选择这些指标，是因为本课题关注的不是“哪种表示最短”，而是“哪种表示更适合定位错误和局部修复”。</a:t>
            </a:r>
          </a:p>
          <a:p>
            <a:r>
              <a:t>结果显示，SQL+ 的平均 token 为 35.0333，高于 Standard SQL 的 31.5333，因此不能说 SQL+ 更短。但 SQL+ 的别名依赖为 0.7，跨子句引用为 1.0，低于 Standard SQL 的 2.0333 和 2.3333。这说明 SQL+ 不是靠压缩长度取得优势，而是通过线性步骤边界减少跨区域耦合，使后续 Critic Agent 定位错误、Skill Router 选择修复技能、Repair Skill 做局部 patch 时更容易落到具体步骤上。</a:t>
            </a:r>
          </a:p>
          <a:p>
            <a:r>
              <a:t>【答辩备注】</a:t>
            </a:r>
          </a:p>
          <a:p>
            <a:r>
              <a:t>如果老师问“这些数是怎么来的”，回答口径是：它们不是人工主观打分，而是由脚本对同一批查询的五种文本表示做规则统计得到。token 是正则切分后的 token 个数；步骤或子句数对 Standard SQL 统计 SELECT、FROM、JOIN、WHERE、GROUP BY、HAVING、ORDER BY、LIMIT 等关键子句，对 SQL+ 和 Pipe-style 统计非空步骤行，对 SemQL-style 统计括号节点；嵌套深度统计括号最大深度；别名依赖统计 `AS alias` 在后续区域再次出现的次数；跨子句引用在别名依赖基础上补充统计排序等区域对前面表达的引用。</a:t>
            </a:r>
          </a:p>
          <a:p>
            <a:r>
              <a:t>这些指标的意义是服务研究假设：Text-to-SQL 的困难不只来自 SQL 长度，还来自查询结构之间的耦合。token 数反映生成成本；步骤或子句数反映可定位粒度；嵌套深度反映结构展开难度；别名依赖和跨子句引用反映局部修改时是否容易牵一发动全身。SQL+ 的关键优势不是“平均 token 更低”，而是“依赖关系更少、步骤边界更清楚”，这正好支撑本课题把错误反馈映射到 SQL+ 步骤并进行局部修复的设计。</a:t>
            </a:r>
          </a:p>
          <a:p>
            <a:r>
              <a:t>需要主动说明边界：SemQL-style、NatSQL-style 和 Pipe-style 是 controlled proxy，只用于开题阶段观察表达形态差异，不能等同于完整复现原论文系统。后续如果时间允许，可以接入原系统代码或更大公开数据子集做更严格对比。</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这一页解释 IR 表达复杂度的指标。这里每个指标都不是为了单独证明 SQL+ 更好，而是从不同角度观察“这个表示是否适合生成、诊断和局部修复”。</a:t>
            </a:r>
          </a:p>
          <a:p>
            <a:r>
              <a:t>第一，平均 token 表示文本长度和近似生成成本。token 越多，通常意味着模型输出更长、API 成本和生成时间可能更高。但 token 不是唯一目标，因为更短的表示不一定更容易修复。第二，平均步骤或子句数表示查询被拆成多少个可观察单元。对 Standard SQL，统计 SELECT、FROM、JOIN、WHERE、GROUP BY、HAVING、ORDER BY、LIMIT 等子句；对 SQL+ 和 Pipe-style，统计非空步骤行；对 SemQL-style，统计括号节点。这个指标的意义是衡量错误定位粒度，步骤越清楚，Critic Agent 越容易指出“错在 JOIN、AGG 还是 ORDER”。第三，平均嵌套深度表示括号、子查询或树形表达的最大层级。嵌套越深，模型生成和人工检查时越容易出现结构错位。</a:t>
            </a:r>
          </a:p>
          <a:p>
            <a:r>
              <a:t>第四，平均别名依赖统计 `AS alias` 在后续 SELECT、HAVING、ORDER 等区域再次被引用的次数。它反映一个局部表达是否会被后面多个位置依赖。第五，平均跨子句引用统计一个区域对另一区域结果的引用情况，例如 ORDER BY 使用前面聚合别名。它反映局部修复的牵连程度。别名依赖和跨子句引用越高，修复一个地方时越可能影响其它地方。</a:t>
            </a:r>
          </a:p>
          <a:p>
            <a:r>
              <a:t>从结果看，SQL+ 的平均 token 并不最低，说明 SQL+ 不是靠缩短文本取胜。它的优势主要体现在别名依赖和跨子句引用更低，步骤边界更清楚。这对本课题很重要，因为后续的 Critic Agent、Skill Router 和 Repair Skill 都依赖“能不能把错误定位到一个局部步骤”。</a:t>
            </a:r>
          </a:p>
          <a:p>
            <a:r>
              <a:t>【答辩备注】</a:t>
            </a:r>
          </a:p>
          <a:p>
            <a:r>
              <a:t>如果老师问“为什么选这些指标”，回答：这些指标分别对应本课题关心的四类成本。token 对应生成成本；步骤或子句数对应可观察粒度；嵌套深度对应结构复杂度；别名依赖和跨子句引用对应局部修复风险。SQL+ 的价值不一定体现在 token 最少，而是体现在把复杂查询拆成更稳定的步骤，并减少局部修改时的跨区域影响。</a:t>
            </a:r>
          </a:p>
          <a:p>
            <a:r>
              <a:t>如果老师问“这些指标怎么计算”，回答：脚本对每种表示逐条做规则统计，然后对 30 条样例取平均。token 用统一正则切分；步骤或子句数按不同表示的结构单位统计；嵌套深度统计括号最大深度；别名依赖统计 `AS` 别名后续引用；跨子句引用统计排序、筛选等区域对前面表达的引用。它们是结构复杂度 proxy，不是人工主观评分。</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这一页比较不同表示在模型生成阶段的成本和执行效果。这里仍然使用同一批 30 条自建订单查询，模型统一为 gpt-5-mini，比较 Direct SQL、SQL+、NatSQL-style proxy 和 SemQL-style proxy 四种生成目标。这里再次使用 proxy 的原因，是为了让模型在同样问题和同样数据库 schema 下生成不同表达形式，从而观察表达形式对 token、latency、valid rate 和执行结果的影响。</a:t>
            </a:r>
          </a:p>
          <a:p>
            <a:r>
              <a:t>这组实验的重点不是证明 SQL+ 初次生成一定优于 Direct SQL。相反，当前结果显示 SQL+ 的 execution match 为 14/30，Direct SQL 为 12/30，差距不大；同时 SQL+ 的平均 token 和 latency 更高。这说明 SQL+ 在初次生成阶段会引入额外表达成本。这个结果对开题很重要，因为它提醒我们不能把 SQL+ 简单描述为“更省、更短、更准”，而要把研究重点放在“更容易诊断和修复”上。</a:t>
            </a:r>
          </a:p>
          <a:p>
            <a:r>
              <a:t>【答辩备注】</a:t>
            </a:r>
          </a:p>
          <a:p>
            <a:r>
              <a:t>如果老师问“SQL+ 初次生成成本更高，为什么还要做”，回答：本课题的假设不是 SQL+ 初次生成一定更便宜，而是 SQL+ 通过步骤化表示降低错误定位和局部修复难度。也就是说，SQL+ 的收益主要应该在 repairability 上体现，而不是只看第一轮生成。后续实验才会比较 error localization accuracy、patch minimality、repair rounds、repair token cost 和 repair latency，判断修复收益能否抵消初次生成阶段的额外开销。</a:t>
            </a:r>
          </a:p>
          <a:p>
            <a:r>
              <a:t>这里的 NatSQL-style 和 SemQL-style 仍是代理表示，不代表完整系统。它们用于观察“如果把目标表达改成类似 NatSQL 或 SemQL 的形态，模型生成成本和有效率会发生什么变化”。不能把这页结果解释为 NatSQL 或 SemQL 原系统性能。</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这一页解释生成成本实验的结果表。实验样例仍然是同一批 30 条自建订单查询。每条样例使用同一个模型、同一套 schema 信息和相近的 prompt 框架，只改变目标输出形式：Direct SQL、SQL+、NatSQL-style proxy 和 SemQL-style proxy。模型输出后，先判断输出是否符合对应表示的格式要求，再尽量转换为 SQL 并在同一个 SQLite 数据库上执行，最后与 gold SQL 的执行结果比较。</a:t>
            </a:r>
          </a:p>
          <a:p>
            <a:r>
              <a:t>表里的 Valid repr 表示模型输出是否满足对应 IR 的基本格式，例如 SQL+ 是否能被当前 parser 接受，proxy 表示是否能被实验脚本识别。Valid SQL 表示输出或转换结果能否成为可执行 SQL。Exec match 表示可执行 SQL 的结果是否与 gold SQL 一致。平均 token 直接来自模型 API 返回的 usage 字段，统计 input、output 或 total token；平均 latency 是脚本从发起请求到收到响应记录的耗时平均值，单位是秒。</a:t>
            </a:r>
          </a:p>
          <a:p>
            <a:r>
              <a:t>结果说明，SQL+ 比 Direct SQL 多获得了少量 execution match，但 token 和 latency 都更高。因此这页不能被解读为 SQL+ 初次生成更省成本。更合理的解释是：SQL+ 在第一轮生成阶段引入了步骤化表达开销，是否值得使用，要看后续错误定位和局部修复收益能否抵消这部分额外开销。</a:t>
            </a:r>
          </a:p>
          <a:p>
            <a:r>
              <a:t>【答辩备注】</a:t>
            </a:r>
          </a:p>
          <a:p>
            <a:r>
              <a:t>如果老师问“为什么 SQL+ token 更高”，回答：因为 SQL+ 把查询拆成多行步骤，显式写出 JOIN、FILTER、AGG、ORDER 等中间过程，文本自然可能更长。这个结果反而帮助我们收敛研究定位：SQL+ 的核心价值不是初次生成更短，而是为后续 Critic、Router 和 Repair Skill 提供可定位的中间步骤。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实验四比较 Direct SQL 和 NL2SQL+ baseline。样例仍然是 30 条自建订单查询。Direct SQL 方法让模型直接从自然语言问题生成 SQL；NL2SQL+ 方法让模型先生成 SQL+，再通过转换器转换成 SQL。两种方法使用相同数据库 schema 和同一批问题，最终都在同一个 SQLite 数据库上执行，并与 gold SQL 的执行结果比较。</a:t>
            </a:r>
          </a:p>
          <a:p>
            <a:r>
              <a:t>评价指标主要有两个：SQL 可执行率和执行一致率。SQL 可执行率看模型输出或转换后的 SQL 能不能在数据库中运行；执行一致率看运行结果是否与 gold SQL 一致。这里不用字符串完全匹配，因为 SQL 写法可能不同，但只要在同一数据库上的执行结果一致，就认为语义上等价。</a:t>
            </a:r>
          </a:p>
          <a:p>
            <a:r>
              <a:t>当前 Direct NL2SQL 是 16/30，NL2SQL+ prompt v2 是 17/30，提升很小。这说明只把输出格式换成 SQL+，并不能自动解决 Text-to-SQL 的主要问题。SQL+ 的价值需要和 schema linking、Critic Agent、Skill Router、Repair Skill、Executor 反馈结合起来验证。</a:t>
            </a:r>
          </a:p>
          <a:p>
            <a:r>
              <a:t>【答辩备注】</a:t>
            </a:r>
          </a:p>
          <a:p>
            <a:r>
              <a:t>这页要主动说明负面结果的价值：如果 SQL+ 单独 prompt 就大幅提升，课题会变成 prompt engineering；现在结果显示单独换表示收益有限，反而说明后续多智能体反馈修复机制是必要的。</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实验五进入反馈修复。样例来自已知失败集：SQL+ prompt v2 在 30 条自建样例中失败的 13 条，以及 Direct SQL 失败的 14 条。失败类型包括 value-linking、ORDER、aggregation、join 和 projection 等。这里的目标不是重新跑完整 benchmark，而是观察“同样已经出错的查询，哪种修复方式更容易恢复到正确结果”。</a:t>
            </a:r>
          </a:p>
          <a:p>
            <a:r>
              <a:t>实验方法是：对失败样例分别使用几种修复方案。单 Refiner 方案让模型直接根据错误信息修改 SQL 或 SQL+；Schema-Critic-Refiner 和 Step-wise Critic-Refiner 尝试把诊断与修复拆开；Skill Router + Repair Skills v3 则先由 Critic 给出错误类型和可疑 SQL+ 步骤，再由 Router 选择对应 repair skill，最后生成局部 patch 并重新执行验证。</a:t>
            </a:r>
          </a:p>
          <a:p>
            <a:r>
              <a:t>repair success 的计算方式是：修复后的 SQL 或 SQL+ 转换 SQL 能在 SQLite 中执行，并且执行结果与 gold SQL 一致。error localization 用来观察错误是否定位到正确步骤；patch minimality 用来观察修复是否只改必要步骤，而不是整条查询大范围重写。当前 SQL+ Skill Router + Repair Skills v3 在这组已知失败集上达到 13/13，但这个结果只限当前 13 条失败样例。</a:t>
            </a:r>
          </a:p>
          <a:p>
            <a:r>
              <a:t>【答辩备注】</a:t>
            </a:r>
          </a:p>
          <a:p>
            <a:r>
              <a:t>这页必须说清楚边界：13/13 不是大规模泛化结果，也不是完整自主诊断系统已经成熟。它说明在当前已知失败类型上，按错误类型路由到专门 repair skill，比单纯让模型整体重写更稳定。后续要扩大失败样例、加入未知错误和无 gold 语义错误。</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这一页展示反馈修复的对比结果。这里比较的不是“agent 数量越多越好”，而是“错误诊断、路由和局部修复是否真正形成有效分工”。从结果看，简单把 Schema、Critic、Refiner 串起来并没有明显提升，Schema-Critic-Refiner 和 Step-wise Critic-Refiner 都只有 3/13。原因是诊断结果如果不能稳定映射到可执行的修复操作，增加 agent 也可能只增加误差传播。</a:t>
            </a:r>
          </a:p>
          <a:p>
            <a:r>
              <a:t>真正提升来自 Skill Router + Repair Skills：先把错误归类为 value、order、aggregation、join、projection 等类型，再调用对应的修复规则或修复策略，最后由执行器检查候选 patch 是否恢复正确结果。这里的 patch 是针对 SQL+ 局部步骤的修改，而不是重新生成整条 SQL。</a:t>
            </a:r>
          </a:p>
          <a:p>
            <a:r>
              <a:t>【答辩备注】</a:t>
            </a:r>
          </a:p>
          <a:p>
            <a:r>
              <a:t>如果老师问“为什么多智能体反而不一定好”，回答：多智能体的价值不在数量，而在中间产物是否可检查、可路由、可执行。没有 skill 和 executor 约束时，Critic 的诊断可能不能转化为有效修复；有 SQL+ 步骤和 repair skill 后，诊断才能变成局部 patch。</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实验六进一步把“修复是否有效”拆成 repairability 指标，而不只看最终是否成功。样例仍然来自失败集。Direct SQL 使用单 Refiner 的修复输出；SQL+ 使用 Critic Agent、Skill Router 和 Repair Skills 的修复输出。这样可以比较直接修 SQL 和在 SQL+ 层修复的差异。</a:t>
            </a:r>
          </a:p>
          <a:p>
            <a:r>
              <a:t>repair success 表示修复后的查询执行结果是否与 gold SQL 一致。error localization accuracy 表示 Critic 定位到的错误步骤或错误类型，是否与人工分析或 gold 差异中的预期错误区域有交集。patch minimality 表示实际修改范围是否接近必要修改范围，越小越说明没有大范围重写。average repair rounds 表示平均需要几轮修复才能通过执行验证。repair token cost 表示修复阶段模型调用消耗的 token。repair latency 表示修复流程耗时；当前 SQL+ 表中的本地 latency 主要覆盖 router 和 repair skill 执行，不完全包含所有 Critic API 耗时，因此需要在答辩中说明边界。</a:t>
            </a:r>
          </a:p>
          <a:p>
            <a:r>
              <a:t>这些指标的意义是回答一个关键问题：SQL+ 初次生成更贵，但它是否能在修复阶段节省人力和减少重写风险。当前观察是 SQL+ 修复成功率和 patch 可控性更好，但 token 成本更高，因此后续要补齐端到端成本，判断修复收益是否抵消额外开销。</a:t>
            </a:r>
          </a:p>
          <a:p>
            <a:r>
              <a:t>【答辩备注】</a:t>
            </a:r>
          </a:p>
          <a:p>
            <a:r>
              <a:t>这页是从 accuracy 走向研究指标的关键。要强调本课题不是只追求最后对不对，还关心错在哪里、怎么修、修了多少、修几轮、花多少 token 和时间。这些指标更能体现 SQL+ 作为中间表示的研究价值。</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实验七展示 repair skill 的分治结果。当前把失败类型拆成 value-linking、ORDER、aggregation、join 和 projection 五类。每类 skill 都对应 SQL+ 中的一个或几个局部步骤。例如 value-linking 主要修 WHERE 条件值和 paid 过滤；ORDER 修排序字段、排序方向和 LIMIT；aggregation 修 AGG 别名、聚合口径、HAVING/ORDER 引用；join 修连接路径、冗余 join 和连接方向；projection 修 SELECT 输出列。</a:t>
            </a:r>
          </a:p>
          <a:p>
            <a:r>
              <a:t>实验方法是：从 SQL+ 已知失败集中按错误类型切分样例，对每类 skill 分别运行局部 patch，再通过 SQL+ parser、SQL converter 和 SQLite executor 验证结果。表中的 3/3、1/1 等数字表示在该类当前小样例中，修复后执行结果与 gold SQL 一致的数量。</a:t>
            </a:r>
          </a:p>
          <a:p>
            <a:r>
              <a:t>【答辩备注】</a:t>
            </a:r>
          </a:p>
          <a:p>
            <a:r>
              <a:t>这页要说明分治实验的意义：它不是证明样本规模已经足够，而是验证“错误类型 -&gt; SQL+ 步骤 -&gt; repair skill -&gt; 执行验证”这条路线可行。后续要扩大每类错误样例，加入复合错误和无报错语义错误。</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实验八是 Spider smoke test，用来验证 SQL+ 转换机制是否能迁移到公开 Text-to-SQL 数据集的一个小子集。样例来自 Spider dev 中 `concert_singer` 数据库，当前选取 20 条 SQL+ 子集能够覆盖的查询。这些样例不是完整 Spider，而是用于开题阶段检查迁移可行性。</a:t>
            </a:r>
          </a:p>
          <a:p>
            <a:r>
              <a:t>实验方法是：先把这些 Spider gold SQL 改写或映射成 SQL+，再用 SQL+ 转换器生成 SQL，然后在 Spider 提供的 SQLite 数据库上执行。最后把生成 SQL 的执行结果和 Spider gold SQL 的执行结果比较。指标包括 SQL+ valid、SQL executable 和 execution match。当前结果是 20/20 SQL+ 可解析，20/20 SQL 可执行，20/20 与 gold SQL 执行一致。</a:t>
            </a:r>
          </a:p>
          <a:p>
            <a:r>
              <a:t>【答辩备注】</a:t>
            </a:r>
          </a:p>
          <a:p>
            <a:r>
              <a:t>这页一定要主动说明边界：这不是完整 Spider benchmark 分数，只是 `concert_singer` 数据库中受当前 SQL+ 子集支持的 20 条样例 smoke test。它的作用是证明 SQL+ 表达和转换器不只适用于自建订单数据，在公开数据集的小规模子集上也能跑通。后续需要扩展到更多数据库、更多难度和更多 SQL 结构。</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这一页给出综合判断。已有实验支持三点：第一，SQL+ 转换链路已经跑通；第二，SQL+ 不一定更短，但具有较低的别名依赖和跨子句引用，更适合作为错误定位和局部 patch 的锚点；第三，Skill Router + Repair Skills 在当前已知失败集上明显优于单 Refiner。与此同时，也要承认 SQL+ 初次生成成本更高，样例规模仍小，端到端 latency 还需要补齐。</a:t>
            </a:r>
          </a:p>
          <a:p>
            <a:r>
              <a:t>【答辩备注】</a:t>
            </a:r>
          </a:p>
          <a:p>
            <a:r>
              <a:t>这页适合主动降低过强结论。不要说“SQL+ 已经证明有效”，而说“当前结果支持继续研究 SQL+ 的 repairability 价值”。</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这一页讲后续实验计划。第一，扩展 Spider 子集，从单数据库扩展到多数据库、多难度、多查询类型。第二，补齐端到端成本，分别记录 Critic、Router、Repair、Executor 的 token 和 latency。第三，做无 gold 语义诊断，处理 SQL 能执行但结果为空、聚合口径错、projection 错等问题。第四，适配达梦 SQL 方言，包括日期函数、分页、类型转换和字符串函数。第五，如果时间允许，再接入 SemQL 或 NatSQL 原系统做更严格对比。</a:t>
            </a:r>
          </a:p>
          <a:p>
            <a:r>
              <a:t>【答辩备注】</a:t>
            </a:r>
          </a:p>
          <a:p>
            <a:r>
              <a:t>这些计划要和现有不足对应：规模不足、成本不足、诊断不足、方言不足、对比不足。</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这一页讲预期创新点。第一是面向生成和修复的 SQL+ 中间表示，它不是更短的 SQL，而是步骤化、可转换、可定位和可 patch 的表示。第二是面向 SQL+ 的多智能体反馈闭环，把 Critic、Router、Repair Skill 和 Executor 组织成可检查流程。第三是面向 repairability 的评价体系，在 execution accuracy 之外加入错误定位、技能路由、最小 patch、修复轮数、token 和 latency。</a:t>
            </a:r>
          </a:p>
          <a:p>
            <a:r>
              <a:t>【答辩备注】</a:t>
            </a:r>
          </a:p>
          <a:p>
            <a:r>
              <a:t>表述要谨慎，不用“首创”“显著领先”。可以说“本课题尝试把 SQL+ 中间表示设计和反馈修正机制结合起来”。</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这一页讲风险和应对。样例规模偏小，对应后续扩展 Spider 和 BIRD 子集；proxy 对比有限，对应后续视时间接入原系统；已知失败集偏窄，对应增加未知错误和无 gold 语义错；SQL+ 成本更高，对应继续比较修复收益与端到端成本；达梦方言不足，对应补充方言兼容测试。</a:t>
            </a:r>
          </a:p>
          <a:p>
            <a:r>
              <a:t>【答辩备注】</a:t>
            </a:r>
          </a:p>
          <a:p>
            <a:r>
              <a:t>老师通常会关心可行性和边界。这里要表现出你知道当前工作还处在开题阶段，已有实验是可行性证据，后续实验计划已经针对不足展开。</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这一页总结。第一，本课题研究的不是单次生成 SQL，而是生成、执行、诊断和修复闭环。第二，当前实验说明 SQL+ 在转换可行性、步骤化表达和已知失败集局部修复上有初步证据。第三，后续要扩大公开数据集子集，补齐无 gold 诊断和端到端成本，并适配达梦 SQL 方言。</a:t>
            </a:r>
          </a:p>
          <a:p>
            <a:r>
              <a:t>【答辩备注】</a:t>
            </a:r>
          </a:p>
          <a:p>
            <a:r>
              <a:t>最后一句可以落到课题意义：通过 SQL+ 和多智能体反馈修正，提高自然语言数据库查询的可解释性、可修复性和工程可落地性。</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r>
              <a:t>【汇报讲稿】</a:t>
            </a:r>
          </a:p>
          <a:p>
            <a:r>
              <a:t>这一页列参考文献。参考文献覆盖四类：第一，Spider、BIRD、Spider 2.0 等 benchmark；第二，SemQL、NatSQL、GoogleSQL Pipe Syntax 等中间表示或 SQL 扩展；第三，DAIL-SQL、DIN-SQL、CHESS、CHASE-SQL 等 LLM-based Text-to-SQL；第四，MAC-SQL、SQLCritic、Tool-Assisted Agent、LEVER 等多智能体、执行反馈和修复相关工作。</a:t>
            </a:r>
          </a:p>
          <a:p>
            <a:r>
              <a:t>【答辩备注】</a:t>
            </a:r>
          </a:p>
          <a:p>
            <a:r>
              <a:t>如果老师问具体支撑关系，可以这样回答：DIN-SQL 支撑任务分解，MAC-SQL 支撑多智能体协作，CHASE-SQL 支撑候选生成与选择，SQLCritic 支撑分子句诊断和反馈修正，Pipe Syntax 支撑 SQL 线性表达的合理性。</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50" name="图片 8"/>
          <p:cNvPicPr>
            <a:picLocks noChangeAspect="1"/>
          </p:cNvPicPr>
          <p:nvPr userDrawn="1"/>
        </p:nvPicPr>
        <p:blipFill>
          <a:blip r:embed="rId2"/>
          <a:stretch>
            <a:fillRect/>
          </a:stretch>
        </p:blipFill>
        <p:spPr>
          <a:xfrm>
            <a:off x="1588" y="9525"/>
            <a:ext cx="9144000" cy="6845300"/>
          </a:xfrm>
          <a:prstGeom prst="rect">
            <a:avLst/>
          </a:prstGeom>
          <a:noFill/>
          <a:ln w="9525">
            <a:noFill/>
          </a:ln>
        </p:spPr>
      </p:pic>
      <p:sp>
        <p:nvSpPr>
          <p:cNvPr id="2" name="Rectangle 23"/>
          <p:cNvSpPr>
            <a:spLocks noChangeArrowheads="1"/>
          </p:cNvSpPr>
          <p:nvPr/>
        </p:nvSpPr>
        <p:spPr bwMode="auto">
          <a:xfrm flipV="1">
            <a:off x="315913" y="3589338"/>
            <a:ext cx="8693150" cy="55563"/>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a:pPr>
            <a:endParaRPr kumimoji="1" lang="zh-CN" altLang="en-US" sz="2000" b="0" i="0" u="none" strike="noStrike" kern="1200" cap="none" spc="0" normalizeH="0" baseline="0" noProof="0">
              <a:ln>
                <a:noFill/>
              </a:ln>
              <a:solidFill>
                <a:srgbClr val="FF3300"/>
              </a:solidFill>
              <a:effectLst/>
              <a:uLnTx/>
              <a:uFillTx/>
              <a:latin typeface="Arial" panose="020B0604020202090204" pitchFamily="34" charset="0"/>
              <a:ea typeface="黑体" panose="02010609060101010101" pitchFamily="49" charset="-122"/>
              <a:cs typeface="+mn-cs"/>
            </a:endParaRPr>
          </a:p>
        </p:txBody>
      </p:sp>
      <p:sp>
        <p:nvSpPr>
          <p:cNvPr id="136195" name="Rectangle 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b="1">
                <a:solidFill>
                  <a:srgbClr val="0000CC"/>
                </a:solidFill>
                <a:latin typeface="Times" charset="0"/>
              </a:defRPr>
            </a:lvl1pPr>
          </a:lstStyle>
          <a:p>
            <a:pPr lvl="0"/>
            <a:r>
              <a:rPr lang="zh-CN" altLang="en-US" noProof="0"/>
              <a:t>单击此处编辑母版副标题样式</a:t>
            </a:r>
            <a:endParaRPr lang="zh-CN" altLang="en-US" noProof="0"/>
          </a:p>
        </p:txBody>
      </p:sp>
      <p:sp>
        <p:nvSpPr>
          <p:cNvPr id="10" name="标题 9"/>
          <p:cNvSpPr>
            <a:spLocks noGrp="1"/>
          </p:cNvSpPr>
          <p:nvPr>
            <p:ph type="title"/>
          </p:nvPr>
        </p:nvSpPr>
        <p:spPr>
          <a:xfrm>
            <a:off x="485775" y="908720"/>
            <a:ext cx="8229600" cy="863600"/>
          </a:xfrm>
        </p:spPr>
        <p:txBody>
          <a:bodyPr/>
          <a:lstStyle/>
          <a:p>
            <a:r>
              <a:rPr lang="zh-CN" altLang="en-US" dirty="0"/>
              <a:t>单击此处编辑母版标题样式</a:t>
            </a:r>
            <a:endParaRPr lang="zh-CN" altLang="en-US" dirty="0"/>
          </a:p>
        </p:txBody>
      </p:sp>
      <p:sp>
        <p:nvSpPr>
          <p:cNvPr id="11" name="日期占位符 1"/>
          <p:cNvSpPr>
            <a:spLocks noGrp="1"/>
          </p:cNvSpPr>
          <p:nvPr>
            <p:ph type="dt" sz="half" idx="2"/>
          </p:nvPr>
        </p:nvSpPr>
        <p:spPr bwMode="auto">
          <a:xfrm>
            <a:off x="457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2" name="页脚占位符 2"/>
          <p:cNvSpPr>
            <a:spLocks noGrp="1"/>
          </p:cNvSpPr>
          <p:nvPr>
            <p:ph type="ftr" sz="quarter" idx="3"/>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 name="灯片编号占位符 8"/>
          <p:cNvSpPr>
            <a:spLocks noGrp="1"/>
          </p:cNvSpPr>
          <p:nvPr>
            <p:ph type="sldNum" sz="quarter" idx="4"/>
          </p:nvPr>
        </p:nvSpPr>
        <p:spPr bwMode="auto">
          <a:xfrm>
            <a:off x="6553200" y="6245225"/>
            <a:ext cx="2133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smtClean="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b="0"/>
            </a:lvl1p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image" Target="../media/image1.jpeg"/><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
          <p:cNvPicPr>
            <a:picLocks noChangeAspect="1"/>
          </p:cNvPicPr>
          <p:nvPr userDrawn="1"/>
        </p:nvPicPr>
        <p:blipFill>
          <a:blip r:embed="rId4"/>
          <a:stretch>
            <a:fillRect/>
          </a:stretch>
        </p:blipFill>
        <p:spPr>
          <a:xfrm>
            <a:off x="0" y="6350"/>
            <a:ext cx="9144000" cy="6845300"/>
          </a:xfrm>
          <a:prstGeom prst="rect">
            <a:avLst/>
          </a:prstGeom>
          <a:noFill/>
          <a:ln w="9525">
            <a:noFill/>
          </a:ln>
        </p:spPr>
      </p:pic>
      <p:sp>
        <p:nvSpPr>
          <p:cNvPr id="135170" name="Rectangle 2"/>
          <p:cNvSpPr>
            <a:spLocks noGrp="1" noChangeArrowheads="1"/>
          </p:cNvSpPr>
          <p:nvPr>
            <p:ph type="title"/>
          </p:nvPr>
        </p:nvSpPr>
        <p:spPr bwMode="auto">
          <a:xfrm>
            <a:off x="457200" y="836613"/>
            <a:ext cx="8229600"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a:t>模板</a:t>
            </a:r>
            <a:r>
              <a:rPr lang="en-US" altLang="zh-CN" dirty="0"/>
              <a:t>Chapter</a:t>
            </a:r>
            <a:endParaRPr lang="en-US" altLang="zh-CN" dirty="0"/>
          </a:p>
        </p:txBody>
      </p:sp>
      <p:sp>
        <p:nvSpPr>
          <p:cNvPr id="1028" name="Rectangle 3"/>
          <p:cNvSpPr>
            <a:spLocks noGrp="1"/>
          </p:cNvSpPr>
          <p:nvPr>
            <p:ph type="body" idx="1"/>
          </p:nvPr>
        </p:nvSpPr>
        <p:spPr>
          <a:xfrm>
            <a:off x="457200" y="1916113"/>
            <a:ext cx="8229600" cy="4525962"/>
          </a:xfrm>
          <a:prstGeom prst="rect">
            <a:avLst/>
          </a:prstGeom>
          <a:noFill/>
          <a:ln w="9525">
            <a:noFill/>
          </a:ln>
        </p:spPr>
        <p:txBody>
          <a:bodyPr/>
          <a:lstStyle/>
          <a:p>
            <a:pPr lvl="0"/>
            <a:r>
              <a:rPr lang="zh-CN" altLang="en-US" dirty="0"/>
              <a:t>第一级</a:t>
            </a:r>
            <a:r>
              <a:rPr lang="en-US" altLang="zh-CN" dirty="0"/>
              <a:t>abcd</a:t>
            </a:r>
            <a:endParaRPr lang="en-US" altLang="zh-CN" dirty="0"/>
          </a:p>
          <a:p>
            <a:pPr lvl="1"/>
            <a:r>
              <a:rPr lang="zh-CN" altLang="en-US" dirty="0"/>
              <a:t>第二级</a:t>
            </a:r>
            <a:r>
              <a:rPr lang="en-US" altLang="zh-CN" dirty="0"/>
              <a:t>adb</a:t>
            </a:r>
            <a:endParaRPr lang="en-US" altLang="zh-CN" dirty="0"/>
          </a:p>
          <a:p>
            <a:pPr lvl="2"/>
            <a:r>
              <a:rPr lang="zh-CN" altLang="en-US" dirty="0"/>
              <a:t>第三级</a:t>
            </a:r>
            <a:r>
              <a:rPr lang="en-US" altLang="zh-CN" dirty="0"/>
              <a:t>kljaskf</a:t>
            </a:r>
            <a:endParaRPr lang="en-US" altLang="zh-CN" dirty="0"/>
          </a:p>
          <a:p>
            <a:pPr lvl="3"/>
            <a:r>
              <a:rPr lang="zh-CN" altLang="en-US" dirty="0"/>
              <a:t>第四级</a:t>
            </a:r>
            <a:endParaRPr lang="zh-CN" altLang="en-US" dirty="0"/>
          </a:p>
          <a:p>
            <a:pPr lvl="4"/>
            <a:r>
              <a:rPr lang="zh-CN" altLang="en-US" dirty="0"/>
              <a:t>第五级</a:t>
            </a:r>
            <a:endParaRPr lang="zh-CN" altLang="en-US" dirty="0"/>
          </a:p>
        </p:txBody>
      </p:sp>
      <p:sp>
        <p:nvSpPr>
          <p:cNvPr id="135172"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3"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35174"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spcBef>
                <a:spcPct val="0"/>
              </a:spcBef>
              <a:buClrTx/>
              <a:buSzTx/>
              <a:buFontTx/>
              <a:buNone/>
              <a:defRPr kumimoji="0" sz="1400">
                <a:solidFill>
                  <a:schemeClr val="tx1"/>
                </a:solidFill>
                <a:ea typeface="宋体"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A90D09A-ED5D-47CC-A45F-D492BA9A6C1B}" type="slidenum">
              <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Arial" panose="020B0604020202090204" pitchFamily="34" charset="0"/>
              <a:ea typeface="宋体" pitchFamily="2" charset="-122"/>
              <a:cs typeface="+mn-cs"/>
            </a:endParaRPr>
          </a:p>
        </p:txBody>
      </p:sp>
      <p:sp>
        <p:nvSpPr>
          <p:cNvPr id="1032" name="Rectangle 17"/>
          <p:cNvSpPr>
            <a:spLocks noChangeArrowheads="1"/>
          </p:cNvSpPr>
          <p:nvPr/>
        </p:nvSpPr>
        <p:spPr bwMode="gray">
          <a:xfrm>
            <a:off x="442913" y="1668463"/>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1pPr>
            <a:lvl2pPr marL="742950" indent="-28575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2pPr>
            <a:lvl3pPr marL="11430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3pPr>
            <a:lvl4pPr marL="16002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4pPr>
            <a:lvl5pPr marL="2057400" indent="-228600">
              <a:lnSpc>
                <a:spcPct val="110000"/>
              </a:lnSpc>
              <a:spcBef>
                <a:spcPct val="20000"/>
              </a:spcBef>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5pPr>
            <a:lvl6pPr marL="25146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6pPr>
            <a:lvl7pPr marL="29718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7pPr>
            <a:lvl8pPr marL="34290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8pPr>
            <a:lvl9pPr marL="3886200" indent="-228600" eaLnBrk="0" fontAlgn="base" hangingPunct="0">
              <a:lnSpc>
                <a:spcPct val="110000"/>
              </a:lnSpc>
              <a:spcBef>
                <a:spcPct val="20000"/>
              </a:spcBef>
              <a:spcAft>
                <a:spcPct val="0"/>
              </a:spcAft>
              <a:buClr>
                <a:srgbClr val="3366FF"/>
              </a:buClr>
              <a:buSzPct val="75000"/>
              <a:buFont typeface="Wingdings" panose="05000000000000000000" pitchFamily="2" charset="2"/>
              <a:defRPr kumimoji="1" sz="2000">
                <a:solidFill>
                  <a:srgbClr val="FF3300"/>
                </a:solidFill>
                <a:latin typeface="Arial" panose="020B060402020209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ahoma" panose="020B0604030504040204" pitchFamily="34" charset="0"/>
              <a:ea typeface="宋体" pitchFamily="2"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ftr="0" dt="0"/>
  <p:txStyles>
    <p:titleStyle>
      <a:lvl1pPr algn="ctr" rtl="0" eaLnBrk="0" fontAlgn="base" hangingPunct="0">
        <a:spcBef>
          <a:spcPct val="0"/>
        </a:spcBef>
        <a:spcAft>
          <a:spcPct val="0"/>
        </a:spcAft>
        <a:defRPr kumimoji="1" sz="3600" b="0" kern="1200">
          <a:solidFill>
            <a:srgbClr val="CC0000"/>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2pPr>
      <a:lvl3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3pPr>
      <a:lvl4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4pPr>
      <a:lvl5pPr algn="ctr" rtl="0" eaLnBrk="0" fontAlgn="base" hangingPunct="0">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5pPr>
      <a:lvl6pPr marL="4572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6pPr>
      <a:lvl7pPr marL="9144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7pPr>
      <a:lvl8pPr marL="13716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8pPr>
      <a:lvl9pPr marL="1828800" algn="ctr" rtl="0" fontAlgn="base">
        <a:spcBef>
          <a:spcPct val="0"/>
        </a:spcBef>
        <a:spcAft>
          <a:spcPct val="0"/>
        </a:spcAft>
        <a:defRPr kumimoji="1" sz="4400" b="1">
          <a:solidFill>
            <a:srgbClr val="CC0000"/>
          </a:solidFill>
          <a:effectLst>
            <a:outerShdw blurRad="38100" dist="38100" dir="2700000" algn="tl">
              <a:srgbClr val="C0C0C0"/>
            </a:outerShdw>
          </a:effectLst>
          <a:latin typeface="Lucida Sans" panose="020B0602030504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lr>
          <a:srgbClr val="3366FF"/>
        </a:buClr>
        <a:buSzPct val="75000"/>
        <a:buFont typeface="Wingdings" panose="05000000000000000000" pitchFamily="2" charset="2"/>
        <a:buChar char="ª"/>
        <a:defRPr kumimoji="1" sz="3600" kern="1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33"/>
        </a:buClr>
        <a:buSzPct val="80000"/>
        <a:buFont typeface="Wingdings" panose="05000000000000000000" pitchFamily="2" charset="2"/>
        <a:buChar char="Ø"/>
        <a:defRPr sz="2800" kern="1200">
          <a:solidFill>
            <a:schemeClr val="tx1"/>
          </a:solidFill>
          <a:latin typeface="Arial" panose="020B0604020202090204" pitchFamily="34" charset="0"/>
          <a:ea typeface="+mn-ea"/>
          <a:cs typeface="+mn-cs"/>
        </a:defRPr>
      </a:lvl2pPr>
      <a:lvl3pPr marL="1143000" indent="-228600" algn="l" rtl="0" eaLnBrk="0" fontAlgn="base" hangingPunct="0">
        <a:spcBef>
          <a:spcPct val="20000"/>
        </a:spcBef>
        <a:spcAft>
          <a:spcPct val="0"/>
        </a:spcAft>
        <a:buClr>
          <a:srgbClr val="FF0000"/>
        </a:buClr>
        <a:buChar char="•"/>
        <a:defRPr sz="2400" b="1" kern="1200">
          <a:solidFill>
            <a:schemeClr val="tx1"/>
          </a:solidFill>
          <a:latin typeface="Comic Sans MS" panose="030F0902030302020204" pitchFamily="66" charset="0"/>
          <a:ea typeface="楷体_GB2312" pitchFamily="49" charset="-122"/>
          <a:cs typeface="+mn-cs"/>
        </a:defRPr>
      </a:lvl3pPr>
      <a:lvl4pPr marL="16002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4pPr>
      <a:lvl5pPr marL="2057400" indent="-228600" algn="l" rtl="0" eaLnBrk="0" fontAlgn="base" hangingPunct="0">
        <a:spcBef>
          <a:spcPct val="20000"/>
        </a:spcBef>
        <a:spcAft>
          <a:spcPct val="0"/>
        </a:spcAft>
        <a:buChar char="»"/>
        <a:defRPr sz="2000" kern="1200">
          <a:solidFill>
            <a:schemeClr val="tx1"/>
          </a:solidFill>
          <a:latin typeface="Arial" panose="020B0604020202090204" pitchFamily="34" charset="0"/>
          <a:ea typeface="宋体" pitchFamily="2"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ubtitle 1"/>
          <p:cNvSpPr>
            <a:spLocks noGrp="1"/>
          </p:cNvSpPr>
          <p:nvPr>
            <p:ph type="subTitle" idx="1"/>
          </p:nvPr>
        </p:nvSpPr>
        <p:spPr/>
        <p:txBody>
          <a:bodyPr wrap="square" anchor="ctr"/>
          <a:lstStyle/>
          <a:p>
            <a:pPr algn="ctr"/>
            <a:r>
              <a:rPr sz="1700" b="0">
                <a:solidFill>
                  <a:srgbClr val="282828"/>
                </a:solidFill>
                <a:latin typeface="微软雅黑" panose="020B0503020204020204" charset="-122"/>
              </a:rPr>
              <a:t>研究方向：达梦 SQL+ / Text-to-SQL / 多智能体 / 执行反馈修正
汇报人：</a:t>
            </a:r>
            <a:r>
              <a:rPr lang="zh-CN" sz="1700" b="0">
                <a:solidFill>
                  <a:srgbClr val="282828"/>
                </a:solidFill>
                <a:latin typeface="微软雅黑" panose="020B0503020204020204" charset="-122"/>
              </a:rPr>
              <a:t>艾筠舜</a:t>
            </a:r>
            <a:r>
              <a:rPr sz="1700" b="0">
                <a:solidFill>
                  <a:srgbClr val="282828"/>
                </a:solidFill>
                <a:latin typeface="微软雅黑" panose="020B0503020204020204" charset="-122"/>
              </a:rPr>
              <a:t>    导师：</a:t>
            </a:r>
            <a:r>
              <a:rPr lang="zh-CN" sz="1700" b="0">
                <a:solidFill>
                  <a:srgbClr val="282828"/>
                </a:solidFill>
                <a:latin typeface="微软雅黑" panose="020B0503020204020204" charset="-122"/>
              </a:rPr>
              <a:t>王芳</a:t>
            </a:r>
            <a:r>
              <a:rPr sz="1700" b="0">
                <a:solidFill>
                  <a:srgbClr val="282828"/>
                </a:solidFill>
                <a:latin typeface="微软雅黑" panose="020B0503020204020204" charset="-122"/>
              </a:rPr>
              <a:t>    时间：</a:t>
            </a:r>
            <a:r>
              <a:rPr lang="en-US" sz="1700" b="0">
                <a:solidFill>
                  <a:srgbClr val="282828"/>
                </a:solidFill>
                <a:latin typeface="微软雅黑" panose="020B0503020204020204" charset="-122"/>
              </a:rPr>
              <a:t>2026.6</a:t>
            </a:r>
            <a:endParaRPr lang="en-US" sz="1700" b="0">
              <a:solidFill>
                <a:srgbClr val="282828"/>
              </a:solidFill>
              <a:latin typeface="微软雅黑" panose="020B0503020204020204" charset="-122"/>
            </a:endParaRPr>
          </a:p>
        </p:txBody>
      </p:sp>
      <p:sp>
        <p:nvSpPr>
          <p:cNvPr id="3" name="Title 2"/>
          <p:cNvSpPr>
            <a:spLocks noGrp="1"/>
          </p:cNvSpPr>
          <p:nvPr>
            <p:ph type="title"/>
          </p:nvPr>
        </p:nvSpPr>
        <p:spPr>
          <a:xfrm>
            <a:off x="323850" y="2204755"/>
            <a:ext cx="8229600" cy="863600"/>
          </a:xfrm>
        </p:spPr>
        <p:txBody>
          <a:bodyPr wrap="square" anchor="ctr"/>
          <a:lstStyle/>
          <a:p>
            <a:pPr algn="ctr"/>
            <a:r>
              <a:rPr sz="2800" b="1">
                <a:solidFill>
                  <a:srgbClr val="1F4E79"/>
                </a:solidFill>
                <a:latin typeface="微软雅黑" panose="020B0503020204020204" charset="-122"/>
              </a:rPr>
              <a:t>面向 SQL+ 简化查询表达的多智能体自然语言数据库查询生成与反馈修正方法研究</a:t>
            </a:r>
            <a:endParaRPr sz="2800" b="1">
              <a:solidFill>
                <a:srgbClr val="1F4E79"/>
              </a:solidFill>
              <a:latin typeface="微软雅黑" panose="020B0503020204020204" charset="-122"/>
            </a:endParaRPr>
          </a:p>
        </p:txBody>
      </p:sp>
      <p:sp>
        <p:nvSpPr>
          <p:cNvPr id="4" name="TextBox 3"/>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a:t>
            </a:r>
            <a:endParaRPr sz="800" b="0">
              <a:solidFill>
                <a:srgbClr val="5F5F5F"/>
              </a:solidFill>
              <a:latin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57530" y="2893695"/>
            <a:ext cx="1298448" cy="150876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667258" y="3003423"/>
            <a:ext cx="411480" cy="292608"/>
          </a:xfrm>
          <a:prstGeom prst="rect">
            <a:avLst/>
          </a:prstGeom>
          <a:noFill/>
        </p:spPr>
        <p:txBody>
          <a:bodyPr wrap="square" anchor="ctr">
            <a:spAutoFit/>
          </a:bodyPr>
          <a:lstStyle/>
          <a:p>
            <a:pPr algn="l"/>
            <a:r>
              <a:rPr sz="1400" b="1">
                <a:solidFill>
                  <a:srgbClr val="1F4E79"/>
                </a:solidFill>
                <a:latin typeface="微软雅黑" panose="020B0503020204020204" charset="-122"/>
              </a:rPr>
              <a:t>01</a:t>
            </a:r>
            <a:endParaRPr sz="1400" b="1">
              <a:solidFill>
                <a:srgbClr val="1F4E79"/>
              </a:solidFill>
              <a:latin typeface="微软雅黑" panose="020B0503020204020204" charset="-122"/>
            </a:endParaRPr>
          </a:p>
        </p:txBody>
      </p:sp>
      <p:sp>
        <p:nvSpPr>
          <p:cNvPr id="7" name="TextBox 6"/>
          <p:cNvSpPr txBox="1"/>
          <p:nvPr/>
        </p:nvSpPr>
        <p:spPr>
          <a:xfrm>
            <a:off x="667258" y="3396615"/>
            <a:ext cx="1051560" cy="320040"/>
          </a:xfrm>
          <a:prstGeom prst="rect">
            <a:avLst/>
          </a:prstGeom>
          <a:noFill/>
        </p:spPr>
        <p:txBody>
          <a:bodyPr wrap="square" anchor="ctr">
            <a:spAutoFit/>
          </a:bodyPr>
          <a:lstStyle/>
          <a:p>
            <a:pPr algn="l"/>
            <a:r>
              <a:rPr sz="1500" b="1">
                <a:solidFill>
                  <a:srgbClr val="2D2D2D"/>
                </a:solidFill>
                <a:latin typeface="微软雅黑" panose="020B0503020204020204" charset="-122"/>
              </a:rPr>
              <a:t>问题来源</a:t>
            </a:r>
            <a:endParaRPr sz="1500" b="1">
              <a:solidFill>
                <a:srgbClr val="2D2D2D"/>
              </a:solidFill>
              <a:latin typeface="微软雅黑" panose="020B0503020204020204" charset="-122"/>
            </a:endParaRPr>
          </a:p>
        </p:txBody>
      </p:sp>
      <p:sp>
        <p:nvSpPr>
          <p:cNvPr id="8" name="TextBox 7"/>
          <p:cNvSpPr txBox="1"/>
          <p:nvPr/>
        </p:nvSpPr>
        <p:spPr>
          <a:xfrm>
            <a:off x="667258" y="3826383"/>
            <a:ext cx="1051560" cy="411480"/>
          </a:xfrm>
          <a:prstGeom prst="rect">
            <a:avLst/>
          </a:prstGeom>
          <a:noFill/>
        </p:spPr>
        <p:txBody>
          <a:bodyPr wrap="square" anchor="ctr">
            <a:spAutoFit/>
          </a:bodyPr>
          <a:lstStyle/>
          <a:p>
            <a:pPr algn="l"/>
            <a:r>
              <a:rPr sz="1000" b="0">
                <a:solidFill>
                  <a:srgbClr val="646464"/>
                </a:solidFill>
                <a:latin typeface="微软雅黑" panose="020B0503020204020204" charset="-122"/>
              </a:rPr>
              <a:t>为什么直接 NL2SQL 不稳定</a:t>
            </a:r>
            <a:endParaRPr sz="1000" b="0">
              <a:solidFill>
                <a:srgbClr val="646464"/>
              </a:solidFill>
              <a:latin typeface="微软雅黑" panose="020B0503020204020204" charset="-122"/>
            </a:endParaRPr>
          </a:p>
        </p:txBody>
      </p:sp>
      <p:sp>
        <p:nvSpPr>
          <p:cNvPr id="9" name="TextBox 8"/>
          <p:cNvSpPr txBox="1"/>
          <p:nvPr/>
        </p:nvSpPr>
        <p:spPr>
          <a:xfrm>
            <a:off x="1883410" y="3515487"/>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10" name="Rectangle 9"/>
          <p:cNvSpPr/>
          <p:nvPr/>
        </p:nvSpPr>
        <p:spPr>
          <a:xfrm>
            <a:off x="2185162" y="2893695"/>
            <a:ext cx="1298448" cy="150876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1" name="TextBox 10"/>
          <p:cNvSpPr txBox="1"/>
          <p:nvPr/>
        </p:nvSpPr>
        <p:spPr>
          <a:xfrm>
            <a:off x="2294890" y="3003423"/>
            <a:ext cx="411480" cy="292608"/>
          </a:xfrm>
          <a:prstGeom prst="rect">
            <a:avLst/>
          </a:prstGeom>
          <a:noFill/>
        </p:spPr>
        <p:txBody>
          <a:bodyPr wrap="square" anchor="ctr">
            <a:spAutoFit/>
          </a:bodyPr>
          <a:lstStyle/>
          <a:p>
            <a:pPr algn="l"/>
            <a:r>
              <a:rPr sz="1400" b="1">
                <a:solidFill>
                  <a:srgbClr val="1F4E79"/>
                </a:solidFill>
                <a:latin typeface="微软雅黑" panose="020B0503020204020204" charset="-122"/>
              </a:rPr>
              <a:t>02</a:t>
            </a:r>
            <a:endParaRPr sz="1400" b="1">
              <a:solidFill>
                <a:srgbClr val="1F4E79"/>
              </a:solidFill>
              <a:latin typeface="微软雅黑" panose="020B0503020204020204" charset="-122"/>
            </a:endParaRPr>
          </a:p>
        </p:txBody>
      </p:sp>
      <p:sp>
        <p:nvSpPr>
          <p:cNvPr id="12" name="TextBox 11"/>
          <p:cNvSpPr txBox="1"/>
          <p:nvPr/>
        </p:nvSpPr>
        <p:spPr>
          <a:xfrm>
            <a:off x="2294890" y="3396615"/>
            <a:ext cx="1051560" cy="320040"/>
          </a:xfrm>
          <a:prstGeom prst="rect">
            <a:avLst/>
          </a:prstGeom>
          <a:noFill/>
        </p:spPr>
        <p:txBody>
          <a:bodyPr wrap="square" anchor="ctr">
            <a:spAutoFit/>
          </a:bodyPr>
          <a:lstStyle/>
          <a:p>
            <a:pPr algn="l"/>
            <a:r>
              <a:rPr sz="1500" b="1">
                <a:solidFill>
                  <a:srgbClr val="2D2D2D"/>
                </a:solidFill>
                <a:latin typeface="微软雅黑" panose="020B0503020204020204" charset="-122"/>
              </a:rPr>
              <a:t>已有研究</a:t>
            </a:r>
            <a:endParaRPr sz="1500" b="1">
              <a:solidFill>
                <a:srgbClr val="2D2D2D"/>
              </a:solidFill>
              <a:latin typeface="微软雅黑" panose="020B0503020204020204" charset="-122"/>
            </a:endParaRPr>
          </a:p>
        </p:txBody>
      </p:sp>
      <p:sp>
        <p:nvSpPr>
          <p:cNvPr id="13" name="TextBox 12"/>
          <p:cNvSpPr txBox="1"/>
          <p:nvPr/>
        </p:nvSpPr>
        <p:spPr>
          <a:xfrm>
            <a:off x="2294890" y="3826383"/>
            <a:ext cx="1051560" cy="411480"/>
          </a:xfrm>
          <a:prstGeom prst="rect">
            <a:avLst/>
          </a:prstGeom>
          <a:noFill/>
        </p:spPr>
        <p:txBody>
          <a:bodyPr wrap="square" anchor="ctr">
            <a:spAutoFit/>
          </a:bodyPr>
          <a:lstStyle/>
          <a:p>
            <a:pPr algn="l"/>
            <a:r>
              <a:rPr sz="1000" b="0">
                <a:solidFill>
                  <a:srgbClr val="646464"/>
                </a:solidFill>
                <a:latin typeface="微软雅黑" panose="020B0503020204020204" charset="-122"/>
              </a:rPr>
              <a:t>Text-to-SQL、IR、Agent</a:t>
            </a:r>
            <a:endParaRPr sz="1000" b="0">
              <a:solidFill>
                <a:srgbClr val="646464"/>
              </a:solidFill>
              <a:latin typeface="微软雅黑" panose="020B0503020204020204" charset="-122"/>
            </a:endParaRPr>
          </a:p>
        </p:txBody>
      </p:sp>
      <p:sp>
        <p:nvSpPr>
          <p:cNvPr id="14" name="TextBox 13"/>
          <p:cNvSpPr txBox="1"/>
          <p:nvPr/>
        </p:nvSpPr>
        <p:spPr>
          <a:xfrm>
            <a:off x="3511042" y="3515487"/>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15" name="Rectangle 14"/>
          <p:cNvSpPr/>
          <p:nvPr/>
        </p:nvSpPr>
        <p:spPr>
          <a:xfrm>
            <a:off x="3812794" y="2893695"/>
            <a:ext cx="1298448" cy="150876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6" name="TextBox 15"/>
          <p:cNvSpPr txBox="1"/>
          <p:nvPr/>
        </p:nvSpPr>
        <p:spPr>
          <a:xfrm>
            <a:off x="3922522" y="3003423"/>
            <a:ext cx="411480" cy="292608"/>
          </a:xfrm>
          <a:prstGeom prst="rect">
            <a:avLst/>
          </a:prstGeom>
          <a:noFill/>
        </p:spPr>
        <p:txBody>
          <a:bodyPr wrap="square" anchor="ctr">
            <a:spAutoFit/>
          </a:bodyPr>
          <a:lstStyle/>
          <a:p>
            <a:pPr algn="l"/>
            <a:r>
              <a:rPr sz="1400" b="1">
                <a:solidFill>
                  <a:srgbClr val="1F4E79"/>
                </a:solidFill>
                <a:latin typeface="微软雅黑" panose="020B0503020204020204" charset="-122"/>
              </a:rPr>
              <a:t>03</a:t>
            </a:r>
            <a:endParaRPr sz="1400" b="1">
              <a:solidFill>
                <a:srgbClr val="1F4E79"/>
              </a:solidFill>
              <a:latin typeface="微软雅黑" panose="020B0503020204020204" charset="-122"/>
            </a:endParaRPr>
          </a:p>
        </p:txBody>
      </p:sp>
      <p:sp>
        <p:nvSpPr>
          <p:cNvPr id="17" name="TextBox 16"/>
          <p:cNvSpPr txBox="1"/>
          <p:nvPr/>
        </p:nvSpPr>
        <p:spPr>
          <a:xfrm>
            <a:off x="3922522" y="3396615"/>
            <a:ext cx="1051560" cy="320040"/>
          </a:xfrm>
          <a:prstGeom prst="rect">
            <a:avLst/>
          </a:prstGeom>
          <a:noFill/>
        </p:spPr>
        <p:txBody>
          <a:bodyPr wrap="square" anchor="ctr">
            <a:spAutoFit/>
          </a:bodyPr>
          <a:lstStyle/>
          <a:p>
            <a:pPr algn="l"/>
            <a:r>
              <a:rPr sz="1500" b="1">
                <a:solidFill>
                  <a:srgbClr val="2D2D2D"/>
                </a:solidFill>
                <a:latin typeface="微软雅黑" panose="020B0503020204020204" charset="-122"/>
              </a:rPr>
              <a:t>本文方法</a:t>
            </a:r>
            <a:endParaRPr sz="1500" b="1">
              <a:solidFill>
                <a:srgbClr val="2D2D2D"/>
              </a:solidFill>
              <a:latin typeface="微软雅黑" panose="020B0503020204020204" charset="-122"/>
            </a:endParaRPr>
          </a:p>
        </p:txBody>
      </p:sp>
      <p:sp>
        <p:nvSpPr>
          <p:cNvPr id="18" name="TextBox 17"/>
          <p:cNvSpPr txBox="1"/>
          <p:nvPr/>
        </p:nvSpPr>
        <p:spPr>
          <a:xfrm>
            <a:off x="3922522" y="3826383"/>
            <a:ext cx="1051560" cy="411480"/>
          </a:xfrm>
          <a:prstGeom prst="rect">
            <a:avLst/>
          </a:prstGeom>
          <a:noFill/>
        </p:spPr>
        <p:txBody>
          <a:bodyPr wrap="square" anchor="ctr">
            <a:spAutoFit/>
          </a:bodyPr>
          <a:lstStyle/>
          <a:p>
            <a:pPr algn="l"/>
            <a:r>
              <a:rPr sz="1000" b="0">
                <a:solidFill>
                  <a:srgbClr val="646464"/>
                </a:solidFill>
                <a:latin typeface="微软雅黑" panose="020B0503020204020204" charset="-122"/>
              </a:rPr>
              <a:t>SQL+ 与多智能体闭环</a:t>
            </a:r>
            <a:endParaRPr sz="1000" b="0">
              <a:solidFill>
                <a:srgbClr val="646464"/>
              </a:solidFill>
              <a:latin typeface="微软雅黑" panose="020B0503020204020204" charset="-122"/>
            </a:endParaRPr>
          </a:p>
        </p:txBody>
      </p:sp>
      <p:sp>
        <p:nvSpPr>
          <p:cNvPr id="19" name="TextBox 18"/>
          <p:cNvSpPr txBox="1"/>
          <p:nvPr/>
        </p:nvSpPr>
        <p:spPr>
          <a:xfrm>
            <a:off x="5138674" y="3515487"/>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20" name="Rectangle 19"/>
          <p:cNvSpPr/>
          <p:nvPr/>
        </p:nvSpPr>
        <p:spPr>
          <a:xfrm>
            <a:off x="5440426" y="2893695"/>
            <a:ext cx="1298448" cy="150876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21" name="TextBox 20"/>
          <p:cNvSpPr txBox="1"/>
          <p:nvPr/>
        </p:nvSpPr>
        <p:spPr>
          <a:xfrm>
            <a:off x="5550154" y="3003423"/>
            <a:ext cx="411480" cy="292608"/>
          </a:xfrm>
          <a:prstGeom prst="rect">
            <a:avLst/>
          </a:prstGeom>
          <a:noFill/>
        </p:spPr>
        <p:txBody>
          <a:bodyPr wrap="square" anchor="ctr">
            <a:spAutoFit/>
          </a:bodyPr>
          <a:lstStyle/>
          <a:p>
            <a:pPr algn="l"/>
            <a:r>
              <a:rPr sz="1400" b="1">
                <a:solidFill>
                  <a:srgbClr val="1F4E79"/>
                </a:solidFill>
                <a:latin typeface="微软雅黑" panose="020B0503020204020204" charset="-122"/>
              </a:rPr>
              <a:t>04</a:t>
            </a:r>
            <a:endParaRPr sz="1400" b="1">
              <a:solidFill>
                <a:srgbClr val="1F4E79"/>
              </a:solidFill>
              <a:latin typeface="微软雅黑" panose="020B0503020204020204" charset="-122"/>
            </a:endParaRPr>
          </a:p>
        </p:txBody>
      </p:sp>
      <p:sp>
        <p:nvSpPr>
          <p:cNvPr id="22" name="TextBox 21"/>
          <p:cNvSpPr txBox="1"/>
          <p:nvPr/>
        </p:nvSpPr>
        <p:spPr>
          <a:xfrm>
            <a:off x="5550154" y="3396615"/>
            <a:ext cx="1051560" cy="320040"/>
          </a:xfrm>
          <a:prstGeom prst="rect">
            <a:avLst/>
          </a:prstGeom>
          <a:noFill/>
        </p:spPr>
        <p:txBody>
          <a:bodyPr wrap="square" anchor="ctr">
            <a:spAutoFit/>
          </a:bodyPr>
          <a:lstStyle/>
          <a:p>
            <a:pPr algn="l"/>
            <a:r>
              <a:rPr sz="1500" b="1">
                <a:solidFill>
                  <a:srgbClr val="2D2D2D"/>
                </a:solidFill>
                <a:latin typeface="微软雅黑" panose="020B0503020204020204" charset="-122"/>
              </a:rPr>
              <a:t>初步实验</a:t>
            </a:r>
            <a:endParaRPr sz="1500" b="1">
              <a:solidFill>
                <a:srgbClr val="2D2D2D"/>
              </a:solidFill>
              <a:latin typeface="微软雅黑" panose="020B0503020204020204" charset="-122"/>
            </a:endParaRPr>
          </a:p>
        </p:txBody>
      </p:sp>
      <p:sp>
        <p:nvSpPr>
          <p:cNvPr id="23" name="TextBox 22"/>
          <p:cNvSpPr txBox="1"/>
          <p:nvPr/>
        </p:nvSpPr>
        <p:spPr>
          <a:xfrm>
            <a:off x="5550154" y="3826383"/>
            <a:ext cx="1051560" cy="411480"/>
          </a:xfrm>
          <a:prstGeom prst="rect">
            <a:avLst/>
          </a:prstGeom>
          <a:noFill/>
        </p:spPr>
        <p:txBody>
          <a:bodyPr wrap="square" anchor="ctr">
            <a:spAutoFit/>
          </a:bodyPr>
          <a:lstStyle/>
          <a:p>
            <a:pPr algn="l"/>
            <a:r>
              <a:rPr sz="1000" b="0">
                <a:solidFill>
                  <a:srgbClr val="646464"/>
                </a:solidFill>
                <a:latin typeface="微软雅黑" panose="020B0503020204020204" charset="-122"/>
              </a:rPr>
              <a:t>目的、条件、指标、结果</a:t>
            </a:r>
            <a:endParaRPr sz="1000" b="0">
              <a:solidFill>
                <a:srgbClr val="646464"/>
              </a:solidFill>
              <a:latin typeface="微软雅黑" panose="020B0503020204020204" charset="-122"/>
            </a:endParaRPr>
          </a:p>
        </p:txBody>
      </p:sp>
      <p:sp>
        <p:nvSpPr>
          <p:cNvPr id="24" name="TextBox 23"/>
          <p:cNvSpPr txBox="1"/>
          <p:nvPr/>
        </p:nvSpPr>
        <p:spPr>
          <a:xfrm>
            <a:off x="6766306" y="3515487"/>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25" name="Rectangle 24"/>
          <p:cNvSpPr/>
          <p:nvPr/>
        </p:nvSpPr>
        <p:spPr>
          <a:xfrm>
            <a:off x="7068058" y="2893695"/>
            <a:ext cx="1298448" cy="150876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26" name="TextBox 25"/>
          <p:cNvSpPr txBox="1"/>
          <p:nvPr/>
        </p:nvSpPr>
        <p:spPr>
          <a:xfrm>
            <a:off x="7177786" y="3003423"/>
            <a:ext cx="411480" cy="292608"/>
          </a:xfrm>
          <a:prstGeom prst="rect">
            <a:avLst/>
          </a:prstGeom>
          <a:noFill/>
        </p:spPr>
        <p:txBody>
          <a:bodyPr wrap="square" anchor="ctr">
            <a:spAutoFit/>
          </a:bodyPr>
          <a:lstStyle/>
          <a:p>
            <a:pPr algn="l"/>
            <a:r>
              <a:rPr sz="1400" b="1">
                <a:solidFill>
                  <a:srgbClr val="1F4E79"/>
                </a:solidFill>
                <a:latin typeface="微软雅黑" panose="020B0503020204020204" charset="-122"/>
              </a:rPr>
              <a:t>05</a:t>
            </a:r>
            <a:endParaRPr sz="1400" b="1">
              <a:solidFill>
                <a:srgbClr val="1F4E79"/>
              </a:solidFill>
              <a:latin typeface="微软雅黑" panose="020B0503020204020204" charset="-122"/>
            </a:endParaRPr>
          </a:p>
        </p:txBody>
      </p:sp>
      <p:sp>
        <p:nvSpPr>
          <p:cNvPr id="27" name="TextBox 26"/>
          <p:cNvSpPr txBox="1"/>
          <p:nvPr/>
        </p:nvSpPr>
        <p:spPr>
          <a:xfrm>
            <a:off x="7177786" y="3396615"/>
            <a:ext cx="1051560" cy="320040"/>
          </a:xfrm>
          <a:prstGeom prst="rect">
            <a:avLst/>
          </a:prstGeom>
          <a:noFill/>
        </p:spPr>
        <p:txBody>
          <a:bodyPr wrap="square" anchor="ctr">
            <a:spAutoFit/>
          </a:bodyPr>
          <a:lstStyle/>
          <a:p>
            <a:pPr algn="l"/>
            <a:r>
              <a:rPr sz="1500" b="1">
                <a:solidFill>
                  <a:srgbClr val="2D2D2D"/>
                </a:solidFill>
                <a:latin typeface="微软雅黑" panose="020B0503020204020204" charset="-122"/>
              </a:rPr>
              <a:t>计划与风险</a:t>
            </a:r>
            <a:endParaRPr sz="1500" b="1">
              <a:solidFill>
                <a:srgbClr val="2D2D2D"/>
              </a:solidFill>
              <a:latin typeface="微软雅黑" panose="020B0503020204020204" charset="-122"/>
            </a:endParaRPr>
          </a:p>
        </p:txBody>
      </p:sp>
      <p:sp>
        <p:nvSpPr>
          <p:cNvPr id="28" name="TextBox 27"/>
          <p:cNvSpPr txBox="1"/>
          <p:nvPr/>
        </p:nvSpPr>
        <p:spPr>
          <a:xfrm>
            <a:off x="7177786" y="3826383"/>
            <a:ext cx="1051560" cy="411480"/>
          </a:xfrm>
          <a:prstGeom prst="rect">
            <a:avLst/>
          </a:prstGeom>
          <a:noFill/>
        </p:spPr>
        <p:txBody>
          <a:bodyPr wrap="square" anchor="ctr">
            <a:spAutoFit/>
          </a:bodyPr>
          <a:lstStyle/>
          <a:p>
            <a:pPr algn="l"/>
            <a:r>
              <a:rPr sz="1000" b="0">
                <a:solidFill>
                  <a:srgbClr val="646464"/>
                </a:solidFill>
                <a:latin typeface="微软雅黑" panose="020B0503020204020204" charset="-122"/>
              </a:rPr>
              <a:t>后续实验和边界说明</a:t>
            </a:r>
            <a:endParaRPr sz="1000" b="0">
              <a:solidFill>
                <a:srgbClr val="646464"/>
              </a:solidFill>
              <a:latin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传统 Text-to-SQL 流程及其问题</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3</a:t>
            </a:r>
            <a:endParaRPr sz="800" b="0">
              <a:solidFill>
                <a:srgbClr val="5F5F5F"/>
              </a:solidFill>
              <a:latin typeface="微软雅黑" panose="020B0503020204020204" charset="-122"/>
            </a:endParaRPr>
          </a:p>
        </p:txBody>
      </p:sp>
      <p:sp>
        <p:nvSpPr>
          <p:cNvPr id="4" name="Rectangle 3"/>
          <p:cNvSpPr/>
          <p:nvPr/>
        </p:nvSpPr>
        <p:spPr>
          <a:xfrm>
            <a:off x="658495" y="1916430"/>
            <a:ext cx="123444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自然语言问题</a:t>
            </a:r>
            <a:endParaRPr sz="1200" b="1">
              <a:solidFill>
                <a:srgbClr val="282828"/>
              </a:solidFill>
              <a:latin typeface="微软雅黑" panose="020B0503020204020204" charset="-122"/>
            </a:endParaRPr>
          </a:p>
        </p:txBody>
      </p:sp>
      <p:sp>
        <p:nvSpPr>
          <p:cNvPr id="5" name="TextBox 4"/>
          <p:cNvSpPr txBox="1"/>
          <p:nvPr/>
        </p:nvSpPr>
        <p:spPr>
          <a:xfrm>
            <a:off x="195694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6" name="Rectangle 5"/>
          <p:cNvSpPr/>
          <p:nvPr/>
        </p:nvSpPr>
        <p:spPr>
          <a:xfrm>
            <a:off x="2212975" y="1916430"/>
            <a:ext cx="1234440" cy="6858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LLM / 解析器</a:t>
            </a:r>
            <a:endParaRPr sz="1200" b="1">
              <a:solidFill>
                <a:srgbClr val="282828"/>
              </a:solidFill>
              <a:latin typeface="微软雅黑" panose="020B0503020204020204" charset="-122"/>
            </a:endParaRPr>
          </a:p>
        </p:txBody>
      </p:sp>
      <p:sp>
        <p:nvSpPr>
          <p:cNvPr id="7" name="TextBox 6"/>
          <p:cNvSpPr txBox="1"/>
          <p:nvPr/>
        </p:nvSpPr>
        <p:spPr>
          <a:xfrm>
            <a:off x="351142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8" name="Rectangle 7"/>
          <p:cNvSpPr/>
          <p:nvPr/>
        </p:nvSpPr>
        <p:spPr>
          <a:xfrm>
            <a:off x="3767455" y="1916430"/>
            <a:ext cx="1234440" cy="685800"/>
          </a:xfrm>
          <a:prstGeom prst="rect">
            <a:avLst/>
          </a:prstGeom>
          <a:solidFill>
            <a:srgbClr val="FBE5D6"/>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标准 SQL</a:t>
            </a:r>
            <a:endParaRPr sz="1200" b="1">
              <a:solidFill>
                <a:srgbClr val="282828"/>
              </a:solidFill>
              <a:latin typeface="微软雅黑" panose="020B0503020204020204" charset="-122"/>
            </a:endParaRPr>
          </a:p>
        </p:txBody>
      </p:sp>
      <p:sp>
        <p:nvSpPr>
          <p:cNvPr id="9" name="TextBox 8"/>
          <p:cNvSpPr txBox="1"/>
          <p:nvPr/>
        </p:nvSpPr>
        <p:spPr>
          <a:xfrm>
            <a:off x="506590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0" name="Rectangle 9"/>
          <p:cNvSpPr/>
          <p:nvPr/>
        </p:nvSpPr>
        <p:spPr>
          <a:xfrm>
            <a:off x="5321935" y="1916430"/>
            <a:ext cx="1234440" cy="685800"/>
          </a:xfrm>
          <a:prstGeom prst="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数据库执行</a:t>
            </a:r>
            <a:endParaRPr sz="1200" b="1">
              <a:solidFill>
                <a:srgbClr val="282828"/>
              </a:solidFill>
              <a:latin typeface="微软雅黑" panose="020B0503020204020204" charset="-122"/>
            </a:endParaRPr>
          </a:p>
        </p:txBody>
      </p:sp>
      <p:sp>
        <p:nvSpPr>
          <p:cNvPr id="11" name="TextBox 10"/>
          <p:cNvSpPr txBox="1"/>
          <p:nvPr/>
        </p:nvSpPr>
        <p:spPr>
          <a:xfrm>
            <a:off x="6620383" y="2126742"/>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2" name="Rectangle 11"/>
          <p:cNvSpPr/>
          <p:nvPr/>
        </p:nvSpPr>
        <p:spPr>
          <a:xfrm>
            <a:off x="6876415" y="1916430"/>
            <a:ext cx="1234440" cy="685800"/>
          </a:xfrm>
          <a:prstGeom prst="rect">
            <a:avLst/>
          </a:prstGeom>
          <a:solidFill>
            <a:srgbClr val="E2EFDA"/>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查询结果</a:t>
            </a:r>
            <a:endParaRPr sz="1200" b="1">
              <a:solidFill>
                <a:srgbClr val="282828"/>
              </a:solidFill>
              <a:latin typeface="微软雅黑" panose="020B0503020204020204" charset="-122"/>
            </a:endParaRPr>
          </a:p>
        </p:txBody>
      </p:sp>
      <p:sp>
        <p:nvSpPr>
          <p:cNvPr id="13" name="Rectangle 12"/>
          <p:cNvSpPr/>
          <p:nvPr/>
        </p:nvSpPr>
        <p:spPr>
          <a:xfrm>
            <a:off x="2212975" y="3213100"/>
            <a:ext cx="4480560" cy="68580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82828"/>
                </a:solidFill>
                <a:latin typeface="微软雅黑" panose="020B0503020204020204" charset="-122"/>
              </a:rPr>
              <a:t>错误反馈通常只作用在整条 SQL 上</a:t>
            </a:r>
            <a:endParaRPr sz="1300" b="1">
              <a:solidFill>
                <a:srgbClr val="282828"/>
              </a:solidFill>
              <a:latin typeface="微软雅黑" panose="020B0503020204020204" charset="-122"/>
            </a:endParaRPr>
          </a:p>
        </p:txBody>
      </p:sp>
      <p:sp>
        <p:nvSpPr>
          <p:cNvPr id="14" name="TextBox 13"/>
          <p:cNvSpPr txBox="1"/>
          <p:nvPr/>
        </p:nvSpPr>
        <p:spPr>
          <a:xfrm>
            <a:off x="4314825" y="2852928"/>
            <a:ext cx="320040" cy="228600"/>
          </a:xfrm>
          <a:prstGeom prst="rect">
            <a:avLst/>
          </a:prstGeom>
          <a:noFill/>
        </p:spPr>
        <p:txBody>
          <a:bodyPr wrap="square" anchor="ctr">
            <a:spAutoFit/>
          </a:bodyPr>
          <a:lstStyle/>
          <a:p>
            <a:pPr algn="ctr"/>
            <a:r>
              <a:rPr sz="2200" b="1">
                <a:solidFill>
                  <a:srgbClr val="C65911"/>
                </a:solidFill>
                <a:latin typeface="微软雅黑" panose="020B0503020204020204" charset="-122"/>
              </a:rPr>
              <a:t>↓</a:t>
            </a:r>
            <a:endParaRPr sz="2200" b="1">
              <a:solidFill>
                <a:srgbClr val="C65911"/>
              </a:solidFill>
              <a:latin typeface="微软雅黑" panose="020B0503020204020204" charset="-122"/>
            </a:endParaRPr>
          </a:p>
        </p:txBody>
      </p:sp>
      <p:sp>
        <p:nvSpPr>
          <p:cNvPr id="15" name="TextBox 14"/>
          <p:cNvSpPr txBox="1"/>
          <p:nvPr/>
        </p:nvSpPr>
        <p:spPr>
          <a:xfrm>
            <a:off x="611505" y="4364990"/>
            <a:ext cx="7955280" cy="1163320"/>
          </a:xfrm>
          <a:prstGeom prst="rect">
            <a:avLst/>
          </a:prstGeom>
          <a:noFill/>
        </p:spPr>
        <p:txBody>
          <a:bodyPr wrap="square">
            <a:noAutofit/>
          </a:bodyPr>
          <a:lstStyle/>
          <a:p>
            <a:pPr marL="285750" indent="-285750" hangingPunct="1">
              <a:spcAft>
                <a:spcPts val="700"/>
              </a:spcAft>
              <a:buFont typeface="Arial" panose="020B0604020202090204" pitchFamily="34" charset="0"/>
              <a:buChar char="•"/>
              <a:defRPr sz="1500">
                <a:solidFill>
                  <a:srgbClr val="282828"/>
                </a:solidFill>
                <a:latin typeface="微软雅黑" panose="020B0503020204020204" charset="-122"/>
              </a:defRPr>
            </a:pPr>
            <a:r>
              <a:t>标准 SQL 的 SELECT, FROM, WHERE, GROUP BY, HAVING, ORDER BY 相互耦合。</a:t>
            </a:r>
          </a:p>
          <a:p>
            <a:pPr marL="285750" indent="-285750" hangingPunct="1">
              <a:spcAft>
                <a:spcPts val="700"/>
              </a:spcAft>
              <a:buFont typeface="Arial" panose="020B0604020202090204" pitchFamily="34" charset="0"/>
              <a:buChar char="•"/>
              <a:defRPr sz="1500">
                <a:solidFill>
                  <a:srgbClr val="282828"/>
                </a:solidFill>
                <a:latin typeface="微软雅黑" panose="020B0503020204020204" charset="-122"/>
              </a:defRPr>
            </a:pPr>
            <a:r>
              <a:t>复杂查询中的 join path、聚合口径、别名引用和排序条件容易互相影响。</a:t>
            </a:r>
          </a:p>
          <a:p>
            <a:pPr marL="285750" indent="-285750" hangingPunct="1">
              <a:spcAft>
                <a:spcPts val="700"/>
              </a:spcAft>
              <a:buFont typeface="Arial" panose="020B0604020202090204" pitchFamily="34" charset="0"/>
              <a:buChar char="•"/>
              <a:defRPr sz="1500">
                <a:solidFill>
                  <a:srgbClr val="282828"/>
                </a:solidFill>
                <a:latin typeface="微软雅黑" panose="020B0503020204020204" charset="-122"/>
              </a:defRPr>
            </a:pPr>
            <a:r>
              <a:t>报错后直接重写整条 SQL，可能修好一个错误，又破坏原本正确的部分。</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4</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325880"/>
            <a:ext cx="3611880" cy="11155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859536" y="1490472"/>
            <a:ext cx="3108960" cy="256032"/>
          </a:xfrm>
          <a:prstGeom prst="rect">
            <a:avLst/>
          </a:prstGeom>
          <a:noFill/>
        </p:spPr>
        <p:txBody>
          <a:bodyPr wrap="square" anchor="ctr">
            <a:spAutoFit/>
          </a:bodyPr>
          <a:lstStyle/>
          <a:p>
            <a:pPr algn="l"/>
            <a:r>
              <a:rPr sz="1500" b="1">
                <a:solidFill>
                  <a:srgbClr val="1F4E79"/>
                </a:solidFill>
                <a:latin typeface="微软雅黑" panose="020B0503020204020204" charset="-122"/>
              </a:rPr>
              <a:t>Schema 复杂</a:t>
            </a:r>
            <a:endParaRPr sz="1500" b="1">
              <a:solidFill>
                <a:srgbClr val="1F4E79"/>
              </a:solidFill>
              <a:latin typeface="微软雅黑" panose="020B0503020204020204" charset="-122"/>
            </a:endParaRPr>
          </a:p>
        </p:txBody>
      </p:sp>
      <p:sp>
        <p:nvSpPr>
          <p:cNvPr id="7" name="TextBox 6"/>
          <p:cNvSpPr txBox="1"/>
          <p:nvPr/>
        </p:nvSpPr>
        <p:spPr>
          <a:xfrm>
            <a:off x="859536" y="1856231"/>
            <a:ext cx="3127248" cy="438912"/>
          </a:xfrm>
          <a:prstGeom prst="rect">
            <a:avLst/>
          </a:prstGeom>
          <a:noFill/>
        </p:spPr>
        <p:txBody>
          <a:bodyPr wrap="square" anchor="ctr">
            <a:spAutoFit/>
          </a:bodyPr>
          <a:lstStyle/>
          <a:p>
            <a:pPr algn="l"/>
            <a:r>
              <a:rPr sz="1200" b="0">
                <a:solidFill>
                  <a:srgbClr val="2D2D2D"/>
                </a:solidFill>
                <a:latin typeface="微软雅黑" panose="020B0503020204020204" charset="-122"/>
              </a:rPr>
              <a:t>多表、字段别名、外键路径不透明</a:t>
            </a:r>
            <a:endParaRPr sz="1200" b="0">
              <a:solidFill>
                <a:srgbClr val="2D2D2D"/>
              </a:solidFill>
              <a:latin typeface="微软雅黑" panose="020B0503020204020204" charset="-122"/>
            </a:endParaRPr>
          </a:p>
        </p:txBody>
      </p:sp>
      <p:sp>
        <p:nvSpPr>
          <p:cNvPr id="8" name="Rectangle 7"/>
          <p:cNvSpPr/>
          <p:nvPr/>
        </p:nvSpPr>
        <p:spPr>
          <a:xfrm>
            <a:off x="4818888" y="1325880"/>
            <a:ext cx="3611880" cy="1115568"/>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9" name="TextBox 8"/>
          <p:cNvSpPr txBox="1"/>
          <p:nvPr/>
        </p:nvSpPr>
        <p:spPr>
          <a:xfrm>
            <a:off x="5020055" y="1490472"/>
            <a:ext cx="3108960" cy="256032"/>
          </a:xfrm>
          <a:prstGeom prst="rect">
            <a:avLst/>
          </a:prstGeom>
          <a:noFill/>
        </p:spPr>
        <p:txBody>
          <a:bodyPr wrap="square" anchor="ctr">
            <a:spAutoFit/>
          </a:bodyPr>
          <a:lstStyle/>
          <a:p>
            <a:pPr algn="l"/>
            <a:r>
              <a:rPr sz="1500" b="1">
                <a:solidFill>
                  <a:srgbClr val="C65911"/>
                </a:solidFill>
                <a:latin typeface="微软雅黑" panose="020B0503020204020204" charset="-122"/>
              </a:rPr>
              <a:t>SQL 方言差异</a:t>
            </a:r>
            <a:endParaRPr sz="1500" b="1">
              <a:solidFill>
                <a:srgbClr val="C65911"/>
              </a:solidFill>
              <a:latin typeface="微软雅黑" panose="020B0503020204020204" charset="-122"/>
            </a:endParaRPr>
          </a:p>
        </p:txBody>
      </p:sp>
      <p:sp>
        <p:nvSpPr>
          <p:cNvPr id="10" name="TextBox 9"/>
          <p:cNvSpPr txBox="1"/>
          <p:nvPr/>
        </p:nvSpPr>
        <p:spPr>
          <a:xfrm>
            <a:off x="5020055" y="1856231"/>
            <a:ext cx="3127248" cy="438912"/>
          </a:xfrm>
          <a:prstGeom prst="rect">
            <a:avLst/>
          </a:prstGeom>
          <a:noFill/>
        </p:spPr>
        <p:txBody>
          <a:bodyPr wrap="square" anchor="ctr">
            <a:spAutoFit/>
          </a:bodyPr>
          <a:lstStyle/>
          <a:p>
            <a:pPr algn="l"/>
            <a:r>
              <a:rPr sz="1200" b="0">
                <a:solidFill>
                  <a:srgbClr val="2D2D2D"/>
                </a:solidFill>
                <a:latin typeface="微软雅黑" panose="020B0503020204020204" charset="-122"/>
              </a:rPr>
              <a:t>函数、分页、日期处理在不同数据库中不一致</a:t>
            </a:r>
            <a:endParaRPr sz="1200" b="0">
              <a:solidFill>
                <a:srgbClr val="2D2D2D"/>
              </a:solidFill>
              <a:latin typeface="微软雅黑" panose="020B0503020204020204" charset="-122"/>
            </a:endParaRPr>
          </a:p>
        </p:txBody>
      </p:sp>
      <p:sp>
        <p:nvSpPr>
          <p:cNvPr id="11" name="Rectangle 10"/>
          <p:cNvSpPr/>
          <p:nvPr/>
        </p:nvSpPr>
        <p:spPr>
          <a:xfrm>
            <a:off x="658368" y="2926080"/>
            <a:ext cx="3611880" cy="11155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2" name="TextBox 11"/>
          <p:cNvSpPr txBox="1"/>
          <p:nvPr/>
        </p:nvSpPr>
        <p:spPr>
          <a:xfrm>
            <a:off x="859536" y="3090672"/>
            <a:ext cx="3108960" cy="256032"/>
          </a:xfrm>
          <a:prstGeom prst="rect">
            <a:avLst/>
          </a:prstGeom>
          <a:noFill/>
        </p:spPr>
        <p:txBody>
          <a:bodyPr wrap="square" anchor="ctr">
            <a:spAutoFit/>
          </a:bodyPr>
          <a:lstStyle/>
          <a:p>
            <a:pPr algn="l"/>
            <a:r>
              <a:rPr sz="1500" b="1">
                <a:solidFill>
                  <a:srgbClr val="548235"/>
                </a:solidFill>
                <a:latin typeface="微软雅黑" panose="020B0503020204020204" charset="-122"/>
              </a:rPr>
              <a:t>语义错不报错</a:t>
            </a:r>
            <a:endParaRPr sz="1500" b="1">
              <a:solidFill>
                <a:srgbClr val="548235"/>
              </a:solidFill>
              <a:latin typeface="微软雅黑" panose="020B0503020204020204" charset="-122"/>
            </a:endParaRPr>
          </a:p>
        </p:txBody>
      </p:sp>
      <p:sp>
        <p:nvSpPr>
          <p:cNvPr id="13" name="TextBox 12"/>
          <p:cNvSpPr txBox="1"/>
          <p:nvPr/>
        </p:nvSpPr>
        <p:spPr>
          <a:xfrm>
            <a:off x="859536" y="3456432"/>
            <a:ext cx="3127248" cy="438912"/>
          </a:xfrm>
          <a:prstGeom prst="rect">
            <a:avLst/>
          </a:prstGeom>
          <a:noFill/>
        </p:spPr>
        <p:txBody>
          <a:bodyPr wrap="square" anchor="ctr">
            <a:spAutoFit/>
          </a:bodyPr>
          <a:lstStyle/>
          <a:p>
            <a:pPr algn="l"/>
            <a:r>
              <a:rPr sz="1200" b="0">
                <a:solidFill>
                  <a:srgbClr val="2D2D2D"/>
                </a:solidFill>
                <a:latin typeface="微软雅黑" panose="020B0503020204020204" charset="-122"/>
              </a:rPr>
              <a:t>SQL 能执行，但聚合口径或过滤条件不符合意图</a:t>
            </a:r>
            <a:endParaRPr sz="1200" b="0">
              <a:solidFill>
                <a:srgbClr val="2D2D2D"/>
              </a:solidFill>
              <a:latin typeface="微软雅黑" panose="020B0503020204020204" charset="-122"/>
            </a:endParaRPr>
          </a:p>
        </p:txBody>
      </p:sp>
      <p:sp>
        <p:nvSpPr>
          <p:cNvPr id="14" name="Rectangle 13"/>
          <p:cNvSpPr/>
          <p:nvPr/>
        </p:nvSpPr>
        <p:spPr>
          <a:xfrm>
            <a:off x="4818888" y="2926080"/>
            <a:ext cx="3611880" cy="1115568"/>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5" name="TextBox 14"/>
          <p:cNvSpPr txBox="1"/>
          <p:nvPr/>
        </p:nvSpPr>
        <p:spPr>
          <a:xfrm>
            <a:off x="5020055" y="3090672"/>
            <a:ext cx="3108960" cy="256032"/>
          </a:xfrm>
          <a:prstGeom prst="rect">
            <a:avLst/>
          </a:prstGeom>
          <a:noFill/>
        </p:spPr>
        <p:txBody>
          <a:bodyPr wrap="square" anchor="ctr">
            <a:spAutoFit/>
          </a:bodyPr>
          <a:lstStyle/>
          <a:p>
            <a:pPr algn="l"/>
            <a:r>
              <a:rPr sz="1500" b="1">
                <a:solidFill>
                  <a:srgbClr val="AA3C3C"/>
                </a:solidFill>
                <a:latin typeface="微软雅黑" panose="020B0503020204020204" charset="-122"/>
              </a:rPr>
              <a:t>修复不稳定</a:t>
            </a:r>
            <a:endParaRPr sz="1500" b="1">
              <a:solidFill>
                <a:srgbClr val="AA3C3C"/>
              </a:solidFill>
              <a:latin typeface="微软雅黑" panose="020B0503020204020204" charset="-122"/>
            </a:endParaRPr>
          </a:p>
        </p:txBody>
      </p:sp>
      <p:sp>
        <p:nvSpPr>
          <p:cNvPr id="16" name="TextBox 15"/>
          <p:cNvSpPr txBox="1"/>
          <p:nvPr/>
        </p:nvSpPr>
        <p:spPr>
          <a:xfrm>
            <a:off x="5020055" y="3456432"/>
            <a:ext cx="3127248" cy="438912"/>
          </a:xfrm>
          <a:prstGeom prst="rect">
            <a:avLst/>
          </a:prstGeom>
          <a:noFill/>
        </p:spPr>
        <p:txBody>
          <a:bodyPr wrap="square" anchor="ctr">
            <a:spAutoFit/>
          </a:bodyPr>
          <a:lstStyle/>
          <a:p>
            <a:pPr algn="l"/>
            <a:r>
              <a:rPr sz="1200" b="0">
                <a:solidFill>
                  <a:srgbClr val="2D2D2D"/>
                </a:solidFill>
                <a:latin typeface="微软雅黑" panose="020B0503020204020204" charset="-122"/>
              </a:rPr>
              <a:t>整条重写可能破坏原本正确的 join 或 filter</a:t>
            </a:r>
            <a:endParaRPr sz="1200" b="0">
              <a:solidFill>
                <a:srgbClr val="2D2D2D"/>
              </a:solidFill>
              <a:latin typeface="微软雅黑" panose="020B0503020204020204" charset="-122"/>
            </a:endParaRPr>
          </a:p>
        </p:txBody>
      </p:sp>
      <p:sp>
        <p:nvSpPr>
          <p:cNvPr id="17" name="Rectangle 16"/>
          <p:cNvSpPr/>
          <p:nvPr/>
        </p:nvSpPr>
        <p:spPr>
          <a:xfrm>
            <a:off x="914400" y="4892040"/>
            <a:ext cx="731520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2D2D2D"/>
                </a:solidFill>
                <a:latin typeface="微软雅黑" panose="020B0503020204020204" charset="-122"/>
              </a:rPr>
              <a:t>研究焦点：从“生成一条 SQL”转向“生成、执行、定位和修复”</a:t>
            </a:r>
            <a:endParaRPr sz="1500" b="1">
              <a:solidFill>
                <a:srgbClr val="2D2D2D"/>
              </a:solidFill>
              <a:latin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5</a:t>
            </a:r>
            <a:endParaRPr sz="800" b="0">
              <a:solidFill>
                <a:srgbClr val="5F5F5F"/>
              </a:solidFill>
              <a:latin typeface="微软雅黑" panose="020B0503020204020204" charset="-122"/>
            </a:endParaRPr>
          </a:p>
        </p:txBody>
      </p:sp>
      <p:sp>
        <p:nvSpPr>
          <p:cNvPr id="5" name="Rectangle 4"/>
          <p:cNvSpPr/>
          <p:nvPr/>
        </p:nvSpPr>
        <p:spPr>
          <a:xfrm>
            <a:off x="446405" y="1952625"/>
            <a:ext cx="1627632" cy="1874519"/>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601853" y="2162937"/>
            <a:ext cx="1280160" cy="274320"/>
          </a:xfrm>
          <a:prstGeom prst="rect">
            <a:avLst/>
          </a:prstGeom>
          <a:noFill/>
        </p:spPr>
        <p:txBody>
          <a:bodyPr wrap="square" anchor="ctr">
            <a:spAutoFit/>
          </a:bodyPr>
          <a:lstStyle/>
          <a:p>
            <a:pPr algn="l"/>
            <a:r>
              <a:rPr sz="1500" b="1">
                <a:solidFill>
                  <a:srgbClr val="1F4E79"/>
                </a:solidFill>
                <a:latin typeface="微软雅黑" panose="020B0503020204020204" charset="-122"/>
              </a:rPr>
              <a:t>传统方法</a:t>
            </a:r>
            <a:endParaRPr sz="1500" b="1">
              <a:solidFill>
                <a:srgbClr val="1F4E79"/>
              </a:solidFill>
              <a:latin typeface="微软雅黑" panose="020B0503020204020204" charset="-122"/>
            </a:endParaRPr>
          </a:p>
        </p:txBody>
      </p:sp>
      <p:sp>
        <p:nvSpPr>
          <p:cNvPr id="7" name="TextBox 6"/>
          <p:cNvSpPr txBox="1"/>
          <p:nvPr/>
        </p:nvSpPr>
        <p:spPr>
          <a:xfrm>
            <a:off x="610997" y="2656713"/>
            <a:ext cx="1225296" cy="822960"/>
          </a:xfrm>
          <a:prstGeom prst="rect">
            <a:avLst/>
          </a:prstGeom>
          <a:noFill/>
        </p:spPr>
        <p:txBody>
          <a:bodyPr wrap="square" anchor="ctr">
            <a:spAutoFit/>
          </a:bodyPr>
          <a:lstStyle/>
          <a:p>
            <a:pPr algn="ctr"/>
            <a:r>
              <a:rPr sz="1200" b="0">
                <a:solidFill>
                  <a:srgbClr val="2D2D2D"/>
                </a:solidFill>
                <a:latin typeface="微软雅黑" panose="020B0503020204020204" charset="-122"/>
              </a:rPr>
              <a:t>语义解析
schema linking
语法约束</a:t>
            </a:r>
            <a:endParaRPr sz="1200" b="0">
              <a:solidFill>
                <a:srgbClr val="2D2D2D"/>
              </a:solidFill>
              <a:latin typeface="微软雅黑" panose="020B0503020204020204" charset="-122"/>
            </a:endParaRPr>
          </a:p>
        </p:txBody>
      </p:sp>
      <p:sp>
        <p:nvSpPr>
          <p:cNvPr id="8" name="TextBox 7"/>
          <p:cNvSpPr txBox="1"/>
          <p:nvPr/>
        </p:nvSpPr>
        <p:spPr>
          <a:xfrm>
            <a:off x="2147189" y="2711577"/>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9" name="Rectangle 8"/>
          <p:cNvSpPr/>
          <p:nvPr/>
        </p:nvSpPr>
        <p:spPr>
          <a:xfrm>
            <a:off x="2503805" y="1952625"/>
            <a:ext cx="1627632" cy="1874519"/>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0" name="TextBox 9"/>
          <p:cNvSpPr txBox="1"/>
          <p:nvPr/>
        </p:nvSpPr>
        <p:spPr>
          <a:xfrm>
            <a:off x="2659253" y="2162937"/>
            <a:ext cx="1280160" cy="274320"/>
          </a:xfrm>
          <a:prstGeom prst="rect">
            <a:avLst/>
          </a:prstGeom>
          <a:noFill/>
        </p:spPr>
        <p:txBody>
          <a:bodyPr wrap="square" anchor="ctr">
            <a:spAutoFit/>
          </a:bodyPr>
          <a:lstStyle/>
          <a:p>
            <a:pPr algn="l"/>
            <a:r>
              <a:rPr sz="1500" b="1">
                <a:solidFill>
                  <a:srgbClr val="C65911"/>
                </a:solidFill>
                <a:latin typeface="微软雅黑" panose="020B0503020204020204" charset="-122"/>
              </a:rPr>
              <a:t>LLM 方法</a:t>
            </a:r>
            <a:endParaRPr sz="1500" b="1">
              <a:solidFill>
                <a:srgbClr val="C65911"/>
              </a:solidFill>
              <a:latin typeface="微软雅黑" panose="020B0503020204020204" charset="-122"/>
            </a:endParaRPr>
          </a:p>
        </p:txBody>
      </p:sp>
      <p:sp>
        <p:nvSpPr>
          <p:cNvPr id="11" name="TextBox 10"/>
          <p:cNvSpPr txBox="1"/>
          <p:nvPr/>
        </p:nvSpPr>
        <p:spPr>
          <a:xfrm>
            <a:off x="2668397" y="2656713"/>
            <a:ext cx="1225296" cy="822960"/>
          </a:xfrm>
          <a:prstGeom prst="rect">
            <a:avLst/>
          </a:prstGeom>
          <a:noFill/>
        </p:spPr>
        <p:txBody>
          <a:bodyPr wrap="square" anchor="ctr">
            <a:spAutoFit/>
          </a:bodyPr>
          <a:lstStyle/>
          <a:p>
            <a:pPr algn="ctr"/>
            <a:r>
              <a:rPr sz="1200" b="0">
                <a:solidFill>
                  <a:srgbClr val="2D2D2D"/>
                </a:solidFill>
                <a:latin typeface="微软雅黑" panose="020B0503020204020204" charset="-122"/>
              </a:rPr>
              <a:t>few-shot
任务分解
执行反馈</a:t>
            </a:r>
            <a:endParaRPr sz="1200" b="0">
              <a:solidFill>
                <a:srgbClr val="2D2D2D"/>
              </a:solidFill>
              <a:latin typeface="微软雅黑" panose="020B0503020204020204" charset="-122"/>
            </a:endParaRPr>
          </a:p>
        </p:txBody>
      </p:sp>
      <p:sp>
        <p:nvSpPr>
          <p:cNvPr id="12" name="TextBox 11"/>
          <p:cNvSpPr txBox="1"/>
          <p:nvPr/>
        </p:nvSpPr>
        <p:spPr>
          <a:xfrm>
            <a:off x="4204589" y="2711577"/>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13" name="Rectangle 12"/>
          <p:cNvSpPr/>
          <p:nvPr/>
        </p:nvSpPr>
        <p:spPr>
          <a:xfrm>
            <a:off x="4561205" y="1952625"/>
            <a:ext cx="1627632" cy="1874519"/>
          </a:xfrm>
          <a:prstGeom prst="rect">
            <a:avLst/>
          </a:prstGeom>
          <a:solidFill>
            <a:srgbClr val="EEF2F7"/>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4" name="TextBox 13"/>
          <p:cNvSpPr txBox="1"/>
          <p:nvPr/>
        </p:nvSpPr>
        <p:spPr>
          <a:xfrm>
            <a:off x="4716653" y="2162937"/>
            <a:ext cx="1280160" cy="274320"/>
          </a:xfrm>
          <a:prstGeom prst="rect">
            <a:avLst/>
          </a:prstGeom>
          <a:noFill/>
        </p:spPr>
        <p:txBody>
          <a:bodyPr wrap="square" anchor="ctr">
            <a:spAutoFit/>
          </a:bodyPr>
          <a:lstStyle/>
          <a:p>
            <a:pPr algn="l"/>
            <a:r>
              <a:rPr sz="1500" b="1">
                <a:solidFill>
                  <a:srgbClr val="548235"/>
                </a:solidFill>
                <a:latin typeface="微软雅黑" panose="020B0503020204020204" charset="-122"/>
              </a:rPr>
              <a:t>Benchmark</a:t>
            </a:r>
            <a:endParaRPr sz="1500" b="1">
              <a:solidFill>
                <a:srgbClr val="548235"/>
              </a:solidFill>
              <a:latin typeface="微软雅黑" panose="020B0503020204020204" charset="-122"/>
            </a:endParaRPr>
          </a:p>
        </p:txBody>
      </p:sp>
      <p:sp>
        <p:nvSpPr>
          <p:cNvPr id="15" name="TextBox 14"/>
          <p:cNvSpPr txBox="1"/>
          <p:nvPr/>
        </p:nvSpPr>
        <p:spPr>
          <a:xfrm>
            <a:off x="4725797" y="2656713"/>
            <a:ext cx="1225296" cy="822960"/>
          </a:xfrm>
          <a:prstGeom prst="rect">
            <a:avLst/>
          </a:prstGeom>
          <a:noFill/>
        </p:spPr>
        <p:txBody>
          <a:bodyPr wrap="square" anchor="ctr">
            <a:spAutoFit/>
          </a:bodyPr>
          <a:lstStyle/>
          <a:p>
            <a:pPr algn="ctr"/>
            <a:r>
              <a:rPr sz="1200" b="0">
                <a:solidFill>
                  <a:srgbClr val="2D2D2D"/>
                </a:solidFill>
                <a:latin typeface="微软雅黑" panose="020B0503020204020204" charset="-122"/>
              </a:rPr>
              <a:t>Spider
BIRD
Spider 2.0</a:t>
            </a:r>
            <a:endParaRPr sz="1200" b="0">
              <a:solidFill>
                <a:srgbClr val="2D2D2D"/>
              </a:solidFill>
              <a:latin typeface="微软雅黑" panose="020B0503020204020204" charset="-122"/>
            </a:endParaRPr>
          </a:p>
        </p:txBody>
      </p:sp>
      <p:sp>
        <p:nvSpPr>
          <p:cNvPr id="16" name="TextBox 15"/>
          <p:cNvSpPr txBox="1"/>
          <p:nvPr/>
        </p:nvSpPr>
        <p:spPr>
          <a:xfrm>
            <a:off x="6261989" y="2711577"/>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17" name="Rectangle 16"/>
          <p:cNvSpPr/>
          <p:nvPr/>
        </p:nvSpPr>
        <p:spPr>
          <a:xfrm>
            <a:off x="6618605" y="1952625"/>
            <a:ext cx="1627632" cy="1874519"/>
          </a:xfrm>
          <a:prstGeom prst="rect">
            <a:avLst/>
          </a:prstGeom>
          <a:solidFill>
            <a:srgbClr val="EEF2F7"/>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8" name="TextBox 17"/>
          <p:cNvSpPr txBox="1"/>
          <p:nvPr/>
        </p:nvSpPr>
        <p:spPr>
          <a:xfrm>
            <a:off x="6774053" y="2162937"/>
            <a:ext cx="1280160" cy="274320"/>
          </a:xfrm>
          <a:prstGeom prst="rect">
            <a:avLst/>
          </a:prstGeom>
          <a:noFill/>
        </p:spPr>
        <p:txBody>
          <a:bodyPr wrap="square" anchor="ctr">
            <a:spAutoFit/>
          </a:bodyPr>
          <a:lstStyle/>
          <a:p>
            <a:pPr algn="l"/>
            <a:r>
              <a:rPr sz="1500" b="1">
                <a:solidFill>
                  <a:srgbClr val="AA3C3C"/>
                </a:solidFill>
                <a:latin typeface="微软雅黑" panose="020B0503020204020204" charset="-122"/>
              </a:rPr>
              <a:t>当前缺口</a:t>
            </a:r>
            <a:endParaRPr sz="1500" b="1">
              <a:solidFill>
                <a:srgbClr val="AA3C3C"/>
              </a:solidFill>
              <a:latin typeface="微软雅黑" panose="020B0503020204020204" charset="-122"/>
            </a:endParaRPr>
          </a:p>
        </p:txBody>
      </p:sp>
      <p:sp>
        <p:nvSpPr>
          <p:cNvPr id="19" name="TextBox 18"/>
          <p:cNvSpPr txBox="1"/>
          <p:nvPr/>
        </p:nvSpPr>
        <p:spPr>
          <a:xfrm>
            <a:off x="6783197" y="2656713"/>
            <a:ext cx="1225296" cy="822960"/>
          </a:xfrm>
          <a:prstGeom prst="rect">
            <a:avLst/>
          </a:prstGeom>
          <a:noFill/>
        </p:spPr>
        <p:txBody>
          <a:bodyPr wrap="square" anchor="ctr">
            <a:spAutoFit/>
          </a:bodyPr>
          <a:lstStyle/>
          <a:p>
            <a:pPr algn="ctr"/>
            <a:r>
              <a:rPr sz="1200" b="0">
                <a:solidFill>
                  <a:srgbClr val="2D2D2D"/>
                </a:solidFill>
                <a:latin typeface="微软雅黑" panose="020B0503020204020204" charset="-122"/>
              </a:rPr>
              <a:t>可定位
可路由
可局部修复</a:t>
            </a:r>
            <a:endParaRPr sz="1200" b="0">
              <a:solidFill>
                <a:srgbClr val="2D2D2D"/>
              </a:solidFill>
              <a:latin typeface="微软雅黑" panose="020B0503020204020204" charset="-122"/>
            </a:endParaRPr>
          </a:p>
        </p:txBody>
      </p:sp>
      <p:sp>
        <p:nvSpPr>
          <p:cNvPr id="20" name="Rectangle 19"/>
          <p:cNvSpPr/>
          <p:nvPr/>
        </p:nvSpPr>
        <p:spPr>
          <a:xfrm>
            <a:off x="601980" y="4220845"/>
            <a:ext cx="7498080" cy="1270635"/>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zh-CN" altLang="en-US" sz="1400" b="1">
                <a:solidFill>
                  <a:srgbClr val="FF0000"/>
                </a:solidFill>
                <a:latin typeface="微软雅黑" panose="020B0503020204020204" charset="-122"/>
              </a:rPr>
              <a:t>研究空间</a:t>
            </a:r>
            <a:endParaRPr lang="zh-CN" altLang="en-US" sz="1400" b="1">
              <a:solidFill>
                <a:srgbClr val="FF0000"/>
              </a:solidFill>
              <a:latin typeface="微软雅黑" panose="020B0503020204020204" charset="-122"/>
            </a:endParaRPr>
          </a:p>
          <a:p>
            <a:pPr algn="ctr"/>
            <a:r>
              <a:rPr lang="en-US" altLang="zh-CN" sz="1400" b="1">
                <a:solidFill>
                  <a:srgbClr val="2D2D2D"/>
                </a:solidFill>
                <a:latin typeface="微软雅黑" panose="020B0503020204020204" charset="-122"/>
              </a:rPr>
              <a:t>DIN-SQL、MAC-SQL、CHASE-SQL、SQLCritic </a:t>
            </a:r>
            <a:r>
              <a:rPr lang="zh-CN" altLang="en-US" sz="1400" b="1">
                <a:solidFill>
                  <a:srgbClr val="2D2D2D"/>
                </a:solidFill>
                <a:latin typeface="微软雅黑" panose="020B0503020204020204" charset="-122"/>
              </a:rPr>
              <a:t>等工作已证明，</a:t>
            </a:r>
            <a:endParaRPr lang="zh-CN" altLang="en-US" sz="1400" b="1">
              <a:solidFill>
                <a:srgbClr val="2D2D2D"/>
              </a:solidFill>
              <a:latin typeface="微软雅黑" panose="020B0503020204020204" charset="-122"/>
            </a:endParaRPr>
          </a:p>
          <a:p>
            <a:pPr algn="ctr"/>
            <a:r>
              <a:rPr lang="zh-CN" altLang="en-US" sz="1400" b="1">
                <a:solidFill>
                  <a:srgbClr val="2D2D2D"/>
                </a:solidFill>
                <a:latin typeface="微软雅黑" panose="020B0503020204020204" charset="-122"/>
              </a:rPr>
              <a:t>任务分解、多智能体协作、候选选择和执行反馈能提升 </a:t>
            </a:r>
            <a:r>
              <a:rPr lang="en-US" altLang="zh-CN" sz="1400" b="1">
                <a:solidFill>
                  <a:srgbClr val="2D2D2D"/>
                </a:solidFill>
                <a:latin typeface="微软雅黑" panose="020B0503020204020204" charset="-122"/>
              </a:rPr>
              <a:t>Text-to-SQL；</a:t>
            </a:r>
            <a:endParaRPr lang="en-US" altLang="zh-CN" sz="1400" b="1">
              <a:solidFill>
                <a:srgbClr val="2D2D2D"/>
              </a:solidFill>
              <a:latin typeface="微软雅黑" panose="020B0503020204020204" charset="-122"/>
            </a:endParaRPr>
          </a:p>
          <a:p>
            <a:pPr algn="ctr"/>
            <a:r>
              <a:rPr lang="zh-CN" altLang="en-US" sz="1400" b="1">
                <a:solidFill>
                  <a:srgbClr val="2D2D2D"/>
                </a:solidFill>
                <a:latin typeface="微软雅黑" panose="020B0503020204020204" charset="-122"/>
              </a:rPr>
              <a:t>但多数方法仍以最终 </a:t>
            </a:r>
            <a:r>
              <a:rPr lang="en-US" altLang="zh-CN" sz="1400" b="1">
                <a:solidFill>
                  <a:srgbClr val="2D2D2D"/>
                </a:solidFill>
                <a:latin typeface="微软雅黑" panose="020B0503020204020204" charset="-122"/>
              </a:rPr>
              <a:t>SQL </a:t>
            </a:r>
            <a:r>
              <a:rPr lang="zh-CN" altLang="en-US" sz="1400" b="1">
                <a:solidFill>
                  <a:srgbClr val="2D2D2D"/>
                </a:solidFill>
                <a:latin typeface="微软雅黑" panose="020B0503020204020204" charset="-122"/>
              </a:rPr>
              <a:t>为主要生成和修复对象，</a:t>
            </a:r>
            <a:endParaRPr lang="zh-CN" altLang="en-US" sz="1400" b="1">
              <a:solidFill>
                <a:srgbClr val="2D2D2D"/>
              </a:solidFill>
              <a:latin typeface="微软雅黑" panose="020B0503020204020204" charset="-122"/>
            </a:endParaRPr>
          </a:p>
          <a:p>
            <a:pPr algn="ctr"/>
            <a:r>
              <a:rPr lang="zh-CN" altLang="en-US" sz="1400" b="1">
                <a:solidFill>
                  <a:srgbClr val="2D2D2D"/>
                </a:solidFill>
                <a:latin typeface="微软雅黑" panose="020B0503020204020204" charset="-122"/>
              </a:rPr>
              <a:t>面向中间查询步骤的错误定位、</a:t>
            </a:r>
            <a:r>
              <a:rPr lang="en-US" altLang="zh-CN" sz="1400" b="1">
                <a:solidFill>
                  <a:srgbClr val="2D2D2D"/>
                </a:solidFill>
                <a:latin typeface="微软雅黑" panose="020B0503020204020204" charset="-122"/>
              </a:rPr>
              <a:t>repair skill </a:t>
            </a:r>
            <a:r>
              <a:rPr lang="zh-CN" altLang="en-US" sz="1400" b="1">
                <a:solidFill>
                  <a:srgbClr val="2D2D2D"/>
                </a:solidFill>
                <a:latin typeface="微软雅黑" panose="020B0503020204020204" charset="-122"/>
              </a:rPr>
              <a:t>路由和局部 </a:t>
            </a:r>
            <a:r>
              <a:rPr lang="en-US" altLang="zh-CN" sz="1400" b="1">
                <a:solidFill>
                  <a:srgbClr val="2D2D2D"/>
                </a:solidFill>
                <a:latin typeface="微软雅黑" panose="020B0503020204020204" charset="-122"/>
              </a:rPr>
              <a:t>patch </a:t>
            </a:r>
            <a:r>
              <a:rPr lang="zh-CN" altLang="en-US" sz="1400" b="1">
                <a:solidFill>
                  <a:srgbClr val="2D2D2D"/>
                </a:solidFill>
                <a:latin typeface="微软雅黑" panose="020B0503020204020204" charset="-122"/>
              </a:rPr>
              <a:t>机制仍有研究空间。</a:t>
            </a:r>
            <a:endParaRPr lang="zh-CN" altLang="en-US" sz="1400" b="1">
              <a:solidFill>
                <a:srgbClr val="2D2D2D"/>
              </a:solidFill>
              <a:latin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6</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280160"/>
            <a:ext cx="1737360" cy="324612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640080" y="1508760"/>
            <a:ext cx="1417320" cy="320040"/>
          </a:xfrm>
          <a:prstGeom prst="rect">
            <a:avLst/>
          </a:prstGeom>
          <a:noFill/>
        </p:spPr>
        <p:txBody>
          <a:bodyPr wrap="square" anchor="ctr">
            <a:spAutoFit/>
          </a:bodyPr>
          <a:lstStyle/>
          <a:p>
            <a:pPr algn="ctr"/>
            <a:r>
              <a:rPr sz="1600" b="1">
                <a:solidFill>
                  <a:srgbClr val="1F4E79"/>
                </a:solidFill>
                <a:latin typeface="微软雅黑" panose="020B0503020204020204" charset="-122"/>
              </a:rPr>
              <a:t>SemQL</a:t>
            </a:r>
            <a:endParaRPr sz="1600" b="1">
              <a:solidFill>
                <a:srgbClr val="1F4E79"/>
              </a:solidFill>
              <a:latin typeface="微软雅黑" panose="020B0503020204020204" charset="-122"/>
            </a:endParaRPr>
          </a:p>
        </p:txBody>
      </p:sp>
      <p:sp>
        <p:nvSpPr>
          <p:cNvPr id="7" name="TextBox 6"/>
          <p:cNvSpPr txBox="1"/>
          <p:nvPr/>
        </p:nvSpPr>
        <p:spPr>
          <a:xfrm>
            <a:off x="640080" y="2057400"/>
            <a:ext cx="1417320" cy="320040"/>
          </a:xfrm>
          <a:prstGeom prst="rect">
            <a:avLst/>
          </a:prstGeom>
          <a:noFill/>
        </p:spPr>
        <p:txBody>
          <a:bodyPr wrap="square" anchor="ctr">
            <a:spAutoFit/>
          </a:bodyPr>
          <a:lstStyle/>
          <a:p>
            <a:pPr algn="ctr"/>
            <a:r>
              <a:rPr sz="1100" b="1">
                <a:solidFill>
                  <a:srgbClr val="2D2D2D"/>
                </a:solidFill>
                <a:latin typeface="微软雅黑" panose="020B0503020204020204" charset="-122"/>
              </a:rPr>
              <a:t>语义解析树</a:t>
            </a:r>
            <a:endParaRPr sz="1100" b="1">
              <a:solidFill>
                <a:srgbClr val="2D2D2D"/>
              </a:solidFill>
              <a:latin typeface="微软雅黑" panose="020B0503020204020204" charset="-122"/>
            </a:endParaRPr>
          </a:p>
        </p:txBody>
      </p:sp>
      <p:sp>
        <p:nvSpPr>
          <p:cNvPr id="8" name="TextBox 7"/>
          <p:cNvSpPr txBox="1"/>
          <p:nvPr/>
        </p:nvSpPr>
        <p:spPr>
          <a:xfrm>
            <a:off x="640080" y="2743200"/>
            <a:ext cx="1417320" cy="502920"/>
          </a:xfrm>
          <a:prstGeom prst="rect">
            <a:avLst/>
          </a:prstGeom>
          <a:noFill/>
        </p:spPr>
        <p:txBody>
          <a:bodyPr wrap="square" anchor="ctr">
            <a:spAutoFit/>
          </a:bodyPr>
          <a:lstStyle/>
          <a:p>
            <a:pPr algn="ctr"/>
            <a:r>
              <a:rPr sz="1000" b="0">
                <a:solidFill>
                  <a:srgbClr val="2D2D2D"/>
                </a:solidFill>
                <a:latin typeface="微软雅黑" panose="020B0503020204020204" charset="-122"/>
              </a:rPr>
              <a:t>结构约束强</a:t>
            </a:r>
            <a:endParaRPr sz="1000" b="0">
              <a:solidFill>
                <a:srgbClr val="2D2D2D"/>
              </a:solidFill>
              <a:latin typeface="微软雅黑" panose="020B0503020204020204" charset="-122"/>
            </a:endParaRPr>
          </a:p>
        </p:txBody>
      </p:sp>
      <p:sp>
        <p:nvSpPr>
          <p:cNvPr id="9" name="TextBox 8"/>
          <p:cNvSpPr txBox="1"/>
          <p:nvPr/>
        </p:nvSpPr>
        <p:spPr>
          <a:xfrm>
            <a:off x="640080" y="3611880"/>
            <a:ext cx="1417320" cy="502920"/>
          </a:xfrm>
          <a:prstGeom prst="rect">
            <a:avLst/>
          </a:prstGeom>
          <a:noFill/>
        </p:spPr>
        <p:txBody>
          <a:bodyPr wrap="square" anchor="ctr">
            <a:spAutoFit/>
          </a:bodyPr>
          <a:lstStyle/>
          <a:p>
            <a:pPr algn="ctr"/>
            <a:r>
              <a:rPr sz="1000" b="0">
                <a:solidFill>
                  <a:srgbClr val="646464"/>
                </a:solidFill>
                <a:latin typeface="微软雅黑" panose="020B0503020204020204" charset="-122"/>
              </a:rPr>
              <a:t>执行链路映射较重</a:t>
            </a:r>
            <a:endParaRPr sz="1000" b="0">
              <a:solidFill>
                <a:srgbClr val="646464"/>
              </a:solidFill>
              <a:latin typeface="微软雅黑" panose="020B0503020204020204" charset="-122"/>
            </a:endParaRPr>
          </a:p>
        </p:txBody>
      </p:sp>
      <p:sp>
        <p:nvSpPr>
          <p:cNvPr id="10" name="Rectangle 9"/>
          <p:cNvSpPr/>
          <p:nvPr/>
        </p:nvSpPr>
        <p:spPr>
          <a:xfrm>
            <a:off x="2578608" y="1280160"/>
            <a:ext cx="1737360" cy="324612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1" name="TextBox 10"/>
          <p:cNvSpPr txBox="1"/>
          <p:nvPr/>
        </p:nvSpPr>
        <p:spPr>
          <a:xfrm>
            <a:off x="2715768" y="1508760"/>
            <a:ext cx="1417320" cy="320040"/>
          </a:xfrm>
          <a:prstGeom prst="rect">
            <a:avLst/>
          </a:prstGeom>
          <a:noFill/>
        </p:spPr>
        <p:txBody>
          <a:bodyPr wrap="square" anchor="ctr">
            <a:spAutoFit/>
          </a:bodyPr>
          <a:lstStyle/>
          <a:p>
            <a:pPr algn="ctr"/>
            <a:r>
              <a:rPr sz="1600" b="1">
                <a:solidFill>
                  <a:srgbClr val="1F4E79"/>
                </a:solidFill>
                <a:latin typeface="微软雅黑" panose="020B0503020204020204" charset="-122"/>
              </a:rPr>
              <a:t>NatSQL</a:t>
            </a:r>
            <a:endParaRPr sz="1600" b="1">
              <a:solidFill>
                <a:srgbClr val="1F4E79"/>
              </a:solidFill>
              <a:latin typeface="微软雅黑" panose="020B0503020204020204" charset="-122"/>
            </a:endParaRPr>
          </a:p>
        </p:txBody>
      </p:sp>
      <p:sp>
        <p:nvSpPr>
          <p:cNvPr id="12" name="TextBox 11"/>
          <p:cNvSpPr txBox="1"/>
          <p:nvPr/>
        </p:nvSpPr>
        <p:spPr>
          <a:xfrm>
            <a:off x="2715768" y="2057400"/>
            <a:ext cx="1417320" cy="320040"/>
          </a:xfrm>
          <a:prstGeom prst="rect">
            <a:avLst/>
          </a:prstGeom>
          <a:noFill/>
        </p:spPr>
        <p:txBody>
          <a:bodyPr wrap="square" anchor="ctr">
            <a:spAutoFit/>
          </a:bodyPr>
          <a:lstStyle/>
          <a:p>
            <a:pPr algn="ctr"/>
            <a:r>
              <a:rPr sz="1100" b="1">
                <a:solidFill>
                  <a:srgbClr val="2D2D2D"/>
                </a:solidFill>
                <a:latin typeface="微软雅黑" panose="020B0503020204020204" charset="-122"/>
              </a:rPr>
              <a:t>自然语言化 SQL</a:t>
            </a:r>
            <a:endParaRPr sz="1100" b="1">
              <a:solidFill>
                <a:srgbClr val="2D2D2D"/>
              </a:solidFill>
              <a:latin typeface="微软雅黑" panose="020B0503020204020204" charset="-122"/>
            </a:endParaRPr>
          </a:p>
        </p:txBody>
      </p:sp>
      <p:sp>
        <p:nvSpPr>
          <p:cNvPr id="13" name="TextBox 12"/>
          <p:cNvSpPr txBox="1"/>
          <p:nvPr/>
        </p:nvSpPr>
        <p:spPr>
          <a:xfrm>
            <a:off x="2715768" y="2743200"/>
            <a:ext cx="1417320" cy="502920"/>
          </a:xfrm>
          <a:prstGeom prst="rect">
            <a:avLst/>
          </a:prstGeom>
          <a:noFill/>
        </p:spPr>
        <p:txBody>
          <a:bodyPr wrap="square" anchor="ctr">
            <a:spAutoFit/>
          </a:bodyPr>
          <a:lstStyle/>
          <a:p>
            <a:pPr algn="ctr"/>
            <a:r>
              <a:rPr sz="1000" b="0">
                <a:solidFill>
                  <a:srgbClr val="2D2D2D"/>
                </a:solidFill>
                <a:latin typeface="微软雅黑" panose="020B0503020204020204" charset="-122"/>
              </a:rPr>
              <a:t>降低部分 SQL 书写难度</a:t>
            </a:r>
            <a:endParaRPr sz="1000" b="0">
              <a:solidFill>
                <a:srgbClr val="2D2D2D"/>
              </a:solidFill>
              <a:latin typeface="微软雅黑" panose="020B0503020204020204" charset="-122"/>
            </a:endParaRPr>
          </a:p>
        </p:txBody>
      </p:sp>
      <p:sp>
        <p:nvSpPr>
          <p:cNvPr id="14" name="TextBox 13"/>
          <p:cNvSpPr txBox="1"/>
          <p:nvPr/>
        </p:nvSpPr>
        <p:spPr>
          <a:xfrm>
            <a:off x="2715768" y="3611880"/>
            <a:ext cx="1417320" cy="502920"/>
          </a:xfrm>
          <a:prstGeom prst="rect">
            <a:avLst/>
          </a:prstGeom>
          <a:noFill/>
        </p:spPr>
        <p:txBody>
          <a:bodyPr wrap="square" anchor="ctr">
            <a:spAutoFit/>
          </a:bodyPr>
          <a:lstStyle/>
          <a:p>
            <a:pPr algn="ctr"/>
            <a:r>
              <a:rPr sz="1000" b="0">
                <a:solidFill>
                  <a:srgbClr val="646464"/>
                </a:solidFill>
                <a:latin typeface="微软雅黑" panose="020B0503020204020204" charset="-122"/>
              </a:rPr>
              <a:t>局部修复不是主要目标</a:t>
            </a:r>
            <a:endParaRPr sz="1000" b="0">
              <a:solidFill>
                <a:srgbClr val="646464"/>
              </a:solidFill>
              <a:latin typeface="微软雅黑" panose="020B0503020204020204" charset="-122"/>
            </a:endParaRPr>
          </a:p>
        </p:txBody>
      </p:sp>
      <p:sp>
        <p:nvSpPr>
          <p:cNvPr id="15" name="Rectangle 14"/>
          <p:cNvSpPr/>
          <p:nvPr/>
        </p:nvSpPr>
        <p:spPr>
          <a:xfrm>
            <a:off x="4654296" y="1280160"/>
            <a:ext cx="1737360" cy="324612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6" name="TextBox 15"/>
          <p:cNvSpPr txBox="1"/>
          <p:nvPr/>
        </p:nvSpPr>
        <p:spPr>
          <a:xfrm>
            <a:off x="4791456" y="1508760"/>
            <a:ext cx="1417320" cy="320040"/>
          </a:xfrm>
          <a:prstGeom prst="rect">
            <a:avLst/>
          </a:prstGeom>
          <a:noFill/>
        </p:spPr>
        <p:txBody>
          <a:bodyPr wrap="square" anchor="ctr">
            <a:spAutoFit/>
          </a:bodyPr>
          <a:lstStyle/>
          <a:p>
            <a:pPr algn="ctr"/>
            <a:r>
              <a:rPr sz="1600" b="1">
                <a:solidFill>
                  <a:srgbClr val="C65911"/>
                </a:solidFill>
                <a:latin typeface="微软雅黑" panose="020B0503020204020204" charset="-122"/>
              </a:rPr>
              <a:t>Pipe Syntax</a:t>
            </a:r>
            <a:endParaRPr sz="1600" b="1">
              <a:solidFill>
                <a:srgbClr val="C65911"/>
              </a:solidFill>
              <a:latin typeface="微软雅黑" panose="020B0503020204020204" charset="-122"/>
            </a:endParaRPr>
          </a:p>
        </p:txBody>
      </p:sp>
      <p:sp>
        <p:nvSpPr>
          <p:cNvPr id="17" name="TextBox 16"/>
          <p:cNvSpPr txBox="1"/>
          <p:nvPr/>
        </p:nvSpPr>
        <p:spPr>
          <a:xfrm>
            <a:off x="4791456" y="2057400"/>
            <a:ext cx="1417320" cy="320040"/>
          </a:xfrm>
          <a:prstGeom prst="rect">
            <a:avLst/>
          </a:prstGeom>
          <a:noFill/>
        </p:spPr>
        <p:txBody>
          <a:bodyPr wrap="square" anchor="ctr">
            <a:spAutoFit/>
          </a:bodyPr>
          <a:lstStyle/>
          <a:p>
            <a:pPr algn="ctr"/>
            <a:r>
              <a:rPr sz="1100" b="1">
                <a:solidFill>
                  <a:srgbClr val="2D2D2D"/>
                </a:solidFill>
                <a:latin typeface="微软雅黑" panose="020B0503020204020204" charset="-122"/>
              </a:rPr>
              <a:t>SQL 方言扩展</a:t>
            </a:r>
            <a:endParaRPr sz="1100" b="1">
              <a:solidFill>
                <a:srgbClr val="2D2D2D"/>
              </a:solidFill>
              <a:latin typeface="微软雅黑" panose="020B0503020204020204" charset="-122"/>
            </a:endParaRPr>
          </a:p>
        </p:txBody>
      </p:sp>
      <p:sp>
        <p:nvSpPr>
          <p:cNvPr id="18" name="TextBox 17"/>
          <p:cNvSpPr txBox="1"/>
          <p:nvPr/>
        </p:nvSpPr>
        <p:spPr>
          <a:xfrm>
            <a:off x="4791456" y="2743200"/>
            <a:ext cx="1417320" cy="502920"/>
          </a:xfrm>
          <a:prstGeom prst="rect">
            <a:avLst/>
          </a:prstGeom>
          <a:noFill/>
        </p:spPr>
        <p:txBody>
          <a:bodyPr wrap="square" anchor="ctr">
            <a:spAutoFit/>
          </a:bodyPr>
          <a:lstStyle/>
          <a:p>
            <a:pPr algn="ctr"/>
            <a:r>
              <a:rPr sz="1000" b="0">
                <a:solidFill>
                  <a:srgbClr val="2D2D2D"/>
                </a:solidFill>
                <a:latin typeface="微软雅黑" panose="020B0503020204020204" charset="-122"/>
              </a:rPr>
              <a:t>线性数据流</a:t>
            </a:r>
            <a:endParaRPr sz="1000" b="0">
              <a:solidFill>
                <a:srgbClr val="2D2D2D"/>
              </a:solidFill>
              <a:latin typeface="微软雅黑" panose="020B0503020204020204" charset="-122"/>
            </a:endParaRPr>
          </a:p>
        </p:txBody>
      </p:sp>
      <p:sp>
        <p:nvSpPr>
          <p:cNvPr id="19" name="TextBox 18"/>
          <p:cNvSpPr txBox="1"/>
          <p:nvPr/>
        </p:nvSpPr>
        <p:spPr>
          <a:xfrm>
            <a:off x="4791456" y="3611880"/>
            <a:ext cx="1417320" cy="502920"/>
          </a:xfrm>
          <a:prstGeom prst="rect">
            <a:avLst/>
          </a:prstGeom>
          <a:noFill/>
        </p:spPr>
        <p:txBody>
          <a:bodyPr wrap="square" anchor="ctr">
            <a:spAutoFit/>
          </a:bodyPr>
          <a:lstStyle/>
          <a:p>
            <a:pPr algn="ctr"/>
            <a:r>
              <a:rPr sz="1000" b="0">
                <a:solidFill>
                  <a:srgbClr val="646464"/>
                </a:solidFill>
                <a:latin typeface="微软雅黑" panose="020B0503020204020204" charset="-122"/>
              </a:rPr>
              <a:t>依赖 GoogleSQL 生态</a:t>
            </a:r>
            <a:endParaRPr sz="1000" b="0">
              <a:solidFill>
                <a:srgbClr val="646464"/>
              </a:solidFill>
              <a:latin typeface="微软雅黑" panose="020B0503020204020204" charset="-122"/>
            </a:endParaRPr>
          </a:p>
        </p:txBody>
      </p:sp>
      <p:sp>
        <p:nvSpPr>
          <p:cNvPr id="20" name="Rectangle 19"/>
          <p:cNvSpPr/>
          <p:nvPr/>
        </p:nvSpPr>
        <p:spPr>
          <a:xfrm>
            <a:off x="6729984" y="1280160"/>
            <a:ext cx="1737360" cy="32461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21" name="TextBox 20"/>
          <p:cNvSpPr txBox="1"/>
          <p:nvPr/>
        </p:nvSpPr>
        <p:spPr>
          <a:xfrm>
            <a:off x="6867144" y="1508760"/>
            <a:ext cx="1417320" cy="320040"/>
          </a:xfrm>
          <a:prstGeom prst="rect">
            <a:avLst/>
          </a:prstGeom>
          <a:noFill/>
        </p:spPr>
        <p:txBody>
          <a:bodyPr wrap="square" anchor="ctr">
            <a:spAutoFit/>
          </a:bodyPr>
          <a:lstStyle/>
          <a:p>
            <a:pPr algn="ctr"/>
            <a:r>
              <a:rPr sz="1600" b="1">
                <a:solidFill>
                  <a:srgbClr val="548235"/>
                </a:solidFill>
                <a:latin typeface="微软雅黑" panose="020B0503020204020204" charset="-122"/>
              </a:rPr>
              <a:t>SQL+</a:t>
            </a:r>
            <a:endParaRPr sz="1600" b="1">
              <a:solidFill>
                <a:srgbClr val="548235"/>
              </a:solidFill>
              <a:latin typeface="微软雅黑" panose="020B0503020204020204" charset="-122"/>
            </a:endParaRPr>
          </a:p>
        </p:txBody>
      </p:sp>
      <p:sp>
        <p:nvSpPr>
          <p:cNvPr id="22" name="TextBox 21"/>
          <p:cNvSpPr txBox="1"/>
          <p:nvPr/>
        </p:nvSpPr>
        <p:spPr>
          <a:xfrm>
            <a:off x="6867144" y="2057400"/>
            <a:ext cx="1417320" cy="320040"/>
          </a:xfrm>
          <a:prstGeom prst="rect">
            <a:avLst/>
          </a:prstGeom>
          <a:noFill/>
        </p:spPr>
        <p:txBody>
          <a:bodyPr wrap="square" anchor="ctr">
            <a:spAutoFit/>
          </a:bodyPr>
          <a:lstStyle/>
          <a:p>
            <a:pPr algn="ctr"/>
            <a:r>
              <a:rPr sz="1100" b="1">
                <a:solidFill>
                  <a:srgbClr val="2D2D2D"/>
                </a:solidFill>
                <a:latin typeface="微软雅黑" panose="020B0503020204020204" charset="-122"/>
              </a:rPr>
              <a:t>NL2SQL 中间表示</a:t>
            </a:r>
            <a:endParaRPr sz="1100" b="1">
              <a:solidFill>
                <a:srgbClr val="2D2D2D"/>
              </a:solidFill>
              <a:latin typeface="微软雅黑" panose="020B0503020204020204" charset="-122"/>
            </a:endParaRPr>
          </a:p>
        </p:txBody>
      </p:sp>
      <p:sp>
        <p:nvSpPr>
          <p:cNvPr id="23" name="TextBox 22"/>
          <p:cNvSpPr txBox="1"/>
          <p:nvPr/>
        </p:nvSpPr>
        <p:spPr>
          <a:xfrm>
            <a:off x="6867144" y="2743200"/>
            <a:ext cx="1417320" cy="502920"/>
          </a:xfrm>
          <a:prstGeom prst="rect">
            <a:avLst/>
          </a:prstGeom>
          <a:noFill/>
        </p:spPr>
        <p:txBody>
          <a:bodyPr wrap="square" anchor="ctr">
            <a:spAutoFit/>
          </a:bodyPr>
          <a:lstStyle/>
          <a:p>
            <a:pPr algn="ctr"/>
            <a:r>
              <a:rPr sz="1000" b="0">
                <a:solidFill>
                  <a:srgbClr val="2D2D2D"/>
                </a:solidFill>
                <a:latin typeface="微软雅黑" panose="020B0503020204020204" charset="-122"/>
              </a:rPr>
              <a:t>可转换、可定位、可 patch</a:t>
            </a:r>
            <a:endParaRPr sz="1000" b="0">
              <a:solidFill>
                <a:srgbClr val="2D2D2D"/>
              </a:solidFill>
              <a:latin typeface="微软雅黑" panose="020B0503020204020204" charset="-122"/>
            </a:endParaRPr>
          </a:p>
        </p:txBody>
      </p:sp>
      <p:sp>
        <p:nvSpPr>
          <p:cNvPr id="24" name="TextBox 23"/>
          <p:cNvSpPr txBox="1"/>
          <p:nvPr/>
        </p:nvSpPr>
        <p:spPr>
          <a:xfrm>
            <a:off x="6867144" y="3611880"/>
            <a:ext cx="1417320" cy="502920"/>
          </a:xfrm>
          <a:prstGeom prst="rect">
            <a:avLst/>
          </a:prstGeom>
          <a:noFill/>
        </p:spPr>
        <p:txBody>
          <a:bodyPr wrap="square" anchor="ctr">
            <a:spAutoFit/>
          </a:bodyPr>
          <a:lstStyle/>
          <a:p>
            <a:pPr algn="ctr"/>
            <a:r>
              <a:rPr sz="1000" b="0">
                <a:solidFill>
                  <a:srgbClr val="646464"/>
                </a:solidFill>
                <a:latin typeface="微软雅黑" panose="020B0503020204020204" charset="-122"/>
              </a:rPr>
              <a:t>面向反馈修正设计</a:t>
            </a:r>
            <a:endParaRPr sz="1000" b="0">
              <a:solidFill>
                <a:srgbClr val="646464"/>
              </a:solidFill>
              <a:latin typeface="微软雅黑" panose="020B0503020204020204" charset="-122"/>
            </a:endParaRPr>
          </a:p>
        </p:txBody>
      </p:sp>
      <p:sp>
        <p:nvSpPr>
          <p:cNvPr id="25" name="Rectangle 24"/>
          <p:cNvSpPr/>
          <p:nvPr/>
        </p:nvSpPr>
        <p:spPr>
          <a:xfrm>
            <a:off x="1005840" y="5074920"/>
            <a:ext cx="7132320" cy="5029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a:solidFill>
                  <a:srgbClr val="2D2D2D"/>
                </a:solidFill>
                <a:latin typeface="微软雅黑" panose="020B0503020204020204" charset="-122"/>
              </a:rPr>
              <a:t>SQL+ 的区别：不是更短的 SQL，而是为执行反馈和局部修复设计的步骤化表示</a:t>
            </a:r>
            <a:endParaRPr sz="1300" b="1">
              <a:solidFill>
                <a:srgbClr val="2D2D2D"/>
              </a:solidFill>
              <a:latin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3977" y="103111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SQL+ 的表达逻辑：把复杂 SQL 拆成可修复步骤</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7</a:t>
            </a:r>
            <a:endParaRPr sz="800" b="0">
              <a:solidFill>
                <a:srgbClr val="5F5F5F"/>
              </a:solidFill>
              <a:latin typeface="微软雅黑" panose="020B0503020204020204" charset="-122"/>
            </a:endParaRPr>
          </a:p>
        </p:txBody>
      </p:sp>
      <p:sp>
        <p:nvSpPr>
          <p:cNvPr id="4" name="Rectangle 3"/>
          <p:cNvSpPr/>
          <p:nvPr/>
        </p:nvSpPr>
        <p:spPr>
          <a:xfrm>
            <a:off x="20320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FROM</a:t>
            </a:r>
            <a:endParaRPr sz="1000" b="1">
              <a:solidFill>
                <a:srgbClr val="FFFFFF"/>
              </a:solidFill>
              <a:latin typeface="微软雅黑" panose="020B0503020204020204" charset="-122"/>
            </a:endParaRPr>
          </a:p>
        </p:txBody>
      </p:sp>
      <p:sp>
        <p:nvSpPr>
          <p:cNvPr id="5" name="TextBox 4"/>
          <p:cNvSpPr txBox="1"/>
          <p:nvPr/>
        </p:nvSpPr>
        <p:spPr>
          <a:xfrm>
            <a:off x="899795" y="2083753"/>
            <a:ext cx="35433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6" name="Rectangle 5"/>
          <p:cNvSpPr/>
          <p:nvPr/>
        </p:nvSpPr>
        <p:spPr>
          <a:xfrm>
            <a:off x="116332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JOIN</a:t>
            </a:r>
            <a:endParaRPr sz="1000" b="1">
              <a:solidFill>
                <a:srgbClr val="FFFFFF"/>
              </a:solidFill>
              <a:latin typeface="微软雅黑" panose="020B0503020204020204" charset="-122"/>
            </a:endParaRPr>
          </a:p>
        </p:txBody>
      </p:sp>
      <p:sp>
        <p:nvSpPr>
          <p:cNvPr id="7" name="TextBox 6"/>
          <p:cNvSpPr txBox="1"/>
          <p:nvPr/>
        </p:nvSpPr>
        <p:spPr>
          <a:xfrm>
            <a:off x="1850390" y="2076133"/>
            <a:ext cx="32639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8" name="Rectangle 7"/>
          <p:cNvSpPr/>
          <p:nvPr/>
        </p:nvSpPr>
        <p:spPr>
          <a:xfrm>
            <a:off x="212344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WHERE</a:t>
            </a:r>
            <a:endParaRPr sz="1000" b="1">
              <a:solidFill>
                <a:srgbClr val="FFFFFF"/>
              </a:solidFill>
              <a:latin typeface="微软雅黑" panose="020B0503020204020204" charset="-122"/>
            </a:endParaRPr>
          </a:p>
        </p:txBody>
      </p:sp>
      <p:sp>
        <p:nvSpPr>
          <p:cNvPr id="9" name="TextBox 8"/>
          <p:cNvSpPr txBox="1"/>
          <p:nvPr/>
        </p:nvSpPr>
        <p:spPr>
          <a:xfrm>
            <a:off x="284429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0" name="Rectangle 9"/>
          <p:cNvSpPr/>
          <p:nvPr/>
        </p:nvSpPr>
        <p:spPr>
          <a:xfrm>
            <a:off x="308356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GROUP</a:t>
            </a:r>
            <a:endParaRPr sz="1000" b="1">
              <a:solidFill>
                <a:srgbClr val="FFFFFF"/>
              </a:solidFill>
              <a:latin typeface="微软雅黑" panose="020B0503020204020204" charset="-122"/>
            </a:endParaRPr>
          </a:p>
        </p:txBody>
      </p:sp>
      <p:sp>
        <p:nvSpPr>
          <p:cNvPr id="11" name="TextBox 10"/>
          <p:cNvSpPr txBox="1"/>
          <p:nvPr/>
        </p:nvSpPr>
        <p:spPr>
          <a:xfrm>
            <a:off x="3769995" y="2083753"/>
            <a:ext cx="365760" cy="291465"/>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2" name="Rectangle 11"/>
          <p:cNvSpPr/>
          <p:nvPr/>
        </p:nvSpPr>
        <p:spPr>
          <a:xfrm>
            <a:off x="404368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AGG</a:t>
            </a:r>
            <a:endParaRPr sz="1000" b="1">
              <a:solidFill>
                <a:srgbClr val="FFFFFF"/>
              </a:solidFill>
              <a:latin typeface="微软雅黑" panose="020B0503020204020204" charset="-122"/>
            </a:endParaRPr>
          </a:p>
        </p:txBody>
      </p:sp>
      <p:sp>
        <p:nvSpPr>
          <p:cNvPr id="13" name="TextBox 12"/>
          <p:cNvSpPr txBox="1"/>
          <p:nvPr/>
        </p:nvSpPr>
        <p:spPr>
          <a:xfrm>
            <a:off x="475437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4" name="Rectangle 13"/>
          <p:cNvSpPr/>
          <p:nvPr/>
        </p:nvSpPr>
        <p:spPr>
          <a:xfrm>
            <a:off x="500380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HAVING</a:t>
            </a:r>
            <a:endParaRPr sz="1000" b="1">
              <a:solidFill>
                <a:srgbClr val="FFFFFF"/>
              </a:solidFill>
              <a:latin typeface="微软雅黑" panose="020B0503020204020204" charset="-122"/>
            </a:endParaRPr>
          </a:p>
        </p:txBody>
      </p:sp>
      <p:sp>
        <p:nvSpPr>
          <p:cNvPr id="15" name="TextBox 14"/>
          <p:cNvSpPr txBox="1"/>
          <p:nvPr/>
        </p:nvSpPr>
        <p:spPr>
          <a:xfrm>
            <a:off x="572465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6" name="Rectangle 15"/>
          <p:cNvSpPr/>
          <p:nvPr/>
        </p:nvSpPr>
        <p:spPr>
          <a:xfrm>
            <a:off x="596392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SELECT</a:t>
            </a:r>
            <a:endParaRPr sz="1000" b="1">
              <a:solidFill>
                <a:srgbClr val="FFFFFF"/>
              </a:solidFill>
              <a:latin typeface="微软雅黑" panose="020B0503020204020204" charset="-122"/>
            </a:endParaRPr>
          </a:p>
        </p:txBody>
      </p:sp>
      <p:sp>
        <p:nvSpPr>
          <p:cNvPr id="17" name="TextBox 16"/>
          <p:cNvSpPr txBox="1"/>
          <p:nvPr/>
        </p:nvSpPr>
        <p:spPr>
          <a:xfrm>
            <a:off x="6687947"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18" name="Rectangle 17"/>
          <p:cNvSpPr/>
          <p:nvPr/>
        </p:nvSpPr>
        <p:spPr>
          <a:xfrm>
            <a:off x="6924040" y="1988820"/>
            <a:ext cx="777240" cy="502920"/>
          </a:xfrm>
          <a:prstGeom prst="rect">
            <a:avLst/>
          </a:prstGeom>
          <a:solidFill>
            <a:srgbClr val="C65911"/>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ORDER</a:t>
            </a:r>
            <a:endParaRPr sz="1000" b="1">
              <a:solidFill>
                <a:srgbClr val="FFFFFF"/>
              </a:solidFill>
              <a:latin typeface="微软雅黑" panose="020B0503020204020204" charset="-122"/>
            </a:endParaRPr>
          </a:p>
        </p:txBody>
      </p:sp>
      <p:sp>
        <p:nvSpPr>
          <p:cNvPr id="19" name="TextBox 18"/>
          <p:cNvSpPr txBox="1"/>
          <p:nvPr/>
        </p:nvSpPr>
        <p:spPr>
          <a:xfrm>
            <a:off x="7633462" y="2115312"/>
            <a:ext cx="320040" cy="228600"/>
          </a:xfrm>
          <a:prstGeom prst="rect">
            <a:avLst/>
          </a:prstGeom>
          <a:noFill/>
        </p:spPr>
        <p:txBody>
          <a:bodyPr wrap="square" anchor="ctr">
            <a:spAutoFit/>
          </a:bodyPr>
          <a:lstStyle/>
          <a:p>
            <a:pPr algn="ctr"/>
            <a:r>
              <a:rPr sz="1300" b="1">
                <a:solidFill>
                  <a:srgbClr val="1F4E79"/>
                </a:solidFill>
                <a:latin typeface="微软雅黑" panose="020B0503020204020204" charset="-122"/>
              </a:rPr>
              <a:t>→</a:t>
            </a:r>
            <a:endParaRPr sz="1300" b="1">
              <a:solidFill>
                <a:srgbClr val="1F4E79"/>
              </a:solidFill>
              <a:latin typeface="微软雅黑" panose="020B0503020204020204" charset="-122"/>
            </a:endParaRPr>
          </a:p>
        </p:txBody>
      </p:sp>
      <p:sp>
        <p:nvSpPr>
          <p:cNvPr id="20" name="Rectangle 19"/>
          <p:cNvSpPr/>
          <p:nvPr/>
        </p:nvSpPr>
        <p:spPr>
          <a:xfrm>
            <a:off x="7884160" y="1988820"/>
            <a:ext cx="777240" cy="502920"/>
          </a:xfrm>
          <a:prstGeom prst="rect">
            <a:avLst/>
          </a:prstGeom>
          <a:solidFill>
            <a:srgbClr val="1F4E79"/>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FFFFFF"/>
                </a:solidFill>
                <a:latin typeface="微软雅黑" panose="020B0503020204020204" charset="-122"/>
              </a:rPr>
              <a:t>LIMIT</a:t>
            </a:r>
            <a:endParaRPr sz="1000" b="1">
              <a:solidFill>
                <a:srgbClr val="FFFFFF"/>
              </a:solidFill>
              <a:latin typeface="微软雅黑" panose="020B0503020204020204" charset="-122"/>
            </a:endParaRPr>
          </a:p>
        </p:txBody>
      </p:sp>
      <p:graphicFrame>
        <p:nvGraphicFramePr>
          <p:cNvPr id="21" name="Table 20"/>
          <p:cNvGraphicFramePr>
            <a:graphicFrameLocks noGrp="1"/>
          </p:cNvGraphicFramePr>
          <p:nvPr/>
        </p:nvGraphicFramePr>
        <p:xfrm>
          <a:off x="395605" y="2924810"/>
          <a:ext cx="8321040" cy="2880360"/>
        </p:xfrm>
        <a:graphic>
          <a:graphicData uri="http://schemas.openxmlformats.org/drawingml/2006/table">
            <a:tbl>
              <a:tblPr firstRow="1" bandRow="1">
                <a:tableStyleId>{5C22544A-7EE6-4342-B048-85BDC9FD1C3A}</a:tableStyleId>
              </a:tblPr>
              <a:tblGrid>
                <a:gridCol w="2773680"/>
                <a:gridCol w="2773680"/>
                <a:gridCol w="2773680"/>
              </a:tblGrid>
              <a:tr h="480060">
                <a:tc>
                  <a:txBody>
                    <a:bodyPr/>
                    <a:lstStyle/>
                    <a:p>
                      <a:pPr algn="ctr"/>
                      <a:r>
                        <a:rPr sz="1100" b="1">
                          <a:solidFill>
                            <a:srgbClr val="FFFFFF"/>
                          </a:solidFill>
                          <a:latin typeface="微软雅黑" panose="020B0503020204020204" charset="-122"/>
                        </a:rPr>
                        <a:t>SQL+ 步骤</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主要诊断对象</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对应 repair skill</a:t>
                      </a:r>
                      <a:endParaRPr sz="1100" b="1">
                        <a:solidFill>
                          <a:srgbClr val="FFFFFF"/>
                        </a:solidFill>
                        <a:latin typeface="微软雅黑" panose="020B0503020204020204" charset="-122"/>
                      </a:endParaRPr>
                    </a:p>
                  </a:txBody>
                  <a:tcPr marL="36576" marR="36576">
                    <a:solidFill>
                      <a:srgbClr val="1F4E79"/>
                    </a:solidFill>
                  </a:tcPr>
                </a:tc>
              </a:tr>
              <a:tr h="480060">
                <a:tc>
                  <a:txBody>
                    <a:bodyPr/>
                    <a:lstStyle/>
                    <a:p>
                      <a:pPr algn="ctr"/>
                      <a:r>
                        <a:rPr sz="1000" b="0">
                          <a:solidFill>
                            <a:srgbClr val="282828"/>
                          </a:solidFill>
                          <a:latin typeface="微软雅黑" panose="020B0503020204020204" charset="-122"/>
                        </a:rPr>
                        <a:t>WHERE</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值链接、日期边界、隐含过滤</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value-linking skill</a:t>
                      </a:r>
                      <a:endParaRPr sz="1000" b="0">
                        <a:solidFill>
                          <a:srgbClr val="282828"/>
                        </a:solidFill>
                        <a:latin typeface="微软雅黑" panose="020B0503020204020204" charset="-122"/>
                      </a:endParaRPr>
                    </a:p>
                  </a:txBody>
                  <a:tcPr marL="36576" marR="36576">
                    <a:solidFill>
                      <a:srgbClr val="FFFFFF"/>
                    </a:solidFill>
                  </a:tcPr>
                </a:tc>
              </a:tr>
              <a:tr h="480060">
                <a:tc>
                  <a:txBody>
                    <a:bodyPr/>
                    <a:lstStyle/>
                    <a:p>
                      <a:pPr algn="ctr"/>
                      <a:r>
                        <a:rPr sz="1000" b="0">
                          <a:solidFill>
                            <a:srgbClr val="282828"/>
                          </a:solidFill>
                          <a:latin typeface="微软雅黑" panose="020B0503020204020204" charset="-122"/>
                        </a:rPr>
                        <a:t>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连接路径、连接方向、冗余 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join repair skill</a:t>
                      </a:r>
                      <a:endParaRPr sz="1000" b="0">
                        <a:solidFill>
                          <a:srgbClr val="282828"/>
                        </a:solidFill>
                        <a:latin typeface="微软雅黑" panose="020B0503020204020204" charset="-122"/>
                      </a:endParaRPr>
                    </a:p>
                  </a:txBody>
                  <a:tcPr marL="36576" marR="36576">
                    <a:solidFill>
                      <a:srgbClr val="EEF2F7"/>
                    </a:solidFill>
                  </a:tcPr>
                </a:tc>
              </a:tr>
              <a:tr h="480060">
                <a:tc>
                  <a:txBody>
                    <a:bodyPr/>
                    <a:lstStyle/>
                    <a:p>
                      <a:pPr algn="ctr"/>
                      <a:r>
                        <a:rPr sz="1000" b="0">
                          <a:solidFill>
                            <a:srgbClr val="282828"/>
                          </a:solidFill>
                          <a:latin typeface="微软雅黑" panose="020B0503020204020204" charset="-122"/>
                        </a:rPr>
                        <a:t>GROUP / AGG</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聚合口径、别名、HAVING 引用</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aggregation repair skill</a:t>
                      </a:r>
                      <a:endParaRPr sz="1000" b="0">
                        <a:solidFill>
                          <a:srgbClr val="282828"/>
                        </a:solidFill>
                        <a:latin typeface="微软雅黑" panose="020B0503020204020204" charset="-122"/>
                      </a:endParaRPr>
                    </a:p>
                  </a:txBody>
                  <a:tcPr marL="36576" marR="36576">
                    <a:solidFill>
                      <a:srgbClr val="FFFFFF"/>
                    </a:solidFill>
                  </a:tcPr>
                </a:tc>
              </a:tr>
              <a:tr h="480060">
                <a:tc>
                  <a:txBody>
                    <a:bodyPr/>
                    <a:lstStyle/>
                    <a:p>
                      <a:pPr algn="ctr"/>
                      <a:r>
                        <a:rPr sz="1000" b="0">
                          <a:solidFill>
                            <a:srgbClr val="282828"/>
                          </a:solidFill>
                          <a:latin typeface="微软雅黑" panose="020B0503020204020204" charset="-122"/>
                        </a:rPr>
                        <a:t>SELECT</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输出列、别名、列顺序</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projection repair skill</a:t>
                      </a:r>
                      <a:endParaRPr sz="1000" b="0">
                        <a:solidFill>
                          <a:srgbClr val="282828"/>
                        </a:solidFill>
                        <a:latin typeface="微软雅黑" panose="020B0503020204020204" charset="-122"/>
                      </a:endParaRPr>
                    </a:p>
                  </a:txBody>
                  <a:tcPr marL="36576" marR="36576">
                    <a:solidFill>
                      <a:srgbClr val="EEF2F7"/>
                    </a:solidFill>
                  </a:tcPr>
                </a:tc>
              </a:tr>
              <a:tr h="480060">
                <a:tc>
                  <a:txBody>
                    <a:bodyPr/>
                    <a:lstStyle/>
                    <a:p>
                      <a:pPr algn="ctr"/>
                      <a:r>
                        <a:rPr sz="1000" b="0">
                          <a:solidFill>
                            <a:srgbClr val="282828"/>
                          </a:solidFill>
                          <a:latin typeface="微软雅黑" panose="020B0503020204020204" charset="-122"/>
                        </a:rPr>
                        <a:t>ORDER / LIMIT</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排序字段、方向、top-k</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order repair skill</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
        <p:nvSpPr>
          <p:cNvPr id="22" name="TextBox 21"/>
          <p:cNvSpPr txBox="1"/>
          <p:nvPr/>
        </p:nvSpPr>
        <p:spPr>
          <a:xfrm>
            <a:off x="611505" y="6093460"/>
            <a:ext cx="4929505" cy="260350"/>
          </a:xfrm>
          <a:prstGeom prst="rect">
            <a:avLst/>
          </a:prstGeom>
          <a:noFill/>
        </p:spPr>
        <p:txBody>
          <a:bodyPr wrap="square" anchor="ctr">
            <a:spAutoFit/>
          </a:bodyPr>
          <a:lstStyle/>
          <a:p>
            <a:pPr algn="l"/>
            <a:r>
              <a:rPr sz="1100" b="0">
                <a:solidFill>
                  <a:srgbClr val="C65911"/>
                </a:solidFill>
                <a:latin typeface="微软雅黑" panose="020B0503020204020204" charset="-122"/>
              </a:rPr>
              <a:t>SQL+ 的价值不只在生成阶段，更在于给错误定位和局部修复提供稳定锚点。</a:t>
            </a:r>
            <a:endParaRPr sz="1100" b="0">
              <a:solidFill>
                <a:srgbClr val="C65911"/>
              </a:solidFill>
              <a:latin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8</a:t>
            </a:r>
            <a:endParaRPr sz="800" b="0">
              <a:solidFill>
                <a:srgbClr val="5F5F5F"/>
              </a:solidFill>
              <a:latin typeface="微软雅黑" panose="020B0503020204020204" charset="-122"/>
            </a:endParaRPr>
          </a:p>
        </p:txBody>
      </p:sp>
      <p:sp>
        <p:nvSpPr>
          <p:cNvPr id="36" name="TextBox 35"/>
          <p:cNvSpPr txBox="1"/>
          <p:nvPr/>
        </p:nvSpPr>
        <p:spPr>
          <a:xfrm>
            <a:off x="713232" y="5897880"/>
            <a:ext cx="7772400" cy="384048"/>
          </a:xfrm>
          <a:prstGeom prst="rect">
            <a:avLst/>
          </a:prstGeom>
          <a:noFill/>
        </p:spPr>
        <p:txBody>
          <a:bodyPr wrap="square" anchor="ctr">
            <a:spAutoFit/>
          </a:bodyPr>
          <a:lstStyle/>
          <a:p>
            <a:pPr algn="l"/>
            <a:r>
              <a:rPr sz="1000" b="0">
                <a:solidFill>
                  <a:srgbClr val="C65911"/>
                </a:solidFill>
                <a:latin typeface="微软雅黑" panose="020B0503020204020204" charset="-122"/>
              </a:rPr>
              <a:t>关键点：失败反馈进入 Critic 和 Router；Repair Skill 只修改 SQL+ 局部步骤；patch 后回到 Translator 和 Executor 重新验证。</a:t>
            </a:r>
            <a:endParaRPr sz="1000" b="0">
              <a:solidFill>
                <a:srgbClr val="C65911"/>
              </a:solidFill>
              <a:latin typeface="微软雅黑" panose="020B0503020204020204" charset="-122"/>
            </a:endParaRPr>
          </a:p>
        </p:txBody>
      </p:sp>
      <p:pic>
        <p:nvPicPr>
          <p:cNvPr id="2" name="图片 1"/>
          <p:cNvPicPr>
            <a:picLocks noChangeAspect="1"/>
          </p:cNvPicPr>
          <p:nvPr/>
        </p:nvPicPr>
        <p:blipFill>
          <a:blip r:embed="rId1"/>
          <a:stretch>
            <a:fillRect/>
          </a:stretch>
        </p:blipFill>
        <p:spPr>
          <a:xfrm>
            <a:off x="395605" y="1772920"/>
            <a:ext cx="7454265" cy="4030345"/>
          </a:xfrm>
          <a:prstGeom prst="rect">
            <a:avLst/>
          </a:prstGeom>
        </p:spPr>
      </p:pic>
      <p:sp>
        <p:nvSpPr>
          <p:cNvPr id="38" name="TextBox 1"/>
          <p:cNvSpPr txBox="1"/>
          <p:nvPr/>
        </p:nvSpPr>
        <p:spPr>
          <a:xfrm>
            <a:off x="323977" y="1066356"/>
            <a:ext cx="8321040" cy="475615"/>
          </a:xfrm>
          <a:prstGeom prst="rect">
            <a:avLst/>
          </a:prstGeom>
          <a:noFill/>
        </p:spPr>
        <p:txBody>
          <a:bodyPr wrap="square" anchor="ctr">
            <a:spAutoFit/>
          </a:bodyPr>
          <a:lstStyle/>
          <a:p>
            <a:pPr algn="l"/>
            <a:r>
              <a:rPr sz="2500" b="1">
                <a:solidFill>
                  <a:srgbClr val="1F4E79"/>
                </a:solidFill>
                <a:latin typeface="微软雅黑" panose="020B0503020204020204" charset="-122"/>
              </a:rPr>
              <a:t>SQL+ </a:t>
            </a:r>
            <a:r>
              <a:rPr lang="zh-CN" sz="2500" b="1">
                <a:solidFill>
                  <a:srgbClr val="1F4E79"/>
                </a:solidFill>
                <a:latin typeface="微软雅黑" panose="020B0503020204020204" charset="-122"/>
              </a:rPr>
              <a:t>多智能体生成与反馈修正</a:t>
            </a:r>
            <a:r>
              <a:rPr lang="zh-CN" sz="2500" b="1">
                <a:solidFill>
                  <a:srgbClr val="1F4E79"/>
                </a:solidFill>
                <a:latin typeface="微软雅黑" panose="020B0503020204020204" charset="-122"/>
              </a:rPr>
              <a:t>闭环</a:t>
            </a:r>
            <a:endParaRPr lang="zh-CN" sz="2500" b="1">
              <a:solidFill>
                <a:srgbClr val="1F4E79"/>
              </a:solidFill>
              <a:latin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9</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234440"/>
            <a:ext cx="3383280" cy="786384"/>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822960" y="1375093"/>
            <a:ext cx="689610" cy="321945"/>
          </a:xfrm>
          <a:prstGeom prst="rect">
            <a:avLst/>
          </a:prstGeom>
          <a:noFill/>
        </p:spPr>
        <p:txBody>
          <a:bodyPr wrap="square" anchor="ctr">
            <a:spAutoFit/>
          </a:bodyPr>
          <a:lstStyle/>
          <a:p>
            <a:pPr algn="l"/>
            <a:r>
              <a:rPr sz="1500" b="1">
                <a:solidFill>
                  <a:srgbClr val="C65911"/>
                </a:solidFill>
                <a:latin typeface="微软雅黑" panose="020B0503020204020204" charset="-122"/>
              </a:rPr>
              <a:t>RQ1</a:t>
            </a:r>
            <a:endParaRPr sz="1500" b="1">
              <a:solidFill>
                <a:srgbClr val="C65911"/>
              </a:solidFill>
              <a:latin typeface="微软雅黑" panose="020B0503020204020204" charset="-122"/>
            </a:endParaRPr>
          </a:p>
        </p:txBody>
      </p:sp>
      <p:sp>
        <p:nvSpPr>
          <p:cNvPr id="7" name="TextBox 6"/>
          <p:cNvSpPr txBox="1"/>
          <p:nvPr/>
        </p:nvSpPr>
        <p:spPr>
          <a:xfrm>
            <a:off x="1426464" y="1399032"/>
            <a:ext cx="2331720" cy="320040"/>
          </a:xfrm>
          <a:prstGeom prst="rect">
            <a:avLst/>
          </a:prstGeom>
          <a:noFill/>
        </p:spPr>
        <p:txBody>
          <a:bodyPr wrap="square" anchor="ctr">
            <a:spAutoFit/>
          </a:bodyPr>
          <a:lstStyle/>
          <a:p>
            <a:pPr algn="l"/>
            <a:r>
              <a:rPr sz="1200" b="1">
                <a:solidFill>
                  <a:srgbClr val="2D2D2D"/>
                </a:solidFill>
                <a:latin typeface="微软雅黑" panose="020B0503020204020204" charset="-122"/>
              </a:rPr>
              <a:t>SQL+ 是否降低表达耦合</a:t>
            </a:r>
            <a:endParaRPr sz="1200" b="1">
              <a:solidFill>
                <a:srgbClr val="2D2D2D"/>
              </a:solidFill>
              <a:latin typeface="微软雅黑" panose="020B0503020204020204" charset="-122"/>
            </a:endParaRPr>
          </a:p>
        </p:txBody>
      </p:sp>
      <p:sp>
        <p:nvSpPr>
          <p:cNvPr id="8" name="Rectangle 7"/>
          <p:cNvSpPr/>
          <p:nvPr/>
        </p:nvSpPr>
        <p:spPr>
          <a:xfrm>
            <a:off x="4617720" y="1234440"/>
            <a:ext cx="3383280" cy="786384"/>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9" name="TextBox 8"/>
          <p:cNvSpPr txBox="1"/>
          <p:nvPr/>
        </p:nvSpPr>
        <p:spPr>
          <a:xfrm>
            <a:off x="4800600" y="1375093"/>
            <a:ext cx="668655" cy="321945"/>
          </a:xfrm>
          <a:prstGeom prst="rect">
            <a:avLst/>
          </a:prstGeom>
          <a:noFill/>
        </p:spPr>
        <p:txBody>
          <a:bodyPr wrap="square" anchor="ctr">
            <a:spAutoFit/>
          </a:bodyPr>
          <a:lstStyle/>
          <a:p>
            <a:pPr algn="l"/>
            <a:r>
              <a:rPr sz="1500" b="1">
                <a:solidFill>
                  <a:srgbClr val="C65911"/>
                </a:solidFill>
                <a:latin typeface="微软雅黑" panose="020B0503020204020204" charset="-122"/>
              </a:rPr>
              <a:t>RQ2</a:t>
            </a:r>
            <a:endParaRPr sz="1500" b="1">
              <a:solidFill>
                <a:srgbClr val="C65911"/>
              </a:solidFill>
              <a:latin typeface="微软雅黑" panose="020B0503020204020204" charset="-122"/>
            </a:endParaRPr>
          </a:p>
        </p:txBody>
      </p:sp>
      <p:sp>
        <p:nvSpPr>
          <p:cNvPr id="10" name="TextBox 9"/>
          <p:cNvSpPr txBox="1"/>
          <p:nvPr/>
        </p:nvSpPr>
        <p:spPr>
          <a:xfrm>
            <a:off x="5404104" y="1399032"/>
            <a:ext cx="2331720" cy="320040"/>
          </a:xfrm>
          <a:prstGeom prst="rect">
            <a:avLst/>
          </a:prstGeom>
          <a:noFill/>
        </p:spPr>
        <p:txBody>
          <a:bodyPr wrap="square" anchor="ctr">
            <a:spAutoFit/>
          </a:bodyPr>
          <a:lstStyle/>
          <a:p>
            <a:pPr algn="l"/>
            <a:r>
              <a:rPr sz="1200" b="1">
                <a:solidFill>
                  <a:srgbClr val="2D2D2D"/>
                </a:solidFill>
                <a:latin typeface="微软雅黑" panose="020B0503020204020204" charset="-122"/>
              </a:rPr>
              <a:t>多智能体如何拆分可观察子任务</a:t>
            </a:r>
            <a:endParaRPr sz="1200" b="1">
              <a:solidFill>
                <a:srgbClr val="2D2D2D"/>
              </a:solidFill>
              <a:latin typeface="微软雅黑" panose="020B0503020204020204" charset="-122"/>
            </a:endParaRPr>
          </a:p>
        </p:txBody>
      </p:sp>
      <p:sp>
        <p:nvSpPr>
          <p:cNvPr id="11" name="Rectangle 10"/>
          <p:cNvSpPr/>
          <p:nvPr/>
        </p:nvSpPr>
        <p:spPr>
          <a:xfrm>
            <a:off x="640080" y="2377440"/>
            <a:ext cx="3383280" cy="786384"/>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2" name="TextBox 11"/>
          <p:cNvSpPr txBox="1"/>
          <p:nvPr/>
        </p:nvSpPr>
        <p:spPr>
          <a:xfrm>
            <a:off x="822960" y="2518093"/>
            <a:ext cx="685800" cy="321945"/>
          </a:xfrm>
          <a:prstGeom prst="rect">
            <a:avLst/>
          </a:prstGeom>
          <a:noFill/>
        </p:spPr>
        <p:txBody>
          <a:bodyPr wrap="square" anchor="ctr">
            <a:spAutoFit/>
          </a:bodyPr>
          <a:lstStyle/>
          <a:p>
            <a:pPr algn="l"/>
            <a:r>
              <a:rPr sz="1500" b="1">
                <a:solidFill>
                  <a:srgbClr val="C65911"/>
                </a:solidFill>
                <a:latin typeface="微软雅黑" panose="020B0503020204020204" charset="-122"/>
              </a:rPr>
              <a:t>RQ3</a:t>
            </a:r>
            <a:endParaRPr sz="1500" b="1">
              <a:solidFill>
                <a:srgbClr val="C65911"/>
              </a:solidFill>
              <a:latin typeface="微软雅黑" panose="020B0503020204020204" charset="-122"/>
            </a:endParaRPr>
          </a:p>
        </p:txBody>
      </p:sp>
      <p:sp>
        <p:nvSpPr>
          <p:cNvPr id="13" name="TextBox 12"/>
          <p:cNvSpPr txBox="1"/>
          <p:nvPr/>
        </p:nvSpPr>
        <p:spPr>
          <a:xfrm>
            <a:off x="1426464" y="2542032"/>
            <a:ext cx="2331720" cy="320040"/>
          </a:xfrm>
          <a:prstGeom prst="rect">
            <a:avLst/>
          </a:prstGeom>
          <a:noFill/>
        </p:spPr>
        <p:txBody>
          <a:bodyPr wrap="square" anchor="ctr">
            <a:spAutoFit/>
          </a:bodyPr>
          <a:lstStyle/>
          <a:p>
            <a:pPr algn="l"/>
            <a:r>
              <a:rPr sz="1200" b="1">
                <a:solidFill>
                  <a:srgbClr val="2D2D2D"/>
                </a:solidFill>
                <a:latin typeface="微软雅黑" panose="020B0503020204020204" charset="-122"/>
              </a:rPr>
              <a:t>反馈能否映射到 SQL+ 步骤</a:t>
            </a:r>
            <a:endParaRPr sz="1200" b="1">
              <a:solidFill>
                <a:srgbClr val="2D2D2D"/>
              </a:solidFill>
              <a:latin typeface="微软雅黑" panose="020B0503020204020204" charset="-122"/>
            </a:endParaRPr>
          </a:p>
        </p:txBody>
      </p:sp>
      <p:sp>
        <p:nvSpPr>
          <p:cNvPr id="14" name="Rectangle 13"/>
          <p:cNvSpPr/>
          <p:nvPr/>
        </p:nvSpPr>
        <p:spPr>
          <a:xfrm>
            <a:off x="4617720" y="2377440"/>
            <a:ext cx="3383280" cy="786384"/>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5" name="TextBox 14"/>
          <p:cNvSpPr txBox="1"/>
          <p:nvPr/>
        </p:nvSpPr>
        <p:spPr>
          <a:xfrm>
            <a:off x="4800600" y="2518093"/>
            <a:ext cx="668655" cy="321945"/>
          </a:xfrm>
          <a:prstGeom prst="rect">
            <a:avLst/>
          </a:prstGeom>
          <a:noFill/>
        </p:spPr>
        <p:txBody>
          <a:bodyPr wrap="square" anchor="ctr">
            <a:spAutoFit/>
          </a:bodyPr>
          <a:lstStyle/>
          <a:p>
            <a:pPr algn="l"/>
            <a:r>
              <a:rPr sz="1500" b="1">
                <a:solidFill>
                  <a:srgbClr val="C65911"/>
                </a:solidFill>
                <a:latin typeface="微软雅黑" panose="020B0503020204020204" charset="-122"/>
              </a:rPr>
              <a:t>RQ4</a:t>
            </a:r>
            <a:endParaRPr sz="1500" b="1">
              <a:solidFill>
                <a:srgbClr val="C65911"/>
              </a:solidFill>
              <a:latin typeface="微软雅黑" panose="020B0503020204020204" charset="-122"/>
            </a:endParaRPr>
          </a:p>
        </p:txBody>
      </p:sp>
      <p:sp>
        <p:nvSpPr>
          <p:cNvPr id="16" name="TextBox 15"/>
          <p:cNvSpPr txBox="1"/>
          <p:nvPr/>
        </p:nvSpPr>
        <p:spPr>
          <a:xfrm>
            <a:off x="5404104" y="2542032"/>
            <a:ext cx="2331720" cy="320040"/>
          </a:xfrm>
          <a:prstGeom prst="rect">
            <a:avLst/>
          </a:prstGeom>
          <a:noFill/>
        </p:spPr>
        <p:txBody>
          <a:bodyPr wrap="square" anchor="ctr">
            <a:spAutoFit/>
          </a:bodyPr>
          <a:lstStyle/>
          <a:p>
            <a:pPr algn="l"/>
            <a:r>
              <a:rPr sz="1200" b="1">
                <a:solidFill>
                  <a:srgbClr val="2D2D2D"/>
                </a:solidFill>
                <a:latin typeface="微软雅黑" panose="020B0503020204020204" charset="-122"/>
              </a:rPr>
              <a:t>修复收益能否抵消额外成本</a:t>
            </a:r>
            <a:endParaRPr sz="1200" b="1">
              <a:solidFill>
                <a:srgbClr val="2D2D2D"/>
              </a:solidFill>
              <a:latin typeface="微软雅黑" panose="020B0503020204020204" charset="-122"/>
            </a:endParaRPr>
          </a:p>
        </p:txBody>
      </p:sp>
      <p:sp>
        <p:nvSpPr>
          <p:cNvPr id="17" name="Rectangle 16"/>
          <p:cNvSpPr/>
          <p:nvPr/>
        </p:nvSpPr>
        <p:spPr>
          <a:xfrm>
            <a:off x="502920" y="3977639"/>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valid rate</a:t>
            </a:r>
            <a:endParaRPr sz="1000" b="1">
              <a:solidFill>
                <a:srgbClr val="2D2D2D"/>
              </a:solidFill>
              <a:latin typeface="微软雅黑" panose="020B0503020204020204" charset="-122"/>
            </a:endParaRPr>
          </a:p>
        </p:txBody>
      </p:sp>
      <p:sp>
        <p:nvSpPr>
          <p:cNvPr id="18" name="Rectangle 17"/>
          <p:cNvSpPr/>
          <p:nvPr/>
        </p:nvSpPr>
        <p:spPr>
          <a:xfrm>
            <a:off x="2560320" y="3977639"/>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execution accuracy</a:t>
            </a:r>
            <a:endParaRPr sz="1000" b="1">
              <a:solidFill>
                <a:srgbClr val="2D2D2D"/>
              </a:solidFill>
              <a:latin typeface="微软雅黑" panose="020B0503020204020204" charset="-122"/>
            </a:endParaRPr>
          </a:p>
        </p:txBody>
      </p:sp>
      <p:sp>
        <p:nvSpPr>
          <p:cNvPr id="19" name="Rectangle 18"/>
          <p:cNvSpPr/>
          <p:nvPr/>
        </p:nvSpPr>
        <p:spPr>
          <a:xfrm>
            <a:off x="4617720" y="3977639"/>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token</a:t>
            </a:r>
            <a:endParaRPr sz="1000" b="1">
              <a:solidFill>
                <a:srgbClr val="2D2D2D"/>
              </a:solidFill>
              <a:latin typeface="微软雅黑" panose="020B0503020204020204" charset="-122"/>
            </a:endParaRPr>
          </a:p>
        </p:txBody>
      </p:sp>
      <p:sp>
        <p:nvSpPr>
          <p:cNvPr id="20" name="Rectangle 19"/>
          <p:cNvSpPr/>
          <p:nvPr/>
        </p:nvSpPr>
        <p:spPr>
          <a:xfrm>
            <a:off x="6675120" y="3977639"/>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latency</a:t>
            </a:r>
            <a:endParaRPr sz="1000" b="1">
              <a:solidFill>
                <a:srgbClr val="2D2D2D"/>
              </a:solidFill>
              <a:latin typeface="微软雅黑" panose="020B0503020204020204" charset="-122"/>
            </a:endParaRPr>
          </a:p>
        </p:txBody>
      </p:sp>
      <p:sp>
        <p:nvSpPr>
          <p:cNvPr id="21" name="Rectangle 20"/>
          <p:cNvSpPr/>
          <p:nvPr/>
        </p:nvSpPr>
        <p:spPr>
          <a:xfrm>
            <a:off x="502920" y="4636007"/>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error localization</a:t>
            </a:r>
            <a:endParaRPr sz="1000" b="1">
              <a:solidFill>
                <a:srgbClr val="2D2D2D"/>
              </a:solidFill>
              <a:latin typeface="微软雅黑" panose="020B0503020204020204" charset="-122"/>
            </a:endParaRPr>
          </a:p>
        </p:txBody>
      </p:sp>
      <p:sp>
        <p:nvSpPr>
          <p:cNvPr id="22" name="Rectangle 21"/>
          <p:cNvSpPr/>
          <p:nvPr/>
        </p:nvSpPr>
        <p:spPr>
          <a:xfrm>
            <a:off x="2560320" y="4636007"/>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patch minimality</a:t>
            </a:r>
            <a:endParaRPr sz="1000" b="1">
              <a:solidFill>
                <a:srgbClr val="2D2D2D"/>
              </a:solidFill>
              <a:latin typeface="微软雅黑" panose="020B0503020204020204" charset="-122"/>
            </a:endParaRPr>
          </a:p>
        </p:txBody>
      </p:sp>
      <p:sp>
        <p:nvSpPr>
          <p:cNvPr id="23" name="Rectangle 22"/>
          <p:cNvSpPr/>
          <p:nvPr/>
        </p:nvSpPr>
        <p:spPr>
          <a:xfrm>
            <a:off x="4617720" y="4636007"/>
            <a:ext cx="1691640" cy="384048"/>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D2D2D"/>
                </a:solidFill>
                <a:latin typeface="微软雅黑" panose="020B0503020204020204" charset="-122"/>
              </a:rPr>
              <a:t>repair rounds</a:t>
            </a:r>
            <a:endParaRPr sz="1000" b="1">
              <a:solidFill>
                <a:srgbClr val="2D2D2D"/>
              </a:solidFill>
              <a:latin typeface="微软雅黑" panose="020B0503020204020204" charset="-122"/>
            </a:endParaRPr>
          </a:p>
        </p:txBody>
      </p:sp>
      <p:sp>
        <p:nvSpPr>
          <p:cNvPr id="24" name="TextBox 23"/>
          <p:cNvSpPr txBox="1"/>
          <p:nvPr/>
        </p:nvSpPr>
        <p:spPr>
          <a:xfrm>
            <a:off x="685800" y="3383280"/>
            <a:ext cx="7315200" cy="256032"/>
          </a:xfrm>
          <a:prstGeom prst="rect">
            <a:avLst/>
          </a:prstGeom>
          <a:noFill/>
        </p:spPr>
        <p:txBody>
          <a:bodyPr wrap="square" anchor="ctr">
            <a:spAutoFit/>
          </a:bodyPr>
          <a:lstStyle/>
          <a:p>
            <a:pPr algn="l"/>
            <a:r>
              <a:rPr sz="1300" b="1">
                <a:solidFill>
                  <a:srgbClr val="1F4E79"/>
                </a:solidFill>
                <a:latin typeface="微软雅黑" panose="020B0503020204020204" charset="-122"/>
              </a:rPr>
              <a:t>评价不只看准确率，还看成本、定位和修复过程是否可控</a:t>
            </a:r>
            <a:endParaRPr sz="1300" b="1">
              <a:solidFill>
                <a:srgbClr val="1F4E79"/>
              </a:solidFill>
              <a:latin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66356"/>
            <a:ext cx="832104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实验组织：围绕四个研究假设展开</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10</a:t>
            </a:r>
            <a:endParaRPr sz="800" b="0">
              <a:solidFill>
                <a:srgbClr val="5F5F5F"/>
              </a:solidFill>
              <a:latin typeface="微软雅黑" panose="020B0503020204020204" charset="-122"/>
            </a:endParaRPr>
          </a:p>
        </p:txBody>
      </p:sp>
      <p:sp>
        <p:nvSpPr>
          <p:cNvPr id="4" name="Rectangle 3"/>
          <p:cNvSpPr/>
          <p:nvPr/>
        </p:nvSpPr>
        <p:spPr>
          <a:xfrm>
            <a:off x="432435" y="1861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H1 表达可行</a:t>
            </a:r>
            <a:endParaRPr sz="1200" b="1">
              <a:solidFill>
                <a:srgbClr val="282828"/>
              </a:solidFill>
              <a:latin typeface="微软雅黑" panose="020B0503020204020204" charset="-122"/>
            </a:endParaRPr>
          </a:p>
        </p:txBody>
      </p:sp>
      <p:sp>
        <p:nvSpPr>
          <p:cNvPr id="5" name="TextBox 4"/>
          <p:cNvSpPr txBox="1"/>
          <p:nvPr/>
        </p:nvSpPr>
        <p:spPr>
          <a:xfrm>
            <a:off x="1895475" y="2062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6" name="Rectangle 5"/>
          <p:cNvSpPr/>
          <p:nvPr/>
        </p:nvSpPr>
        <p:spPr>
          <a:xfrm>
            <a:off x="2261235" y="1861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SQL+ 能否稳定转换并执行</a:t>
            </a:r>
            <a:endParaRPr sz="1100" b="0">
              <a:solidFill>
                <a:srgbClr val="282828"/>
              </a:solidFill>
              <a:latin typeface="微软雅黑" panose="020B0503020204020204" charset="-122"/>
            </a:endParaRPr>
          </a:p>
        </p:txBody>
      </p:sp>
      <p:sp>
        <p:nvSpPr>
          <p:cNvPr id="7" name="TextBox 6"/>
          <p:cNvSpPr txBox="1"/>
          <p:nvPr/>
        </p:nvSpPr>
        <p:spPr>
          <a:xfrm>
            <a:off x="4638675" y="2062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8" name="Rectangle 7"/>
          <p:cNvSpPr/>
          <p:nvPr/>
        </p:nvSpPr>
        <p:spPr>
          <a:xfrm>
            <a:off x="5004435" y="1861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SQL+ 转换实验
Spider smoke test</a:t>
            </a:r>
            <a:endParaRPr sz="1000" b="1">
              <a:solidFill>
                <a:srgbClr val="282828"/>
              </a:solidFill>
              <a:latin typeface="微软雅黑" panose="020B0503020204020204" charset="-122"/>
            </a:endParaRPr>
          </a:p>
        </p:txBody>
      </p:sp>
      <p:sp>
        <p:nvSpPr>
          <p:cNvPr id="9" name="Rectangle 8"/>
          <p:cNvSpPr/>
          <p:nvPr/>
        </p:nvSpPr>
        <p:spPr>
          <a:xfrm>
            <a:off x="432435" y="3004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H2 表达差异</a:t>
            </a:r>
            <a:endParaRPr sz="1200" b="1">
              <a:solidFill>
                <a:srgbClr val="282828"/>
              </a:solidFill>
              <a:latin typeface="微软雅黑" panose="020B0503020204020204" charset="-122"/>
            </a:endParaRPr>
          </a:p>
        </p:txBody>
      </p:sp>
      <p:sp>
        <p:nvSpPr>
          <p:cNvPr id="10" name="TextBox 9"/>
          <p:cNvSpPr txBox="1"/>
          <p:nvPr/>
        </p:nvSpPr>
        <p:spPr>
          <a:xfrm>
            <a:off x="1895475" y="3205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1" name="Rectangle 10"/>
          <p:cNvSpPr/>
          <p:nvPr/>
        </p:nvSpPr>
        <p:spPr>
          <a:xfrm>
            <a:off x="2261235" y="3004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SQL+ 与 SQL、SemQL、NatSQL 的区别</a:t>
            </a:r>
            <a:endParaRPr sz="1100" b="0">
              <a:solidFill>
                <a:srgbClr val="282828"/>
              </a:solidFill>
              <a:latin typeface="微软雅黑" panose="020B0503020204020204" charset="-122"/>
            </a:endParaRPr>
          </a:p>
        </p:txBody>
      </p:sp>
      <p:sp>
        <p:nvSpPr>
          <p:cNvPr id="12" name="TextBox 11"/>
          <p:cNvSpPr txBox="1"/>
          <p:nvPr/>
        </p:nvSpPr>
        <p:spPr>
          <a:xfrm>
            <a:off x="4638675" y="3205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3" name="Rectangle 12"/>
          <p:cNvSpPr/>
          <p:nvPr/>
        </p:nvSpPr>
        <p:spPr>
          <a:xfrm>
            <a:off x="5004435" y="3004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IR 复杂度实验
IR 生成成本实验</a:t>
            </a:r>
            <a:endParaRPr sz="1000" b="1">
              <a:solidFill>
                <a:srgbClr val="282828"/>
              </a:solidFill>
              <a:latin typeface="微软雅黑" panose="020B0503020204020204" charset="-122"/>
            </a:endParaRPr>
          </a:p>
        </p:txBody>
      </p:sp>
      <p:sp>
        <p:nvSpPr>
          <p:cNvPr id="14" name="Rectangle 13"/>
          <p:cNvSpPr/>
          <p:nvPr/>
        </p:nvSpPr>
        <p:spPr>
          <a:xfrm>
            <a:off x="432435" y="4147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H3 生成效果</a:t>
            </a:r>
            <a:endParaRPr sz="1200" b="1">
              <a:solidFill>
                <a:srgbClr val="282828"/>
              </a:solidFill>
              <a:latin typeface="微软雅黑" panose="020B0503020204020204" charset="-122"/>
            </a:endParaRPr>
          </a:p>
        </p:txBody>
      </p:sp>
      <p:sp>
        <p:nvSpPr>
          <p:cNvPr id="15" name="TextBox 14"/>
          <p:cNvSpPr txBox="1"/>
          <p:nvPr/>
        </p:nvSpPr>
        <p:spPr>
          <a:xfrm>
            <a:off x="1895475" y="4348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6" name="Rectangle 15"/>
          <p:cNvSpPr/>
          <p:nvPr/>
        </p:nvSpPr>
        <p:spPr>
          <a:xfrm>
            <a:off x="2261235" y="4147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中间表示是否改善初次生成</a:t>
            </a:r>
            <a:endParaRPr sz="1100" b="0">
              <a:solidFill>
                <a:srgbClr val="282828"/>
              </a:solidFill>
              <a:latin typeface="微软雅黑" panose="020B0503020204020204" charset="-122"/>
            </a:endParaRPr>
          </a:p>
        </p:txBody>
      </p:sp>
      <p:sp>
        <p:nvSpPr>
          <p:cNvPr id="17" name="TextBox 16"/>
          <p:cNvSpPr txBox="1"/>
          <p:nvPr/>
        </p:nvSpPr>
        <p:spPr>
          <a:xfrm>
            <a:off x="4638675" y="4348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18" name="Rectangle 17"/>
          <p:cNvSpPr/>
          <p:nvPr/>
        </p:nvSpPr>
        <p:spPr>
          <a:xfrm>
            <a:off x="5004435" y="4147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Direct SQL vs SQL+
执行一致率</a:t>
            </a:r>
            <a:endParaRPr sz="1000" b="1">
              <a:solidFill>
                <a:srgbClr val="282828"/>
              </a:solidFill>
              <a:latin typeface="微软雅黑" panose="020B0503020204020204" charset="-122"/>
            </a:endParaRPr>
          </a:p>
        </p:txBody>
      </p:sp>
      <p:sp>
        <p:nvSpPr>
          <p:cNvPr id="19" name="Rectangle 18"/>
          <p:cNvSpPr/>
          <p:nvPr/>
        </p:nvSpPr>
        <p:spPr>
          <a:xfrm>
            <a:off x="432435" y="5290185"/>
            <a:ext cx="1325880" cy="658368"/>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82828"/>
                </a:solidFill>
                <a:latin typeface="微软雅黑" panose="020B0503020204020204" charset="-122"/>
              </a:rPr>
              <a:t>H4 修复收益</a:t>
            </a:r>
            <a:endParaRPr sz="1200" b="1">
              <a:solidFill>
                <a:srgbClr val="282828"/>
              </a:solidFill>
              <a:latin typeface="微软雅黑" panose="020B0503020204020204" charset="-122"/>
            </a:endParaRPr>
          </a:p>
        </p:txBody>
      </p:sp>
      <p:sp>
        <p:nvSpPr>
          <p:cNvPr id="20" name="TextBox 19"/>
          <p:cNvSpPr txBox="1"/>
          <p:nvPr/>
        </p:nvSpPr>
        <p:spPr>
          <a:xfrm>
            <a:off x="1895475" y="5491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21" name="Rectangle 20"/>
          <p:cNvSpPr/>
          <p:nvPr/>
        </p:nvSpPr>
        <p:spPr>
          <a:xfrm>
            <a:off x="2261235" y="5290185"/>
            <a:ext cx="2240280" cy="658368"/>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修复收益能否抵消额外开销</a:t>
            </a:r>
            <a:endParaRPr sz="1100" b="0">
              <a:solidFill>
                <a:srgbClr val="282828"/>
              </a:solidFill>
              <a:latin typeface="微软雅黑" panose="020B0503020204020204" charset="-122"/>
            </a:endParaRPr>
          </a:p>
        </p:txBody>
      </p:sp>
      <p:sp>
        <p:nvSpPr>
          <p:cNvPr id="22" name="TextBox 21"/>
          <p:cNvSpPr txBox="1"/>
          <p:nvPr/>
        </p:nvSpPr>
        <p:spPr>
          <a:xfrm>
            <a:off x="4638675" y="5491353"/>
            <a:ext cx="320040" cy="228600"/>
          </a:xfrm>
          <a:prstGeom prst="rect">
            <a:avLst/>
          </a:prstGeom>
          <a:noFill/>
        </p:spPr>
        <p:txBody>
          <a:bodyPr wrap="square" anchor="ctr">
            <a:spAutoFit/>
          </a:bodyPr>
          <a:lstStyle/>
          <a:p>
            <a:pPr algn="ctr"/>
            <a:r>
              <a:rPr sz="2000" b="1">
                <a:solidFill>
                  <a:srgbClr val="1F4E79"/>
                </a:solidFill>
                <a:latin typeface="微软雅黑" panose="020B0503020204020204" charset="-122"/>
              </a:rPr>
              <a:t>→</a:t>
            </a:r>
            <a:endParaRPr sz="2000" b="1">
              <a:solidFill>
                <a:srgbClr val="1F4E79"/>
              </a:solidFill>
              <a:latin typeface="微软雅黑" panose="020B0503020204020204" charset="-122"/>
            </a:endParaRPr>
          </a:p>
        </p:txBody>
      </p:sp>
      <p:sp>
        <p:nvSpPr>
          <p:cNvPr id="23" name="Rectangle 22"/>
          <p:cNvSpPr/>
          <p:nvPr/>
        </p:nvSpPr>
        <p:spPr>
          <a:xfrm>
            <a:off x="5004435" y="5290185"/>
            <a:ext cx="2971800" cy="658368"/>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282828"/>
                </a:solidFill>
                <a:latin typeface="微软雅黑" panose="020B0503020204020204" charset="-122"/>
              </a:rPr>
              <a:t>repairability 指标
Skill Router 实验</a:t>
            </a:r>
            <a:endParaRPr sz="1000" b="1">
              <a:solidFill>
                <a:srgbClr val="282828"/>
              </a:solidFill>
              <a:latin typeface="微软雅黑" panose="020B0503020204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实验设置总览</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11</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nvGraphicFramePr>
        <p:xfrm>
          <a:off x="438785" y="1988820"/>
          <a:ext cx="8321040" cy="3520440"/>
        </p:xfrm>
        <a:graphic>
          <a:graphicData uri="http://schemas.openxmlformats.org/drawingml/2006/table">
            <a:tbl>
              <a:tblPr firstRow="1" bandRow="1">
                <a:tableStyleId>{5C22544A-7EE6-4342-B048-85BDC9FD1C3A}</a:tableStyleId>
              </a:tblPr>
              <a:tblGrid>
                <a:gridCol w="1664335"/>
                <a:gridCol w="1664335"/>
                <a:gridCol w="1663700"/>
                <a:gridCol w="1664335"/>
                <a:gridCol w="1664335"/>
              </a:tblGrid>
              <a:tr h="586740">
                <a:tc>
                  <a:txBody>
                    <a:bodyPr/>
                    <a:lstStyle/>
                    <a:p>
                      <a:pPr algn="ctr"/>
                      <a:r>
                        <a:rPr sz="1400" b="1">
                          <a:solidFill>
                            <a:srgbClr val="FFFFFF"/>
                          </a:solidFill>
                          <a:latin typeface="微软雅黑" panose="020B0503020204020204" charset="-122"/>
                        </a:rPr>
                        <a:t>实验</a:t>
                      </a:r>
                      <a:endParaRPr sz="1400" b="1">
                        <a:solidFill>
                          <a:srgbClr val="FFFFFF"/>
                        </a:solidFill>
                        <a:latin typeface="微软雅黑" panose="020B0503020204020204" charset="-122"/>
                      </a:endParaRPr>
                    </a:p>
                  </a:txBody>
                  <a:tcPr marL="36576" marR="36576">
                    <a:solidFill>
                      <a:srgbClr val="1F4E79"/>
                    </a:solidFill>
                  </a:tcPr>
                </a:tc>
                <a:tc>
                  <a:txBody>
                    <a:bodyPr/>
                    <a:lstStyle/>
                    <a:p>
                      <a:pPr algn="ctr"/>
                      <a:r>
                        <a:rPr sz="1400" b="1">
                          <a:solidFill>
                            <a:srgbClr val="FFFFFF"/>
                          </a:solidFill>
                          <a:latin typeface="微软雅黑" panose="020B0503020204020204" charset="-122"/>
                        </a:rPr>
                        <a:t>目的</a:t>
                      </a:r>
                      <a:endParaRPr sz="1400" b="1">
                        <a:solidFill>
                          <a:srgbClr val="FFFFFF"/>
                        </a:solidFill>
                        <a:latin typeface="微软雅黑" panose="020B0503020204020204" charset="-122"/>
                      </a:endParaRPr>
                    </a:p>
                  </a:txBody>
                  <a:tcPr marL="36576" marR="36576">
                    <a:solidFill>
                      <a:srgbClr val="1F4E79"/>
                    </a:solidFill>
                  </a:tcPr>
                </a:tc>
                <a:tc>
                  <a:txBody>
                    <a:bodyPr/>
                    <a:lstStyle/>
                    <a:p>
                      <a:pPr algn="ctr"/>
                      <a:r>
                        <a:rPr sz="1400" b="1">
                          <a:solidFill>
                            <a:srgbClr val="FFFFFF"/>
                          </a:solidFill>
                          <a:latin typeface="微软雅黑" panose="020B0503020204020204" charset="-122"/>
                        </a:rPr>
                        <a:t>数据/样例</a:t>
                      </a:r>
                      <a:endParaRPr sz="1400" b="1">
                        <a:solidFill>
                          <a:srgbClr val="FFFFFF"/>
                        </a:solidFill>
                        <a:latin typeface="微软雅黑" panose="020B0503020204020204" charset="-122"/>
                      </a:endParaRPr>
                    </a:p>
                  </a:txBody>
                  <a:tcPr marL="36576" marR="36576">
                    <a:solidFill>
                      <a:srgbClr val="1F4E79"/>
                    </a:solidFill>
                  </a:tcPr>
                </a:tc>
                <a:tc>
                  <a:txBody>
                    <a:bodyPr/>
                    <a:lstStyle/>
                    <a:p>
                      <a:pPr algn="ctr"/>
                      <a:r>
                        <a:rPr sz="1400" b="1">
                          <a:solidFill>
                            <a:srgbClr val="FFFFFF"/>
                          </a:solidFill>
                          <a:latin typeface="微软雅黑" panose="020B0503020204020204" charset="-122"/>
                        </a:rPr>
                        <a:t>对比对象</a:t>
                      </a:r>
                      <a:endParaRPr sz="1400" b="1">
                        <a:solidFill>
                          <a:srgbClr val="FFFFFF"/>
                        </a:solidFill>
                        <a:latin typeface="微软雅黑" panose="020B0503020204020204" charset="-122"/>
                      </a:endParaRPr>
                    </a:p>
                  </a:txBody>
                  <a:tcPr marL="36576" marR="36576">
                    <a:solidFill>
                      <a:srgbClr val="1F4E79"/>
                    </a:solidFill>
                  </a:tcPr>
                </a:tc>
                <a:tc>
                  <a:txBody>
                    <a:bodyPr/>
                    <a:lstStyle/>
                    <a:p>
                      <a:pPr algn="ctr"/>
                      <a:r>
                        <a:rPr sz="1400" b="1">
                          <a:solidFill>
                            <a:srgbClr val="FFFFFF"/>
                          </a:solidFill>
                          <a:latin typeface="微软雅黑" panose="020B0503020204020204" charset="-122"/>
                        </a:rPr>
                        <a:t>核心指标</a:t>
                      </a:r>
                      <a:endParaRPr sz="1400" b="1">
                        <a:solidFill>
                          <a:srgbClr val="FFFFFF"/>
                        </a:solidFill>
                        <a:latin typeface="微软雅黑" panose="020B0503020204020204" charset="-122"/>
                      </a:endParaRPr>
                    </a:p>
                  </a:txBody>
                  <a:tcPr marL="36576" marR="36576">
                    <a:solidFill>
                      <a:srgbClr val="1F4E79"/>
                    </a:solidFill>
                  </a:tcPr>
                </a:tc>
              </a:tr>
              <a:tr h="586740">
                <a:tc>
                  <a:txBody>
                    <a:bodyPr/>
                    <a:lstStyle/>
                    <a:p>
                      <a:pPr algn="ctr"/>
                      <a:r>
                        <a:rPr sz="1200" b="0">
                          <a:solidFill>
                            <a:srgbClr val="282828"/>
                          </a:solidFill>
                          <a:latin typeface="微软雅黑" panose="020B0503020204020204" charset="-122"/>
                        </a:rPr>
                        <a:t>SQL+ 转换</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验证中间表示可执行</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自建 30 条订单样例</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gold SQL</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转换成功、执行一致</a:t>
                      </a:r>
                      <a:endParaRPr sz="1200" b="0">
                        <a:solidFill>
                          <a:srgbClr val="282828"/>
                        </a:solidFill>
                        <a:latin typeface="微软雅黑" panose="020B0503020204020204" charset="-122"/>
                      </a:endParaRPr>
                    </a:p>
                  </a:txBody>
                  <a:tcPr marL="36576" marR="36576">
                    <a:solidFill>
                      <a:srgbClr val="FFFFFF"/>
                    </a:solidFill>
                  </a:tcPr>
                </a:tc>
              </a:tr>
              <a:tr h="586740">
                <a:tc>
                  <a:txBody>
                    <a:bodyPr/>
                    <a:lstStyle/>
                    <a:p>
                      <a:pPr algn="ctr"/>
                      <a:r>
                        <a:rPr sz="1200" b="0">
                          <a:solidFill>
                            <a:srgbClr val="282828"/>
                          </a:solidFill>
                          <a:latin typeface="微软雅黑" panose="020B0503020204020204" charset="-122"/>
                        </a:rPr>
                        <a:t>IR 复杂度</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解释为什么使用 SQL+</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同一批 30 条查询</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SQL、SQL+、SemQL-style、NatSQL-style、Pipe-style</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token、步骤、嵌套、别名依赖</a:t>
                      </a:r>
                      <a:endParaRPr sz="1200" b="0">
                        <a:solidFill>
                          <a:srgbClr val="282828"/>
                        </a:solidFill>
                        <a:latin typeface="微软雅黑" panose="020B0503020204020204" charset="-122"/>
                      </a:endParaRPr>
                    </a:p>
                  </a:txBody>
                  <a:tcPr marL="36576" marR="36576">
                    <a:solidFill>
                      <a:srgbClr val="EEF2F7"/>
                    </a:solidFill>
                  </a:tcPr>
                </a:tc>
              </a:tr>
              <a:tr h="586740">
                <a:tc>
                  <a:txBody>
                    <a:bodyPr/>
                    <a:lstStyle/>
                    <a:p>
                      <a:pPr algn="ctr"/>
                      <a:r>
                        <a:rPr sz="1200" b="0">
                          <a:solidFill>
                            <a:srgbClr val="282828"/>
                          </a:solidFill>
                          <a:latin typeface="微软雅黑" panose="020B0503020204020204" charset="-122"/>
                        </a:rPr>
                        <a:t>IR 生成成本</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比较初次生成代价</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同一批 30 条查询</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Direct SQL、SQL+、NatSQL-style、SemQL-style</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token、latency、valid rate、accuracy</a:t>
                      </a:r>
                      <a:endParaRPr sz="1200" b="0">
                        <a:solidFill>
                          <a:srgbClr val="282828"/>
                        </a:solidFill>
                        <a:latin typeface="微软雅黑" panose="020B0503020204020204" charset="-122"/>
                      </a:endParaRPr>
                    </a:p>
                  </a:txBody>
                  <a:tcPr marL="36576" marR="36576">
                    <a:solidFill>
                      <a:srgbClr val="FFFFFF"/>
                    </a:solidFill>
                  </a:tcPr>
                </a:tc>
              </a:tr>
              <a:tr h="586740">
                <a:tc>
                  <a:txBody>
                    <a:bodyPr/>
                    <a:lstStyle/>
                    <a:p>
                      <a:pPr algn="ctr"/>
                      <a:r>
                        <a:rPr sz="1200" b="0">
                          <a:solidFill>
                            <a:srgbClr val="282828"/>
                          </a:solidFill>
                          <a:latin typeface="微软雅黑" panose="020B0503020204020204" charset="-122"/>
                        </a:rPr>
                        <a:t>反馈修复</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验证局部修复价值</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SQL+ 已知失败集</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SQL Refiner、SQL+ Refiner、Skill Router</a:t>
                      </a:r>
                      <a:endParaRPr sz="1200" b="0">
                        <a:solidFill>
                          <a:srgbClr val="282828"/>
                        </a:solidFill>
                        <a:latin typeface="微软雅黑" panose="020B0503020204020204" charset="-122"/>
                      </a:endParaRPr>
                    </a:p>
                  </a:txBody>
                  <a:tcPr marL="36576" marR="36576">
                    <a:solidFill>
                      <a:srgbClr val="EEF2F7"/>
                    </a:solidFill>
                  </a:tcPr>
                </a:tc>
                <a:tc>
                  <a:txBody>
                    <a:bodyPr/>
                    <a:lstStyle/>
                    <a:p>
                      <a:pPr algn="ctr"/>
                      <a:r>
                        <a:rPr sz="1200" b="0">
                          <a:solidFill>
                            <a:srgbClr val="282828"/>
                          </a:solidFill>
                          <a:latin typeface="微软雅黑" panose="020B0503020204020204" charset="-122"/>
                        </a:rPr>
                        <a:t>repair success、patch minimality</a:t>
                      </a:r>
                      <a:endParaRPr sz="1200" b="0">
                        <a:solidFill>
                          <a:srgbClr val="282828"/>
                        </a:solidFill>
                        <a:latin typeface="微软雅黑" panose="020B0503020204020204" charset="-122"/>
                      </a:endParaRPr>
                    </a:p>
                  </a:txBody>
                  <a:tcPr marL="36576" marR="36576">
                    <a:solidFill>
                      <a:srgbClr val="EEF2F7"/>
                    </a:solidFill>
                  </a:tcPr>
                </a:tc>
              </a:tr>
              <a:tr h="586740">
                <a:tc>
                  <a:txBody>
                    <a:bodyPr/>
                    <a:lstStyle/>
                    <a:p>
                      <a:pPr algn="ctr"/>
                      <a:r>
                        <a:rPr sz="1200" b="0">
                          <a:solidFill>
                            <a:srgbClr val="282828"/>
                          </a:solidFill>
                          <a:latin typeface="微软雅黑" panose="020B0503020204020204" charset="-122"/>
                        </a:rPr>
                        <a:t>Spider smoke</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验证公开数据集迁移</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Spider dev concert_singer 20 条</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gold SQL</a:t>
                      </a:r>
                      <a:endParaRPr sz="1200" b="0">
                        <a:solidFill>
                          <a:srgbClr val="282828"/>
                        </a:solidFill>
                        <a:latin typeface="微软雅黑" panose="020B0503020204020204" charset="-122"/>
                      </a:endParaRPr>
                    </a:p>
                  </a:txBody>
                  <a:tcPr marL="36576" marR="36576">
                    <a:solidFill>
                      <a:srgbClr val="FFFFFF"/>
                    </a:solidFill>
                  </a:tcPr>
                </a:tc>
                <a:tc>
                  <a:txBody>
                    <a:bodyPr/>
                    <a:lstStyle/>
                    <a:p>
                      <a:pPr algn="ctr"/>
                      <a:r>
                        <a:rPr sz="1200" b="0">
                          <a:solidFill>
                            <a:srgbClr val="282828"/>
                          </a:solidFill>
                          <a:latin typeface="微软雅黑" panose="020B0503020204020204" charset="-122"/>
                        </a:rPr>
                        <a:t>SQL+ 有效、SQL 可执行、执行一致</a:t>
                      </a:r>
                      <a:endParaRPr sz="12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2158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实验一：SQL+ 转换可行性</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12</a:t>
            </a:r>
            <a:endParaRPr sz="800" b="0">
              <a:solidFill>
                <a:srgbClr val="5F5F5F"/>
              </a:solidFill>
              <a:latin typeface="微软雅黑" panose="020B0503020204020204" charset="-122"/>
            </a:endParaRPr>
          </a:p>
        </p:txBody>
      </p:sp>
      <p:sp>
        <p:nvSpPr>
          <p:cNvPr id="4" name="Rectangle 3"/>
          <p:cNvSpPr/>
          <p:nvPr/>
        </p:nvSpPr>
        <p:spPr>
          <a:xfrm>
            <a:off x="47688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不是只停留在表示层，而是能稳定转换为可执行 SQL。</a:t>
            </a:r>
            <a:endParaRPr sz="1100" b="1">
              <a:solidFill>
                <a:srgbClr val="282828"/>
              </a:solidFill>
              <a:latin typeface="微软雅黑" panose="020B0503020204020204" charset="-122"/>
            </a:endParaRPr>
          </a:p>
        </p:txBody>
      </p:sp>
      <p:sp>
        <p:nvSpPr>
          <p:cNvPr id="5" name="Rectangle 4"/>
          <p:cNvSpPr/>
          <p:nvPr/>
        </p:nvSpPr>
        <p:spPr>
          <a:xfrm>
            <a:off x="450024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自建订单分析数据集，30 条自然语言问题、SQL+、gold SQL 配对。</a:t>
            </a:r>
            <a:endParaRPr sz="1100" b="0">
              <a:solidFill>
                <a:srgbClr val="282828"/>
              </a:solidFill>
              <a:latin typeface="微软雅黑" panose="020B0503020204020204" charset="-122"/>
            </a:endParaRPr>
          </a:p>
        </p:txBody>
      </p:sp>
      <p:sp>
        <p:nvSpPr>
          <p:cNvPr id="6" name="Rectangle 5"/>
          <p:cNvSpPr/>
          <p:nvPr/>
        </p:nvSpPr>
        <p:spPr>
          <a:xfrm>
            <a:off x="47688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valid rate、SQL executable rate、execution match。</a:t>
            </a:r>
            <a:endParaRPr sz="1100" b="0">
              <a:solidFill>
                <a:srgbClr val="282828"/>
              </a:solidFill>
              <a:latin typeface="微软雅黑" panose="020B0503020204020204" charset="-122"/>
            </a:endParaRPr>
          </a:p>
        </p:txBody>
      </p:sp>
      <p:sp>
        <p:nvSpPr>
          <p:cNvPr id="7" name="Rectangle 6"/>
          <p:cNvSpPr/>
          <p:nvPr/>
        </p:nvSpPr>
        <p:spPr>
          <a:xfrm>
            <a:off x="450024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30/30 SQL+ 可解析，30/30 SQL 可执行，30/30 与 gold SQL 执行一致。</a:t>
            </a:r>
            <a:endParaRPr sz="1100" b="1">
              <a:solidFill>
                <a:srgbClr val="282828"/>
              </a:solidFill>
              <a:latin typeface="微软雅黑" panose="020B0503020204020204" charset="-122"/>
            </a:endParaRPr>
          </a:p>
        </p:txBody>
      </p:sp>
      <p:sp>
        <p:nvSpPr>
          <p:cNvPr id="8" name="Rectangle 7"/>
          <p:cNvSpPr/>
          <p:nvPr/>
        </p:nvSpPr>
        <p:spPr>
          <a:xfrm>
            <a:off x="47688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最小闭环成立。后续实验可以把问题转向生成质量和修复能力。</a:t>
            </a:r>
            <a:endParaRPr sz="1100" b="0">
              <a:solidFill>
                <a:srgbClr val="282828"/>
              </a:solidFill>
              <a:latin typeface="微软雅黑" panose="020B0503020204020204"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912" y="1021588"/>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实验二：IR 表达复杂度对比</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13</a:t>
            </a:r>
            <a:endParaRPr sz="800" b="0">
              <a:solidFill>
                <a:srgbClr val="5F5F5F"/>
              </a:solidFill>
              <a:latin typeface="微软雅黑" panose="020B0503020204020204" charset="-122"/>
            </a:endParaRPr>
          </a:p>
        </p:txBody>
      </p:sp>
      <p:sp>
        <p:nvSpPr>
          <p:cNvPr id="4" name="Rectangle 3"/>
          <p:cNvSpPr/>
          <p:nvPr/>
        </p:nvSpPr>
        <p:spPr>
          <a:xfrm>
            <a:off x="47688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回答为什么使用 SQL+，而不是直接 SQL 或其它中间表示。</a:t>
            </a:r>
            <a:endParaRPr sz="1100" b="1">
              <a:solidFill>
                <a:srgbClr val="282828"/>
              </a:solidFill>
              <a:latin typeface="微软雅黑" panose="020B0503020204020204" charset="-122"/>
            </a:endParaRPr>
          </a:p>
        </p:txBody>
      </p:sp>
      <p:sp>
        <p:nvSpPr>
          <p:cNvPr id="5" name="Rectangle 4"/>
          <p:cNvSpPr/>
          <p:nvPr/>
        </p:nvSpPr>
        <p:spPr>
          <a:xfrm>
            <a:off x="450024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同一批 30 条查询构造 Standard SQL、SQL+、SemQL-style、NatSQL-style、Pipe-style proxy。proxy 仅用于受控比较表达形态。</a:t>
            </a:r>
            <a:endParaRPr sz="1100" b="0">
              <a:solidFill>
                <a:srgbClr val="282828"/>
              </a:solidFill>
              <a:latin typeface="微软雅黑" panose="020B0503020204020204" charset="-122"/>
            </a:endParaRPr>
          </a:p>
        </p:txBody>
      </p:sp>
      <p:sp>
        <p:nvSpPr>
          <p:cNvPr id="6" name="Rectangle 5"/>
          <p:cNvSpPr/>
          <p:nvPr/>
        </p:nvSpPr>
        <p:spPr>
          <a:xfrm>
            <a:off x="47688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平均 token、步骤/子句数、嵌套深度、别名依赖、跨子句引用、转换成功。</a:t>
            </a:r>
            <a:endParaRPr sz="1100" b="0">
              <a:solidFill>
                <a:srgbClr val="282828"/>
              </a:solidFill>
              <a:latin typeface="微软雅黑" panose="020B0503020204020204" charset="-122"/>
            </a:endParaRPr>
          </a:p>
        </p:txBody>
      </p:sp>
      <p:sp>
        <p:nvSpPr>
          <p:cNvPr id="7" name="Rectangle 6"/>
          <p:cNvSpPr/>
          <p:nvPr/>
        </p:nvSpPr>
        <p:spPr>
          <a:xfrm>
            <a:off x="450024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平均 token 35.03，高于 SQL 31.53，但别名依赖 0.70、跨子句引用 1.00，低于标准 SQL 的 2.03 和 2.33。</a:t>
            </a:r>
            <a:endParaRPr sz="1100" b="1">
              <a:solidFill>
                <a:srgbClr val="282828"/>
              </a:solidFill>
              <a:latin typeface="微软雅黑" panose="020B0503020204020204" charset="-122"/>
            </a:endParaRPr>
          </a:p>
        </p:txBody>
      </p:sp>
      <p:sp>
        <p:nvSpPr>
          <p:cNvPr id="8" name="Rectangle 7"/>
          <p:cNvSpPr/>
          <p:nvPr/>
        </p:nvSpPr>
        <p:spPr>
          <a:xfrm>
            <a:off x="47688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不应被表述为更短，而应表述为依赖更少、步骤更清晰，更适合定位和局部修复。</a:t>
            </a:r>
            <a:endParaRPr sz="1100" b="0">
              <a:solidFill>
                <a:srgbClr val="282828"/>
              </a:solidFill>
              <a:latin typeface="微软雅黑" panose="020B0503020204020204"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1066483"/>
            <a:ext cx="418528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实验二结果：IR 表达复杂度</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14</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16430"/>
          <a:ext cx="8321040" cy="3755390"/>
        </p:xfrm>
        <a:graphic>
          <a:graphicData uri="http://schemas.openxmlformats.org/drawingml/2006/table">
            <a:tbl>
              <a:tblPr firstRow="1" bandRow="1">
                <a:tableStyleId>{5C22544A-7EE6-4342-B048-85BDC9FD1C3A}</a:tableStyleId>
              </a:tblPr>
              <a:tblGrid>
                <a:gridCol w="1188720"/>
                <a:gridCol w="1188720"/>
                <a:gridCol w="1188720"/>
                <a:gridCol w="1188720"/>
                <a:gridCol w="1188720"/>
                <a:gridCol w="1188720"/>
                <a:gridCol w="1188720"/>
              </a:tblGrid>
              <a:tr h="439420">
                <a:tc>
                  <a:txBody>
                    <a:bodyPr/>
                    <a:lstStyle/>
                    <a:p>
                      <a:pPr algn="ctr"/>
                      <a:r>
                        <a:rPr sz="1200" b="1">
                          <a:solidFill>
                            <a:srgbClr val="FFFFFF"/>
                          </a:solidFill>
                          <a:latin typeface="微软雅黑" panose="020B0503020204020204" charset="-122"/>
                        </a:rPr>
                        <a:t>表示形式</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平均 token</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步骤/子句</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嵌套深度</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别名依赖</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跨子句引用</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转换成功</a:t>
                      </a:r>
                      <a:endParaRPr sz="1200" b="1">
                        <a:solidFill>
                          <a:srgbClr val="FFFFFF"/>
                        </a:solidFill>
                        <a:latin typeface="微软雅黑" panose="020B0503020204020204" charset="-122"/>
                      </a:endParaRPr>
                    </a:p>
                  </a:txBody>
                  <a:tcPr marL="36576" marR="36576">
                    <a:solidFill>
                      <a:srgbClr val="1F4E79"/>
                    </a:solidFill>
                  </a:tcPr>
                </a:tc>
              </a:tr>
              <a:tr h="542290">
                <a:tc>
                  <a:txBody>
                    <a:bodyPr/>
                    <a:lstStyle/>
                    <a:p>
                      <a:pPr algn="ctr"/>
                      <a:r>
                        <a:rPr sz="1000" b="0">
                          <a:solidFill>
                            <a:srgbClr val="282828"/>
                          </a:solidFill>
                          <a:latin typeface="微软雅黑" panose="020B0503020204020204" charset="-122"/>
                        </a:rPr>
                        <a:t>Standard SQL</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31.5333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5.9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0.6667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2.0333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2.3333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r>
              <a:tr h="693420">
                <a:tc>
                  <a:txBody>
                    <a:bodyPr/>
                    <a:lstStyle/>
                    <a:p>
                      <a:pPr algn="ctr"/>
                      <a:r>
                        <a:rPr sz="1000" b="0">
                          <a:solidFill>
                            <a:srgbClr val="282828"/>
                          </a:solidFill>
                          <a:latin typeface="微软雅黑" panose="020B0503020204020204" charset="-122"/>
                        </a:rPr>
                        <a:t>SQL+</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35.0333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6.1333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0.6667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EEF2F7"/>
                    </a:solidFill>
                  </a:tcPr>
                </a:tc>
              </a:tr>
              <a:tr h="693420">
                <a:tc>
                  <a:txBody>
                    <a:bodyPr/>
                    <a:lstStyle/>
                    <a:p>
                      <a:pPr algn="ctr"/>
                      <a:r>
                        <a:rPr sz="1000" b="0">
                          <a:solidFill>
                            <a:srgbClr val="282828"/>
                          </a:solidFill>
                          <a:latin typeface="微软雅黑" panose="020B0503020204020204" charset="-122"/>
                        </a:rPr>
                        <a:t>SemQL-style proxy</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50.5667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10.7333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3.6667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1.2</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N/A</a:t>
                      </a:r>
                      <a:endParaRPr sz="1000" b="0">
                        <a:solidFill>
                          <a:srgbClr val="282828"/>
                        </a:solidFill>
                        <a:latin typeface="微软雅黑" panose="020B0503020204020204" charset="-122"/>
                      </a:endParaRPr>
                    </a:p>
                  </a:txBody>
                  <a:tcPr marL="36576" marR="36576">
                    <a:solidFill>
                      <a:srgbClr val="FFFFFF"/>
                    </a:solidFill>
                  </a:tcPr>
                </a:tc>
              </a:tr>
              <a:tr h="693420">
                <a:tc>
                  <a:txBody>
                    <a:bodyPr/>
                    <a:lstStyle/>
                    <a:p>
                      <a:pPr algn="ctr"/>
                      <a:r>
                        <a:rPr sz="1000" b="0">
                          <a:solidFill>
                            <a:srgbClr val="282828"/>
                          </a:solidFill>
                          <a:latin typeface="微软雅黑" panose="020B0503020204020204" charset="-122"/>
                        </a:rPr>
                        <a:t>NatSQL-style proxy</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31.5</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5.4333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0.9667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1.6667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N/A</a:t>
                      </a:r>
                      <a:endParaRPr sz="1000" b="0">
                        <a:solidFill>
                          <a:srgbClr val="282828"/>
                        </a:solidFill>
                        <a:latin typeface="微软雅黑" panose="020B0503020204020204" charset="-122"/>
                      </a:endParaRPr>
                    </a:p>
                  </a:txBody>
                  <a:tcPr marL="36576" marR="36576">
                    <a:solidFill>
                      <a:srgbClr val="EEF2F7"/>
                    </a:solidFill>
                  </a:tcPr>
                </a:tc>
              </a:tr>
              <a:tr h="693420">
                <a:tc>
                  <a:txBody>
                    <a:bodyPr/>
                    <a:lstStyle/>
                    <a:p>
                      <a:pPr algn="ctr"/>
                      <a:r>
                        <a:rPr sz="1000" b="0">
                          <a:solidFill>
                            <a:srgbClr val="282828"/>
                          </a:solidFill>
                          <a:latin typeface="微软雅黑" panose="020B0503020204020204" charset="-122"/>
                        </a:rPr>
                        <a:t>Pipe-style proxy</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40.8</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6.1333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0.6667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1.6667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N/A</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0040" y="1035368"/>
            <a:ext cx="501523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实验三：IR 生成成本与执行效果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15</a:t>
            </a:r>
            <a:endParaRPr sz="800" b="0">
              <a:solidFill>
                <a:srgbClr val="5F5F5F"/>
              </a:solidFill>
              <a:latin typeface="微软雅黑" panose="020B0503020204020204" charset="-122"/>
            </a:endParaRPr>
          </a:p>
        </p:txBody>
      </p:sp>
      <p:sp>
        <p:nvSpPr>
          <p:cNvPr id="4" name="Rectangle 3"/>
          <p:cNvSpPr/>
          <p:nvPr/>
        </p:nvSpPr>
        <p:spPr>
          <a:xfrm>
            <a:off x="404495" y="1844675"/>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判断 SQL+ 初次生成是否更省成本、更准确。</a:t>
            </a:r>
            <a:endParaRPr sz="1100" b="1">
              <a:solidFill>
                <a:srgbClr val="282828"/>
              </a:solidFill>
              <a:latin typeface="微软雅黑" panose="020B0503020204020204" charset="-122"/>
            </a:endParaRPr>
          </a:p>
        </p:txBody>
      </p:sp>
      <p:sp>
        <p:nvSpPr>
          <p:cNvPr id="5" name="Rectangle 4"/>
          <p:cNvSpPr/>
          <p:nvPr/>
        </p:nvSpPr>
        <p:spPr>
          <a:xfrm>
            <a:off x="4427855" y="1844675"/>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同一批 30 条查询，统一模型和 prompt 框架，比较 Direct SQL、SQL+、NatSQL-style、SemQL-style。</a:t>
            </a:r>
            <a:endParaRPr sz="1100" b="0">
              <a:solidFill>
                <a:srgbClr val="282828"/>
              </a:solidFill>
              <a:latin typeface="微软雅黑" panose="020B0503020204020204" charset="-122"/>
            </a:endParaRPr>
          </a:p>
        </p:txBody>
      </p:sp>
      <p:sp>
        <p:nvSpPr>
          <p:cNvPr id="6" name="Rectangle 5"/>
          <p:cNvSpPr/>
          <p:nvPr/>
        </p:nvSpPr>
        <p:spPr>
          <a:xfrm>
            <a:off x="404495" y="3170555"/>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valid rate、SQL executable rate、execution accuracy、平均 token、latency。</a:t>
            </a:r>
            <a:endParaRPr sz="1100" b="0">
              <a:solidFill>
                <a:srgbClr val="282828"/>
              </a:solidFill>
              <a:latin typeface="微软雅黑" panose="020B0503020204020204" charset="-122"/>
            </a:endParaRPr>
          </a:p>
        </p:txBody>
      </p:sp>
      <p:sp>
        <p:nvSpPr>
          <p:cNvPr id="7" name="Rectangle 6"/>
          <p:cNvSpPr/>
          <p:nvPr/>
        </p:nvSpPr>
        <p:spPr>
          <a:xfrm>
            <a:off x="4427855" y="3170555"/>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执行一致 14/30，Direct SQL 为 12/30；SQL+ 平均 token 813.03，latency 9.22s，高于 Direct SQL 的 599.17 和 6.59s。</a:t>
            </a:r>
            <a:endParaRPr sz="1100" b="1">
              <a:solidFill>
                <a:srgbClr val="282828"/>
              </a:solidFill>
              <a:latin typeface="微软雅黑" panose="020B0503020204020204" charset="-122"/>
            </a:endParaRPr>
          </a:p>
        </p:txBody>
      </p:sp>
      <p:sp>
        <p:nvSpPr>
          <p:cNvPr id="8" name="Rectangle 7"/>
          <p:cNvSpPr/>
          <p:nvPr/>
        </p:nvSpPr>
        <p:spPr>
          <a:xfrm>
            <a:off x="404495" y="4542155"/>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SQL+ 在初次生成阶段没有明显成本优势，研究重点应放在修复收益是否能抵消额外开销。</a:t>
            </a:r>
            <a:endParaRPr sz="1100" b="0">
              <a:solidFill>
                <a:srgbClr val="282828"/>
              </a:solidFill>
              <a:latin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0040" y="994093"/>
            <a:ext cx="511492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实验三结果：生成成本与执行效果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16</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23215" y="1844675"/>
          <a:ext cx="8321040" cy="338328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365760">
                <a:tc>
                  <a:txBody>
                    <a:bodyPr/>
                    <a:lstStyle/>
                    <a:p>
                      <a:pPr algn="ctr"/>
                      <a:r>
                        <a:rPr sz="1100" b="1">
                          <a:solidFill>
                            <a:srgbClr val="FFFFFF"/>
                          </a:solidFill>
                          <a:latin typeface="微软雅黑" panose="020B0503020204020204" charset="-122"/>
                        </a:rPr>
                        <a:t>方法</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表示有效</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SQL 可执行</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执行一致</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平均总 token</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平均延迟</a:t>
                      </a:r>
                      <a:endParaRPr sz="1100" b="1">
                        <a:solidFill>
                          <a:srgbClr val="FFFFFF"/>
                        </a:solidFill>
                        <a:latin typeface="微软雅黑" panose="020B0503020204020204" charset="-122"/>
                      </a:endParaRPr>
                    </a:p>
                  </a:txBody>
                  <a:tcPr marL="36576" marR="36576">
                    <a:solidFill>
                      <a:srgbClr val="1F4E79"/>
                    </a:solidFill>
                  </a:tcPr>
                </a:tc>
              </a:tr>
              <a:tr h="592455">
                <a:tc>
                  <a:txBody>
                    <a:bodyPr/>
                    <a:lstStyle/>
                    <a:p>
                      <a:pPr algn="ctr"/>
                      <a:r>
                        <a:rPr sz="1000" b="0">
                          <a:solidFill>
                            <a:srgbClr val="282828"/>
                          </a:solidFill>
                          <a:latin typeface="微软雅黑" panose="020B0503020204020204" charset="-122"/>
                        </a:rPr>
                        <a:t>Direct SQL</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12/30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599.1667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6.5851s</a:t>
                      </a:r>
                      <a:endParaRPr sz="1000" b="0">
                        <a:solidFill>
                          <a:srgbClr val="282828"/>
                        </a:solidFill>
                        <a:latin typeface="微软雅黑" panose="020B0503020204020204" charset="-122"/>
                      </a:endParaRPr>
                    </a:p>
                  </a:txBody>
                  <a:tcPr marL="36576" marR="36576">
                    <a:solidFill>
                      <a:srgbClr val="FFFFFF"/>
                    </a:solidFill>
                  </a:tcPr>
                </a:tc>
              </a:tr>
              <a:tr h="763270">
                <a:tc>
                  <a:txBody>
                    <a:bodyPr/>
                    <a:lstStyle/>
                    <a:p>
                      <a:pPr algn="ctr"/>
                      <a:r>
                        <a:rPr sz="1000" b="0">
                          <a:solidFill>
                            <a:srgbClr val="282828"/>
                          </a:solidFill>
                          <a:latin typeface="微软雅黑" panose="020B0503020204020204" charset="-122"/>
                        </a:rPr>
                        <a:t>SQL+</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28/30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28/30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813.0333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9.2197s</a:t>
                      </a:r>
                      <a:endParaRPr sz="1000" b="0">
                        <a:solidFill>
                          <a:srgbClr val="282828"/>
                        </a:solidFill>
                        <a:latin typeface="微软雅黑" panose="020B0503020204020204" charset="-122"/>
                      </a:endParaRPr>
                    </a:p>
                  </a:txBody>
                  <a:tcPr marL="36576" marR="36576">
                    <a:solidFill>
                      <a:srgbClr val="EEF2F7"/>
                    </a:solidFill>
                  </a:tcPr>
                </a:tc>
              </a:tr>
              <a:tr h="801370">
                <a:tc>
                  <a:txBody>
                    <a:bodyPr/>
                    <a:lstStyle/>
                    <a:p>
                      <a:pPr algn="ctr"/>
                      <a:r>
                        <a:rPr sz="1000" b="0">
                          <a:solidFill>
                            <a:srgbClr val="282828"/>
                          </a:solidFill>
                          <a:latin typeface="微软雅黑" panose="020B0503020204020204" charset="-122"/>
                        </a:rPr>
                        <a:t>NatSQL-style proxy</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13/30</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740.7667</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6.2802s</a:t>
                      </a:r>
                      <a:endParaRPr sz="1000" b="0">
                        <a:solidFill>
                          <a:srgbClr val="282828"/>
                        </a:solidFill>
                        <a:latin typeface="微软雅黑" panose="020B0503020204020204" charset="-122"/>
                      </a:endParaRPr>
                    </a:p>
                  </a:txBody>
                  <a:tcPr marL="36576" marR="36576">
                    <a:solidFill>
                      <a:srgbClr val="FFFFFF"/>
                    </a:solidFill>
                  </a:tcPr>
                </a:tc>
              </a:tr>
              <a:tr h="860425">
                <a:tc>
                  <a:txBody>
                    <a:bodyPr/>
                    <a:lstStyle/>
                    <a:p>
                      <a:pPr algn="ctr"/>
                      <a:r>
                        <a:rPr sz="1000" b="0">
                          <a:solidFill>
                            <a:srgbClr val="282828"/>
                          </a:solidFill>
                          <a:latin typeface="微软雅黑" panose="020B0503020204020204" charset="-122"/>
                        </a:rPr>
                        <a:t>SemQL-style proxy</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30/30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25/30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12/30</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1028.9667</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9.9684s</a:t>
                      </a:r>
                      <a:endParaRPr sz="1000" b="0">
                        <a:solidFill>
                          <a:srgbClr val="282828"/>
                        </a:solidFill>
                        <a:latin typeface="微软雅黑" panose="020B0503020204020204" charset="-122"/>
                      </a:endParaRPr>
                    </a:p>
                  </a:txBody>
                  <a:tcPr marL="36576" marR="36576">
                    <a:solidFill>
                      <a:srgbClr val="EEF2F7"/>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438785" y="1061403"/>
            <a:ext cx="6731635"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实验四：Direct SQL 与 NL2SQL+ baseline</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17</a:t>
            </a:r>
            <a:endParaRPr sz="800" b="0">
              <a:solidFill>
                <a:srgbClr val="5F5F5F"/>
              </a:solidFill>
              <a:latin typeface="微软雅黑" panose="020B0503020204020204" charset="-122"/>
            </a:endParaRPr>
          </a:p>
        </p:txBody>
      </p:sp>
      <p:sp>
        <p:nvSpPr>
          <p:cNvPr id="4" name="Rectangle 3"/>
          <p:cNvSpPr/>
          <p:nvPr/>
        </p:nvSpPr>
        <p:spPr>
          <a:xfrm>
            <a:off x="476885" y="187071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观察单 Agent 条件下 SQL+ 是否改善初次生成。</a:t>
            </a:r>
            <a:endParaRPr sz="1100" b="1">
              <a:solidFill>
                <a:srgbClr val="282828"/>
              </a:solidFill>
              <a:latin typeface="微软雅黑" panose="020B0503020204020204" charset="-122"/>
            </a:endParaRPr>
          </a:p>
        </p:txBody>
      </p:sp>
      <p:sp>
        <p:nvSpPr>
          <p:cNvPr id="5" name="Rectangle 4"/>
          <p:cNvSpPr/>
          <p:nvPr/>
        </p:nvSpPr>
        <p:spPr>
          <a:xfrm>
            <a:off x="4500245" y="187071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自建 30 条订单查询样例，使用 Direct NL2SQL prompt 与 NL2SQL+ prompt v2。</a:t>
            </a:r>
            <a:endParaRPr sz="1100" b="0">
              <a:solidFill>
                <a:srgbClr val="282828"/>
              </a:solidFill>
              <a:latin typeface="微软雅黑" panose="020B0503020204020204" charset="-122"/>
            </a:endParaRPr>
          </a:p>
        </p:txBody>
      </p:sp>
      <p:sp>
        <p:nvSpPr>
          <p:cNvPr id="6" name="Rectangle 5"/>
          <p:cNvSpPr/>
          <p:nvPr/>
        </p:nvSpPr>
        <p:spPr>
          <a:xfrm>
            <a:off x="476885" y="319659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可执行率、执行一致率、失败类型。</a:t>
            </a:r>
            <a:endParaRPr sz="1100" b="0">
              <a:solidFill>
                <a:srgbClr val="282828"/>
              </a:solidFill>
              <a:latin typeface="微软雅黑" panose="020B0503020204020204" charset="-122"/>
            </a:endParaRPr>
          </a:p>
        </p:txBody>
      </p:sp>
      <p:sp>
        <p:nvSpPr>
          <p:cNvPr id="7" name="Rectangle 6"/>
          <p:cNvSpPr/>
          <p:nvPr/>
        </p:nvSpPr>
        <p:spPr>
          <a:xfrm>
            <a:off x="4500245" y="319659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Direct NL2SQL 为 16/30，NL2SQL+ prompt v2 为 17/30。</a:t>
            </a:r>
            <a:endParaRPr sz="1100" b="1">
              <a:solidFill>
                <a:srgbClr val="282828"/>
              </a:solidFill>
              <a:latin typeface="微软雅黑" panose="020B0503020204020204" charset="-122"/>
            </a:endParaRPr>
          </a:p>
        </p:txBody>
      </p:sp>
      <p:sp>
        <p:nvSpPr>
          <p:cNvPr id="8" name="Rectangle 7"/>
          <p:cNvSpPr/>
          <p:nvPr/>
        </p:nvSpPr>
        <p:spPr>
          <a:xfrm>
            <a:off x="476885" y="456819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仅替换输出形式收益有限。后续必须引入 schema、critic、router 和 repair skill，而不是只优化 prompt。</a:t>
            </a:r>
            <a:endParaRPr sz="1100" b="0">
              <a:solidFill>
                <a:srgbClr val="282828"/>
              </a:solidFill>
              <a:latin typeface="微软雅黑" panose="020B050302020402020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605" y="994093"/>
            <a:ext cx="535051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实验五：反馈修复与 Skill Router</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18</a:t>
            </a:r>
            <a:endParaRPr sz="800" b="0">
              <a:solidFill>
                <a:srgbClr val="5F5F5F"/>
              </a:solidFill>
              <a:latin typeface="微软雅黑" panose="020B0503020204020204" charset="-122"/>
            </a:endParaRPr>
          </a:p>
        </p:txBody>
      </p:sp>
      <p:sp>
        <p:nvSpPr>
          <p:cNvPr id="4" name="Rectangle 3"/>
          <p:cNvSpPr/>
          <p:nvPr/>
        </p:nvSpPr>
        <p:spPr>
          <a:xfrm>
            <a:off x="476885" y="191643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层局部修复是否优于整条 SQL 重写。</a:t>
            </a:r>
            <a:endParaRPr sz="1100" b="1">
              <a:solidFill>
                <a:srgbClr val="282828"/>
              </a:solidFill>
              <a:latin typeface="微软雅黑" panose="020B0503020204020204" charset="-122"/>
            </a:endParaRPr>
          </a:p>
        </p:txBody>
      </p:sp>
      <p:sp>
        <p:nvSpPr>
          <p:cNvPr id="5" name="Rectangle 4"/>
          <p:cNvSpPr/>
          <p:nvPr/>
        </p:nvSpPr>
        <p:spPr>
          <a:xfrm>
            <a:off x="4500245" y="191643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当前 SQL+ 已知失败集 13 条，包含 value、ORDER、aggregation、join、projection 等错误。</a:t>
            </a:r>
            <a:endParaRPr sz="1100" b="0">
              <a:solidFill>
                <a:srgbClr val="282828"/>
              </a:solidFill>
              <a:latin typeface="微软雅黑" panose="020B0503020204020204" charset="-122"/>
            </a:endParaRPr>
          </a:p>
        </p:txBody>
      </p:sp>
      <p:sp>
        <p:nvSpPr>
          <p:cNvPr id="6" name="Rectangle 5"/>
          <p:cNvSpPr/>
          <p:nvPr/>
        </p:nvSpPr>
        <p:spPr>
          <a:xfrm>
            <a:off x="476885" y="324231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repair success、SQL+ valid、SQL executable、error localization、patch minimality。</a:t>
            </a:r>
            <a:endParaRPr sz="1100" b="0">
              <a:solidFill>
                <a:srgbClr val="282828"/>
              </a:solidFill>
              <a:latin typeface="微软雅黑" panose="020B0503020204020204" charset="-122"/>
            </a:endParaRPr>
          </a:p>
        </p:txBody>
      </p:sp>
      <p:sp>
        <p:nvSpPr>
          <p:cNvPr id="7" name="Rectangle 6"/>
          <p:cNvSpPr/>
          <p:nvPr/>
        </p:nvSpPr>
        <p:spPr>
          <a:xfrm>
            <a:off x="4500245" y="324231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SQL+ 非 gold 单 Refiner 为 4/13，Direct SQL Refiner 为 6/14，SQL+ Skill Router + Repair Skills v3 为 13/13。</a:t>
            </a:r>
            <a:endParaRPr sz="1100" b="1">
              <a:solidFill>
                <a:srgbClr val="282828"/>
              </a:solidFill>
              <a:latin typeface="微软雅黑" panose="020B0503020204020204" charset="-122"/>
            </a:endParaRPr>
          </a:p>
        </p:txBody>
      </p:sp>
      <p:sp>
        <p:nvSpPr>
          <p:cNvPr id="8" name="Rectangle 7"/>
          <p:cNvSpPr/>
          <p:nvPr/>
        </p:nvSpPr>
        <p:spPr>
          <a:xfrm>
            <a:off x="476885" y="461391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多 Agent 简单串联不必然有效。错误分类、技能路由和局部 patch 是当前更有效的修复路线。</a:t>
            </a:r>
            <a:endParaRPr sz="1100" b="0">
              <a:solidFill>
                <a:srgbClr val="282828"/>
              </a:solidFill>
              <a:latin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23850" y="1066800"/>
            <a:ext cx="3737610" cy="475615"/>
          </a:xfrm>
          <a:prstGeom prst="rect">
            <a:avLst/>
          </a:prstGeom>
          <a:noFill/>
        </p:spPr>
        <p:txBody>
          <a:bodyPr wrap="square" anchor="ctr">
            <a:spAutoFit/>
          </a:bodyPr>
          <a:lstStyle/>
          <a:p>
            <a:pPr algn="l"/>
            <a:r>
              <a:rPr sz="2500" b="1">
                <a:solidFill>
                  <a:srgbClr val="1F4E79"/>
                </a:solidFill>
                <a:latin typeface="微软雅黑" panose="020B0503020204020204" charset="-122"/>
              </a:rPr>
              <a:t>实验五结果：反馈修复</a:t>
            </a:r>
            <a:endParaRPr sz="2500" b="1">
              <a:solidFill>
                <a:srgbClr val="1F4E79"/>
              </a:solidFill>
              <a:latin typeface="微软雅黑" panose="020B0503020204020204" charset="-122"/>
            </a:endParaRPr>
          </a:p>
        </p:txBody>
      </p:sp>
      <p:sp>
        <p:nvSpPr>
          <p:cNvPr id="3" name="TextBox 2"/>
          <p:cNvSpPr txBox="1"/>
          <p:nvPr/>
        </p:nvSpPr>
        <p:spPr>
          <a:xfrm>
            <a:off x="502920" y="659714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19</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23850" y="1924050"/>
          <a:ext cx="8321040" cy="3009900"/>
        </p:xfrm>
        <a:graphic>
          <a:graphicData uri="http://schemas.openxmlformats.org/drawingml/2006/table">
            <a:tbl>
              <a:tblPr firstRow="1" bandRow="1">
                <a:tableStyleId>{5C22544A-7EE6-4342-B048-85BDC9FD1C3A}</a:tableStyleId>
              </a:tblPr>
              <a:tblGrid>
                <a:gridCol w="2352675"/>
                <a:gridCol w="975995"/>
                <a:gridCol w="1663700"/>
                <a:gridCol w="1664335"/>
                <a:gridCol w="1664335"/>
              </a:tblGrid>
              <a:tr h="434340">
                <a:tc>
                  <a:txBody>
                    <a:bodyPr/>
                    <a:lstStyle/>
                    <a:p>
                      <a:pPr algn="ctr"/>
                      <a:r>
                        <a:rPr sz="1200" b="1">
                          <a:solidFill>
                            <a:srgbClr val="FFFFFF"/>
                          </a:solidFill>
                          <a:latin typeface="微软雅黑" panose="020B0503020204020204" charset="-122"/>
                        </a:rPr>
                        <a:t>方法</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样例</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SQL+ 有效</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SQL 可执行</a:t>
                      </a:r>
                      <a:endParaRPr sz="1200" b="1">
                        <a:solidFill>
                          <a:srgbClr val="FFFFFF"/>
                        </a:solidFill>
                        <a:latin typeface="微软雅黑" panose="020B0503020204020204" charset="-122"/>
                      </a:endParaRPr>
                    </a:p>
                  </a:txBody>
                  <a:tcPr marL="36576" marR="36576">
                    <a:solidFill>
                      <a:srgbClr val="1F4E79"/>
                    </a:solidFill>
                  </a:tcPr>
                </a:tc>
                <a:tc>
                  <a:txBody>
                    <a:bodyPr/>
                    <a:lstStyle/>
                    <a:p>
                      <a:pPr algn="ctr"/>
                      <a:r>
                        <a:rPr sz="1200" b="1">
                          <a:solidFill>
                            <a:srgbClr val="FFFFFF"/>
                          </a:solidFill>
                          <a:latin typeface="微软雅黑" panose="020B0503020204020204" charset="-122"/>
                        </a:rPr>
                        <a:t>修复成功</a:t>
                      </a:r>
                      <a:endParaRPr sz="1200" b="1">
                        <a:solidFill>
                          <a:srgbClr val="FFFFFF"/>
                        </a:solidFill>
                        <a:latin typeface="微软雅黑" panose="020B0503020204020204" charset="-122"/>
                      </a:endParaRPr>
                    </a:p>
                  </a:txBody>
                  <a:tcPr marL="36576" marR="36576">
                    <a:solidFill>
                      <a:srgbClr val="1F4E79"/>
                    </a:solidFill>
                  </a:tcPr>
                </a:tc>
              </a:tr>
              <a:tr h="460375">
                <a:tc>
                  <a:txBody>
                    <a:bodyPr/>
                    <a:lstStyle/>
                    <a:p>
                      <a:pPr algn="ctr"/>
                      <a:r>
                        <a:rPr sz="1000" b="0">
                          <a:solidFill>
                            <a:srgbClr val="282828"/>
                          </a:solidFill>
                          <a:latin typeface="微软雅黑" panose="020B0503020204020204" charset="-122"/>
                        </a:rPr>
                        <a:t>SQL+ 非 gold 单 Refiner v2</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12/13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4/13</a:t>
                      </a:r>
                      <a:endParaRPr sz="1000" b="0">
                        <a:solidFill>
                          <a:srgbClr val="282828"/>
                        </a:solidFill>
                        <a:latin typeface="微软雅黑" panose="020B0503020204020204" charset="-122"/>
                      </a:endParaRPr>
                    </a:p>
                  </a:txBody>
                  <a:tcPr marL="36576" marR="36576">
                    <a:solidFill>
                      <a:srgbClr val="FFFFFF"/>
                    </a:solidFill>
                  </a:tcPr>
                </a:tc>
              </a:tr>
              <a:tr h="442595">
                <a:tc>
                  <a:txBody>
                    <a:bodyPr/>
                    <a:lstStyle/>
                    <a:p>
                      <a:pPr algn="ctr"/>
                      <a:r>
                        <a:rPr sz="1000" b="0">
                          <a:solidFill>
                            <a:srgbClr val="282828"/>
                          </a:solidFill>
                          <a:latin typeface="微软雅黑" panose="020B0503020204020204" charset="-122"/>
                        </a:rPr>
                        <a:t>Direct SQL 非 gold Refiner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14/14</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6/14</a:t>
                      </a:r>
                      <a:endParaRPr sz="1000" b="0">
                        <a:solidFill>
                          <a:srgbClr val="282828"/>
                        </a:solidFill>
                        <a:latin typeface="微软雅黑" panose="020B0503020204020204" charset="-122"/>
                      </a:endParaRPr>
                    </a:p>
                  </a:txBody>
                  <a:tcPr marL="36576" marR="36576">
                    <a:solidFill>
                      <a:srgbClr val="EEF2F7"/>
                    </a:solidFill>
                  </a:tcPr>
                </a:tc>
              </a:tr>
              <a:tr h="389890">
                <a:tc>
                  <a:txBody>
                    <a:bodyPr/>
                    <a:lstStyle/>
                    <a:p>
                      <a:pPr algn="ctr"/>
                      <a:r>
                        <a:rPr sz="1000" b="0">
                          <a:solidFill>
                            <a:srgbClr val="282828"/>
                          </a:solidFill>
                          <a:latin typeface="微软雅黑" panose="020B0503020204020204" charset="-122"/>
                        </a:rPr>
                        <a:t>SQL+ Schema-Critic-Refiner</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3/13</a:t>
                      </a:r>
                      <a:endParaRPr sz="1000" b="0">
                        <a:solidFill>
                          <a:srgbClr val="282828"/>
                        </a:solidFill>
                        <a:latin typeface="微软雅黑" panose="020B0503020204020204" charset="-122"/>
                      </a:endParaRPr>
                    </a:p>
                  </a:txBody>
                  <a:tcPr marL="36576" marR="36576">
                    <a:solidFill>
                      <a:srgbClr val="FFFFFF"/>
                    </a:solidFill>
                  </a:tcPr>
                </a:tc>
              </a:tr>
              <a:tr h="539750">
                <a:tc>
                  <a:txBody>
                    <a:bodyPr/>
                    <a:lstStyle/>
                    <a:p>
                      <a:pPr algn="ctr"/>
                      <a:r>
                        <a:rPr sz="1000" b="0">
                          <a:solidFill>
                            <a:srgbClr val="282828"/>
                          </a:solidFill>
                          <a:latin typeface="微软雅黑" panose="020B0503020204020204" charset="-122"/>
                        </a:rPr>
                        <a:t>SQL+ Step-wise Critic-Refiner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12/13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3/13</a:t>
                      </a:r>
                      <a:endParaRPr sz="1000" b="0">
                        <a:solidFill>
                          <a:srgbClr val="282828"/>
                        </a:solidFill>
                        <a:latin typeface="微软雅黑" panose="020B0503020204020204" charset="-122"/>
                      </a:endParaRPr>
                    </a:p>
                  </a:txBody>
                  <a:tcPr marL="36576" marR="36576">
                    <a:solidFill>
                      <a:srgbClr val="EEF2F7"/>
                    </a:solidFill>
                  </a:tcPr>
                </a:tc>
              </a:tr>
              <a:tr h="742950">
                <a:tc>
                  <a:txBody>
                    <a:bodyPr/>
                    <a:lstStyle/>
                    <a:p>
                      <a:pPr algn="ctr"/>
                      <a:r>
                        <a:rPr sz="1000" b="0">
                          <a:solidFill>
                            <a:srgbClr val="282828"/>
                          </a:solidFill>
                          <a:latin typeface="微软雅黑" panose="020B0503020204020204" charset="-122"/>
                        </a:rPr>
                        <a:t>SQL+ Skill Router + Repair Skills v3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实验六：repairability 指标</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20</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16430"/>
          <a:ext cx="8321040" cy="3395980"/>
        </p:xfrm>
        <a:graphic>
          <a:graphicData uri="http://schemas.openxmlformats.org/drawingml/2006/table">
            <a:tbl>
              <a:tblPr firstRow="1" bandRow="1">
                <a:tableStyleId>{5C22544A-7EE6-4342-B048-85BDC9FD1C3A}</a:tableStyleId>
              </a:tblPr>
              <a:tblGrid>
                <a:gridCol w="1386840"/>
                <a:gridCol w="1386840"/>
                <a:gridCol w="1386840"/>
                <a:gridCol w="1386840"/>
                <a:gridCol w="1386840"/>
                <a:gridCol w="1386840"/>
              </a:tblGrid>
              <a:tr h="684530">
                <a:tc>
                  <a:txBody>
                    <a:bodyPr/>
                    <a:lstStyle/>
                    <a:p>
                      <a:pPr algn="ctr"/>
                      <a:r>
                        <a:rPr sz="1100" b="1">
                          <a:solidFill>
                            <a:srgbClr val="FFFFFF"/>
                          </a:solidFill>
                          <a:latin typeface="微软雅黑" panose="020B0503020204020204" charset="-122"/>
                        </a:rPr>
                        <a:t>方法</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样例</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修复成功</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定位准确率</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最小 patch 率</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平均 repair token</a:t>
                      </a:r>
                      <a:endParaRPr sz="1100" b="1">
                        <a:solidFill>
                          <a:srgbClr val="FFFFFF"/>
                        </a:solidFill>
                        <a:latin typeface="微软雅黑" panose="020B0503020204020204" charset="-122"/>
                      </a:endParaRPr>
                    </a:p>
                  </a:txBody>
                  <a:tcPr marL="36576" marR="36576">
                    <a:solidFill>
                      <a:srgbClr val="1F4E79"/>
                    </a:solidFill>
                  </a:tcPr>
                </a:tc>
              </a:tr>
              <a:tr h="678180">
                <a:tc>
                  <a:txBody>
                    <a:bodyPr/>
                    <a:lstStyle/>
                    <a:p>
                      <a:pPr algn="ctr"/>
                      <a:r>
                        <a:rPr sz="1000" b="0">
                          <a:solidFill>
                            <a:srgbClr val="282828"/>
                          </a:solidFill>
                          <a:latin typeface="微软雅黑" panose="020B0503020204020204" charset="-122"/>
                        </a:rPr>
                        <a:t>Direct SQL Refiner</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14</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6/14</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0.8571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0.8571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1609.3571</a:t>
                      </a:r>
                      <a:endParaRPr sz="1000" b="0">
                        <a:solidFill>
                          <a:srgbClr val="282828"/>
                        </a:solidFill>
                        <a:latin typeface="微软雅黑" panose="020B0503020204020204" charset="-122"/>
                      </a:endParaRPr>
                    </a:p>
                  </a:txBody>
                  <a:tcPr marL="36576" marR="36576">
                    <a:solidFill>
                      <a:srgbClr val="FFFFFF"/>
                    </a:solidFill>
                  </a:tcPr>
                </a:tc>
              </a:tr>
              <a:tr h="677545">
                <a:tc>
                  <a:txBody>
                    <a:bodyPr/>
                    <a:lstStyle/>
                    <a:p>
                      <a:pPr algn="ctr"/>
                      <a:r>
                        <a:rPr sz="1000" b="0">
                          <a:solidFill>
                            <a:srgbClr val="282828"/>
                          </a:solidFill>
                          <a:latin typeface="微软雅黑" panose="020B0503020204020204" charset="-122"/>
                        </a:rPr>
                        <a:t>SQL+ Critic Router Skills</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13/13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0.7692</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0.9231</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3813.9231</a:t>
                      </a:r>
                      <a:endParaRPr sz="1000" b="0">
                        <a:solidFill>
                          <a:srgbClr val="282828"/>
                        </a:solidFill>
                        <a:latin typeface="微软雅黑" panose="020B0503020204020204" charset="-122"/>
                      </a:endParaRPr>
                    </a:p>
                  </a:txBody>
                  <a:tcPr marL="36576" marR="36576">
                    <a:solidFill>
                      <a:srgbClr val="EEF2F7"/>
                    </a:solidFill>
                  </a:tcPr>
                </a:tc>
              </a:tr>
              <a:tr h="678180">
                <a:tc>
                  <a:txBody>
                    <a:bodyPr/>
                    <a:lstStyle/>
                    <a:p>
                      <a:pPr algn="ctr"/>
                      <a:r>
                        <a:rPr sz="1000" b="0">
                          <a:solidFill>
                            <a:srgbClr val="282828"/>
                          </a:solidFill>
                          <a:latin typeface="微软雅黑" panose="020B0503020204020204" charset="-122"/>
                        </a:rPr>
                        <a:t>Direct SQL overlap</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4/9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1583.2222</a:t>
                      </a:r>
                      <a:endParaRPr sz="1000" b="0">
                        <a:solidFill>
                          <a:srgbClr val="282828"/>
                        </a:solidFill>
                        <a:latin typeface="微软雅黑" panose="020B0503020204020204" charset="-122"/>
                      </a:endParaRPr>
                    </a:p>
                  </a:txBody>
                  <a:tcPr marL="36576" marR="36576">
                    <a:solidFill>
                      <a:srgbClr val="FFFFFF"/>
                    </a:solidFill>
                  </a:tcPr>
                </a:tc>
              </a:tr>
              <a:tr h="677545">
                <a:tc>
                  <a:txBody>
                    <a:bodyPr/>
                    <a:lstStyle/>
                    <a:p>
                      <a:pPr algn="ctr"/>
                      <a:r>
                        <a:rPr sz="1000" b="0">
                          <a:solidFill>
                            <a:srgbClr val="282828"/>
                          </a:solidFill>
                          <a:latin typeface="微软雅黑" panose="020B0503020204020204" charset="-122"/>
                        </a:rPr>
                        <a:t>SQL+ Router overlap</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9/9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0.7778</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0.8889</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4001.7778</a:t>
                      </a:r>
                      <a:endParaRPr sz="1000" b="0">
                        <a:solidFill>
                          <a:srgbClr val="282828"/>
                        </a:solidFill>
                        <a:latin typeface="微软雅黑" panose="020B0503020204020204" charset="-122"/>
                      </a:endParaRPr>
                    </a:p>
                  </a:txBody>
                  <a:tcPr marL="36576" marR="36576">
                    <a:solidFill>
                      <a:srgbClr val="EEF2F7"/>
                    </a:solidFill>
                  </a:tcPr>
                </a:tc>
              </a:tr>
            </a:tbl>
          </a:graphicData>
        </a:graphic>
      </p:graphicFrame>
      <p:sp>
        <p:nvSpPr>
          <p:cNvPr id="5" name="TextBox 4"/>
          <p:cNvSpPr txBox="1"/>
          <p:nvPr/>
        </p:nvSpPr>
        <p:spPr>
          <a:xfrm>
            <a:off x="658368" y="5870448"/>
            <a:ext cx="7955279" cy="365760"/>
          </a:xfrm>
          <a:prstGeom prst="rect">
            <a:avLst/>
          </a:prstGeom>
          <a:noFill/>
        </p:spPr>
        <p:txBody>
          <a:bodyPr wrap="square" anchor="ctr">
            <a:spAutoFit/>
          </a:bodyPr>
          <a:lstStyle/>
          <a:p>
            <a:pPr algn="l"/>
            <a:r>
              <a:rPr sz="1100" b="0">
                <a:solidFill>
                  <a:srgbClr val="C65911"/>
                </a:solidFill>
                <a:latin typeface="微软雅黑" panose="020B0503020204020204" charset="-122"/>
              </a:rPr>
              <a:t>解释：SQL+ 的修复成功率更高，patch 更可控，但 Critic 与 Router 引入了更高 token 成本。</a:t>
            </a:r>
            <a:endParaRPr sz="1100" b="0">
              <a:solidFill>
                <a:srgbClr val="C65911"/>
              </a:solidFill>
              <a:latin typeface="微软雅黑" panose="020B050302020402020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105270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实验七：repair skill 分治结果</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21</a:t>
            </a:r>
            <a:endParaRPr sz="800" b="0">
              <a:solidFill>
                <a:srgbClr val="5F5F5F"/>
              </a:solidFill>
              <a:latin typeface="微软雅黑" panose="020B0503020204020204" charset="-122"/>
            </a:endParaRPr>
          </a:p>
        </p:txBody>
      </p:sp>
      <p:graphicFrame>
        <p:nvGraphicFramePr>
          <p:cNvPr id="4" name="Table 3"/>
          <p:cNvGraphicFramePr>
            <a:graphicFrameLocks noGrp="1"/>
          </p:cNvGraphicFramePr>
          <p:nvPr>
            <p:custDataLst>
              <p:tags r:id="rId1"/>
            </p:custDataLst>
          </p:nvPr>
        </p:nvGraphicFramePr>
        <p:xfrm>
          <a:off x="395605" y="1934845"/>
          <a:ext cx="8321040" cy="3105150"/>
        </p:xfrm>
        <a:graphic>
          <a:graphicData uri="http://schemas.openxmlformats.org/drawingml/2006/table">
            <a:tbl>
              <a:tblPr firstRow="1" bandRow="1">
                <a:tableStyleId>{5C22544A-7EE6-4342-B048-85BDC9FD1C3A}</a:tableStyleId>
              </a:tblPr>
              <a:tblGrid>
                <a:gridCol w="2080260"/>
                <a:gridCol w="2080260"/>
                <a:gridCol w="2080260"/>
                <a:gridCol w="2080260"/>
              </a:tblGrid>
              <a:tr h="622300">
                <a:tc>
                  <a:txBody>
                    <a:bodyPr/>
                    <a:lstStyle/>
                    <a:p>
                      <a:pPr algn="ctr"/>
                      <a:r>
                        <a:rPr sz="1100" b="1">
                          <a:solidFill>
                            <a:srgbClr val="FFFFFF"/>
                          </a:solidFill>
                          <a:latin typeface="微软雅黑" panose="020B0503020204020204" charset="-122"/>
                        </a:rPr>
                        <a:t>Repair Skill</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样例数</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修复成功</a:t>
                      </a:r>
                      <a:endParaRPr sz="1100" b="1">
                        <a:solidFill>
                          <a:srgbClr val="FFFFFF"/>
                        </a:solidFill>
                        <a:latin typeface="微软雅黑" panose="020B0503020204020204" charset="-122"/>
                      </a:endParaRPr>
                    </a:p>
                  </a:txBody>
                  <a:tcPr marL="36576" marR="36576">
                    <a:solidFill>
                      <a:srgbClr val="1F4E79"/>
                    </a:solidFill>
                  </a:tcPr>
                </a:tc>
                <a:tc>
                  <a:txBody>
                    <a:bodyPr/>
                    <a:lstStyle/>
                    <a:p>
                      <a:pPr algn="ctr"/>
                      <a:r>
                        <a:rPr sz="1100" b="1">
                          <a:solidFill>
                            <a:srgbClr val="FFFFFF"/>
                          </a:solidFill>
                          <a:latin typeface="微软雅黑" panose="020B0503020204020204" charset="-122"/>
                        </a:rPr>
                        <a:t>覆盖问题</a:t>
                      </a:r>
                      <a:endParaRPr sz="1100" b="1">
                        <a:solidFill>
                          <a:srgbClr val="FFFFFF"/>
                        </a:solidFill>
                        <a:latin typeface="微软雅黑" panose="020B0503020204020204" charset="-122"/>
                      </a:endParaRPr>
                    </a:p>
                  </a:txBody>
                  <a:tcPr marL="36576" marR="36576">
                    <a:solidFill>
                      <a:srgbClr val="1F4E79"/>
                    </a:solidFill>
                  </a:tcPr>
                </a:tc>
              </a:tr>
              <a:tr h="496570">
                <a:tc>
                  <a:txBody>
                    <a:bodyPr/>
                    <a:lstStyle/>
                    <a:p>
                      <a:pPr algn="ctr"/>
                      <a:r>
                        <a:rPr sz="1000" b="0">
                          <a:solidFill>
                            <a:srgbClr val="282828"/>
                          </a:solidFill>
                          <a:latin typeface="微软雅黑" panose="020B0503020204020204" charset="-122"/>
                        </a:rPr>
                        <a:t>value-linking</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值、日期边界、状态过滤</a:t>
                      </a:r>
                      <a:endParaRPr sz="1000" b="0">
                        <a:solidFill>
                          <a:srgbClr val="282828"/>
                        </a:solidFill>
                        <a:latin typeface="微软雅黑" panose="020B0503020204020204" charset="-122"/>
                      </a:endParaRPr>
                    </a:p>
                  </a:txBody>
                  <a:tcPr marL="36576" marR="36576">
                    <a:solidFill>
                      <a:srgbClr val="FFFFFF"/>
                    </a:solidFill>
                  </a:tcPr>
                </a:tc>
              </a:tr>
              <a:tr h="496570">
                <a:tc>
                  <a:txBody>
                    <a:bodyPr/>
                    <a:lstStyle/>
                    <a:p>
                      <a:pPr algn="ctr"/>
                      <a:r>
                        <a:rPr sz="1000" b="0">
                          <a:solidFill>
                            <a:srgbClr val="282828"/>
                          </a:solidFill>
                          <a:latin typeface="微软雅黑" panose="020B0503020204020204" charset="-122"/>
                        </a:rPr>
                        <a:t>ORDER</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排序字段、方向、LIMIT</a:t>
                      </a:r>
                      <a:endParaRPr sz="1000" b="0">
                        <a:solidFill>
                          <a:srgbClr val="282828"/>
                        </a:solidFill>
                        <a:latin typeface="微软雅黑" panose="020B0503020204020204" charset="-122"/>
                      </a:endParaRPr>
                    </a:p>
                  </a:txBody>
                  <a:tcPr marL="36576" marR="36576">
                    <a:solidFill>
                      <a:srgbClr val="EEF2F7"/>
                    </a:solidFill>
                  </a:tcPr>
                </a:tc>
              </a:tr>
              <a:tr h="496570">
                <a:tc>
                  <a:txBody>
                    <a:bodyPr/>
                    <a:lstStyle/>
                    <a:p>
                      <a:pPr algn="ctr"/>
                      <a:r>
                        <a:rPr sz="1000" b="0">
                          <a:solidFill>
                            <a:srgbClr val="282828"/>
                          </a:solidFill>
                          <a:latin typeface="微软雅黑" panose="020B0503020204020204" charset="-122"/>
                        </a:rPr>
                        <a:t>aggregation</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聚合口径、AGG 别名、HAVING/ORDER 引用</a:t>
                      </a:r>
                      <a:endParaRPr sz="1000" b="0">
                        <a:solidFill>
                          <a:srgbClr val="282828"/>
                        </a:solidFill>
                        <a:latin typeface="微软雅黑" panose="020B0503020204020204" charset="-122"/>
                      </a:endParaRPr>
                    </a:p>
                  </a:txBody>
                  <a:tcPr marL="36576" marR="36576">
                    <a:solidFill>
                      <a:srgbClr val="FFFFFF"/>
                    </a:solidFill>
                  </a:tcPr>
                </a:tc>
              </a:tr>
              <a:tr h="496570">
                <a:tc>
                  <a:txBody>
                    <a:bodyPr/>
                    <a:lstStyle/>
                    <a:p>
                      <a:pPr algn="ctr"/>
                      <a:r>
                        <a:rPr sz="1000" b="0">
                          <a:solidFill>
                            <a:srgbClr val="282828"/>
                          </a:solidFill>
                          <a:latin typeface="微软雅黑" panose="020B0503020204020204" charset="-122"/>
                        </a:rPr>
                        <a:t>join</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3/3</a:t>
                      </a:r>
                      <a:endParaRPr sz="1000" b="0">
                        <a:solidFill>
                          <a:srgbClr val="282828"/>
                        </a:solidFill>
                        <a:latin typeface="微软雅黑" panose="020B0503020204020204" charset="-122"/>
                      </a:endParaRPr>
                    </a:p>
                  </a:txBody>
                  <a:tcPr marL="36576" marR="36576">
                    <a:solidFill>
                      <a:srgbClr val="EEF2F7"/>
                    </a:solidFill>
                  </a:tcPr>
                </a:tc>
                <a:tc>
                  <a:txBody>
                    <a:bodyPr/>
                    <a:lstStyle/>
                    <a:p>
                      <a:pPr algn="ctr"/>
                      <a:r>
                        <a:rPr sz="1000" b="0">
                          <a:solidFill>
                            <a:srgbClr val="282828"/>
                          </a:solidFill>
                          <a:latin typeface="微软雅黑" panose="020B0503020204020204" charset="-122"/>
                        </a:rPr>
                        <a:t>join 路径、冗余 join、缺少 paid 过滤、连接方向</a:t>
                      </a:r>
                      <a:endParaRPr sz="1000" b="0">
                        <a:solidFill>
                          <a:srgbClr val="282828"/>
                        </a:solidFill>
                        <a:latin typeface="微软雅黑" panose="020B0503020204020204" charset="-122"/>
                      </a:endParaRPr>
                    </a:p>
                  </a:txBody>
                  <a:tcPr marL="36576" marR="36576">
                    <a:solidFill>
                      <a:srgbClr val="EEF2F7"/>
                    </a:solidFill>
                  </a:tcPr>
                </a:tc>
              </a:tr>
              <a:tr h="496570">
                <a:tc>
                  <a:txBody>
                    <a:bodyPr/>
                    <a:lstStyle/>
                    <a:p>
                      <a:pPr algn="ctr"/>
                      <a:r>
                        <a:rPr sz="1000" b="0">
                          <a:solidFill>
                            <a:srgbClr val="282828"/>
                          </a:solidFill>
                          <a:latin typeface="微软雅黑" panose="020B0503020204020204" charset="-122"/>
                        </a:rPr>
                        <a:t>projection</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1/1</a:t>
                      </a:r>
                      <a:endParaRPr sz="1000" b="0">
                        <a:solidFill>
                          <a:srgbClr val="282828"/>
                        </a:solidFill>
                        <a:latin typeface="微软雅黑" panose="020B0503020204020204" charset="-122"/>
                      </a:endParaRPr>
                    </a:p>
                  </a:txBody>
                  <a:tcPr marL="36576" marR="36576">
                    <a:solidFill>
                      <a:srgbClr val="FFFFFF"/>
                    </a:solidFill>
                  </a:tcPr>
                </a:tc>
                <a:tc>
                  <a:txBody>
                    <a:bodyPr/>
                    <a:lstStyle/>
                    <a:p>
                      <a:pPr algn="ctr"/>
                      <a:r>
                        <a:rPr sz="1000" b="0">
                          <a:solidFill>
                            <a:srgbClr val="282828"/>
                          </a:solidFill>
                          <a:latin typeface="微软雅黑" panose="020B0503020204020204" charset="-122"/>
                        </a:rPr>
                        <a:t>输出列多、少或顺序错误</a:t>
                      </a:r>
                      <a:endParaRPr sz="1000" b="0">
                        <a:solidFill>
                          <a:srgbClr val="282828"/>
                        </a:solidFill>
                        <a:latin typeface="微软雅黑" panose="020B0503020204020204" charset="-122"/>
                      </a:endParaRPr>
                    </a:p>
                  </a:txBody>
                  <a:tcPr marL="36576" marR="36576">
                    <a:solidFill>
                      <a:srgbClr val="FFFFFF"/>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Box 1"/>
          <p:cNvSpPr txBox="1"/>
          <p:nvPr/>
        </p:nvSpPr>
        <p:spPr>
          <a:xfrm>
            <a:off x="395732" y="980313"/>
            <a:ext cx="8321040" cy="502920"/>
          </a:xfrm>
          <a:prstGeom prst="rect">
            <a:avLst/>
          </a:prstGeom>
          <a:noFill/>
        </p:spPr>
        <p:txBody>
          <a:bodyPr wrap="square" anchor="ctr">
            <a:spAutoFit/>
          </a:bodyPr>
          <a:lstStyle/>
          <a:p>
            <a:pPr algn="l"/>
            <a:r>
              <a:rPr sz="2500" b="1">
                <a:solidFill>
                  <a:srgbClr val="1F4E79"/>
                </a:solidFill>
                <a:latin typeface="微软雅黑" panose="020B0503020204020204" charset="-122"/>
              </a:rPr>
              <a:t>实验八：Spider smoke test</a:t>
            </a:r>
            <a:endParaRPr sz="2500" b="1">
              <a:solidFill>
                <a:srgbClr val="1F4E79"/>
              </a:solidFill>
              <a:latin typeface="微软雅黑" panose="020B0503020204020204" charset="-122"/>
            </a:endParaRPr>
          </a:p>
        </p:txBody>
      </p:sp>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22</a:t>
            </a:r>
            <a:endParaRPr sz="800" b="0">
              <a:solidFill>
                <a:srgbClr val="5F5F5F"/>
              </a:solidFill>
              <a:latin typeface="微软雅黑" panose="020B0503020204020204" charset="-122"/>
            </a:endParaRPr>
          </a:p>
        </p:txBody>
      </p:sp>
      <p:sp>
        <p:nvSpPr>
          <p:cNvPr id="4" name="Rectangle 3"/>
          <p:cNvSpPr/>
          <p:nvPr/>
        </p:nvSpPr>
        <p:spPr>
          <a:xfrm>
            <a:off x="404495" y="1916430"/>
            <a:ext cx="3749039" cy="10058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实验目的
验证 SQL+ 转换链路能否迁移到公开 Text-to-SQL 数据集子集。</a:t>
            </a:r>
            <a:endParaRPr sz="1100" b="1">
              <a:solidFill>
                <a:srgbClr val="282828"/>
              </a:solidFill>
              <a:latin typeface="微软雅黑" panose="020B0503020204020204" charset="-122"/>
            </a:endParaRPr>
          </a:p>
        </p:txBody>
      </p:sp>
      <p:sp>
        <p:nvSpPr>
          <p:cNvPr id="5" name="Rectangle 4"/>
          <p:cNvSpPr/>
          <p:nvPr/>
        </p:nvSpPr>
        <p:spPr>
          <a:xfrm>
            <a:off x="4427855" y="1916430"/>
            <a:ext cx="3931920" cy="10058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实验条件
Spider dev 中 concert_singer 数据库的 20 条受支持样例。</a:t>
            </a:r>
            <a:endParaRPr sz="1100" b="0">
              <a:solidFill>
                <a:srgbClr val="282828"/>
              </a:solidFill>
              <a:latin typeface="微软雅黑" panose="020B0503020204020204" charset="-122"/>
            </a:endParaRPr>
          </a:p>
        </p:txBody>
      </p:sp>
      <p:sp>
        <p:nvSpPr>
          <p:cNvPr id="6" name="Rectangle 5"/>
          <p:cNvSpPr/>
          <p:nvPr/>
        </p:nvSpPr>
        <p:spPr>
          <a:xfrm>
            <a:off x="404495" y="3242310"/>
            <a:ext cx="3749039" cy="10058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评价指标
SQL+ valid、SQL executable、execution match。</a:t>
            </a:r>
            <a:endParaRPr sz="1100" b="0">
              <a:solidFill>
                <a:srgbClr val="282828"/>
              </a:solidFill>
              <a:latin typeface="微软雅黑" panose="020B0503020204020204" charset="-122"/>
            </a:endParaRPr>
          </a:p>
        </p:txBody>
      </p:sp>
      <p:sp>
        <p:nvSpPr>
          <p:cNvPr id="7" name="Rectangle 6"/>
          <p:cNvSpPr/>
          <p:nvPr/>
        </p:nvSpPr>
        <p:spPr>
          <a:xfrm>
            <a:off x="4427855" y="3242310"/>
            <a:ext cx="3931920" cy="100584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82828"/>
                </a:solidFill>
                <a:latin typeface="微软雅黑" panose="020B0503020204020204" charset="-122"/>
              </a:rPr>
              <a:t>主要结果
20/20 SQL+ 有效，20/20 SQL 可执行，20/20 与 gold SQL 执行一致。</a:t>
            </a:r>
            <a:endParaRPr sz="1100" b="1">
              <a:solidFill>
                <a:srgbClr val="282828"/>
              </a:solidFill>
              <a:latin typeface="微软雅黑" panose="020B0503020204020204" charset="-122"/>
            </a:endParaRPr>
          </a:p>
        </p:txBody>
      </p:sp>
      <p:sp>
        <p:nvSpPr>
          <p:cNvPr id="8" name="Rectangle 7"/>
          <p:cNvSpPr/>
          <p:nvPr/>
        </p:nvSpPr>
        <p:spPr>
          <a:xfrm>
            <a:off x="404495" y="4613910"/>
            <a:ext cx="7955279" cy="1417320"/>
          </a:xfrm>
          <a:prstGeom prst="rect">
            <a:avLst/>
          </a:prstGeom>
          <a:solidFill>
            <a:srgbClr val="F5F5F5"/>
          </a:solidFill>
          <a:ln>
            <a:solidFill>
              <a:srgbClr val="28282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0">
                <a:solidFill>
                  <a:srgbClr val="282828"/>
                </a:solidFill>
                <a:latin typeface="微软雅黑" panose="020B0503020204020204" charset="-122"/>
              </a:rPr>
              <a:t>当前结论
该结果只说明小规模公开子集可迁移，不能作为完整 Spider benchmark 分数。</a:t>
            </a:r>
            <a:endParaRPr sz="1100" b="0">
              <a:solidFill>
                <a:srgbClr val="282828"/>
              </a:solidFill>
              <a:latin typeface="微软雅黑" panose="020B050302020402020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23</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234440"/>
            <a:ext cx="3825875" cy="384048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822960" y="1481328"/>
            <a:ext cx="3200400" cy="292608"/>
          </a:xfrm>
          <a:prstGeom prst="rect">
            <a:avLst/>
          </a:prstGeom>
          <a:noFill/>
        </p:spPr>
        <p:txBody>
          <a:bodyPr wrap="square" anchor="ctr">
            <a:spAutoFit/>
          </a:bodyPr>
          <a:lstStyle/>
          <a:p>
            <a:pPr algn="l"/>
            <a:r>
              <a:rPr sz="1600" b="1">
                <a:solidFill>
                  <a:srgbClr val="548235"/>
                </a:solidFill>
                <a:latin typeface="微软雅黑" panose="020B0503020204020204" charset="-122"/>
              </a:rPr>
              <a:t>已有支撑</a:t>
            </a:r>
            <a:endParaRPr sz="1600" b="1">
              <a:solidFill>
                <a:srgbClr val="548235"/>
              </a:solidFill>
              <a:latin typeface="微软雅黑" panose="020B0503020204020204" charset="-122"/>
            </a:endParaRPr>
          </a:p>
        </p:txBody>
      </p:sp>
      <p:sp>
        <p:nvSpPr>
          <p:cNvPr id="7" name="TextBox 6"/>
          <p:cNvSpPr txBox="1"/>
          <p:nvPr/>
        </p:nvSpPr>
        <p:spPr>
          <a:xfrm>
            <a:off x="683133" y="1965960"/>
            <a:ext cx="7863840" cy="1097280"/>
          </a:xfrm>
          <a:prstGeom prst="rect">
            <a:avLst/>
          </a:prstGeom>
          <a:noFill/>
        </p:spPr>
        <p:txBody>
          <a:bodyPr wrap="square">
            <a:spAutoFit/>
          </a:bodyPr>
          <a:lstStyle/>
          <a:p>
            <a:pPr>
              <a:spcAft>
                <a:spcPts val="400"/>
              </a:spcAft>
              <a:defRPr sz="1200">
                <a:solidFill>
                  <a:srgbClr val="2D2D2D"/>
                </a:solidFill>
                <a:latin typeface="微软雅黑" panose="020B0503020204020204" charset="-122"/>
              </a:defRPr>
            </a:pPr>
            <a:r>
              <a:t>• SQL+ 转换链路可行</a:t>
            </a:r>
          </a:p>
          <a:p>
            <a:pPr>
              <a:spcAft>
                <a:spcPts val="400"/>
              </a:spcAft>
              <a:defRPr sz="1200">
                <a:solidFill>
                  <a:srgbClr val="2D2D2D"/>
                </a:solidFill>
                <a:latin typeface="微软雅黑" panose="020B0503020204020204" charset="-122"/>
              </a:defRPr>
            </a:pPr>
            <a:r>
              <a:t>• SQL+ 的低依赖特征支持修复定位</a:t>
            </a:r>
          </a:p>
          <a:p>
            <a:pPr>
              <a:spcAft>
                <a:spcPts val="400"/>
              </a:spcAft>
              <a:defRPr sz="1200">
                <a:solidFill>
                  <a:srgbClr val="2D2D2D"/>
                </a:solidFill>
                <a:latin typeface="微软雅黑" panose="020B0503020204020204" charset="-122"/>
              </a:defRPr>
            </a:pPr>
            <a:r>
              <a:t>• Skill Router + Repair Skills 在已知失败集上有效</a:t>
            </a:r>
          </a:p>
        </p:txBody>
      </p:sp>
      <p:sp>
        <p:nvSpPr>
          <p:cNvPr id="8" name="Rectangle 7"/>
          <p:cNvSpPr/>
          <p:nvPr/>
        </p:nvSpPr>
        <p:spPr>
          <a:xfrm>
            <a:off x="4709160" y="1234440"/>
            <a:ext cx="3749039" cy="384048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9" name="TextBox 8"/>
          <p:cNvSpPr txBox="1"/>
          <p:nvPr/>
        </p:nvSpPr>
        <p:spPr>
          <a:xfrm>
            <a:off x="4937760" y="1481328"/>
            <a:ext cx="3200400" cy="292608"/>
          </a:xfrm>
          <a:prstGeom prst="rect">
            <a:avLst/>
          </a:prstGeom>
          <a:noFill/>
        </p:spPr>
        <p:txBody>
          <a:bodyPr wrap="square" anchor="ctr">
            <a:spAutoFit/>
          </a:bodyPr>
          <a:lstStyle/>
          <a:p>
            <a:pPr algn="l"/>
            <a:r>
              <a:rPr sz="1600" b="1">
                <a:solidFill>
                  <a:srgbClr val="C65911"/>
                </a:solidFill>
                <a:latin typeface="微软雅黑" panose="020B0503020204020204" charset="-122"/>
              </a:rPr>
              <a:t>仍需补齐</a:t>
            </a:r>
            <a:endParaRPr sz="1600" b="1">
              <a:solidFill>
                <a:srgbClr val="C65911"/>
              </a:solidFill>
              <a:latin typeface="微软雅黑" panose="020B0503020204020204" charset="-122"/>
            </a:endParaRPr>
          </a:p>
        </p:txBody>
      </p:sp>
      <p:sp>
        <p:nvSpPr>
          <p:cNvPr id="10" name="TextBox 9"/>
          <p:cNvSpPr txBox="1"/>
          <p:nvPr/>
        </p:nvSpPr>
        <p:spPr>
          <a:xfrm>
            <a:off x="4787773" y="1965960"/>
            <a:ext cx="7863840" cy="1097280"/>
          </a:xfrm>
          <a:prstGeom prst="rect">
            <a:avLst/>
          </a:prstGeom>
          <a:noFill/>
        </p:spPr>
        <p:txBody>
          <a:bodyPr wrap="square">
            <a:spAutoFit/>
          </a:bodyPr>
          <a:lstStyle/>
          <a:p>
            <a:pPr>
              <a:spcAft>
                <a:spcPts val="400"/>
              </a:spcAft>
              <a:defRPr sz="1200">
                <a:solidFill>
                  <a:srgbClr val="2D2D2D"/>
                </a:solidFill>
                <a:latin typeface="微软雅黑" panose="020B0503020204020204" charset="-122"/>
              </a:defRPr>
            </a:pPr>
            <a:r>
              <a:t>• SQL+ 初次生成成本更高</a:t>
            </a:r>
          </a:p>
          <a:p>
            <a:pPr>
              <a:spcAft>
                <a:spcPts val="400"/>
              </a:spcAft>
              <a:defRPr sz="1200">
                <a:solidFill>
                  <a:srgbClr val="2D2D2D"/>
                </a:solidFill>
                <a:latin typeface="微软雅黑" panose="020B0503020204020204" charset="-122"/>
              </a:defRPr>
            </a:pPr>
            <a:r>
              <a:t>• 样例规模仍偏小</a:t>
            </a:r>
          </a:p>
          <a:p>
            <a:pPr>
              <a:spcAft>
                <a:spcPts val="400"/>
              </a:spcAft>
              <a:defRPr sz="1200">
                <a:solidFill>
                  <a:srgbClr val="2D2D2D"/>
                </a:solidFill>
                <a:latin typeface="微软雅黑" panose="020B0503020204020204" charset="-122"/>
              </a:defRPr>
            </a:pPr>
            <a:r>
              <a:t>• 非 gold 诊断和端到端 latency 还要继续验证</a:t>
            </a:r>
          </a:p>
        </p:txBody>
      </p:sp>
      <p:sp>
        <p:nvSpPr>
          <p:cNvPr id="11" name="Rectangle 10"/>
          <p:cNvSpPr/>
          <p:nvPr/>
        </p:nvSpPr>
        <p:spPr>
          <a:xfrm>
            <a:off x="1097280" y="5440680"/>
            <a:ext cx="6858000" cy="438912"/>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D2D2D"/>
                </a:solidFill>
                <a:latin typeface="微软雅黑" panose="020B0503020204020204" charset="-122"/>
              </a:rPr>
              <a:t>结论：SQL+ 的阶段性价值主要在 repairability，而不是初次生成成本</a:t>
            </a:r>
            <a:endParaRPr sz="1200" b="1">
              <a:solidFill>
                <a:srgbClr val="2D2D2D"/>
              </a:solidFill>
              <a:latin typeface="微软雅黑" panose="020B0503020204020204"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24</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 y="1508760"/>
            <a:ext cx="1298448" cy="30632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987552" y="1755648"/>
            <a:ext cx="502920" cy="502920"/>
          </a:xfrm>
          <a:prstGeom prst="rect">
            <a:avLst/>
          </a:prstGeom>
          <a:noFill/>
        </p:spPr>
        <p:txBody>
          <a:bodyPr wrap="square" anchor="ctr">
            <a:spAutoFit/>
          </a:bodyPr>
          <a:lstStyle/>
          <a:p>
            <a:pPr algn="ctr"/>
            <a:r>
              <a:rPr sz="2200" b="1">
                <a:solidFill>
                  <a:srgbClr val="C65911"/>
                </a:solidFill>
                <a:latin typeface="微软雅黑" panose="020B0503020204020204" charset="-122"/>
              </a:rPr>
              <a:t>1</a:t>
            </a:r>
            <a:endParaRPr sz="2200" b="1">
              <a:solidFill>
                <a:srgbClr val="C65911"/>
              </a:solidFill>
              <a:latin typeface="微软雅黑" panose="020B0503020204020204" charset="-122"/>
            </a:endParaRPr>
          </a:p>
        </p:txBody>
      </p:sp>
      <p:sp>
        <p:nvSpPr>
          <p:cNvPr id="7" name="TextBox 6"/>
          <p:cNvSpPr txBox="1"/>
          <p:nvPr/>
        </p:nvSpPr>
        <p:spPr>
          <a:xfrm>
            <a:off x="740664" y="2487168"/>
            <a:ext cx="1005840" cy="384048"/>
          </a:xfrm>
          <a:prstGeom prst="rect">
            <a:avLst/>
          </a:prstGeom>
          <a:noFill/>
        </p:spPr>
        <p:txBody>
          <a:bodyPr wrap="square" anchor="ctr">
            <a:spAutoFit/>
          </a:bodyPr>
          <a:lstStyle/>
          <a:p>
            <a:pPr algn="ctr"/>
            <a:r>
              <a:rPr sz="1100" b="1">
                <a:solidFill>
                  <a:srgbClr val="2D2D2D"/>
                </a:solidFill>
                <a:latin typeface="微软雅黑" panose="020B0503020204020204" charset="-122"/>
              </a:rPr>
              <a:t>扩展 Spider 子集</a:t>
            </a:r>
            <a:endParaRPr sz="1100" b="1">
              <a:solidFill>
                <a:srgbClr val="2D2D2D"/>
              </a:solidFill>
              <a:latin typeface="微软雅黑" panose="020B0503020204020204" charset="-122"/>
            </a:endParaRPr>
          </a:p>
        </p:txBody>
      </p:sp>
      <p:sp>
        <p:nvSpPr>
          <p:cNvPr id="8" name="TextBox 7"/>
          <p:cNvSpPr txBox="1"/>
          <p:nvPr/>
        </p:nvSpPr>
        <p:spPr>
          <a:xfrm>
            <a:off x="740664" y="3154680"/>
            <a:ext cx="1005840" cy="749808"/>
          </a:xfrm>
          <a:prstGeom prst="rect">
            <a:avLst/>
          </a:prstGeom>
          <a:noFill/>
        </p:spPr>
        <p:txBody>
          <a:bodyPr wrap="square" anchor="ctr">
            <a:spAutoFit/>
          </a:bodyPr>
          <a:lstStyle/>
          <a:p>
            <a:pPr algn="ctr"/>
            <a:r>
              <a:rPr sz="900" b="0">
                <a:solidFill>
                  <a:srgbClr val="646464"/>
                </a:solidFill>
                <a:latin typeface="微软雅黑" panose="020B0503020204020204" charset="-122"/>
              </a:rPr>
              <a:t>多库、多难度、多类型查询</a:t>
            </a:r>
            <a:endParaRPr sz="900" b="0">
              <a:solidFill>
                <a:srgbClr val="646464"/>
              </a:solidFill>
              <a:latin typeface="微软雅黑" panose="020B0503020204020204" charset="-122"/>
            </a:endParaRPr>
          </a:p>
        </p:txBody>
      </p:sp>
      <p:sp>
        <p:nvSpPr>
          <p:cNvPr id="9" name="TextBox 8"/>
          <p:cNvSpPr txBox="1"/>
          <p:nvPr/>
        </p:nvSpPr>
        <p:spPr>
          <a:xfrm>
            <a:off x="1920240" y="2761488"/>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10" name="Rectangle 9"/>
          <p:cNvSpPr/>
          <p:nvPr/>
        </p:nvSpPr>
        <p:spPr>
          <a:xfrm>
            <a:off x="2221992" y="1508760"/>
            <a:ext cx="1298448" cy="30632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1" name="TextBox 10"/>
          <p:cNvSpPr txBox="1"/>
          <p:nvPr/>
        </p:nvSpPr>
        <p:spPr>
          <a:xfrm>
            <a:off x="2615184" y="1755648"/>
            <a:ext cx="502920" cy="502920"/>
          </a:xfrm>
          <a:prstGeom prst="rect">
            <a:avLst/>
          </a:prstGeom>
          <a:noFill/>
        </p:spPr>
        <p:txBody>
          <a:bodyPr wrap="square" anchor="ctr">
            <a:spAutoFit/>
          </a:bodyPr>
          <a:lstStyle/>
          <a:p>
            <a:pPr algn="ctr"/>
            <a:r>
              <a:rPr sz="2200" b="1">
                <a:solidFill>
                  <a:srgbClr val="C65911"/>
                </a:solidFill>
                <a:latin typeface="微软雅黑" panose="020B0503020204020204" charset="-122"/>
              </a:rPr>
              <a:t>2</a:t>
            </a:r>
            <a:endParaRPr sz="2200" b="1">
              <a:solidFill>
                <a:srgbClr val="C65911"/>
              </a:solidFill>
              <a:latin typeface="微软雅黑" panose="020B0503020204020204" charset="-122"/>
            </a:endParaRPr>
          </a:p>
        </p:txBody>
      </p:sp>
      <p:sp>
        <p:nvSpPr>
          <p:cNvPr id="12" name="TextBox 11"/>
          <p:cNvSpPr txBox="1"/>
          <p:nvPr/>
        </p:nvSpPr>
        <p:spPr>
          <a:xfrm>
            <a:off x="2368296" y="2487168"/>
            <a:ext cx="1005840" cy="384048"/>
          </a:xfrm>
          <a:prstGeom prst="rect">
            <a:avLst/>
          </a:prstGeom>
          <a:noFill/>
        </p:spPr>
        <p:txBody>
          <a:bodyPr wrap="square" anchor="ctr">
            <a:spAutoFit/>
          </a:bodyPr>
          <a:lstStyle/>
          <a:p>
            <a:pPr algn="ctr"/>
            <a:r>
              <a:rPr sz="1100" b="1">
                <a:solidFill>
                  <a:srgbClr val="2D2D2D"/>
                </a:solidFill>
                <a:latin typeface="微软雅黑" panose="020B0503020204020204" charset="-122"/>
              </a:rPr>
              <a:t>补齐成本指标</a:t>
            </a:r>
            <a:endParaRPr sz="1100" b="1">
              <a:solidFill>
                <a:srgbClr val="2D2D2D"/>
              </a:solidFill>
              <a:latin typeface="微软雅黑" panose="020B0503020204020204" charset="-122"/>
            </a:endParaRPr>
          </a:p>
        </p:txBody>
      </p:sp>
      <p:sp>
        <p:nvSpPr>
          <p:cNvPr id="13" name="TextBox 12"/>
          <p:cNvSpPr txBox="1"/>
          <p:nvPr/>
        </p:nvSpPr>
        <p:spPr>
          <a:xfrm>
            <a:off x="2368296" y="3154680"/>
            <a:ext cx="1005840" cy="749808"/>
          </a:xfrm>
          <a:prstGeom prst="rect">
            <a:avLst/>
          </a:prstGeom>
          <a:noFill/>
        </p:spPr>
        <p:txBody>
          <a:bodyPr wrap="square" anchor="ctr">
            <a:spAutoFit/>
          </a:bodyPr>
          <a:lstStyle/>
          <a:p>
            <a:pPr algn="ctr"/>
            <a:r>
              <a:rPr sz="900" b="0">
                <a:solidFill>
                  <a:srgbClr val="646464"/>
                </a:solidFill>
                <a:latin typeface="微软雅黑" panose="020B0503020204020204" charset="-122"/>
              </a:rPr>
              <a:t>Critic / Router / Repair / Executor latency</a:t>
            </a:r>
            <a:endParaRPr sz="900" b="0">
              <a:solidFill>
                <a:srgbClr val="646464"/>
              </a:solidFill>
              <a:latin typeface="微软雅黑" panose="020B0503020204020204" charset="-122"/>
            </a:endParaRPr>
          </a:p>
        </p:txBody>
      </p:sp>
      <p:sp>
        <p:nvSpPr>
          <p:cNvPr id="14" name="TextBox 13"/>
          <p:cNvSpPr txBox="1"/>
          <p:nvPr/>
        </p:nvSpPr>
        <p:spPr>
          <a:xfrm>
            <a:off x="3547872" y="2761488"/>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15" name="Rectangle 14"/>
          <p:cNvSpPr/>
          <p:nvPr/>
        </p:nvSpPr>
        <p:spPr>
          <a:xfrm>
            <a:off x="3849624" y="1508760"/>
            <a:ext cx="1298448" cy="30632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6" name="TextBox 15"/>
          <p:cNvSpPr txBox="1"/>
          <p:nvPr/>
        </p:nvSpPr>
        <p:spPr>
          <a:xfrm>
            <a:off x="4242816" y="1755648"/>
            <a:ext cx="502920" cy="502920"/>
          </a:xfrm>
          <a:prstGeom prst="rect">
            <a:avLst/>
          </a:prstGeom>
          <a:noFill/>
        </p:spPr>
        <p:txBody>
          <a:bodyPr wrap="square" anchor="ctr">
            <a:spAutoFit/>
          </a:bodyPr>
          <a:lstStyle/>
          <a:p>
            <a:pPr algn="ctr"/>
            <a:r>
              <a:rPr sz="2200" b="1">
                <a:solidFill>
                  <a:srgbClr val="C65911"/>
                </a:solidFill>
                <a:latin typeface="微软雅黑" panose="020B0503020204020204" charset="-122"/>
              </a:rPr>
              <a:t>3</a:t>
            </a:r>
            <a:endParaRPr sz="2200" b="1">
              <a:solidFill>
                <a:srgbClr val="C65911"/>
              </a:solidFill>
              <a:latin typeface="微软雅黑" panose="020B0503020204020204" charset="-122"/>
            </a:endParaRPr>
          </a:p>
        </p:txBody>
      </p:sp>
      <p:sp>
        <p:nvSpPr>
          <p:cNvPr id="17" name="TextBox 16"/>
          <p:cNvSpPr txBox="1"/>
          <p:nvPr/>
        </p:nvSpPr>
        <p:spPr>
          <a:xfrm>
            <a:off x="3995928" y="2487168"/>
            <a:ext cx="1005840" cy="384048"/>
          </a:xfrm>
          <a:prstGeom prst="rect">
            <a:avLst/>
          </a:prstGeom>
          <a:noFill/>
        </p:spPr>
        <p:txBody>
          <a:bodyPr wrap="square" anchor="ctr">
            <a:spAutoFit/>
          </a:bodyPr>
          <a:lstStyle/>
          <a:p>
            <a:pPr algn="ctr"/>
            <a:r>
              <a:rPr sz="1100" b="1">
                <a:solidFill>
                  <a:srgbClr val="2D2D2D"/>
                </a:solidFill>
                <a:latin typeface="微软雅黑" panose="020B0503020204020204" charset="-122"/>
              </a:rPr>
              <a:t>无 gold 语义诊断</a:t>
            </a:r>
            <a:endParaRPr sz="1100" b="1">
              <a:solidFill>
                <a:srgbClr val="2D2D2D"/>
              </a:solidFill>
              <a:latin typeface="微软雅黑" panose="020B0503020204020204" charset="-122"/>
            </a:endParaRPr>
          </a:p>
        </p:txBody>
      </p:sp>
      <p:sp>
        <p:nvSpPr>
          <p:cNvPr id="18" name="TextBox 17"/>
          <p:cNvSpPr txBox="1"/>
          <p:nvPr/>
        </p:nvSpPr>
        <p:spPr>
          <a:xfrm>
            <a:off x="3995928" y="3154680"/>
            <a:ext cx="1005840" cy="749808"/>
          </a:xfrm>
          <a:prstGeom prst="rect">
            <a:avLst/>
          </a:prstGeom>
          <a:noFill/>
        </p:spPr>
        <p:txBody>
          <a:bodyPr wrap="square" anchor="ctr">
            <a:spAutoFit/>
          </a:bodyPr>
          <a:lstStyle/>
          <a:p>
            <a:pPr algn="ctr"/>
            <a:r>
              <a:rPr sz="900" b="0">
                <a:solidFill>
                  <a:srgbClr val="646464"/>
                </a:solidFill>
                <a:latin typeface="微软雅黑" panose="020B0503020204020204" charset="-122"/>
              </a:rPr>
              <a:t>结果为空、聚合错、projection 错</a:t>
            </a:r>
            <a:endParaRPr sz="900" b="0">
              <a:solidFill>
                <a:srgbClr val="646464"/>
              </a:solidFill>
              <a:latin typeface="微软雅黑" panose="020B0503020204020204" charset="-122"/>
            </a:endParaRPr>
          </a:p>
        </p:txBody>
      </p:sp>
      <p:sp>
        <p:nvSpPr>
          <p:cNvPr id="19" name="TextBox 18"/>
          <p:cNvSpPr txBox="1"/>
          <p:nvPr/>
        </p:nvSpPr>
        <p:spPr>
          <a:xfrm>
            <a:off x="5175504" y="2761488"/>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20" name="Rectangle 19"/>
          <p:cNvSpPr/>
          <p:nvPr/>
        </p:nvSpPr>
        <p:spPr>
          <a:xfrm>
            <a:off x="5477256" y="1508760"/>
            <a:ext cx="1298448" cy="306324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21" name="TextBox 20"/>
          <p:cNvSpPr txBox="1"/>
          <p:nvPr/>
        </p:nvSpPr>
        <p:spPr>
          <a:xfrm>
            <a:off x="5870448" y="1755648"/>
            <a:ext cx="502920" cy="502920"/>
          </a:xfrm>
          <a:prstGeom prst="rect">
            <a:avLst/>
          </a:prstGeom>
          <a:noFill/>
        </p:spPr>
        <p:txBody>
          <a:bodyPr wrap="square" anchor="ctr">
            <a:spAutoFit/>
          </a:bodyPr>
          <a:lstStyle/>
          <a:p>
            <a:pPr algn="ctr"/>
            <a:r>
              <a:rPr sz="2200" b="1">
                <a:solidFill>
                  <a:srgbClr val="C65911"/>
                </a:solidFill>
                <a:latin typeface="微软雅黑" panose="020B0503020204020204" charset="-122"/>
              </a:rPr>
              <a:t>4</a:t>
            </a:r>
            <a:endParaRPr sz="2200" b="1">
              <a:solidFill>
                <a:srgbClr val="C65911"/>
              </a:solidFill>
              <a:latin typeface="微软雅黑" panose="020B0503020204020204" charset="-122"/>
            </a:endParaRPr>
          </a:p>
        </p:txBody>
      </p:sp>
      <p:sp>
        <p:nvSpPr>
          <p:cNvPr id="22" name="TextBox 21"/>
          <p:cNvSpPr txBox="1"/>
          <p:nvPr/>
        </p:nvSpPr>
        <p:spPr>
          <a:xfrm>
            <a:off x="5623560" y="2487168"/>
            <a:ext cx="1005840" cy="384048"/>
          </a:xfrm>
          <a:prstGeom prst="rect">
            <a:avLst/>
          </a:prstGeom>
          <a:noFill/>
        </p:spPr>
        <p:txBody>
          <a:bodyPr wrap="square" anchor="ctr">
            <a:spAutoFit/>
          </a:bodyPr>
          <a:lstStyle/>
          <a:p>
            <a:pPr algn="ctr"/>
            <a:r>
              <a:rPr sz="1100" b="1">
                <a:solidFill>
                  <a:srgbClr val="2D2D2D"/>
                </a:solidFill>
                <a:latin typeface="微软雅黑" panose="020B0503020204020204" charset="-122"/>
              </a:rPr>
              <a:t>达梦方言适配</a:t>
            </a:r>
            <a:endParaRPr sz="1100" b="1">
              <a:solidFill>
                <a:srgbClr val="2D2D2D"/>
              </a:solidFill>
              <a:latin typeface="微软雅黑" panose="020B0503020204020204" charset="-122"/>
            </a:endParaRPr>
          </a:p>
        </p:txBody>
      </p:sp>
      <p:sp>
        <p:nvSpPr>
          <p:cNvPr id="23" name="TextBox 22"/>
          <p:cNvSpPr txBox="1"/>
          <p:nvPr/>
        </p:nvSpPr>
        <p:spPr>
          <a:xfrm>
            <a:off x="5623560" y="3154680"/>
            <a:ext cx="1005840" cy="749808"/>
          </a:xfrm>
          <a:prstGeom prst="rect">
            <a:avLst/>
          </a:prstGeom>
          <a:noFill/>
        </p:spPr>
        <p:txBody>
          <a:bodyPr wrap="square" anchor="ctr">
            <a:spAutoFit/>
          </a:bodyPr>
          <a:lstStyle/>
          <a:p>
            <a:pPr algn="ctr"/>
            <a:r>
              <a:rPr sz="900" b="0">
                <a:solidFill>
                  <a:srgbClr val="646464"/>
                </a:solidFill>
                <a:latin typeface="微软雅黑" panose="020B0503020204020204" charset="-122"/>
              </a:rPr>
              <a:t>日期、分页、函数、类型转换</a:t>
            </a:r>
            <a:endParaRPr sz="900" b="0">
              <a:solidFill>
                <a:srgbClr val="646464"/>
              </a:solidFill>
              <a:latin typeface="微软雅黑" panose="020B0503020204020204" charset="-122"/>
            </a:endParaRPr>
          </a:p>
        </p:txBody>
      </p:sp>
      <p:sp>
        <p:nvSpPr>
          <p:cNvPr id="24" name="TextBox 23"/>
          <p:cNvSpPr txBox="1"/>
          <p:nvPr/>
        </p:nvSpPr>
        <p:spPr>
          <a:xfrm>
            <a:off x="6803136" y="2761488"/>
            <a:ext cx="320040" cy="219456"/>
          </a:xfrm>
          <a:prstGeom prst="rect">
            <a:avLst/>
          </a:prstGeom>
          <a:noFill/>
        </p:spPr>
        <p:txBody>
          <a:bodyPr wrap="square" anchor="ctr">
            <a:spAutoFit/>
          </a:bodyPr>
          <a:lstStyle/>
          <a:p>
            <a:pPr algn="ctr"/>
            <a:r>
              <a:rPr sz="2000" b="1">
                <a:solidFill>
                  <a:srgbClr val="C65911"/>
                </a:solidFill>
                <a:latin typeface="微软雅黑" panose="020B0503020204020204" charset="-122"/>
              </a:rPr>
              <a:t>→</a:t>
            </a:r>
            <a:endParaRPr sz="2000" b="1">
              <a:solidFill>
                <a:srgbClr val="C65911"/>
              </a:solidFill>
              <a:latin typeface="微软雅黑" panose="020B0503020204020204" charset="-122"/>
            </a:endParaRPr>
          </a:p>
        </p:txBody>
      </p:sp>
      <p:sp>
        <p:nvSpPr>
          <p:cNvPr id="25" name="Rectangle 24"/>
          <p:cNvSpPr/>
          <p:nvPr/>
        </p:nvSpPr>
        <p:spPr>
          <a:xfrm>
            <a:off x="7104888" y="1508760"/>
            <a:ext cx="1298448" cy="306324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26" name="TextBox 25"/>
          <p:cNvSpPr txBox="1"/>
          <p:nvPr/>
        </p:nvSpPr>
        <p:spPr>
          <a:xfrm>
            <a:off x="7498080" y="1755648"/>
            <a:ext cx="502920" cy="502920"/>
          </a:xfrm>
          <a:prstGeom prst="rect">
            <a:avLst/>
          </a:prstGeom>
          <a:noFill/>
        </p:spPr>
        <p:txBody>
          <a:bodyPr wrap="square" anchor="ctr">
            <a:spAutoFit/>
          </a:bodyPr>
          <a:lstStyle/>
          <a:p>
            <a:pPr algn="ctr"/>
            <a:r>
              <a:rPr sz="2200" b="1">
                <a:solidFill>
                  <a:srgbClr val="C65911"/>
                </a:solidFill>
                <a:latin typeface="微软雅黑" panose="020B0503020204020204" charset="-122"/>
              </a:rPr>
              <a:t>5</a:t>
            </a:r>
            <a:endParaRPr sz="2200" b="1">
              <a:solidFill>
                <a:srgbClr val="C65911"/>
              </a:solidFill>
              <a:latin typeface="微软雅黑" panose="020B0503020204020204" charset="-122"/>
            </a:endParaRPr>
          </a:p>
        </p:txBody>
      </p:sp>
      <p:sp>
        <p:nvSpPr>
          <p:cNvPr id="27" name="TextBox 26"/>
          <p:cNvSpPr txBox="1"/>
          <p:nvPr/>
        </p:nvSpPr>
        <p:spPr>
          <a:xfrm>
            <a:off x="7251192" y="2487168"/>
            <a:ext cx="1005840" cy="384048"/>
          </a:xfrm>
          <a:prstGeom prst="rect">
            <a:avLst/>
          </a:prstGeom>
          <a:noFill/>
        </p:spPr>
        <p:txBody>
          <a:bodyPr wrap="square" anchor="ctr">
            <a:spAutoFit/>
          </a:bodyPr>
          <a:lstStyle/>
          <a:p>
            <a:pPr algn="ctr"/>
            <a:r>
              <a:rPr sz="1100" b="1">
                <a:solidFill>
                  <a:srgbClr val="2D2D2D"/>
                </a:solidFill>
                <a:latin typeface="微软雅黑" panose="020B0503020204020204" charset="-122"/>
              </a:rPr>
              <a:t>更严格 IR 对比</a:t>
            </a:r>
            <a:endParaRPr sz="1100" b="1">
              <a:solidFill>
                <a:srgbClr val="2D2D2D"/>
              </a:solidFill>
              <a:latin typeface="微软雅黑" panose="020B0503020204020204" charset="-122"/>
            </a:endParaRPr>
          </a:p>
        </p:txBody>
      </p:sp>
      <p:sp>
        <p:nvSpPr>
          <p:cNvPr id="28" name="TextBox 27"/>
          <p:cNvSpPr txBox="1"/>
          <p:nvPr/>
        </p:nvSpPr>
        <p:spPr>
          <a:xfrm>
            <a:off x="7251192" y="3154680"/>
            <a:ext cx="1005840" cy="749808"/>
          </a:xfrm>
          <a:prstGeom prst="rect">
            <a:avLst/>
          </a:prstGeom>
          <a:noFill/>
        </p:spPr>
        <p:txBody>
          <a:bodyPr wrap="square" anchor="ctr">
            <a:spAutoFit/>
          </a:bodyPr>
          <a:lstStyle/>
          <a:p>
            <a:pPr algn="ctr"/>
            <a:r>
              <a:rPr sz="900" b="0">
                <a:solidFill>
                  <a:srgbClr val="646464"/>
                </a:solidFill>
                <a:latin typeface="微软雅黑" panose="020B0503020204020204" charset="-122"/>
              </a:rPr>
              <a:t>条件允许时接入原系统代码</a:t>
            </a:r>
            <a:endParaRPr sz="900" b="0">
              <a:solidFill>
                <a:srgbClr val="646464"/>
              </a:solidFill>
              <a:latin typeface="微软雅黑" panose="020B0503020204020204" charset="-122"/>
            </a:endParaRPr>
          </a:p>
        </p:txBody>
      </p:sp>
      <p:sp>
        <p:nvSpPr>
          <p:cNvPr id="29" name="Rectangle 28"/>
          <p:cNvSpPr/>
          <p:nvPr/>
        </p:nvSpPr>
        <p:spPr>
          <a:xfrm>
            <a:off x="914400" y="5257800"/>
            <a:ext cx="7315200" cy="50292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D2D2D"/>
                </a:solidFill>
                <a:latin typeface="微软雅黑" panose="020B0503020204020204" charset="-122"/>
              </a:rPr>
              <a:t>后续实验围绕“规模扩大、成本补齐、真实诊断、达梦适配”展开</a:t>
            </a:r>
            <a:endParaRPr sz="1200" b="1">
              <a:solidFill>
                <a:srgbClr val="2D2D2D"/>
              </a:solidFill>
              <a:latin typeface="微软雅黑" panose="020B050302020402020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25</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1600200"/>
            <a:ext cx="2240280" cy="320040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1005840" y="1874519"/>
            <a:ext cx="1691640" cy="320040"/>
          </a:xfrm>
          <a:prstGeom prst="rect">
            <a:avLst/>
          </a:prstGeom>
          <a:noFill/>
        </p:spPr>
        <p:txBody>
          <a:bodyPr wrap="square" anchor="ctr">
            <a:spAutoFit/>
          </a:bodyPr>
          <a:lstStyle/>
          <a:p>
            <a:pPr algn="ctr"/>
            <a:r>
              <a:rPr sz="1200" b="1">
                <a:solidFill>
                  <a:srgbClr val="646464"/>
                </a:solidFill>
                <a:latin typeface="微软雅黑" panose="020B0503020204020204" charset="-122"/>
              </a:rPr>
              <a:t>创新点一</a:t>
            </a:r>
            <a:endParaRPr sz="1200" b="1">
              <a:solidFill>
                <a:srgbClr val="646464"/>
              </a:solidFill>
              <a:latin typeface="微软雅黑" panose="020B0503020204020204" charset="-122"/>
            </a:endParaRPr>
          </a:p>
        </p:txBody>
      </p:sp>
      <p:sp>
        <p:nvSpPr>
          <p:cNvPr id="7" name="TextBox 6"/>
          <p:cNvSpPr txBox="1"/>
          <p:nvPr/>
        </p:nvSpPr>
        <p:spPr>
          <a:xfrm>
            <a:off x="1005840" y="2514600"/>
            <a:ext cx="1691640" cy="411480"/>
          </a:xfrm>
          <a:prstGeom prst="rect">
            <a:avLst/>
          </a:prstGeom>
          <a:noFill/>
        </p:spPr>
        <p:txBody>
          <a:bodyPr wrap="square" anchor="ctr">
            <a:spAutoFit/>
          </a:bodyPr>
          <a:lstStyle/>
          <a:p>
            <a:pPr algn="ctr"/>
            <a:r>
              <a:rPr sz="1600" b="1">
                <a:solidFill>
                  <a:srgbClr val="2D2D2D"/>
                </a:solidFill>
                <a:latin typeface="微软雅黑" panose="020B0503020204020204" charset="-122"/>
              </a:rPr>
              <a:t>SQL+ 中间表示</a:t>
            </a:r>
            <a:endParaRPr sz="1600" b="1">
              <a:solidFill>
                <a:srgbClr val="2D2D2D"/>
              </a:solidFill>
              <a:latin typeface="微软雅黑" panose="020B0503020204020204" charset="-122"/>
            </a:endParaRPr>
          </a:p>
        </p:txBody>
      </p:sp>
      <p:sp>
        <p:nvSpPr>
          <p:cNvPr id="8" name="TextBox 7"/>
          <p:cNvSpPr txBox="1"/>
          <p:nvPr/>
        </p:nvSpPr>
        <p:spPr>
          <a:xfrm>
            <a:off x="1005840" y="3429000"/>
            <a:ext cx="1691640" cy="685800"/>
          </a:xfrm>
          <a:prstGeom prst="rect">
            <a:avLst/>
          </a:prstGeom>
          <a:noFill/>
        </p:spPr>
        <p:txBody>
          <a:bodyPr wrap="square" anchor="ctr">
            <a:spAutoFit/>
          </a:bodyPr>
          <a:lstStyle/>
          <a:p>
            <a:pPr algn="ctr"/>
            <a:r>
              <a:rPr sz="1100" b="0">
                <a:solidFill>
                  <a:srgbClr val="2D2D2D"/>
                </a:solidFill>
                <a:latin typeface="微软雅黑" panose="020B0503020204020204" charset="-122"/>
              </a:rPr>
              <a:t>面向生成、转换、定位和局部 patch</a:t>
            </a:r>
            <a:endParaRPr sz="1100" b="0">
              <a:solidFill>
                <a:srgbClr val="2D2D2D"/>
              </a:solidFill>
              <a:latin typeface="微软雅黑" panose="020B0503020204020204" charset="-122"/>
            </a:endParaRPr>
          </a:p>
        </p:txBody>
      </p:sp>
      <p:sp>
        <p:nvSpPr>
          <p:cNvPr id="9" name="Rectangle 8"/>
          <p:cNvSpPr/>
          <p:nvPr/>
        </p:nvSpPr>
        <p:spPr>
          <a:xfrm>
            <a:off x="3520440" y="1600200"/>
            <a:ext cx="2240280" cy="32004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0" name="TextBox 9"/>
          <p:cNvSpPr txBox="1"/>
          <p:nvPr/>
        </p:nvSpPr>
        <p:spPr>
          <a:xfrm>
            <a:off x="3749039" y="1874519"/>
            <a:ext cx="1691640" cy="320040"/>
          </a:xfrm>
          <a:prstGeom prst="rect">
            <a:avLst/>
          </a:prstGeom>
          <a:noFill/>
        </p:spPr>
        <p:txBody>
          <a:bodyPr wrap="square" anchor="ctr">
            <a:spAutoFit/>
          </a:bodyPr>
          <a:lstStyle/>
          <a:p>
            <a:pPr algn="ctr"/>
            <a:r>
              <a:rPr sz="1200" b="1">
                <a:solidFill>
                  <a:srgbClr val="646464"/>
                </a:solidFill>
                <a:latin typeface="微软雅黑" panose="020B0503020204020204" charset="-122"/>
              </a:rPr>
              <a:t>创新点二</a:t>
            </a:r>
            <a:endParaRPr sz="1200" b="1">
              <a:solidFill>
                <a:srgbClr val="646464"/>
              </a:solidFill>
              <a:latin typeface="微软雅黑" panose="020B0503020204020204" charset="-122"/>
            </a:endParaRPr>
          </a:p>
        </p:txBody>
      </p:sp>
      <p:sp>
        <p:nvSpPr>
          <p:cNvPr id="11" name="TextBox 10"/>
          <p:cNvSpPr txBox="1"/>
          <p:nvPr/>
        </p:nvSpPr>
        <p:spPr>
          <a:xfrm>
            <a:off x="3749039" y="2514600"/>
            <a:ext cx="1691640" cy="411480"/>
          </a:xfrm>
          <a:prstGeom prst="rect">
            <a:avLst/>
          </a:prstGeom>
          <a:noFill/>
        </p:spPr>
        <p:txBody>
          <a:bodyPr wrap="square" anchor="ctr">
            <a:spAutoFit/>
          </a:bodyPr>
          <a:lstStyle/>
          <a:p>
            <a:pPr algn="ctr"/>
            <a:r>
              <a:rPr sz="1600" b="1">
                <a:solidFill>
                  <a:srgbClr val="2D2D2D"/>
                </a:solidFill>
                <a:latin typeface="微软雅黑" panose="020B0503020204020204" charset="-122"/>
              </a:rPr>
              <a:t>多智能体反馈闭环</a:t>
            </a:r>
            <a:endParaRPr sz="1600" b="1">
              <a:solidFill>
                <a:srgbClr val="2D2D2D"/>
              </a:solidFill>
              <a:latin typeface="微软雅黑" panose="020B0503020204020204" charset="-122"/>
            </a:endParaRPr>
          </a:p>
        </p:txBody>
      </p:sp>
      <p:sp>
        <p:nvSpPr>
          <p:cNvPr id="12" name="TextBox 11"/>
          <p:cNvSpPr txBox="1"/>
          <p:nvPr/>
        </p:nvSpPr>
        <p:spPr>
          <a:xfrm>
            <a:off x="3749039" y="3429000"/>
            <a:ext cx="1691640" cy="685800"/>
          </a:xfrm>
          <a:prstGeom prst="rect">
            <a:avLst/>
          </a:prstGeom>
          <a:noFill/>
        </p:spPr>
        <p:txBody>
          <a:bodyPr wrap="square" anchor="ctr">
            <a:spAutoFit/>
          </a:bodyPr>
          <a:lstStyle/>
          <a:p>
            <a:pPr algn="ctr"/>
            <a:r>
              <a:rPr sz="1100" b="0">
                <a:solidFill>
                  <a:srgbClr val="2D2D2D"/>
                </a:solidFill>
                <a:latin typeface="微软雅黑" panose="020B0503020204020204" charset="-122"/>
              </a:rPr>
              <a:t>Critic、Router、Repair Skill 与 Executor 协作</a:t>
            </a:r>
            <a:endParaRPr sz="1100" b="0">
              <a:solidFill>
                <a:srgbClr val="2D2D2D"/>
              </a:solidFill>
              <a:latin typeface="微软雅黑" panose="020B0503020204020204" charset="-122"/>
            </a:endParaRPr>
          </a:p>
        </p:txBody>
      </p:sp>
      <p:sp>
        <p:nvSpPr>
          <p:cNvPr id="13" name="Rectangle 12"/>
          <p:cNvSpPr/>
          <p:nvPr/>
        </p:nvSpPr>
        <p:spPr>
          <a:xfrm>
            <a:off x="6263640" y="1600200"/>
            <a:ext cx="2240280" cy="320040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4" name="TextBox 13"/>
          <p:cNvSpPr txBox="1"/>
          <p:nvPr/>
        </p:nvSpPr>
        <p:spPr>
          <a:xfrm>
            <a:off x="6492240" y="1874519"/>
            <a:ext cx="1691640" cy="320040"/>
          </a:xfrm>
          <a:prstGeom prst="rect">
            <a:avLst/>
          </a:prstGeom>
          <a:noFill/>
        </p:spPr>
        <p:txBody>
          <a:bodyPr wrap="square" anchor="ctr">
            <a:spAutoFit/>
          </a:bodyPr>
          <a:lstStyle/>
          <a:p>
            <a:pPr algn="ctr"/>
            <a:r>
              <a:rPr sz="1200" b="1">
                <a:solidFill>
                  <a:srgbClr val="646464"/>
                </a:solidFill>
                <a:latin typeface="微软雅黑" panose="020B0503020204020204" charset="-122"/>
              </a:rPr>
              <a:t>创新点三</a:t>
            </a:r>
            <a:endParaRPr sz="1200" b="1">
              <a:solidFill>
                <a:srgbClr val="646464"/>
              </a:solidFill>
              <a:latin typeface="微软雅黑" panose="020B0503020204020204" charset="-122"/>
            </a:endParaRPr>
          </a:p>
        </p:txBody>
      </p:sp>
      <p:sp>
        <p:nvSpPr>
          <p:cNvPr id="15" name="TextBox 14"/>
          <p:cNvSpPr txBox="1"/>
          <p:nvPr/>
        </p:nvSpPr>
        <p:spPr>
          <a:xfrm>
            <a:off x="6492240" y="2514600"/>
            <a:ext cx="1691640" cy="411480"/>
          </a:xfrm>
          <a:prstGeom prst="rect">
            <a:avLst/>
          </a:prstGeom>
          <a:noFill/>
        </p:spPr>
        <p:txBody>
          <a:bodyPr wrap="square" anchor="ctr">
            <a:spAutoFit/>
          </a:bodyPr>
          <a:lstStyle/>
          <a:p>
            <a:pPr algn="ctr"/>
            <a:r>
              <a:rPr sz="1600" b="1">
                <a:solidFill>
                  <a:srgbClr val="2D2D2D"/>
                </a:solidFill>
                <a:latin typeface="微软雅黑" panose="020B0503020204020204" charset="-122"/>
              </a:rPr>
              <a:t>Repairability 评价</a:t>
            </a:r>
            <a:endParaRPr sz="1600" b="1">
              <a:solidFill>
                <a:srgbClr val="2D2D2D"/>
              </a:solidFill>
              <a:latin typeface="微软雅黑" panose="020B0503020204020204" charset="-122"/>
            </a:endParaRPr>
          </a:p>
        </p:txBody>
      </p:sp>
      <p:sp>
        <p:nvSpPr>
          <p:cNvPr id="16" name="TextBox 15"/>
          <p:cNvSpPr txBox="1"/>
          <p:nvPr/>
        </p:nvSpPr>
        <p:spPr>
          <a:xfrm>
            <a:off x="6492240" y="3429000"/>
            <a:ext cx="1691640" cy="685800"/>
          </a:xfrm>
          <a:prstGeom prst="rect">
            <a:avLst/>
          </a:prstGeom>
          <a:noFill/>
        </p:spPr>
        <p:txBody>
          <a:bodyPr wrap="square" anchor="ctr">
            <a:spAutoFit/>
          </a:bodyPr>
          <a:lstStyle/>
          <a:p>
            <a:pPr algn="ctr"/>
            <a:r>
              <a:rPr sz="1100" b="0">
                <a:solidFill>
                  <a:srgbClr val="2D2D2D"/>
                </a:solidFill>
                <a:latin typeface="微软雅黑" panose="020B0503020204020204" charset="-122"/>
              </a:rPr>
              <a:t>定位、路由、patch、轮数、token、latency</a:t>
            </a:r>
            <a:endParaRPr sz="1100" b="0">
              <a:solidFill>
                <a:srgbClr val="2D2D2D"/>
              </a:solidFill>
              <a:latin typeface="微软雅黑" panose="020B0503020204020204" charset="-122"/>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26</a:t>
            </a:r>
            <a:endParaRPr sz="800" b="0">
              <a:solidFill>
                <a:srgbClr val="5F5F5F"/>
              </a:solidFill>
              <a:latin typeface="微软雅黑" panose="020B0503020204020204" charset="-122"/>
            </a:endParaRPr>
          </a:p>
        </p:txBody>
      </p:sp>
      <p:sp>
        <p:nvSpPr>
          <p:cNvPr id="4" name="Rectangle 3"/>
          <p:cNvSpPr/>
          <p:nvPr/>
        </p:nvSpPr>
        <p:spPr>
          <a:xfrm>
            <a:off x="347472" y="987552"/>
            <a:ext cx="8458200" cy="5321808"/>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43000"/>
            <a:ext cx="3200400" cy="274320"/>
          </a:xfrm>
          <a:prstGeom prst="rect">
            <a:avLst/>
          </a:prstGeom>
          <a:noFill/>
        </p:spPr>
        <p:txBody>
          <a:bodyPr wrap="square" anchor="ctr">
            <a:spAutoFit/>
          </a:bodyPr>
          <a:lstStyle/>
          <a:p>
            <a:pPr algn="l"/>
            <a:r>
              <a:rPr sz="1500" b="1">
                <a:solidFill>
                  <a:srgbClr val="AA3C3C"/>
                </a:solidFill>
                <a:latin typeface="微软雅黑" panose="020B0503020204020204" charset="-122"/>
              </a:rPr>
              <a:t>风险</a:t>
            </a:r>
            <a:endParaRPr sz="1500" b="1">
              <a:solidFill>
                <a:srgbClr val="AA3C3C"/>
              </a:solidFill>
              <a:latin typeface="微软雅黑" panose="020B0503020204020204" charset="-122"/>
            </a:endParaRPr>
          </a:p>
        </p:txBody>
      </p:sp>
      <p:sp>
        <p:nvSpPr>
          <p:cNvPr id="6" name="TextBox 5"/>
          <p:cNvSpPr txBox="1"/>
          <p:nvPr/>
        </p:nvSpPr>
        <p:spPr>
          <a:xfrm>
            <a:off x="4709160" y="1143000"/>
            <a:ext cx="3200400" cy="274320"/>
          </a:xfrm>
          <a:prstGeom prst="rect">
            <a:avLst/>
          </a:prstGeom>
          <a:noFill/>
        </p:spPr>
        <p:txBody>
          <a:bodyPr wrap="square" anchor="ctr">
            <a:spAutoFit/>
          </a:bodyPr>
          <a:lstStyle/>
          <a:p>
            <a:pPr algn="l"/>
            <a:r>
              <a:rPr sz="1500" b="1">
                <a:solidFill>
                  <a:srgbClr val="548235"/>
                </a:solidFill>
                <a:latin typeface="微软雅黑" panose="020B0503020204020204" charset="-122"/>
              </a:rPr>
              <a:t>应对</a:t>
            </a:r>
            <a:endParaRPr sz="1500" b="1">
              <a:solidFill>
                <a:srgbClr val="548235"/>
              </a:solidFill>
              <a:latin typeface="微软雅黑" panose="020B0503020204020204" charset="-122"/>
            </a:endParaRPr>
          </a:p>
        </p:txBody>
      </p:sp>
      <p:sp>
        <p:nvSpPr>
          <p:cNvPr id="7" name="Rectangle 6"/>
          <p:cNvSpPr/>
          <p:nvPr/>
        </p:nvSpPr>
        <p:spPr>
          <a:xfrm>
            <a:off x="594360" y="1600200"/>
            <a:ext cx="3474720" cy="502920"/>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样例规模偏小</a:t>
            </a:r>
            <a:endParaRPr sz="1100" b="1">
              <a:solidFill>
                <a:srgbClr val="2D2D2D"/>
              </a:solidFill>
              <a:latin typeface="微软雅黑" panose="020B0503020204020204" charset="-122"/>
            </a:endParaRPr>
          </a:p>
        </p:txBody>
      </p:sp>
      <p:sp>
        <p:nvSpPr>
          <p:cNvPr id="8" name="TextBox 7"/>
          <p:cNvSpPr txBox="1"/>
          <p:nvPr/>
        </p:nvSpPr>
        <p:spPr>
          <a:xfrm>
            <a:off x="4251960" y="1737360"/>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9" name="Rectangle 8"/>
          <p:cNvSpPr/>
          <p:nvPr/>
        </p:nvSpPr>
        <p:spPr>
          <a:xfrm>
            <a:off x="4663440" y="1600200"/>
            <a:ext cx="3611880" cy="5029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扩展 Spider 多库子集和 BIRD 子集</a:t>
            </a:r>
            <a:endParaRPr sz="1100" b="1">
              <a:solidFill>
                <a:srgbClr val="2D2D2D"/>
              </a:solidFill>
              <a:latin typeface="微软雅黑" panose="020B0503020204020204" charset="-122"/>
            </a:endParaRPr>
          </a:p>
        </p:txBody>
      </p:sp>
      <p:sp>
        <p:nvSpPr>
          <p:cNvPr id="10" name="Rectangle 9"/>
          <p:cNvSpPr/>
          <p:nvPr/>
        </p:nvSpPr>
        <p:spPr>
          <a:xfrm>
            <a:off x="594360" y="2350008"/>
            <a:ext cx="3474720" cy="502920"/>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proxy 对比有限</a:t>
            </a:r>
            <a:endParaRPr sz="1100" b="1">
              <a:solidFill>
                <a:srgbClr val="2D2D2D"/>
              </a:solidFill>
              <a:latin typeface="微软雅黑" panose="020B0503020204020204" charset="-122"/>
            </a:endParaRPr>
          </a:p>
        </p:txBody>
      </p:sp>
      <p:sp>
        <p:nvSpPr>
          <p:cNvPr id="11" name="TextBox 10"/>
          <p:cNvSpPr txBox="1"/>
          <p:nvPr/>
        </p:nvSpPr>
        <p:spPr>
          <a:xfrm>
            <a:off x="4251960" y="2487168"/>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12" name="Rectangle 11"/>
          <p:cNvSpPr/>
          <p:nvPr/>
        </p:nvSpPr>
        <p:spPr>
          <a:xfrm>
            <a:off x="4663440" y="2350008"/>
            <a:ext cx="3611880" cy="5029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明确边界，后续视时间接入原系统</a:t>
            </a:r>
            <a:endParaRPr sz="1100" b="1">
              <a:solidFill>
                <a:srgbClr val="2D2D2D"/>
              </a:solidFill>
              <a:latin typeface="微软雅黑" panose="020B0503020204020204" charset="-122"/>
            </a:endParaRPr>
          </a:p>
        </p:txBody>
      </p:sp>
      <p:sp>
        <p:nvSpPr>
          <p:cNvPr id="13" name="Rectangle 12"/>
          <p:cNvSpPr/>
          <p:nvPr/>
        </p:nvSpPr>
        <p:spPr>
          <a:xfrm>
            <a:off x="594360" y="3099815"/>
            <a:ext cx="3474720" cy="502920"/>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已知失败集偏窄</a:t>
            </a:r>
            <a:endParaRPr sz="1100" b="1">
              <a:solidFill>
                <a:srgbClr val="2D2D2D"/>
              </a:solidFill>
              <a:latin typeface="微软雅黑" panose="020B0503020204020204" charset="-122"/>
            </a:endParaRPr>
          </a:p>
        </p:txBody>
      </p:sp>
      <p:sp>
        <p:nvSpPr>
          <p:cNvPr id="14" name="TextBox 13"/>
          <p:cNvSpPr txBox="1"/>
          <p:nvPr/>
        </p:nvSpPr>
        <p:spPr>
          <a:xfrm>
            <a:off x="4251960" y="3236975"/>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15" name="Rectangle 14"/>
          <p:cNvSpPr/>
          <p:nvPr/>
        </p:nvSpPr>
        <p:spPr>
          <a:xfrm>
            <a:off x="4663440" y="3099815"/>
            <a:ext cx="3611880" cy="5029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增加未知错误和无 gold 语义错</a:t>
            </a:r>
            <a:endParaRPr sz="1100" b="1">
              <a:solidFill>
                <a:srgbClr val="2D2D2D"/>
              </a:solidFill>
              <a:latin typeface="微软雅黑" panose="020B0503020204020204" charset="-122"/>
            </a:endParaRPr>
          </a:p>
        </p:txBody>
      </p:sp>
      <p:sp>
        <p:nvSpPr>
          <p:cNvPr id="16" name="Rectangle 15"/>
          <p:cNvSpPr/>
          <p:nvPr/>
        </p:nvSpPr>
        <p:spPr>
          <a:xfrm>
            <a:off x="594360" y="3849624"/>
            <a:ext cx="3474720" cy="502920"/>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SQL+ 成本更高</a:t>
            </a:r>
            <a:endParaRPr sz="1100" b="1">
              <a:solidFill>
                <a:srgbClr val="2D2D2D"/>
              </a:solidFill>
              <a:latin typeface="微软雅黑" panose="020B0503020204020204" charset="-122"/>
            </a:endParaRPr>
          </a:p>
        </p:txBody>
      </p:sp>
      <p:sp>
        <p:nvSpPr>
          <p:cNvPr id="17" name="TextBox 16"/>
          <p:cNvSpPr txBox="1"/>
          <p:nvPr/>
        </p:nvSpPr>
        <p:spPr>
          <a:xfrm>
            <a:off x="4251960" y="3986784"/>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18" name="Rectangle 17"/>
          <p:cNvSpPr/>
          <p:nvPr/>
        </p:nvSpPr>
        <p:spPr>
          <a:xfrm>
            <a:off x="4663440" y="3849624"/>
            <a:ext cx="3611880" cy="5029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比较修复收益与端到端成本</a:t>
            </a:r>
            <a:endParaRPr sz="1100" b="1">
              <a:solidFill>
                <a:srgbClr val="2D2D2D"/>
              </a:solidFill>
              <a:latin typeface="微软雅黑" panose="020B0503020204020204" charset="-122"/>
            </a:endParaRPr>
          </a:p>
        </p:txBody>
      </p:sp>
      <p:sp>
        <p:nvSpPr>
          <p:cNvPr id="19" name="Rectangle 18"/>
          <p:cNvSpPr/>
          <p:nvPr/>
        </p:nvSpPr>
        <p:spPr>
          <a:xfrm>
            <a:off x="594360" y="4599431"/>
            <a:ext cx="3474720" cy="502920"/>
          </a:xfrm>
          <a:prstGeom prst="rect">
            <a:avLst/>
          </a:prstGeom>
          <a:solidFill>
            <a:srgbClr val="F4E6E6"/>
          </a:solidFill>
          <a:ln>
            <a:solidFill>
              <a:srgbClr val="AA3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达梦方言不足</a:t>
            </a:r>
            <a:endParaRPr sz="1100" b="1">
              <a:solidFill>
                <a:srgbClr val="2D2D2D"/>
              </a:solidFill>
              <a:latin typeface="微软雅黑" panose="020B0503020204020204" charset="-122"/>
            </a:endParaRPr>
          </a:p>
        </p:txBody>
      </p:sp>
      <p:sp>
        <p:nvSpPr>
          <p:cNvPr id="20" name="TextBox 19"/>
          <p:cNvSpPr txBox="1"/>
          <p:nvPr/>
        </p:nvSpPr>
        <p:spPr>
          <a:xfrm>
            <a:off x="4251960" y="4736592"/>
            <a:ext cx="320040" cy="219456"/>
          </a:xfrm>
          <a:prstGeom prst="rect">
            <a:avLst/>
          </a:prstGeom>
          <a:noFill/>
        </p:spPr>
        <p:txBody>
          <a:bodyPr wrap="square" anchor="ctr">
            <a:spAutoFit/>
          </a:bodyPr>
          <a:lstStyle/>
          <a:p>
            <a:pPr algn="ctr"/>
            <a:r>
              <a:rPr sz="2000" b="1">
                <a:solidFill>
                  <a:srgbClr val="646464"/>
                </a:solidFill>
                <a:latin typeface="微软雅黑" panose="020B0503020204020204" charset="-122"/>
              </a:rPr>
              <a:t>→</a:t>
            </a:r>
            <a:endParaRPr sz="2000" b="1">
              <a:solidFill>
                <a:srgbClr val="646464"/>
              </a:solidFill>
              <a:latin typeface="微软雅黑" panose="020B0503020204020204" charset="-122"/>
            </a:endParaRPr>
          </a:p>
        </p:txBody>
      </p:sp>
      <p:sp>
        <p:nvSpPr>
          <p:cNvPr id="21" name="Rectangle 20"/>
          <p:cNvSpPr/>
          <p:nvPr/>
        </p:nvSpPr>
        <p:spPr>
          <a:xfrm>
            <a:off x="4663440" y="4599431"/>
            <a:ext cx="3611880" cy="50292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2D2D2D"/>
                </a:solidFill>
                <a:latin typeface="微软雅黑" panose="020B0503020204020204" charset="-122"/>
              </a:rPr>
              <a:t>补充函数、分页、日期和类型测试</a:t>
            </a:r>
            <a:endParaRPr sz="1100" b="1">
              <a:solidFill>
                <a:srgbClr val="2D2D2D"/>
              </a:solidFill>
              <a:latin typeface="微软雅黑" panose="020B0503020204020204"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24765" y="7207377"/>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27</a:t>
            </a:r>
            <a:endParaRPr sz="800" b="0">
              <a:solidFill>
                <a:srgbClr val="5F5F5F"/>
              </a:solidFill>
              <a:latin typeface="微软雅黑" panose="020B0503020204020204" charset="-122"/>
            </a:endParaRPr>
          </a:p>
        </p:txBody>
      </p:sp>
      <p:sp>
        <p:nvSpPr>
          <p:cNvPr id="5" name="Rectangle 4"/>
          <p:cNvSpPr/>
          <p:nvPr/>
        </p:nvSpPr>
        <p:spPr>
          <a:xfrm>
            <a:off x="467995" y="1916430"/>
            <a:ext cx="7315200" cy="868680"/>
          </a:xfrm>
          <a:prstGeom prst="rect">
            <a:avLst/>
          </a:prstGeom>
          <a:solidFill>
            <a:srgbClr val="DDEB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696595" y="2099310"/>
            <a:ext cx="1234440" cy="320040"/>
          </a:xfrm>
          <a:prstGeom prst="rect">
            <a:avLst/>
          </a:prstGeom>
          <a:noFill/>
        </p:spPr>
        <p:txBody>
          <a:bodyPr wrap="square" anchor="ctr">
            <a:spAutoFit/>
          </a:bodyPr>
          <a:lstStyle/>
          <a:p>
            <a:pPr algn="l"/>
            <a:r>
              <a:rPr sz="1500" b="1">
                <a:solidFill>
                  <a:srgbClr val="1F4E79"/>
                </a:solidFill>
                <a:latin typeface="微软雅黑" panose="020B0503020204020204" charset="-122"/>
              </a:rPr>
              <a:t>研究对象</a:t>
            </a:r>
            <a:endParaRPr sz="1500" b="1">
              <a:solidFill>
                <a:srgbClr val="1F4E79"/>
              </a:solidFill>
              <a:latin typeface="微软雅黑" panose="020B0503020204020204" charset="-122"/>
            </a:endParaRPr>
          </a:p>
        </p:txBody>
      </p:sp>
      <p:sp>
        <p:nvSpPr>
          <p:cNvPr id="7" name="TextBox 6"/>
          <p:cNvSpPr txBox="1"/>
          <p:nvPr/>
        </p:nvSpPr>
        <p:spPr>
          <a:xfrm>
            <a:off x="2159635" y="2099310"/>
            <a:ext cx="5212080" cy="384048"/>
          </a:xfrm>
          <a:prstGeom prst="rect">
            <a:avLst/>
          </a:prstGeom>
          <a:noFill/>
        </p:spPr>
        <p:txBody>
          <a:bodyPr wrap="square" anchor="ctr">
            <a:spAutoFit/>
          </a:bodyPr>
          <a:lstStyle/>
          <a:p>
            <a:pPr algn="l"/>
            <a:r>
              <a:rPr sz="1300" b="1">
                <a:solidFill>
                  <a:srgbClr val="2D2D2D"/>
                </a:solidFill>
                <a:latin typeface="微软雅黑" panose="020B0503020204020204" charset="-122"/>
              </a:rPr>
              <a:t>不是单次生成 SQL，而是生成、执行、诊断和修复闭环</a:t>
            </a:r>
            <a:endParaRPr sz="1300" b="1">
              <a:solidFill>
                <a:srgbClr val="2D2D2D"/>
              </a:solidFill>
              <a:latin typeface="微软雅黑" panose="020B0503020204020204" charset="-122"/>
            </a:endParaRPr>
          </a:p>
        </p:txBody>
      </p:sp>
      <p:sp>
        <p:nvSpPr>
          <p:cNvPr id="8" name="Rectangle 7"/>
          <p:cNvSpPr/>
          <p:nvPr/>
        </p:nvSpPr>
        <p:spPr>
          <a:xfrm>
            <a:off x="467995" y="3242310"/>
            <a:ext cx="7315200" cy="86868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9" name="TextBox 8"/>
          <p:cNvSpPr txBox="1"/>
          <p:nvPr/>
        </p:nvSpPr>
        <p:spPr>
          <a:xfrm>
            <a:off x="696595" y="3425190"/>
            <a:ext cx="1234440" cy="320040"/>
          </a:xfrm>
          <a:prstGeom prst="rect">
            <a:avLst/>
          </a:prstGeom>
          <a:noFill/>
        </p:spPr>
        <p:txBody>
          <a:bodyPr wrap="square" anchor="ctr">
            <a:spAutoFit/>
          </a:bodyPr>
          <a:lstStyle/>
          <a:p>
            <a:pPr algn="l"/>
            <a:r>
              <a:rPr sz="1500" b="1">
                <a:solidFill>
                  <a:srgbClr val="1F4E79"/>
                </a:solidFill>
                <a:latin typeface="微软雅黑" panose="020B0503020204020204" charset="-122"/>
              </a:rPr>
              <a:t>当前证据</a:t>
            </a:r>
            <a:endParaRPr sz="1500" b="1">
              <a:solidFill>
                <a:srgbClr val="1F4E79"/>
              </a:solidFill>
              <a:latin typeface="微软雅黑" panose="020B0503020204020204" charset="-122"/>
            </a:endParaRPr>
          </a:p>
        </p:txBody>
      </p:sp>
      <p:sp>
        <p:nvSpPr>
          <p:cNvPr id="10" name="TextBox 9"/>
          <p:cNvSpPr txBox="1"/>
          <p:nvPr/>
        </p:nvSpPr>
        <p:spPr>
          <a:xfrm>
            <a:off x="2159635" y="3425190"/>
            <a:ext cx="5212080" cy="384048"/>
          </a:xfrm>
          <a:prstGeom prst="rect">
            <a:avLst/>
          </a:prstGeom>
          <a:noFill/>
        </p:spPr>
        <p:txBody>
          <a:bodyPr wrap="square" anchor="ctr">
            <a:spAutoFit/>
          </a:bodyPr>
          <a:lstStyle/>
          <a:p>
            <a:pPr algn="l"/>
            <a:r>
              <a:rPr sz="1300" b="1">
                <a:solidFill>
                  <a:srgbClr val="2D2D2D"/>
                </a:solidFill>
                <a:latin typeface="微软雅黑" panose="020B0503020204020204" charset="-122"/>
              </a:rPr>
              <a:t>SQL+ 转换可行，局部 repair skill 对已知失败集有效</a:t>
            </a:r>
            <a:endParaRPr sz="1300" b="1">
              <a:solidFill>
                <a:srgbClr val="2D2D2D"/>
              </a:solidFill>
              <a:latin typeface="微软雅黑" panose="020B0503020204020204" charset="-122"/>
            </a:endParaRPr>
          </a:p>
        </p:txBody>
      </p:sp>
      <p:sp>
        <p:nvSpPr>
          <p:cNvPr id="11" name="Rectangle 10"/>
          <p:cNvSpPr/>
          <p:nvPr/>
        </p:nvSpPr>
        <p:spPr>
          <a:xfrm>
            <a:off x="467995" y="4568189"/>
            <a:ext cx="7315200" cy="868680"/>
          </a:xfrm>
          <a:prstGeom prst="rect">
            <a:avLst/>
          </a:prstGeom>
          <a:solidFill>
            <a:srgbClr val="FBE5D6"/>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2" name="TextBox 11"/>
          <p:cNvSpPr txBox="1"/>
          <p:nvPr/>
        </p:nvSpPr>
        <p:spPr>
          <a:xfrm>
            <a:off x="696595" y="4751070"/>
            <a:ext cx="1234440" cy="320040"/>
          </a:xfrm>
          <a:prstGeom prst="rect">
            <a:avLst/>
          </a:prstGeom>
          <a:noFill/>
        </p:spPr>
        <p:txBody>
          <a:bodyPr wrap="square" anchor="ctr">
            <a:spAutoFit/>
          </a:bodyPr>
          <a:lstStyle/>
          <a:p>
            <a:pPr algn="l"/>
            <a:r>
              <a:rPr sz="1500" b="1">
                <a:solidFill>
                  <a:srgbClr val="C65911"/>
                </a:solidFill>
                <a:latin typeface="微软雅黑" panose="020B0503020204020204" charset="-122"/>
              </a:rPr>
              <a:t>后续重点</a:t>
            </a:r>
            <a:endParaRPr sz="1500" b="1">
              <a:solidFill>
                <a:srgbClr val="C65911"/>
              </a:solidFill>
              <a:latin typeface="微软雅黑" panose="020B0503020204020204" charset="-122"/>
            </a:endParaRPr>
          </a:p>
        </p:txBody>
      </p:sp>
      <p:sp>
        <p:nvSpPr>
          <p:cNvPr id="13" name="TextBox 12"/>
          <p:cNvSpPr txBox="1"/>
          <p:nvPr/>
        </p:nvSpPr>
        <p:spPr>
          <a:xfrm>
            <a:off x="2159635" y="4751070"/>
            <a:ext cx="5212080" cy="384048"/>
          </a:xfrm>
          <a:prstGeom prst="rect">
            <a:avLst/>
          </a:prstGeom>
          <a:noFill/>
        </p:spPr>
        <p:txBody>
          <a:bodyPr wrap="square" anchor="ctr">
            <a:spAutoFit/>
          </a:bodyPr>
          <a:lstStyle/>
          <a:p>
            <a:pPr algn="l"/>
            <a:r>
              <a:rPr sz="1300" b="1">
                <a:solidFill>
                  <a:srgbClr val="2D2D2D"/>
                </a:solidFill>
                <a:latin typeface="微软雅黑" panose="020B0503020204020204" charset="-122"/>
              </a:rPr>
              <a:t>扩大样例、强化无 gold 诊断、补齐成本和方言适配</a:t>
            </a:r>
            <a:endParaRPr sz="1300" b="1">
              <a:solidFill>
                <a:srgbClr val="2D2D2D"/>
              </a:solidFill>
              <a:latin typeface="微软雅黑" panose="020B0503020204020204"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Box 2"/>
          <p:cNvSpPr txBox="1"/>
          <p:nvPr/>
        </p:nvSpPr>
        <p:spPr>
          <a:xfrm>
            <a:off x="502920" y="6428232"/>
            <a:ext cx="8138160" cy="201168"/>
          </a:xfrm>
          <a:prstGeom prst="rect">
            <a:avLst/>
          </a:prstGeom>
          <a:noFill/>
        </p:spPr>
        <p:txBody>
          <a:bodyPr wrap="square" anchor="ctr">
            <a:spAutoFit/>
          </a:bodyPr>
          <a:lstStyle/>
          <a:p>
            <a:pPr algn="l"/>
            <a:r>
              <a:rPr sz="800" b="0">
                <a:solidFill>
                  <a:srgbClr val="5F5F5F"/>
                </a:solidFill>
                <a:latin typeface="微软雅黑" panose="020B0503020204020204" charset="-122"/>
              </a:rPr>
              <a:t>开题汇报 | SQL+ / Text-to-SQL / Multi-Agent | 28</a:t>
            </a:r>
            <a:endParaRPr sz="800" b="0">
              <a:solidFill>
                <a:srgbClr val="5F5F5F"/>
              </a:solidFill>
              <a:latin typeface="微软雅黑" panose="020B0503020204020204" charset="-122"/>
            </a:endParaRPr>
          </a:p>
        </p:txBody>
      </p:sp>
      <p:sp>
        <p:nvSpPr>
          <p:cNvPr id="5" name="Rectangle 4"/>
          <p:cNvSpPr/>
          <p:nvPr/>
        </p:nvSpPr>
        <p:spPr>
          <a:xfrm>
            <a:off x="438785" y="1872615"/>
            <a:ext cx="3429000" cy="12344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6" name="TextBox 5"/>
          <p:cNvSpPr txBox="1"/>
          <p:nvPr/>
        </p:nvSpPr>
        <p:spPr>
          <a:xfrm>
            <a:off x="639953" y="2055495"/>
            <a:ext cx="2743200" cy="256032"/>
          </a:xfrm>
          <a:prstGeom prst="rect">
            <a:avLst/>
          </a:prstGeom>
          <a:noFill/>
        </p:spPr>
        <p:txBody>
          <a:bodyPr wrap="square" anchor="ctr">
            <a:spAutoFit/>
          </a:bodyPr>
          <a:lstStyle/>
          <a:p>
            <a:pPr algn="l"/>
            <a:r>
              <a:rPr sz="1500" b="1">
                <a:solidFill>
                  <a:srgbClr val="1F4E79"/>
                </a:solidFill>
                <a:latin typeface="微软雅黑" panose="020B0503020204020204" charset="-122"/>
              </a:rPr>
              <a:t>Benchmark</a:t>
            </a:r>
            <a:endParaRPr sz="1500" b="1">
              <a:solidFill>
                <a:srgbClr val="1F4E79"/>
              </a:solidFill>
              <a:latin typeface="微软雅黑" panose="020B0503020204020204" charset="-122"/>
            </a:endParaRPr>
          </a:p>
        </p:txBody>
      </p:sp>
      <p:sp>
        <p:nvSpPr>
          <p:cNvPr id="7" name="TextBox 6"/>
          <p:cNvSpPr txBox="1"/>
          <p:nvPr/>
        </p:nvSpPr>
        <p:spPr>
          <a:xfrm>
            <a:off x="639953" y="2402967"/>
            <a:ext cx="2743200" cy="502920"/>
          </a:xfrm>
          <a:prstGeom prst="rect">
            <a:avLst/>
          </a:prstGeom>
          <a:noFill/>
        </p:spPr>
        <p:txBody>
          <a:bodyPr wrap="square" anchor="ctr">
            <a:spAutoFit/>
          </a:bodyPr>
          <a:lstStyle/>
          <a:p>
            <a:pPr algn="l"/>
            <a:r>
              <a:rPr sz="1100" b="0">
                <a:solidFill>
                  <a:srgbClr val="2D2D2D"/>
                </a:solidFill>
                <a:latin typeface="微软雅黑" panose="020B0503020204020204" charset="-122"/>
              </a:rPr>
              <a:t>Spider
BIRD
Spider 2.0</a:t>
            </a:r>
            <a:endParaRPr sz="1100" b="0">
              <a:solidFill>
                <a:srgbClr val="2D2D2D"/>
              </a:solidFill>
              <a:latin typeface="微软雅黑" panose="020B0503020204020204" charset="-122"/>
            </a:endParaRPr>
          </a:p>
        </p:txBody>
      </p:sp>
      <p:sp>
        <p:nvSpPr>
          <p:cNvPr id="8" name="Rectangle 7"/>
          <p:cNvSpPr/>
          <p:nvPr/>
        </p:nvSpPr>
        <p:spPr>
          <a:xfrm>
            <a:off x="4370705" y="1872615"/>
            <a:ext cx="3429000" cy="1234440"/>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9" name="TextBox 8"/>
          <p:cNvSpPr txBox="1"/>
          <p:nvPr/>
        </p:nvSpPr>
        <p:spPr>
          <a:xfrm>
            <a:off x="4571873" y="2055495"/>
            <a:ext cx="2743200" cy="256032"/>
          </a:xfrm>
          <a:prstGeom prst="rect">
            <a:avLst/>
          </a:prstGeom>
          <a:noFill/>
        </p:spPr>
        <p:txBody>
          <a:bodyPr wrap="square" anchor="ctr">
            <a:spAutoFit/>
          </a:bodyPr>
          <a:lstStyle/>
          <a:p>
            <a:pPr algn="l"/>
            <a:r>
              <a:rPr sz="1500" b="1">
                <a:solidFill>
                  <a:srgbClr val="C65911"/>
                </a:solidFill>
                <a:latin typeface="微软雅黑" panose="020B0503020204020204" charset="-122"/>
              </a:rPr>
              <a:t>中间表示</a:t>
            </a:r>
            <a:endParaRPr sz="1500" b="1">
              <a:solidFill>
                <a:srgbClr val="C65911"/>
              </a:solidFill>
              <a:latin typeface="微软雅黑" panose="020B0503020204020204" charset="-122"/>
            </a:endParaRPr>
          </a:p>
        </p:txBody>
      </p:sp>
      <p:sp>
        <p:nvSpPr>
          <p:cNvPr id="10" name="TextBox 9"/>
          <p:cNvSpPr txBox="1"/>
          <p:nvPr/>
        </p:nvSpPr>
        <p:spPr>
          <a:xfrm>
            <a:off x="4571873" y="2402967"/>
            <a:ext cx="2743200" cy="502920"/>
          </a:xfrm>
          <a:prstGeom prst="rect">
            <a:avLst/>
          </a:prstGeom>
          <a:noFill/>
        </p:spPr>
        <p:txBody>
          <a:bodyPr wrap="square" anchor="ctr">
            <a:spAutoFit/>
          </a:bodyPr>
          <a:lstStyle/>
          <a:p>
            <a:pPr algn="l"/>
            <a:r>
              <a:rPr sz="1100" b="0">
                <a:solidFill>
                  <a:srgbClr val="2D2D2D"/>
                </a:solidFill>
                <a:latin typeface="微软雅黑" panose="020B0503020204020204" charset="-122"/>
              </a:rPr>
              <a:t>SemQL
NatSQL
Pipe Syntax</a:t>
            </a:r>
            <a:endParaRPr sz="1100" b="0">
              <a:solidFill>
                <a:srgbClr val="2D2D2D"/>
              </a:solidFill>
              <a:latin typeface="微软雅黑" panose="020B0503020204020204" charset="-122"/>
            </a:endParaRPr>
          </a:p>
        </p:txBody>
      </p:sp>
      <p:sp>
        <p:nvSpPr>
          <p:cNvPr id="11" name="Rectangle 10"/>
          <p:cNvSpPr/>
          <p:nvPr/>
        </p:nvSpPr>
        <p:spPr>
          <a:xfrm>
            <a:off x="438785" y="3609975"/>
            <a:ext cx="3429000" cy="1234440"/>
          </a:xfrm>
          <a:prstGeom prst="rect">
            <a:avLst/>
          </a:prstGeom>
          <a:solidFill>
            <a:srgbClr val="EEF2F7"/>
          </a:solidFill>
          <a:ln>
            <a:solidFill>
              <a:srgbClr val="1F4E7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2" name="TextBox 11"/>
          <p:cNvSpPr txBox="1"/>
          <p:nvPr/>
        </p:nvSpPr>
        <p:spPr>
          <a:xfrm>
            <a:off x="639953" y="3792855"/>
            <a:ext cx="2743200" cy="256032"/>
          </a:xfrm>
          <a:prstGeom prst="rect">
            <a:avLst/>
          </a:prstGeom>
          <a:noFill/>
        </p:spPr>
        <p:txBody>
          <a:bodyPr wrap="square" anchor="ctr">
            <a:spAutoFit/>
          </a:bodyPr>
          <a:lstStyle/>
          <a:p>
            <a:pPr algn="l"/>
            <a:r>
              <a:rPr sz="1500" b="1">
                <a:solidFill>
                  <a:srgbClr val="1F4E79"/>
                </a:solidFill>
                <a:latin typeface="微软雅黑" panose="020B0503020204020204" charset="-122"/>
              </a:rPr>
              <a:t>LLM NL2SQL</a:t>
            </a:r>
            <a:endParaRPr sz="1500" b="1">
              <a:solidFill>
                <a:srgbClr val="1F4E79"/>
              </a:solidFill>
              <a:latin typeface="微软雅黑" panose="020B0503020204020204" charset="-122"/>
            </a:endParaRPr>
          </a:p>
        </p:txBody>
      </p:sp>
      <p:sp>
        <p:nvSpPr>
          <p:cNvPr id="13" name="TextBox 12"/>
          <p:cNvSpPr txBox="1"/>
          <p:nvPr/>
        </p:nvSpPr>
        <p:spPr>
          <a:xfrm>
            <a:off x="639953" y="4140327"/>
            <a:ext cx="2743200" cy="502920"/>
          </a:xfrm>
          <a:prstGeom prst="rect">
            <a:avLst/>
          </a:prstGeom>
          <a:noFill/>
        </p:spPr>
        <p:txBody>
          <a:bodyPr wrap="square" anchor="ctr">
            <a:spAutoFit/>
          </a:bodyPr>
          <a:lstStyle/>
          <a:p>
            <a:pPr algn="l"/>
            <a:r>
              <a:rPr sz="1100" b="0">
                <a:solidFill>
                  <a:srgbClr val="2D2D2D"/>
                </a:solidFill>
                <a:latin typeface="微软雅黑" panose="020B0503020204020204" charset="-122"/>
              </a:rPr>
              <a:t>DAIL-SQL
DIN-SQL
CHESS
CHASE-SQL</a:t>
            </a:r>
            <a:endParaRPr sz="1100" b="0">
              <a:solidFill>
                <a:srgbClr val="2D2D2D"/>
              </a:solidFill>
              <a:latin typeface="微软雅黑" panose="020B0503020204020204" charset="-122"/>
            </a:endParaRPr>
          </a:p>
        </p:txBody>
      </p:sp>
      <p:sp>
        <p:nvSpPr>
          <p:cNvPr id="14" name="Rectangle 13"/>
          <p:cNvSpPr/>
          <p:nvPr/>
        </p:nvSpPr>
        <p:spPr>
          <a:xfrm>
            <a:off x="4370705" y="3609975"/>
            <a:ext cx="3429000" cy="1234440"/>
          </a:xfrm>
          <a:prstGeom prst="rect">
            <a:avLst/>
          </a:prstGeom>
          <a:solidFill>
            <a:srgbClr val="EEF2F7"/>
          </a:solidFill>
          <a:ln>
            <a:solidFill>
              <a:srgbClr val="C6591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sz="1300" b="0">
              <a:solidFill>
                <a:srgbClr val="2D2D2D"/>
              </a:solidFill>
              <a:latin typeface="微软雅黑" panose="020B0503020204020204" charset="-122"/>
            </a:endParaRPr>
          </a:p>
        </p:txBody>
      </p:sp>
      <p:sp>
        <p:nvSpPr>
          <p:cNvPr id="15" name="TextBox 14"/>
          <p:cNvSpPr txBox="1"/>
          <p:nvPr/>
        </p:nvSpPr>
        <p:spPr>
          <a:xfrm>
            <a:off x="4571873" y="3792855"/>
            <a:ext cx="2743200" cy="256032"/>
          </a:xfrm>
          <a:prstGeom prst="rect">
            <a:avLst/>
          </a:prstGeom>
          <a:noFill/>
        </p:spPr>
        <p:txBody>
          <a:bodyPr wrap="square" anchor="ctr">
            <a:spAutoFit/>
          </a:bodyPr>
          <a:lstStyle/>
          <a:p>
            <a:pPr algn="l"/>
            <a:r>
              <a:rPr sz="1500" b="1">
                <a:solidFill>
                  <a:srgbClr val="C65911"/>
                </a:solidFill>
                <a:latin typeface="微软雅黑" panose="020B0503020204020204" charset="-122"/>
              </a:rPr>
              <a:t>Agent / Repair</a:t>
            </a:r>
            <a:endParaRPr sz="1500" b="1">
              <a:solidFill>
                <a:srgbClr val="C65911"/>
              </a:solidFill>
              <a:latin typeface="微软雅黑" panose="020B0503020204020204" charset="-122"/>
            </a:endParaRPr>
          </a:p>
        </p:txBody>
      </p:sp>
      <p:sp>
        <p:nvSpPr>
          <p:cNvPr id="16" name="TextBox 15"/>
          <p:cNvSpPr txBox="1"/>
          <p:nvPr/>
        </p:nvSpPr>
        <p:spPr>
          <a:xfrm>
            <a:off x="4571873" y="4140327"/>
            <a:ext cx="2743200" cy="502920"/>
          </a:xfrm>
          <a:prstGeom prst="rect">
            <a:avLst/>
          </a:prstGeom>
          <a:noFill/>
        </p:spPr>
        <p:txBody>
          <a:bodyPr wrap="square" anchor="ctr">
            <a:spAutoFit/>
          </a:bodyPr>
          <a:lstStyle/>
          <a:p>
            <a:pPr algn="l"/>
            <a:r>
              <a:rPr sz="1100" b="0">
                <a:solidFill>
                  <a:srgbClr val="2D2D2D"/>
                </a:solidFill>
                <a:latin typeface="微软雅黑" panose="020B0503020204020204" charset="-122"/>
              </a:rPr>
              <a:t>MAC-SQL
SQLCritic
Tool-Assisted Agent
LEVER</a:t>
            </a:r>
            <a:endParaRPr sz="1100" b="0">
              <a:solidFill>
                <a:srgbClr val="2D2D2D"/>
              </a:solidFill>
              <a:latin typeface="微软雅黑" panose="020B0503020204020204" charset="-122"/>
            </a:endParaRPr>
          </a:p>
        </p:txBody>
      </p:sp>
      <p:sp>
        <p:nvSpPr>
          <p:cNvPr id="17" name="Rectangle 16"/>
          <p:cNvSpPr/>
          <p:nvPr/>
        </p:nvSpPr>
        <p:spPr>
          <a:xfrm>
            <a:off x="914400" y="5257800"/>
            <a:ext cx="7315200" cy="457200"/>
          </a:xfrm>
          <a:prstGeom prst="rect">
            <a:avLst/>
          </a:prstGeom>
          <a:solidFill>
            <a:srgbClr val="E2EFDA"/>
          </a:solidFill>
          <a:ln>
            <a:solidFill>
              <a:srgbClr val="548235"/>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2D2D2D"/>
                </a:solidFill>
                <a:latin typeface="微软雅黑" panose="020B0503020204020204" charset="-122"/>
              </a:rPr>
              <a:t>参考文献覆盖：任务评测、表示设计、LLM 生成、多智能体反馈修复</a:t>
            </a:r>
            <a:endParaRPr sz="1200" b="1">
              <a:solidFill>
                <a:srgbClr val="2D2D2D"/>
              </a:solidFill>
              <a:latin typeface="微软雅黑" panose="020B0503020204020204" charset="-122"/>
            </a:endParaRPr>
          </a:p>
        </p:txBody>
      </p:sp>
    </p:spTree>
  </p:cSld>
  <p:clrMapOvr>
    <a:masterClrMapping/>
  </p:clrMapOvr>
</p:sld>
</file>

<file path=ppt/tags/tag1.xml><?xml version="1.0" encoding="utf-8"?>
<p:tagLst xmlns:p="http://schemas.openxmlformats.org/presentationml/2006/main">
  <p:tag name="TABLE_ENDDRAG_ORIGIN_RECT" val="655*327"/>
  <p:tag name="TABLE_ENDDRAG_RECT" val="32*136*655*327"/>
</p:tagLst>
</file>

<file path=ppt/tags/tag2.xml><?xml version="1.0" encoding="utf-8"?>
<p:tagLst xmlns:p="http://schemas.openxmlformats.org/presentationml/2006/main">
  <p:tag name="TABLE_ENDDRAG_ORIGIN_RECT" val="655*215"/>
  <p:tag name="TABLE_ENDDRAG_RECT" val="25*145*655*215"/>
</p:tagLst>
</file>

<file path=ppt/tags/tag3.xml><?xml version="1.0" encoding="utf-8"?>
<p:tagLst xmlns:p="http://schemas.openxmlformats.org/presentationml/2006/main">
  <p:tag name="TABLE_ENDDRAG_ORIGIN_RECT" val="655*248"/>
  <p:tag name="TABLE_ENDDRAG_RECT" val="32*90*655*248"/>
</p:tagLst>
</file>

<file path=ppt/tags/tag4.xml><?xml version="1.0" encoding="utf-8"?>
<p:tagLst xmlns:p="http://schemas.openxmlformats.org/presentationml/2006/main">
  <p:tag name="TABLE_ENDDRAG_ORIGIN_RECT" val="655*267"/>
  <p:tag name="TABLE_ENDDRAG_RECT" val="32*89*655*267"/>
</p:tagLst>
</file>

<file path=ppt/tags/tag5.xml><?xml version="1.0" encoding="utf-8"?>
<p:tagLst xmlns:p="http://schemas.openxmlformats.org/presentationml/2006/main">
  <p:tag name="TABLE_ENDDRAG_ORIGIN_RECT" val="655*234"/>
  <p:tag name="TABLE_ENDDRAG_RECT" val="32*229*655*234"/>
</p:tagLst>
</file>

<file path=ppt/theme/theme1.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Lucida Sans"/>
        <a:ea typeface="黑体"/>
        <a:cs typeface=""/>
      </a:majorFont>
      <a:minorFont>
        <a:latin typeface="Berlin Sans FB"/>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spDef>
    <a:lnDef>
      <a:spPr bwMode="auto">
        <a:xfrm>
          <a:off x="0" y="0"/>
          <a:ext cx="1" cy="1"/>
        </a:xfrm>
        <a:custGeom>
          <a:avLst/>
          <a:gdLst/>
          <a:ahLst/>
          <a:cxnLst/>
          <a:rect l="0" t="0" r="0" b="0"/>
          <a:pathLst/>
        </a:custGeom>
        <a:noFill/>
        <a:ln>
          <a:noFill/>
        </a:ln>
        <a:effectLst>
          <a:outerShdw dist="107763" dir="2700000" algn="ctr" rotWithShape="0">
            <a:schemeClr val="bg2">
              <a:alpha val="50000"/>
            </a:schemeClr>
          </a:outerShdw>
        </a:effectLst>
      </a:spPr>
      <a:bodyPr vert="horz" wrap="none" lIns="91440" tIns="45720" rIns="91440" bIns="45720" numCol="1" anchor="t" anchorCtr="0" compatLnSpc="1">
        <a:spAutoFit/>
      </a:bodyPr>
      <a:lstStyle>
        <a:defPPr marL="276225" marR="0" indent="-276225" algn="l" defTabSz="914400" rtl="0" eaLnBrk="1" fontAlgn="base" latinLnBrk="0" hangingPunct="1">
          <a:lnSpc>
            <a:spcPct val="110000"/>
          </a:lnSpc>
          <a:spcBef>
            <a:spcPct val="20000"/>
          </a:spcBef>
          <a:spcAft>
            <a:spcPct val="0"/>
          </a:spcAft>
          <a:buClr>
            <a:srgbClr val="3366FF"/>
          </a:buClr>
          <a:buSzPct val="75000"/>
          <a:buFont typeface="Wingdings" panose="05000000000000000000" pitchFamily="2" charset="2"/>
          <a:buNone/>
          <a:defRPr kumimoji="1" lang="zh-CN" altLang="en-US" sz="2000" b="0" i="0" u="none" strike="noStrike" cap="none" normalizeH="0" baseline="0" smtClean="0">
            <a:ln>
              <a:noFill/>
            </a:ln>
            <a:solidFill>
              <a:srgbClr val="FF3300"/>
            </a:solidFill>
            <a:effectLst/>
            <a:latin typeface="Arial" panose="020B0604020202090204" pitchFamily="34" charset="0"/>
            <a:ea typeface="黑体" panose="02010609060101010101" pitchFamily="49" charset="-122"/>
          </a:defRPr>
        </a:defPPr>
      </a:lstStyle>
    </a:lnDef>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7465</Words>
  <Application>WPS Presentation</Application>
  <PresentationFormat>全屏显示(4:3)</PresentationFormat>
  <Paragraphs>952</Paragraphs>
  <Slides>28</Slides>
  <Notes>39</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28</vt:i4>
      </vt:variant>
    </vt:vector>
  </HeadingPairs>
  <TitlesOfParts>
    <vt:vector size="50" baseType="lpstr">
      <vt:lpstr>Arial</vt:lpstr>
      <vt:lpstr>宋体</vt:lpstr>
      <vt:lpstr>Wingdings</vt:lpstr>
      <vt:lpstr>黑体</vt:lpstr>
      <vt:lpstr>汉仪中黑KW</vt:lpstr>
      <vt:lpstr>汉仪书宋二KW</vt:lpstr>
      <vt:lpstr>Tahoma</vt:lpstr>
      <vt:lpstr>Lucida Sans</vt:lpstr>
      <vt:lpstr>苹方-简</vt:lpstr>
      <vt:lpstr>Comic Sans MS</vt:lpstr>
      <vt:lpstr>楷体_GB2312</vt:lpstr>
      <vt:lpstr>汉仪楷体简</vt:lpstr>
      <vt:lpstr>Times</vt:lpstr>
      <vt:lpstr>Times New Roman</vt:lpstr>
      <vt:lpstr>微软雅黑</vt:lpstr>
      <vt:lpstr>汉仪旗黑</vt:lpstr>
      <vt:lpstr>宋体</vt:lpstr>
      <vt:lpstr>Arial Unicode MS</vt:lpstr>
      <vt:lpstr>Berlin Sans FB</vt:lpstr>
      <vt:lpstr>微软雅黑</vt:lpstr>
      <vt:lpstr>黑体</vt:lpstr>
      <vt:lpstr>1_自定义设计方案</vt:lpstr>
      <vt:lpstr>面向 SQL+ 简化查询表达的多智能体自然语言数据库查询生成与反馈修正方法研究</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WNLO</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热烈欢迎各位领导莅临指导</dc:title>
  <dc:creator>Yans</dc:creator>
  <cp:lastModifiedBy>艾筠舜</cp:lastModifiedBy>
  <cp:revision>1508</cp:revision>
  <dcterms:created xsi:type="dcterms:W3CDTF">2026-06-27T07:19:45Z</dcterms:created>
  <dcterms:modified xsi:type="dcterms:W3CDTF">2026-06-27T07:19:45Z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1033-7.4.0.8981</vt:lpwstr>
  </property>
  <property fmtid="{D5CDD505-2E9C-101B-9397-08002B2CF9AE}" pid="3" name="ICV">
    <vt:lpwstr>D8EFAD67513A43E4928970E0C1008FEF_12</vt:lpwstr>
  </property>
</Properties>
</file>